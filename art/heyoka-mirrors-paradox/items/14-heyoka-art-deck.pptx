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09728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1.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2.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3.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4.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5.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6. Public educational content; consult the reading-source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28625"/>
            <a:ext cx="96012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96012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1">
    <p:bg>
      <p:bgPr>
        <a:solidFill>
          <a:srgbClr val="10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9FECDF"/>
                </a:solidFill>
                <a:latin typeface="DejaVu Sans Mono"/>
                <a:ea typeface="DejaVu Sans Mono"/>
                <a:cs typeface="DejaVu Sans Mono"/>
              </a:rPr>
              <a:t>HEYOKA / MODERN ARCHETYPE / 01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7183755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1EAFF"/>
                </a:solidFill>
                <a:latin typeface="DejaVu Sans"/>
                <a:ea typeface="DejaVu Sans"/>
                <a:cs typeface="DejaVu Sans"/>
              </a:rPr>
              <a:t>THE EMOTIONAL MIRROR</a:t>
            </a:r>
            <a:endParaRPr lang="en-US" sz="3564" dirty="0"/>
          </a:p>
        </p:txBody>
      </p:sp>
      <p:pic>
        <p:nvPicPr>
          <p:cNvPr id="4" name="art-0-surreal" descr="art-0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0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9FECDF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503545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In modern heyoka spirituality,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the mirror is the central image: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someone whose presence is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imagined to bring an unspoken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feeling into view.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194935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9FECDF"/>
                </a:solidFill>
                <a:latin typeface="Noto Sans"/>
                <a:ea typeface="Noto Sans"/>
                <a:cs typeface="Noto Sans"/>
              </a:rPr>
              <a:t>What did I actually see—and what did I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9FECDF"/>
                </a:solidFill>
                <a:latin typeface="Noto Sans"/>
                <a:ea typeface="Noto Sans"/>
                <a:cs typeface="Noto Sans"/>
              </a:rPr>
              <a:t>add?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1EAFF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2">
    <p:bg>
      <p:bgPr>
        <a:solidFill>
          <a:srgbClr val="21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F0C878"/>
                </a:solidFill>
                <a:latin typeface="DejaVu Sans Mono"/>
                <a:ea typeface="DejaVu Sans Mono"/>
                <a:cs typeface="DejaVu Sans Mono"/>
              </a:rPr>
              <a:t>HEYOKA / MODERN ARCHETYPE / 02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146482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FF0D0"/>
                </a:solidFill>
                <a:latin typeface="DejaVu Sans"/>
                <a:ea typeface="DejaVu Sans"/>
                <a:cs typeface="DejaVu Sans"/>
              </a:rPr>
              <a:t>THE LIVING PARADOX</a:t>
            </a:r>
            <a:endParaRPr lang="en-US" sz="3564" dirty="0"/>
          </a:p>
        </p:txBody>
      </p:sp>
      <p:pic>
        <p:nvPicPr>
          <p:cNvPr id="4" name="art-1-surreal" descr="art-1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1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F0C878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563552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The modern heyoka archetype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holds opposites together: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playful and perceptive, soft and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confrontational, ridiculous and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unexpectedly revealing.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5940"/>
            <a:ext cx="5083492" cy="236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0C878"/>
                </a:solidFill>
                <a:latin typeface="Noto Sans"/>
                <a:ea typeface="Noto Sans"/>
                <a:cs typeface="Noto Sans"/>
              </a:rPr>
              <a:t>Can two truths share the same frame?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FF0D0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3">
    <p:bg>
      <p:bgPr>
        <a:solidFill>
          <a:srgbClr val="291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FFB9D6"/>
                </a:solidFill>
                <a:latin typeface="DejaVu Sans Mono"/>
                <a:ea typeface="DejaVu Sans Mono"/>
                <a:cs typeface="DejaVu Sans Mono"/>
              </a:rPr>
              <a:t>HEYOKA / MODERN ARCHETYPE / 03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566535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FF0E1"/>
                </a:solidFill>
                <a:latin typeface="DejaVu Sans"/>
                <a:ea typeface="DejaVu Sans"/>
                <a:cs typeface="DejaVu Sans"/>
              </a:rPr>
              <a:t>HUMOR THAT REVEALS</a:t>
            </a:r>
            <a:endParaRPr lang="en-US" sz="3564" dirty="0"/>
          </a:p>
        </p:txBody>
      </p:sp>
      <p:pic>
        <p:nvPicPr>
          <p:cNvPr id="4" name="art-2-surreal" descr="art-2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2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FFB9D6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366385" cy="18261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In the modern heyoka image,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humor works like a sideways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entrance: the laugh arrives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first, and recognition follows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moment later.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417820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FB9D6"/>
                </a:solidFill>
                <a:latin typeface="Noto Sans"/>
                <a:ea typeface="Noto Sans"/>
                <a:cs typeface="Noto Sans"/>
              </a:rPr>
              <a:t>Did the laugh reveal a pattern—or hide a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FB9D6"/>
                </a:solidFill>
                <a:latin typeface="Noto Sans"/>
                <a:ea typeface="Noto Sans"/>
                <a:cs typeface="Noto Sans"/>
              </a:rPr>
              <a:t>criticism?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FF0E1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4">
    <p:bg>
      <p:bgPr>
        <a:solidFill>
          <a:srgbClr val="17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E2AA91"/>
                </a:solidFill>
                <a:latin typeface="DejaVu Sans Mono"/>
                <a:ea typeface="DejaVu Sans Mono"/>
                <a:cs typeface="DejaVu Sans Mono"/>
              </a:rPr>
              <a:t>HEYOKA / MODERN ARCHETYPE / 04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386512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EEE3ED"/>
                </a:solidFill>
                <a:latin typeface="DejaVu Sans"/>
                <a:ea typeface="DejaVu Sans"/>
                <a:cs typeface="DejaVu Sans"/>
              </a:rPr>
              <a:t>THE SHADOW MIRROR</a:t>
            </a:r>
            <a:endParaRPr lang="en-US" sz="3564" dirty="0"/>
          </a:p>
        </p:txBody>
      </p:sp>
      <p:pic>
        <p:nvPicPr>
          <p:cNvPr id="4" name="art-3-surreal" descr="art-3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3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E2AA91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272087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Modern spiritual language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connects heyoka with shadow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work: noticing qualities we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disown, project, or struggle to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recognize in ourselves.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529262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2AA91"/>
                </a:solidFill>
                <a:latin typeface="Noto Sans"/>
                <a:ea typeface="Noto Sans"/>
                <a:cs typeface="Noto Sans"/>
              </a:rPr>
              <a:t>Why did this particular moment stay with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2AA91"/>
                </a:solidFill>
                <a:latin typeface="Noto Sans"/>
                <a:ea typeface="Noto Sans"/>
                <a:cs typeface="Noto Sans"/>
              </a:rPr>
              <a:t>me?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EEE3ED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5"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8FE0D2"/>
                </a:solidFill>
                <a:latin typeface="DejaVu Sans Mono"/>
                <a:ea typeface="DejaVu Sans Mono"/>
                <a:cs typeface="DejaVu Sans Mono"/>
              </a:rPr>
              <a:t>HEYOKA / MODERN ARCHETYPE / 05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19072"/>
            <a:ext cx="6677977" cy="508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E8F3FF"/>
                </a:solidFill>
                <a:latin typeface="DejaVu Sans"/>
                <a:ea typeface="DejaVu Sans"/>
                <a:cs typeface="DejaVu Sans"/>
              </a:rPr>
              <a:t>THE PATTERN BREAKER</a:t>
            </a:r>
            <a:endParaRPr lang="en-US" sz="3564" dirty="0"/>
          </a:p>
        </p:txBody>
      </p:sp>
      <p:pic>
        <p:nvPicPr>
          <p:cNvPr id="4" name="art-4-surreal" descr="art-4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4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8FE0D2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374957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The modern heyoka archetype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is imagined as a pattern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breaker: an unexpected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presence that interrupts the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usual script of a conversation.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083492" cy="5731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8FE0D2"/>
                </a:solidFill>
                <a:latin typeface="Noto Sans"/>
                <a:ea typeface="Noto Sans"/>
                <a:cs typeface="Noto Sans"/>
              </a:rPr>
              <a:t>What became possible when the usual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8FE0D2"/>
                </a:solidFill>
                <a:latin typeface="Noto Sans"/>
                <a:ea typeface="Noto Sans"/>
                <a:cs typeface="Noto Sans"/>
              </a:rPr>
              <a:t>response stopped?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E8F3FF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6">
    <p:bg>
      <p:bgPr>
        <a:solidFill>
          <a:srgbClr val="173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EFD09A"/>
                </a:solidFill>
                <a:latin typeface="DejaVu Sans Mono"/>
                <a:ea typeface="DejaVu Sans Mono"/>
                <a:cs typeface="DejaVu Sans Mono"/>
              </a:rPr>
              <a:t>HEYOKA / MODERN ARCHETYPE / 06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7055167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5EDDB"/>
                </a:solidFill>
                <a:latin typeface="DejaVu Sans"/>
                <a:ea typeface="DejaVu Sans"/>
                <a:cs typeface="DejaVu Sans"/>
              </a:rPr>
              <a:t>THE GROUNDED MIRROR</a:t>
            </a:r>
            <a:endParaRPr lang="en-US" sz="3564" dirty="0"/>
          </a:p>
        </p:txBody>
      </p:sp>
      <p:pic>
        <p:nvPicPr>
          <p:cNvPr id="4" name="art-5-surreal" descr="art-5-sur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5-border"/>
          <p:cNvSpPr/>
          <p:nvPr/>
        </p:nvSpPr>
        <p:spPr>
          <a:xfrm>
            <a:off x="5698998" y="2132838"/>
            <a:ext cx="4821174" cy="3689604"/>
          </a:xfrm>
          <a:prstGeom prst="rect">
            <a:avLst/>
          </a:prstGeom>
          <a:noFill/>
          <a:ln w="6858">
            <a:solidFill>
              <a:srgbClr val="EFD09A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460682" cy="22033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A grounded modern heyoka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interpretation keeps emotional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mirroring connected to care: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the other person remains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person, not material for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lesson.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323522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FD09A"/>
                </a:solidFill>
                <a:latin typeface="Noto Sans"/>
                <a:ea typeface="Noto Sans"/>
                <a:cs typeface="Noto Sans"/>
              </a:rPr>
              <a:t>Can I stay curious without deciding who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FD09A"/>
                </a:solidFill>
                <a:latin typeface="Noto Sans"/>
                <a:ea typeface="Noto Sans"/>
                <a:cs typeface="Noto Sans"/>
              </a:rPr>
              <a:t>someone is?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5EDDB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HEYOKA / MODERN ARCHETYPE / 06</dc:title>
  <dc:creator>Vixl</dc:creator>
</cp:coreProperties>
</file>