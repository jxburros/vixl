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 kern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Choosing a therapist can feel overwhelming. This deck walks through the path to services, the credentials to look for, free and school-based options, and the questions to ask so you can find a good fit.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your pediatrician or primary care provider. Waitlists for evaluations can be long, so get on lists early and ask about cancellations. Check what your insurance or Medicaid covers; all U.S. states now require many plans to cover autism services. Interview more than one provider when you can.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the Individuals with Disabilities Education Act, every state runs an Early Intervention program for infants and toddlers, and school districts must evaluate children suspected of having a disability at no cost. Eligible students can receive speech, occupational and other therapies through an IEP. A 504 plan provides accommodations such as extra time or movement breaks.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Credentials show training and accountability to a licensing board. Behavior analysts hold a BCBA certification and, in many states, a license. Coaches are not licensed clinicians, which is fine for practical skills but means they should not treat mental-health conditions. You can verify licenses on your state's licensing board website.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questions reveal a provider's philosophy. Strong answers mention collaboration, the child's assent and preferences, transparency about methods, and measurable progress. Be wary of vague answers or reluctance to let parents observe.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your instincts. A good fit feels collaborative and your child should, over time, look forward to sessions. Treatments such as chelation or bleach-based protocols are dangerous and have no evidence; steer clear of anyone recommending them.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Families are experts on their own child. A strong therapeutic relationship is one of the best predictors of progress. Changing providers is normal and not a failure.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concrete actions. Remind families that waitlists are common, so starting the process early helps, and that school and early intervention services are free.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28625"/>
            <a:ext cx="10668000" cy="1143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714500"/>
            <a:ext cx="10668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>
        <a:defRPr sz="2800" kern="12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1-cover"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t-disc"/>
          <p:cNvSpPr/>
          <p:nvPr/>
        </p:nvSpPr>
        <p:spPr>
          <a:xfrm>
            <a:off x="6858000" y="825500"/>
            <a:ext cx="5207000" cy="5207000"/>
          </a:xfrm>
          <a:prstGeom prst="ellipse">
            <a:avLst/>
          </a:prstGeom>
          <a:solidFill>
            <a:srgbClr val="D9EADC"/>
          </a:solidFill>
          <a:ln>
            <a:noFill/>
          </a:ln>
        </p:spPr>
      </p:sp>
      <p:sp>
        <p:nvSpPr>
          <p:cNvPr id="3" name="art-ring"/>
          <p:cNvSpPr/>
          <p:nvPr/>
        </p:nvSpPr>
        <p:spPr>
          <a:xfrm>
            <a:off x="9525000" y="4064000"/>
            <a:ext cx="2286000" cy="2286000"/>
          </a:xfrm>
          <a:prstGeom prst="ellipse">
            <a:avLst/>
          </a:prstGeom>
          <a:solidFill>
            <a:srgbClr val="F6E0CF"/>
          </a:solidFill>
          <a:ln>
            <a:noFill/>
          </a:ln>
        </p:spPr>
      </p:sp>
      <p:sp>
        <p:nvSpPr>
          <p:cNvPr id="4" name="icon-bg-1"/>
          <p:cNvSpPr/>
          <p:nvPr/>
        </p:nvSpPr>
        <p:spPr>
          <a:xfrm>
            <a:off x="7620000" y="1397000"/>
            <a:ext cx="1270000" cy="127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5" name="icon-2" descr="icon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700" y="1536700"/>
            <a:ext cx="990600" cy="990600"/>
          </a:xfrm>
          <a:prstGeom prst="rect">
            <a:avLst/>
          </a:prstGeom>
        </p:spPr>
      </p:pic>
      <p:sp>
        <p:nvSpPr>
          <p:cNvPr id="6" name="icon-bg-3"/>
          <p:cNvSpPr/>
          <p:nvPr/>
        </p:nvSpPr>
        <p:spPr>
          <a:xfrm>
            <a:off x="9969500" y="1905000"/>
            <a:ext cx="762000" cy="76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7" name="icon-4" descr="icon-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2050" y="1987550"/>
            <a:ext cx="596900" cy="596900"/>
          </a:xfrm>
          <a:prstGeom prst="rect">
            <a:avLst/>
          </a:prstGeom>
        </p:spPr>
      </p:pic>
      <p:sp>
        <p:nvSpPr>
          <p:cNvPr id="8" name="icon-bg-5"/>
          <p:cNvSpPr/>
          <p:nvPr/>
        </p:nvSpPr>
        <p:spPr>
          <a:xfrm>
            <a:off x="8191500" y="3556000"/>
            <a:ext cx="1270000" cy="127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9" name="icon-6" descr="icon-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200" y="3695700"/>
            <a:ext cx="990600" cy="990600"/>
          </a:xfrm>
          <a:prstGeom prst="rect">
            <a:avLst/>
          </a:prstGeom>
        </p:spPr>
      </p:pic>
      <p:sp>
        <p:nvSpPr>
          <p:cNvPr id="10" name="icon-bg-7"/>
          <p:cNvSpPr/>
          <p:nvPr/>
        </p:nvSpPr>
        <p:spPr>
          <a:xfrm>
            <a:off x="10223500" y="4127500"/>
            <a:ext cx="762000" cy="76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1" name="icon-8" descr="icon-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6050" y="4210050"/>
            <a:ext cx="596900" cy="596900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762000" y="1407135"/>
            <a:ext cx="2460625" cy="256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326343"/>
                </a:solidFill>
                <a:latin typeface="Lexend"/>
                <a:ea typeface="Lexend"/>
                <a:cs typeface="Lexend"/>
              </a:rPr>
              <a:t>A FAMILY GUIDE</a:t>
            </a:r>
            <a:endParaRPr lang="en-US" sz="1800" dirty="0"/>
          </a:p>
        </p:txBody>
      </p:sp>
      <p:grpSp>
        <p:nvGrpSpPr>
          <p:cNvPr id="15" name="block-9"/>
          <p:cNvGrpSpPr/>
          <p:nvPr/>
        </p:nvGrpSpPr>
        <p:grpSpPr>
          <a:xfrm>
            <a:off x="762000" y="1968500"/>
            <a:ext cx="6096000" cy="1555750"/>
            <a:chOff x="0" y="0"/>
            <a:chExt cx="6096000" cy="1555750"/>
          </a:xfrm>
        </p:grpSpPr>
        <p:sp>
          <p:nvSpPr>
            <p:cNvPr id="13" name="title"/>
            <p:cNvSpPr>
              <a:spLocks noGrp="1"/>
            </p:cNvSpPr>
            <p:nvPr>
              <p:ph type="title"/>
            </p:nvPr>
          </p:nvSpPr>
          <p:spPr>
            <a:xfrm>
              <a:off x="0" y="74625"/>
              <a:ext cx="6096000" cy="14811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58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200" b="1" dirty="0">
                  <a:solidFill>
                    <a:srgbClr val="1F2D22"/>
                  </a:solidFill>
                  <a:latin typeface="Fraunces"/>
                  <a:ea typeface="Fraunces"/>
                  <a:cs typeface="Fraunces"/>
                </a:rPr>
                <a:t>Finding the Right Therapist</a:t>
              </a:r>
              <a:endParaRPr lang="en-US" sz="5200" dirty="0"/>
            </a:p>
          </p:txBody>
        </p:sp>
        <p:sp>
          <p:nvSpPr>
            <p:cNvPr id="14" name="subtitle"/>
            <p:cNvSpPr txBox="1"/>
            <p:nvPr/>
          </p:nvSpPr>
          <p:spPr>
            <a:xfrm>
              <a:off x="0" y="1802765"/>
              <a:ext cx="6096000" cy="73723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8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dirty="0">
                  <a:solidFill>
                    <a:srgbClr val="4D5B50"/>
                  </a:solidFill>
                  <a:latin typeface="Lexend"/>
                  <a:ea typeface="Lexend"/>
                  <a:cs typeface="Lexend"/>
                </a:rPr>
                <a:t>Steps, credentials and questions to help you choose support for autism and ADHD.</a:t>
              </a:r>
              <a:endParaRPr lang="en-US" sz="2200" dirty="0"/>
            </a:p>
          </p:txBody>
        </p:sp>
      </p:grpSp>
      <p:sp>
        <p:nvSpPr>
          <p:cNvPr id="16" name="cover-rule"/>
          <p:cNvSpPr/>
          <p:nvPr/>
        </p:nvSpPr>
        <p:spPr>
          <a:xfrm>
            <a:off x="762000" y="59055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3F7A52"/>
          </a:solidFill>
          <a:ln>
            <a:noFill/>
          </a:ln>
        </p:spPr>
      </p:sp>
      <p:sp>
        <p:nvSpPr>
          <p:cNvPr id="17" name="footer"/>
          <p:cNvSpPr txBox="1"/>
          <p:nvPr/>
        </p:nvSpPr>
        <p:spPr>
          <a:xfrm>
            <a:off x="762000" y="6042050"/>
            <a:ext cx="1754188" cy="187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D5B50"/>
                </a:solidFill>
                <a:latin typeface="Lexend"/>
                <a:ea typeface="Lexend"/>
                <a:cs typeface="Lexend"/>
              </a:rPr>
              <a:t>Presentation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2-steps"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-dot"/>
          <p:cNvSpPr/>
          <p:nvPr/>
        </p:nvSpPr>
        <p:spPr>
          <a:xfrm>
            <a:off x="11239500" y="533400"/>
            <a:ext cx="292100" cy="292100"/>
          </a:xfrm>
          <a:prstGeom prst="ellipse">
            <a:avLst/>
          </a:prstGeom>
          <a:solidFill>
            <a:srgbClr val="D9EADC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762000" y="6283350"/>
            <a:ext cx="2516188" cy="225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D5B50"/>
                </a:solidFill>
                <a:latin typeface="Lexend"/>
                <a:ea typeface="Lexend"/>
                <a:cs typeface="Lexend"/>
              </a:rPr>
              <a:t>Finding the Right Therapist</a:t>
            </a:r>
            <a:endParaRPr lang="en-US" sz="1200" dirty="0"/>
          </a:p>
        </p:txBody>
      </p:sp>
      <p:sp>
        <p:nvSpPr>
          <p:cNvPr id="4" name="page-number"/>
          <p:cNvSpPr txBox="1"/>
          <p:nvPr/>
        </p:nvSpPr>
        <p:spPr>
          <a:xfrm>
            <a:off x="10858500" y="6274054"/>
            <a:ext cx="571500" cy="2092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D5B50"/>
                </a:solidFill>
                <a:latin typeface="Lexend"/>
                <a:ea typeface="Lexend"/>
                <a:cs typeface="Lexend"/>
              </a:rPr>
              <a:t>2 / 8</a:t>
            </a:r>
            <a:endParaRPr lang="en-US" sz="1200" dirty="0"/>
          </a:p>
        </p:txBody>
      </p:sp>
      <p:sp>
        <p:nvSpPr>
          <p:cNvPr id="5" name="title-bar-10"/>
          <p:cNvSpPr/>
          <p:nvPr/>
        </p:nvSpPr>
        <p:spPr>
          <a:xfrm>
            <a:off x="762000" y="584200"/>
            <a:ext cx="457200" cy="63500"/>
          </a:xfrm>
          <a:prstGeom prst="roundRect">
            <a:avLst>
              <a:gd name="adj" fmla="val 50000"/>
            </a:avLst>
          </a:prstGeom>
          <a:solidFill>
            <a:srgbClr val="3F7A52"/>
          </a:solidFill>
          <a:ln>
            <a:noFill/>
          </a:ln>
        </p:spPr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762000" y="730593"/>
            <a:ext cx="5461000" cy="4695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742"/>
              </a:lnSpc>
              <a:buNone/>
            </a:pPr>
            <a:r>
              <a:rPr lang="en-US" sz="3400" b="1" dirty="0">
                <a:solidFill>
                  <a:srgbClr val="1F2D22"/>
                </a:solidFill>
                <a:latin typeface="Fraunces"/>
                <a:ea typeface="Fraunces"/>
                <a:cs typeface="Fraunces"/>
              </a:rPr>
              <a:t>Your path to services</a:t>
            </a:r>
            <a:endParaRPr lang="en-US" sz="3400" dirty="0"/>
          </a:p>
        </p:txBody>
      </p:sp>
      <p:sp>
        <p:nvSpPr>
          <p:cNvPr id="7" name="steps-line"/>
          <p:cNvSpPr/>
          <p:nvPr/>
        </p:nvSpPr>
        <p:spPr>
          <a:xfrm>
            <a:off x="1828800" y="2489200"/>
            <a:ext cx="8534400" cy="50800"/>
          </a:xfrm>
          <a:prstGeom prst="roundRect">
            <a:avLst>
              <a:gd name="adj" fmla="val 50000"/>
            </a:avLst>
          </a:prstGeom>
          <a:solidFill>
            <a:srgbClr val="D9EADC"/>
          </a:solidFill>
          <a:ln>
            <a:noFill/>
          </a:ln>
        </p:spPr>
      </p:sp>
      <p:sp>
        <p:nvSpPr>
          <p:cNvPr id="8" name="step-dot-11"/>
          <p:cNvSpPr/>
          <p:nvPr/>
        </p:nvSpPr>
        <p:spPr>
          <a:xfrm>
            <a:off x="1409700" y="2095500"/>
            <a:ext cx="838200" cy="838200"/>
          </a:xfrm>
          <a:prstGeom prst="ellipse">
            <a:avLst/>
          </a:prstGeom>
          <a:solidFill>
            <a:srgbClr val="3F7A52"/>
          </a:solidFill>
          <a:ln>
            <a:noFill/>
          </a:ln>
        </p:spPr>
      </p:sp>
      <p:sp>
        <p:nvSpPr>
          <p:cNvPr id="9" name="step-num-12"/>
          <p:cNvSpPr txBox="1"/>
          <p:nvPr/>
        </p:nvSpPr>
        <p:spPr>
          <a:xfrm>
            <a:off x="1743075" y="2336241"/>
            <a:ext cx="704850" cy="30853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102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Fraunces"/>
                <a:ea typeface="Fraunces"/>
                <a:cs typeface="Fraunces"/>
              </a:rPr>
              <a:t>1</a:t>
            </a:r>
            <a:endParaRPr lang="en-US" sz="2800" dirty="0"/>
          </a:p>
        </p:txBody>
      </p:sp>
      <p:grpSp>
        <p:nvGrpSpPr>
          <p:cNvPr id="12" name="block-15"/>
          <p:cNvGrpSpPr/>
          <p:nvPr/>
        </p:nvGrpSpPr>
        <p:grpSpPr>
          <a:xfrm>
            <a:off x="876300" y="3213100"/>
            <a:ext cx="1905000" cy="927100"/>
            <a:chOff x="0" y="0"/>
            <a:chExt cx="1905000" cy="927100"/>
          </a:xfrm>
        </p:grpSpPr>
        <p:sp>
          <p:nvSpPr>
            <p:cNvPr id="10" name="head-13"/>
            <p:cNvSpPr txBox="1"/>
            <p:nvPr/>
          </p:nvSpPr>
          <p:spPr>
            <a:xfrm>
              <a:off x="0" y="31572"/>
              <a:ext cx="1905000" cy="6288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ts val="24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dirty="0">
                  <a:solidFill>
                    <a:srgbClr val="1F2D22"/>
                  </a:solidFill>
                  <a:latin typeface="Fraunces"/>
                  <a:ea typeface="Fraunces"/>
                  <a:cs typeface="Fraunces"/>
                </a:rPr>
                <a:t>Talk to your doctor</a:t>
              </a:r>
              <a:endParaRPr lang="en-US" sz="2200" dirty="0"/>
            </a:p>
          </p:txBody>
        </p:sp>
        <p:sp>
          <p:nvSpPr>
            <p:cNvPr id="11" name="body-14"/>
            <p:cNvSpPr txBox="1"/>
            <p:nvPr/>
          </p:nvSpPr>
          <p:spPr>
            <a:xfrm>
              <a:off x="0" y="763270"/>
              <a:ext cx="1905000" cy="9385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4D5B50"/>
                  </a:solidFill>
                  <a:latin typeface="Lexend"/>
                  <a:ea typeface="Lexend"/>
                  <a:cs typeface="Lexend"/>
                </a:rPr>
                <a:t>Share concerns and ask for a referral.</a:t>
              </a:r>
              <a:endParaRPr lang="en-US" sz="1800" dirty="0"/>
            </a:p>
          </p:txBody>
        </p:sp>
      </p:grpSp>
      <p:sp>
        <p:nvSpPr>
          <p:cNvPr id="13" name="step-dot-16"/>
          <p:cNvSpPr/>
          <p:nvPr/>
        </p:nvSpPr>
        <p:spPr>
          <a:xfrm>
            <a:off x="3543300" y="2095500"/>
            <a:ext cx="838200" cy="838200"/>
          </a:xfrm>
          <a:prstGeom prst="ellipse">
            <a:avLst/>
          </a:prstGeom>
          <a:solidFill>
            <a:srgbClr val="3F7A52"/>
          </a:solidFill>
          <a:ln>
            <a:noFill/>
          </a:ln>
        </p:spPr>
      </p:sp>
      <p:sp>
        <p:nvSpPr>
          <p:cNvPr id="14" name="step-num-17"/>
          <p:cNvSpPr txBox="1"/>
          <p:nvPr/>
        </p:nvSpPr>
        <p:spPr>
          <a:xfrm>
            <a:off x="3851275" y="2335530"/>
            <a:ext cx="755650" cy="3092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102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Fraunces"/>
                <a:ea typeface="Fraunces"/>
                <a:cs typeface="Fraunces"/>
              </a:rPr>
              <a:t>2</a:t>
            </a:r>
            <a:endParaRPr lang="en-US" sz="2800" dirty="0"/>
          </a:p>
        </p:txBody>
      </p:sp>
      <p:grpSp>
        <p:nvGrpSpPr>
          <p:cNvPr id="17" name="block-20"/>
          <p:cNvGrpSpPr/>
          <p:nvPr/>
        </p:nvGrpSpPr>
        <p:grpSpPr>
          <a:xfrm>
            <a:off x="3009900" y="3213100"/>
            <a:ext cx="1905000" cy="1238250"/>
            <a:chOff x="0" y="0"/>
            <a:chExt cx="1905000" cy="1238250"/>
          </a:xfrm>
        </p:grpSpPr>
        <p:sp>
          <p:nvSpPr>
            <p:cNvPr id="15" name="head-18"/>
            <p:cNvSpPr txBox="1"/>
            <p:nvPr/>
          </p:nvSpPr>
          <p:spPr>
            <a:xfrm>
              <a:off x="0" y="31572"/>
              <a:ext cx="1905000" cy="3176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ts val="24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dirty="0">
                  <a:solidFill>
                    <a:srgbClr val="1F2D22"/>
                  </a:solidFill>
                  <a:latin typeface="Fraunces"/>
                  <a:ea typeface="Fraunces"/>
                  <a:cs typeface="Fraunces"/>
                </a:rPr>
                <a:t>Get evaluated</a:t>
              </a:r>
              <a:endParaRPr lang="en-US" sz="2200" dirty="0"/>
            </a:p>
          </p:txBody>
        </p:sp>
        <p:sp>
          <p:nvSpPr>
            <p:cNvPr id="16" name="body-19"/>
            <p:cNvSpPr txBox="1"/>
            <p:nvPr/>
          </p:nvSpPr>
          <p:spPr>
            <a:xfrm>
              <a:off x="0" y="452120"/>
              <a:ext cx="1905000" cy="12496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4D5B50"/>
                  </a:solidFill>
                  <a:latin typeface="Lexend"/>
                  <a:ea typeface="Lexend"/>
                  <a:cs typeface="Lexend"/>
                </a:rPr>
                <a:t>A specialist identifies strengths and needs.</a:t>
              </a:r>
              <a:endParaRPr lang="en-US" sz="1800" dirty="0"/>
            </a:p>
          </p:txBody>
        </p:sp>
      </p:grpSp>
      <p:sp>
        <p:nvSpPr>
          <p:cNvPr id="18" name="step-dot-21"/>
          <p:cNvSpPr/>
          <p:nvPr/>
        </p:nvSpPr>
        <p:spPr>
          <a:xfrm>
            <a:off x="5676900" y="2095500"/>
            <a:ext cx="838200" cy="838200"/>
          </a:xfrm>
          <a:prstGeom prst="ellipse">
            <a:avLst/>
          </a:prstGeom>
          <a:solidFill>
            <a:srgbClr val="3F7A52"/>
          </a:solidFill>
          <a:ln>
            <a:noFill/>
          </a:ln>
        </p:spPr>
      </p:sp>
      <p:sp>
        <p:nvSpPr>
          <p:cNvPr id="19" name="step-num-22"/>
          <p:cNvSpPr txBox="1"/>
          <p:nvPr/>
        </p:nvSpPr>
        <p:spPr>
          <a:xfrm>
            <a:off x="5994400" y="2330018"/>
            <a:ext cx="736600" cy="3147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102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Fraunces"/>
                <a:ea typeface="Fraunces"/>
                <a:cs typeface="Fraunces"/>
              </a:rPr>
              <a:t>3</a:t>
            </a:r>
            <a:endParaRPr lang="en-US" sz="2800" dirty="0"/>
          </a:p>
        </p:txBody>
      </p:sp>
      <p:grpSp>
        <p:nvGrpSpPr>
          <p:cNvPr id="22" name="block-25"/>
          <p:cNvGrpSpPr/>
          <p:nvPr/>
        </p:nvGrpSpPr>
        <p:grpSpPr>
          <a:xfrm>
            <a:off x="5143500" y="3213100"/>
            <a:ext cx="1905000" cy="1238250"/>
            <a:chOff x="0" y="0"/>
            <a:chExt cx="1905000" cy="1238250"/>
          </a:xfrm>
        </p:grpSpPr>
        <p:sp>
          <p:nvSpPr>
            <p:cNvPr id="20" name="head-23"/>
            <p:cNvSpPr txBox="1"/>
            <p:nvPr/>
          </p:nvSpPr>
          <p:spPr>
            <a:xfrm>
              <a:off x="0" y="31572"/>
              <a:ext cx="1905000" cy="6288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ts val="24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dirty="0">
                  <a:solidFill>
                    <a:srgbClr val="1F2D22"/>
                  </a:solidFill>
                  <a:latin typeface="Fraunces"/>
                  <a:ea typeface="Fraunces"/>
                  <a:cs typeface="Fraunces"/>
                </a:rPr>
                <a:t>Check options</a:t>
              </a:r>
              <a:endParaRPr lang="en-US" sz="2200" dirty="0"/>
            </a:p>
          </p:txBody>
        </p:sp>
        <p:sp>
          <p:nvSpPr>
            <p:cNvPr id="21" name="body-24"/>
            <p:cNvSpPr txBox="1"/>
            <p:nvPr/>
          </p:nvSpPr>
          <p:spPr>
            <a:xfrm>
              <a:off x="0" y="763270"/>
              <a:ext cx="1905000" cy="12496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4D5B50"/>
                  </a:solidFill>
                  <a:latin typeface="Lexend"/>
                  <a:ea typeface="Lexend"/>
                  <a:cs typeface="Lexend"/>
                </a:rPr>
                <a:t>Insurance, Medicaid, school and early intervention.</a:t>
              </a:r>
              <a:endParaRPr lang="en-US" sz="1800" dirty="0"/>
            </a:p>
          </p:txBody>
        </p:sp>
      </p:grpSp>
      <p:sp>
        <p:nvSpPr>
          <p:cNvPr id="23" name="step-dot-26"/>
          <p:cNvSpPr/>
          <p:nvPr/>
        </p:nvSpPr>
        <p:spPr>
          <a:xfrm>
            <a:off x="7810500" y="2095500"/>
            <a:ext cx="838200" cy="838200"/>
          </a:xfrm>
          <a:prstGeom prst="ellipse">
            <a:avLst/>
          </a:prstGeom>
          <a:solidFill>
            <a:srgbClr val="3F7A52"/>
          </a:solidFill>
          <a:ln>
            <a:noFill/>
          </a:ln>
        </p:spPr>
      </p:sp>
      <p:sp>
        <p:nvSpPr>
          <p:cNvPr id="24" name="step-num-27"/>
          <p:cNvSpPr txBox="1"/>
          <p:nvPr/>
        </p:nvSpPr>
        <p:spPr>
          <a:xfrm>
            <a:off x="8115300" y="2339264"/>
            <a:ext cx="762000" cy="3055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102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Fraunces"/>
                <a:ea typeface="Fraunces"/>
                <a:cs typeface="Fraunces"/>
              </a:rPr>
              <a:t>4</a:t>
            </a:r>
            <a:endParaRPr lang="en-US" sz="2800" dirty="0"/>
          </a:p>
        </p:txBody>
      </p:sp>
      <p:grpSp>
        <p:nvGrpSpPr>
          <p:cNvPr id="27" name="block-30"/>
          <p:cNvGrpSpPr/>
          <p:nvPr/>
        </p:nvGrpSpPr>
        <p:grpSpPr>
          <a:xfrm>
            <a:off x="7277100" y="3213100"/>
            <a:ext cx="1905000" cy="927100"/>
            <a:chOff x="0" y="0"/>
            <a:chExt cx="1905000" cy="927100"/>
          </a:xfrm>
        </p:grpSpPr>
        <p:sp>
          <p:nvSpPr>
            <p:cNvPr id="25" name="head-28"/>
            <p:cNvSpPr txBox="1"/>
            <p:nvPr/>
          </p:nvSpPr>
          <p:spPr>
            <a:xfrm>
              <a:off x="0" y="31572"/>
              <a:ext cx="1905000" cy="6288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ts val="24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dirty="0">
                  <a:solidFill>
                    <a:srgbClr val="1F2D22"/>
                  </a:solidFill>
                  <a:latin typeface="Fraunces"/>
                  <a:ea typeface="Fraunces"/>
                  <a:cs typeface="Fraunces"/>
                </a:rPr>
                <a:t>Interview providers</a:t>
              </a:r>
              <a:endParaRPr lang="en-US" sz="2200" dirty="0"/>
            </a:p>
          </p:txBody>
        </p:sp>
        <p:sp>
          <p:nvSpPr>
            <p:cNvPr id="26" name="body-29"/>
            <p:cNvSpPr txBox="1"/>
            <p:nvPr/>
          </p:nvSpPr>
          <p:spPr>
            <a:xfrm>
              <a:off x="0" y="763270"/>
              <a:ext cx="1905000" cy="9385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4D5B50"/>
                  </a:solidFill>
                  <a:latin typeface="Lexend"/>
                  <a:ea typeface="Lexend"/>
                  <a:cs typeface="Lexend"/>
                </a:rPr>
                <a:t>Ask questions before committing.</a:t>
              </a:r>
              <a:endParaRPr lang="en-US" sz="1800" dirty="0"/>
            </a:p>
          </p:txBody>
        </p:sp>
      </p:grpSp>
      <p:sp>
        <p:nvSpPr>
          <p:cNvPr id="28" name="step-dot-31"/>
          <p:cNvSpPr/>
          <p:nvPr/>
        </p:nvSpPr>
        <p:spPr>
          <a:xfrm>
            <a:off x="9944100" y="2095500"/>
            <a:ext cx="838200" cy="838200"/>
          </a:xfrm>
          <a:prstGeom prst="ellipse">
            <a:avLst/>
          </a:prstGeom>
          <a:solidFill>
            <a:srgbClr val="3F7A52"/>
          </a:solidFill>
          <a:ln>
            <a:noFill/>
          </a:ln>
        </p:spPr>
      </p:sp>
      <p:sp>
        <p:nvSpPr>
          <p:cNvPr id="29" name="step-num-32"/>
          <p:cNvSpPr txBox="1"/>
          <p:nvPr/>
        </p:nvSpPr>
        <p:spPr>
          <a:xfrm>
            <a:off x="10258425" y="2335338"/>
            <a:ext cx="742950" cy="3126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102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Fraunces"/>
                <a:ea typeface="Fraunces"/>
                <a:cs typeface="Fraunces"/>
              </a:rPr>
              <a:t>5</a:t>
            </a:r>
            <a:endParaRPr lang="en-US" sz="2800" dirty="0"/>
          </a:p>
        </p:txBody>
      </p:sp>
      <p:grpSp>
        <p:nvGrpSpPr>
          <p:cNvPr id="32" name="block-35"/>
          <p:cNvGrpSpPr/>
          <p:nvPr/>
        </p:nvGrpSpPr>
        <p:grpSpPr>
          <a:xfrm>
            <a:off x="9410700" y="3213100"/>
            <a:ext cx="1905000" cy="927100"/>
            <a:chOff x="0" y="0"/>
            <a:chExt cx="1905000" cy="927100"/>
          </a:xfrm>
        </p:grpSpPr>
        <p:sp>
          <p:nvSpPr>
            <p:cNvPr id="30" name="head-33"/>
            <p:cNvSpPr txBox="1"/>
            <p:nvPr/>
          </p:nvSpPr>
          <p:spPr>
            <a:xfrm>
              <a:off x="0" y="31572"/>
              <a:ext cx="1905000" cy="6288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ts val="24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dirty="0">
                  <a:solidFill>
                    <a:srgbClr val="1F2D22"/>
                  </a:solidFill>
                  <a:latin typeface="Fraunces"/>
                  <a:ea typeface="Fraunces"/>
                  <a:cs typeface="Fraunces"/>
                </a:rPr>
                <a:t>Start &amp; review</a:t>
              </a:r>
              <a:endParaRPr lang="en-US" sz="2200" dirty="0"/>
            </a:p>
          </p:txBody>
        </p:sp>
        <p:sp>
          <p:nvSpPr>
            <p:cNvPr id="31" name="body-34"/>
            <p:cNvSpPr txBox="1"/>
            <p:nvPr/>
          </p:nvSpPr>
          <p:spPr>
            <a:xfrm>
              <a:off x="0" y="763270"/>
              <a:ext cx="1905000" cy="9385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4D5B50"/>
                  </a:solidFill>
                  <a:latin typeface="Lexend"/>
                  <a:ea typeface="Lexend"/>
                  <a:cs typeface="Lexend"/>
                </a:rPr>
                <a:t>Check progress every few months.</a:t>
              </a:r>
              <a:endParaRPr lang="en-US" sz="18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3-split"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-dot"/>
          <p:cNvSpPr/>
          <p:nvPr/>
        </p:nvSpPr>
        <p:spPr>
          <a:xfrm>
            <a:off x="11239500" y="533400"/>
            <a:ext cx="292100" cy="292100"/>
          </a:xfrm>
          <a:prstGeom prst="ellipse">
            <a:avLst/>
          </a:prstGeom>
          <a:solidFill>
            <a:srgbClr val="D9EADC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762000" y="6283350"/>
            <a:ext cx="2516188" cy="225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D5B50"/>
                </a:solidFill>
                <a:latin typeface="Lexend"/>
                <a:ea typeface="Lexend"/>
                <a:cs typeface="Lexend"/>
              </a:rPr>
              <a:t>Finding the Right Therapist</a:t>
            </a:r>
            <a:endParaRPr lang="en-US" sz="1200" dirty="0"/>
          </a:p>
        </p:txBody>
      </p:sp>
      <p:sp>
        <p:nvSpPr>
          <p:cNvPr id="4" name="page-number"/>
          <p:cNvSpPr txBox="1"/>
          <p:nvPr/>
        </p:nvSpPr>
        <p:spPr>
          <a:xfrm>
            <a:off x="10858500" y="6272530"/>
            <a:ext cx="571500" cy="2044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D5B50"/>
                </a:solidFill>
                <a:latin typeface="Lexend"/>
                <a:ea typeface="Lexend"/>
                <a:cs typeface="Lexend"/>
              </a:rPr>
              <a:t>3 / 8</a:t>
            </a:r>
            <a:endParaRPr lang="en-US" sz="1200" dirty="0"/>
          </a:p>
        </p:txBody>
      </p:sp>
      <p:sp>
        <p:nvSpPr>
          <p:cNvPr id="5" name="title-bar-36"/>
          <p:cNvSpPr/>
          <p:nvPr/>
        </p:nvSpPr>
        <p:spPr>
          <a:xfrm>
            <a:off x="762000" y="584200"/>
            <a:ext cx="457200" cy="63500"/>
          </a:xfrm>
          <a:prstGeom prst="roundRect">
            <a:avLst>
              <a:gd name="adj" fmla="val 50000"/>
            </a:avLst>
          </a:prstGeom>
          <a:solidFill>
            <a:srgbClr val="3F7A52"/>
          </a:solidFill>
          <a:ln>
            <a:noFill/>
          </a:ln>
        </p:spPr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762000" y="730593"/>
            <a:ext cx="7088188" cy="4695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742"/>
              </a:lnSpc>
              <a:buNone/>
            </a:pPr>
            <a:r>
              <a:rPr lang="en-US" sz="3400" b="1" dirty="0">
                <a:solidFill>
                  <a:srgbClr val="1F2D22"/>
                </a:solidFill>
                <a:latin typeface="Fraunces"/>
                <a:ea typeface="Fraunces"/>
                <a:cs typeface="Fraunces"/>
              </a:rPr>
              <a:t>Free and school-based help</a:t>
            </a:r>
            <a:endParaRPr lang="en-US" sz="3400" dirty="0"/>
          </a:p>
        </p:txBody>
      </p:sp>
      <p:sp>
        <p:nvSpPr>
          <p:cNvPr id="7" name="body"/>
          <p:cNvSpPr txBox="1"/>
          <p:nvPr/>
        </p:nvSpPr>
        <p:spPr>
          <a:xfrm>
            <a:off x="762000" y="1898015"/>
            <a:ext cx="5588000" cy="32645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marL="391160" indent="-391160" lvl="0">
              <a:lnSpc>
                <a:spcPts val="286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200" dirty="0">
                <a:solidFill>
                  <a:srgbClr val="1F2D22"/>
                </a:solidFill>
                <a:latin typeface="Lexend"/>
                <a:ea typeface="Lexend"/>
                <a:cs typeface="Lexend"/>
              </a:rPr>
              <a:t>Birth to 3: Early Intervention services</a:t>
            </a:r>
            <a:endParaRPr lang="en-US" sz="2200" dirty="0"/>
          </a:p>
          <a:p>
            <a:pPr algn="l" marL="391160" indent="-391160" lvl="0">
              <a:lnSpc>
                <a:spcPts val="286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200" dirty="0">
                <a:solidFill>
                  <a:srgbClr val="1F2D22"/>
                </a:solidFill>
                <a:latin typeface="Lexend"/>
                <a:ea typeface="Lexend"/>
                <a:cs typeface="Lexend"/>
              </a:rPr>
              <a:t>Ages 3+: evaluations through your school district</a:t>
            </a:r>
            <a:endParaRPr lang="en-US" sz="2200" dirty="0"/>
          </a:p>
          <a:p>
            <a:pPr algn="l" marL="391160" indent="-391160" lvl="0">
              <a:lnSpc>
                <a:spcPts val="286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200" dirty="0">
                <a:solidFill>
                  <a:srgbClr val="1F2D22"/>
                </a:solidFill>
                <a:latin typeface="Lexend"/>
                <a:ea typeface="Lexend"/>
                <a:cs typeface="Lexend"/>
              </a:rPr>
              <a:t>IEP: special education and related therapies</a:t>
            </a:r>
            <a:endParaRPr lang="en-US" sz="2200" dirty="0"/>
          </a:p>
          <a:p>
            <a:pPr algn="l" marL="391160" indent="-391160" lvl="0">
              <a:lnSpc>
                <a:spcPts val="286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200" dirty="0">
                <a:solidFill>
                  <a:srgbClr val="1F2D22"/>
                </a:solidFill>
                <a:latin typeface="Lexend"/>
                <a:ea typeface="Lexend"/>
                <a:cs typeface="Lexend"/>
              </a:rPr>
              <a:t>504 plan: accommodations in the classroom</a:t>
            </a:r>
            <a:endParaRPr lang="en-US" sz="2200" dirty="0"/>
          </a:p>
        </p:txBody>
      </p:sp>
      <p:sp>
        <p:nvSpPr>
          <p:cNvPr id="8" name="panel"/>
          <p:cNvSpPr/>
          <p:nvPr/>
        </p:nvSpPr>
        <p:spPr>
          <a:xfrm>
            <a:off x="7048500" y="1701800"/>
            <a:ext cx="4381500" cy="4381500"/>
          </a:xfrm>
          <a:prstGeom prst="roundRect">
            <a:avLst>
              <a:gd name="adj" fmla="val 5797"/>
            </a:avLst>
          </a:prstGeom>
          <a:solidFill>
            <a:srgbClr val="3F7A52"/>
          </a:solidFill>
          <a:ln>
            <a:noFill/>
          </a:ln>
        </p:spPr>
      </p:sp>
      <p:sp>
        <p:nvSpPr>
          <p:cNvPr id="9" name="icon-bg-37"/>
          <p:cNvSpPr/>
          <p:nvPr/>
        </p:nvSpPr>
        <p:spPr>
          <a:xfrm>
            <a:off x="7404100" y="2057400"/>
            <a:ext cx="762000" cy="762000"/>
          </a:xfrm>
          <a:prstGeom prst="ellipse">
            <a:avLst/>
          </a:prstGeom>
          <a:solidFill>
            <a:srgbClr val="E6F2E8"/>
          </a:solidFill>
          <a:ln>
            <a:noFill/>
          </a:ln>
        </p:spPr>
      </p:sp>
      <p:pic>
        <p:nvPicPr>
          <p:cNvPr id="10" name="icon-38" descr="icon-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650" y="2139950"/>
            <a:ext cx="596900" cy="596900"/>
          </a:xfrm>
          <a:prstGeom prst="rect">
            <a:avLst/>
          </a:prstGeom>
        </p:spPr>
      </p:pic>
      <p:grpSp>
        <p:nvGrpSpPr>
          <p:cNvPr id="13" name="block-39"/>
          <p:cNvGrpSpPr/>
          <p:nvPr/>
        </p:nvGrpSpPr>
        <p:grpSpPr>
          <a:xfrm>
            <a:off x="7404100" y="3098800"/>
            <a:ext cx="3670300" cy="1282700"/>
            <a:chOff x="0" y="0"/>
            <a:chExt cx="3670300" cy="1282700"/>
          </a:xfrm>
        </p:grpSpPr>
        <p:sp>
          <p:nvSpPr>
            <p:cNvPr id="11" name="panel-head"/>
            <p:cNvSpPr txBox="1"/>
            <p:nvPr/>
          </p:nvSpPr>
          <p:spPr>
            <a:xfrm>
              <a:off x="0" y="40183"/>
              <a:ext cx="3670300" cy="79801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31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Fraunces"/>
                  <a:ea typeface="Fraunces"/>
                  <a:cs typeface="Fraunces"/>
                </a:rPr>
                <a:t>You can ask in writing</a:t>
              </a:r>
              <a:endParaRPr lang="en-US" sz="2800" dirty="0"/>
            </a:p>
          </p:txBody>
        </p:sp>
        <p:sp>
          <p:nvSpPr>
            <p:cNvPr id="12" name="panel-body"/>
            <p:cNvSpPr txBox="1"/>
            <p:nvPr/>
          </p:nvSpPr>
          <p:spPr>
            <a:xfrm>
              <a:off x="0" y="973455"/>
              <a:ext cx="3670300" cy="129984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5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FFFFFF"/>
                  </a:solidFill>
                  <a:latin typeface="Lexend"/>
                  <a:ea typeface="Lexend"/>
                  <a:cs typeface="Lexend"/>
                </a:rPr>
                <a:t>Parents can request a free school evaluation at any time. Put the request in writing and keep a copy.</a:t>
              </a:r>
              <a:endParaRPr lang="en-US" sz="18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4-cards"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-dot"/>
          <p:cNvSpPr/>
          <p:nvPr/>
        </p:nvSpPr>
        <p:spPr>
          <a:xfrm>
            <a:off x="11239500" y="533400"/>
            <a:ext cx="292100" cy="292100"/>
          </a:xfrm>
          <a:prstGeom prst="ellipse">
            <a:avLst/>
          </a:prstGeom>
          <a:solidFill>
            <a:srgbClr val="D9EADC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762000" y="6283350"/>
            <a:ext cx="2516188" cy="225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D5B50"/>
                </a:solidFill>
                <a:latin typeface="Lexend"/>
                <a:ea typeface="Lexend"/>
                <a:cs typeface="Lexend"/>
              </a:rPr>
              <a:t>Finding the Right Therapist</a:t>
            </a:r>
            <a:endParaRPr lang="en-US" sz="1200" dirty="0"/>
          </a:p>
        </p:txBody>
      </p:sp>
      <p:sp>
        <p:nvSpPr>
          <p:cNvPr id="4" name="page-number"/>
          <p:cNvSpPr txBox="1"/>
          <p:nvPr/>
        </p:nvSpPr>
        <p:spPr>
          <a:xfrm>
            <a:off x="10858500" y="6272530"/>
            <a:ext cx="584200" cy="2044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D5B50"/>
                </a:solidFill>
                <a:latin typeface="Lexend"/>
                <a:ea typeface="Lexend"/>
                <a:cs typeface="Lexend"/>
              </a:rPr>
              <a:t>4 / 8</a:t>
            </a:r>
            <a:endParaRPr lang="en-US" sz="1200" dirty="0"/>
          </a:p>
        </p:txBody>
      </p:sp>
      <p:sp>
        <p:nvSpPr>
          <p:cNvPr id="5" name="title-bar-40"/>
          <p:cNvSpPr/>
          <p:nvPr/>
        </p:nvSpPr>
        <p:spPr>
          <a:xfrm>
            <a:off x="762000" y="584200"/>
            <a:ext cx="457200" cy="63500"/>
          </a:xfrm>
          <a:prstGeom prst="roundRect">
            <a:avLst>
              <a:gd name="adj" fmla="val 50000"/>
            </a:avLst>
          </a:prstGeom>
          <a:solidFill>
            <a:srgbClr val="3F7A52"/>
          </a:solidFill>
          <a:ln>
            <a:noFill/>
          </a:ln>
        </p:spPr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762000" y="730593"/>
            <a:ext cx="5842000" cy="37430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742"/>
              </a:lnSpc>
              <a:buNone/>
            </a:pPr>
            <a:r>
              <a:rPr lang="en-US" sz="3400" b="1" dirty="0">
                <a:solidFill>
                  <a:srgbClr val="1F2D22"/>
                </a:solidFill>
                <a:latin typeface="Fraunces"/>
                <a:ea typeface="Fraunces"/>
                <a:cs typeface="Fraunces"/>
              </a:rPr>
              <a:t>Credentials to look for</a:t>
            </a:r>
            <a:endParaRPr lang="en-US" sz="3400" dirty="0"/>
          </a:p>
        </p:txBody>
      </p:sp>
      <p:sp>
        <p:nvSpPr>
          <p:cNvPr id="7" name="card-41"/>
          <p:cNvSpPr/>
          <p:nvPr/>
        </p:nvSpPr>
        <p:spPr>
          <a:xfrm>
            <a:off x="774700" y="1714500"/>
            <a:ext cx="5156200" cy="2006600"/>
          </a:xfrm>
          <a:prstGeom prst="roundRect">
            <a:avLst>
              <a:gd name="adj" fmla="val 9810"/>
            </a:avLst>
          </a:prstGeom>
          <a:solidFill>
            <a:srgbClr val="FFFFFF"/>
          </a:solidFill>
          <a:ln w="12700">
            <a:solidFill>
              <a:srgbClr val="E1E5DA"/>
            </a:solidFill>
          </a:ln>
        </p:spPr>
      </p:sp>
      <p:sp>
        <p:nvSpPr>
          <p:cNvPr id="8" name="icon-bg-42"/>
          <p:cNvSpPr/>
          <p:nvPr/>
        </p:nvSpPr>
        <p:spPr>
          <a:xfrm>
            <a:off x="1016000" y="1981200"/>
            <a:ext cx="762000" cy="762000"/>
          </a:xfrm>
          <a:prstGeom prst="ellipse">
            <a:avLst/>
          </a:prstGeom>
          <a:solidFill>
            <a:srgbClr val="D9EADC"/>
          </a:solidFill>
          <a:ln>
            <a:noFill/>
          </a:ln>
        </p:spPr>
      </p:sp>
      <p:pic>
        <p:nvPicPr>
          <p:cNvPr id="9" name="icon-43" descr="icon-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50" y="2063750"/>
            <a:ext cx="596900" cy="596900"/>
          </a:xfrm>
          <a:prstGeom prst="rect">
            <a:avLst/>
          </a:prstGeom>
        </p:spPr>
      </p:pic>
      <p:grpSp>
        <p:nvGrpSpPr>
          <p:cNvPr id="12" name="block-46"/>
          <p:cNvGrpSpPr/>
          <p:nvPr/>
        </p:nvGrpSpPr>
        <p:grpSpPr>
          <a:xfrm>
            <a:off x="1968500" y="1993900"/>
            <a:ext cx="3721100" cy="349250"/>
            <a:chOff x="0" y="0"/>
            <a:chExt cx="3721100" cy="349250"/>
          </a:xfrm>
        </p:grpSpPr>
        <p:sp>
          <p:nvSpPr>
            <p:cNvPr id="10" name="head-44"/>
            <p:cNvSpPr txBox="1"/>
            <p:nvPr/>
          </p:nvSpPr>
          <p:spPr>
            <a:xfrm>
              <a:off x="0" y="31572"/>
              <a:ext cx="3721100" cy="3176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4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dirty="0">
                  <a:solidFill>
                    <a:srgbClr val="1F2D22"/>
                  </a:solidFill>
                  <a:latin typeface="Fraunces"/>
                  <a:ea typeface="Fraunces"/>
                  <a:cs typeface="Fraunces"/>
                </a:rPr>
                <a:t>OTR/L</a:t>
              </a:r>
              <a:endParaRPr lang="en-US" sz="2200" dirty="0"/>
            </a:p>
          </p:txBody>
        </p:sp>
        <p:sp>
          <p:nvSpPr>
            <p:cNvPr id="11" name="body-45"/>
            <p:cNvSpPr txBox="1"/>
            <p:nvPr/>
          </p:nvSpPr>
          <p:spPr>
            <a:xfrm>
              <a:off x="0" y="439420"/>
              <a:ext cx="3721100" cy="3225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4D5B50"/>
                  </a:solidFill>
                  <a:latin typeface="Lexend"/>
                  <a:ea typeface="Lexend"/>
                  <a:cs typeface="Lexend"/>
                </a:rPr>
                <a:t>Licensed occupational therapist.</a:t>
              </a:r>
              <a:endParaRPr lang="en-US" sz="1800" dirty="0"/>
            </a:p>
          </p:txBody>
        </p:sp>
      </p:grpSp>
      <p:sp>
        <p:nvSpPr>
          <p:cNvPr id="13" name="card-47"/>
          <p:cNvSpPr/>
          <p:nvPr/>
        </p:nvSpPr>
        <p:spPr>
          <a:xfrm>
            <a:off x="6261100" y="1714500"/>
            <a:ext cx="5156200" cy="2006600"/>
          </a:xfrm>
          <a:prstGeom prst="roundRect">
            <a:avLst>
              <a:gd name="adj" fmla="val 9810"/>
            </a:avLst>
          </a:prstGeom>
          <a:solidFill>
            <a:srgbClr val="FFFFFF"/>
          </a:solidFill>
          <a:ln w="12700">
            <a:solidFill>
              <a:srgbClr val="E1E5DA"/>
            </a:solidFill>
          </a:ln>
        </p:spPr>
      </p:sp>
      <p:sp>
        <p:nvSpPr>
          <p:cNvPr id="14" name="icon-bg-48"/>
          <p:cNvSpPr/>
          <p:nvPr/>
        </p:nvSpPr>
        <p:spPr>
          <a:xfrm>
            <a:off x="6502400" y="1981200"/>
            <a:ext cx="762000" cy="762000"/>
          </a:xfrm>
          <a:prstGeom prst="ellipse">
            <a:avLst/>
          </a:prstGeom>
          <a:solidFill>
            <a:srgbClr val="D9EADC"/>
          </a:solidFill>
          <a:ln>
            <a:noFill/>
          </a:ln>
        </p:spPr>
      </p:sp>
      <p:pic>
        <p:nvPicPr>
          <p:cNvPr id="15" name="icon-49" descr="icon-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950" y="2063750"/>
            <a:ext cx="596900" cy="596900"/>
          </a:xfrm>
          <a:prstGeom prst="rect">
            <a:avLst/>
          </a:prstGeom>
        </p:spPr>
      </p:pic>
      <p:grpSp>
        <p:nvGrpSpPr>
          <p:cNvPr id="18" name="block-52"/>
          <p:cNvGrpSpPr/>
          <p:nvPr/>
        </p:nvGrpSpPr>
        <p:grpSpPr>
          <a:xfrm>
            <a:off x="7454900" y="1993900"/>
            <a:ext cx="3721100" cy="622300"/>
            <a:chOff x="0" y="0"/>
            <a:chExt cx="3721100" cy="622300"/>
          </a:xfrm>
        </p:grpSpPr>
        <p:sp>
          <p:nvSpPr>
            <p:cNvPr id="16" name="head-50"/>
            <p:cNvSpPr txBox="1"/>
            <p:nvPr/>
          </p:nvSpPr>
          <p:spPr>
            <a:xfrm>
              <a:off x="0" y="31572"/>
              <a:ext cx="3721100" cy="3176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4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dirty="0">
                  <a:solidFill>
                    <a:srgbClr val="1F2D22"/>
                  </a:solidFill>
                  <a:latin typeface="Fraunces"/>
                  <a:ea typeface="Fraunces"/>
                  <a:cs typeface="Fraunces"/>
                </a:rPr>
                <a:t>CCC-SLP</a:t>
              </a:r>
              <a:endParaRPr lang="en-US" sz="2200" dirty="0"/>
            </a:p>
          </p:txBody>
        </p:sp>
        <p:sp>
          <p:nvSpPr>
            <p:cNvPr id="17" name="body-51"/>
            <p:cNvSpPr txBox="1"/>
            <p:nvPr/>
          </p:nvSpPr>
          <p:spPr>
            <a:xfrm>
              <a:off x="0" y="439420"/>
              <a:ext cx="3721100" cy="6337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4D5B50"/>
                  </a:solidFill>
                  <a:latin typeface="Lexend"/>
                  <a:ea typeface="Lexend"/>
                  <a:cs typeface="Lexend"/>
                </a:rPr>
                <a:t>Certified, licensed speech-language pathologist.</a:t>
              </a:r>
              <a:endParaRPr lang="en-US" sz="1800" dirty="0"/>
            </a:p>
          </p:txBody>
        </p:sp>
      </p:grpSp>
      <p:sp>
        <p:nvSpPr>
          <p:cNvPr id="19" name="card-53"/>
          <p:cNvSpPr/>
          <p:nvPr/>
        </p:nvSpPr>
        <p:spPr>
          <a:xfrm>
            <a:off x="774700" y="4051300"/>
            <a:ext cx="5156200" cy="2006600"/>
          </a:xfrm>
          <a:prstGeom prst="roundRect">
            <a:avLst>
              <a:gd name="adj" fmla="val 9810"/>
            </a:avLst>
          </a:prstGeom>
          <a:solidFill>
            <a:srgbClr val="FFFFFF"/>
          </a:solidFill>
          <a:ln w="12700">
            <a:solidFill>
              <a:srgbClr val="E1E5DA"/>
            </a:solidFill>
          </a:ln>
        </p:spPr>
      </p:sp>
      <p:sp>
        <p:nvSpPr>
          <p:cNvPr id="20" name="icon-bg-54"/>
          <p:cNvSpPr/>
          <p:nvPr/>
        </p:nvSpPr>
        <p:spPr>
          <a:xfrm>
            <a:off x="1016000" y="4318000"/>
            <a:ext cx="762000" cy="762000"/>
          </a:xfrm>
          <a:prstGeom prst="ellipse">
            <a:avLst/>
          </a:prstGeom>
          <a:solidFill>
            <a:srgbClr val="D9EADC"/>
          </a:solidFill>
          <a:ln>
            <a:noFill/>
          </a:ln>
        </p:spPr>
      </p:sp>
      <p:pic>
        <p:nvPicPr>
          <p:cNvPr id="21" name="icon-55" descr="icon-5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550" y="4400550"/>
            <a:ext cx="596900" cy="596900"/>
          </a:xfrm>
          <a:prstGeom prst="rect">
            <a:avLst/>
          </a:prstGeom>
        </p:spPr>
      </p:pic>
      <p:grpSp>
        <p:nvGrpSpPr>
          <p:cNvPr id="24" name="block-58"/>
          <p:cNvGrpSpPr/>
          <p:nvPr/>
        </p:nvGrpSpPr>
        <p:grpSpPr>
          <a:xfrm>
            <a:off x="1968500" y="4330700"/>
            <a:ext cx="3721100" cy="622300"/>
            <a:chOff x="0" y="0"/>
            <a:chExt cx="3721100" cy="622300"/>
          </a:xfrm>
        </p:grpSpPr>
        <p:sp>
          <p:nvSpPr>
            <p:cNvPr id="22" name="head-56"/>
            <p:cNvSpPr txBox="1"/>
            <p:nvPr/>
          </p:nvSpPr>
          <p:spPr>
            <a:xfrm>
              <a:off x="0" y="31572"/>
              <a:ext cx="3721100" cy="3176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4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dirty="0">
                  <a:solidFill>
                    <a:srgbClr val="1F2D22"/>
                  </a:solidFill>
                  <a:latin typeface="Fraunces"/>
                  <a:ea typeface="Fraunces"/>
                  <a:cs typeface="Fraunces"/>
                </a:rPr>
                <a:t>PhD or PsyD</a:t>
              </a:r>
              <a:endParaRPr lang="en-US" sz="2200" dirty="0"/>
            </a:p>
          </p:txBody>
        </p:sp>
        <p:sp>
          <p:nvSpPr>
            <p:cNvPr id="23" name="body-57"/>
            <p:cNvSpPr txBox="1"/>
            <p:nvPr/>
          </p:nvSpPr>
          <p:spPr>
            <a:xfrm>
              <a:off x="0" y="439420"/>
              <a:ext cx="3721100" cy="6337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4D5B50"/>
                  </a:solidFill>
                  <a:latin typeface="Lexend"/>
                  <a:ea typeface="Lexend"/>
                  <a:cs typeface="Lexend"/>
                </a:rPr>
                <a:t>Licensed psychologist; can diagnose and provide therapy.</a:t>
              </a:r>
              <a:endParaRPr lang="en-US" sz="1800" dirty="0"/>
            </a:p>
          </p:txBody>
        </p:sp>
      </p:grpSp>
      <p:sp>
        <p:nvSpPr>
          <p:cNvPr id="25" name="card-59"/>
          <p:cNvSpPr/>
          <p:nvPr/>
        </p:nvSpPr>
        <p:spPr>
          <a:xfrm>
            <a:off x="6261100" y="4051300"/>
            <a:ext cx="5156200" cy="2006600"/>
          </a:xfrm>
          <a:prstGeom prst="roundRect">
            <a:avLst>
              <a:gd name="adj" fmla="val 9810"/>
            </a:avLst>
          </a:prstGeom>
          <a:solidFill>
            <a:srgbClr val="FFFFFF"/>
          </a:solidFill>
          <a:ln w="12700">
            <a:solidFill>
              <a:srgbClr val="E1E5DA"/>
            </a:solidFill>
          </a:ln>
        </p:spPr>
      </p:sp>
      <p:sp>
        <p:nvSpPr>
          <p:cNvPr id="26" name="icon-bg-60"/>
          <p:cNvSpPr/>
          <p:nvPr/>
        </p:nvSpPr>
        <p:spPr>
          <a:xfrm>
            <a:off x="6502400" y="4318000"/>
            <a:ext cx="762000" cy="762000"/>
          </a:xfrm>
          <a:prstGeom prst="ellipse">
            <a:avLst/>
          </a:prstGeom>
          <a:solidFill>
            <a:srgbClr val="D9EADC"/>
          </a:solidFill>
          <a:ln>
            <a:noFill/>
          </a:ln>
        </p:spPr>
      </p:sp>
      <p:pic>
        <p:nvPicPr>
          <p:cNvPr id="27" name="icon-61" descr="icon-6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4950" y="4400550"/>
            <a:ext cx="596900" cy="596900"/>
          </a:xfrm>
          <a:prstGeom prst="rect">
            <a:avLst/>
          </a:prstGeom>
        </p:spPr>
      </p:pic>
      <p:grpSp>
        <p:nvGrpSpPr>
          <p:cNvPr id="30" name="block-64"/>
          <p:cNvGrpSpPr/>
          <p:nvPr/>
        </p:nvGrpSpPr>
        <p:grpSpPr>
          <a:xfrm>
            <a:off x="7454900" y="4330700"/>
            <a:ext cx="3721100" cy="622300"/>
            <a:chOff x="0" y="0"/>
            <a:chExt cx="3721100" cy="622300"/>
          </a:xfrm>
        </p:grpSpPr>
        <p:sp>
          <p:nvSpPr>
            <p:cNvPr id="28" name="head-62"/>
            <p:cNvSpPr txBox="1"/>
            <p:nvPr/>
          </p:nvSpPr>
          <p:spPr>
            <a:xfrm>
              <a:off x="0" y="31572"/>
              <a:ext cx="3721100" cy="3176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4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dirty="0">
                  <a:solidFill>
                    <a:srgbClr val="1F2D22"/>
                  </a:solidFill>
                  <a:latin typeface="Fraunces"/>
                  <a:ea typeface="Fraunces"/>
                  <a:cs typeface="Fraunces"/>
                </a:rPr>
                <a:t>LCSW or LPC</a:t>
              </a:r>
              <a:endParaRPr lang="en-US" sz="2200" dirty="0"/>
            </a:p>
          </p:txBody>
        </p:sp>
        <p:sp>
          <p:nvSpPr>
            <p:cNvPr id="29" name="body-63"/>
            <p:cNvSpPr txBox="1"/>
            <p:nvPr/>
          </p:nvSpPr>
          <p:spPr>
            <a:xfrm>
              <a:off x="0" y="439420"/>
              <a:ext cx="3721100" cy="6337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4D5B50"/>
                  </a:solidFill>
                  <a:latin typeface="Lexend"/>
                  <a:ea typeface="Lexend"/>
                  <a:cs typeface="Lexend"/>
                </a:rPr>
                <a:t>Licensed clinical social worker or professional counselor.</a:t>
              </a:r>
              <a:endParaRPr lang="en-US" sz="18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5-cards"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-dot"/>
          <p:cNvSpPr/>
          <p:nvPr/>
        </p:nvSpPr>
        <p:spPr>
          <a:xfrm>
            <a:off x="11239500" y="533400"/>
            <a:ext cx="292100" cy="292100"/>
          </a:xfrm>
          <a:prstGeom prst="ellipse">
            <a:avLst/>
          </a:prstGeom>
          <a:solidFill>
            <a:srgbClr val="D9EADC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762000" y="6283350"/>
            <a:ext cx="2516188" cy="225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D5B50"/>
                </a:solidFill>
                <a:latin typeface="Lexend"/>
                <a:ea typeface="Lexend"/>
                <a:cs typeface="Lexend"/>
              </a:rPr>
              <a:t>Finding the Right Therapist</a:t>
            </a:r>
            <a:endParaRPr lang="en-US" sz="1200" dirty="0"/>
          </a:p>
        </p:txBody>
      </p:sp>
      <p:sp>
        <p:nvSpPr>
          <p:cNvPr id="4" name="page-number"/>
          <p:cNvSpPr txBox="1"/>
          <p:nvPr/>
        </p:nvSpPr>
        <p:spPr>
          <a:xfrm>
            <a:off x="10858500" y="6272530"/>
            <a:ext cx="577850" cy="2044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D5B50"/>
                </a:solidFill>
                <a:latin typeface="Lexend"/>
                <a:ea typeface="Lexend"/>
                <a:cs typeface="Lexend"/>
              </a:rPr>
              <a:t>5 / 8</a:t>
            </a:r>
            <a:endParaRPr lang="en-US" sz="1200" dirty="0"/>
          </a:p>
        </p:txBody>
      </p:sp>
      <p:sp>
        <p:nvSpPr>
          <p:cNvPr id="5" name="title-bar-65"/>
          <p:cNvSpPr/>
          <p:nvPr/>
        </p:nvSpPr>
        <p:spPr>
          <a:xfrm>
            <a:off x="762000" y="584200"/>
            <a:ext cx="457200" cy="63500"/>
          </a:xfrm>
          <a:prstGeom prst="roundRect">
            <a:avLst>
              <a:gd name="adj" fmla="val 50000"/>
            </a:avLst>
          </a:prstGeom>
          <a:solidFill>
            <a:srgbClr val="3F7A52"/>
          </a:solidFill>
          <a:ln>
            <a:noFill/>
          </a:ln>
        </p:spPr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762000" y="730593"/>
            <a:ext cx="7104062" cy="4695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742"/>
              </a:lnSpc>
              <a:buNone/>
            </a:pPr>
            <a:r>
              <a:rPr lang="en-US" sz="3400" b="1" dirty="0">
                <a:solidFill>
                  <a:srgbClr val="1F2D22"/>
                </a:solidFill>
                <a:latin typeface="Fraunces"/>
                <a:ea typeface="Fraunces"/>
                <a:cs typeface="Fraunces"/>
              </a:rPr>
              <a:t>Questions to ask a provider</a:t>
            </a:r>
            <a:endParaRPr lang="en-US" sz="3400" dirty="0"/>
          </a:p>
        </p:txBody>
      </p:sp>
      <p:sp>
        <p:nvSpPr>
          <p:cNvPr id="7" name="card-66"/>
          <p:cNvSpPr/>
          <p:nvPr/>
        </p:nvSpPr>
        <p:spPr>
          <a:xfrm>
            <a:off x="774700" y="1714500"/>
            <a:ext cx="5156200" cy="2006600"/>
          </a:xfrm>
          <a:prstGeom prst="roundRect">
            <a:avLst>
              <a:gd name="adj" fmla="val 9810"/>
            </a:avLst>
          </a:prstGeom>
          <a:solidFill>
            <a:srgbClr val="FFFFFF"/>
          </a:solidFill>
          <a:ln w="12700">
            <a:solidFill>
              <a:srgbClr val="E1E5DA"/>
            </a:solidFill>
          </a:ln>
        </p:spPr>
      </p:sp>
      <p:sp>
        <p:nvSpPr>
          <p:cNvPr id="8" name="icon-bg-67"/>
          <p:cNvSpPr/>
          <p:nvPr/>
        </p:nvSpPr>
        <p:spPr>
          <a:xfrm>
            <a:off x="1016000" y="1981200"/>
            <a:ext cx="762000" cy="762000"/>
          </a:xfrm>
          <a:prstGeom prst="ellipse">
            <a:avLst/>
          </a:prstGeom>
          <a:solidFill>
            <a:srgbClr val="D9EADC"/>
          </a:solidFill>
          <a:ln>
            <a:noFill/>
          </a:ln>
        </p:spPr>
      </p:sp>
      <p:pic>
        <p:nvPicPr>
          <p:cNvPr id="9" name="icon-68" descr="icon-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50" y="2063750"/>
            <a:ext cx="596900" cy="596900"/>
          </a:xfrm>
          <a:prstGeom prst="rect">
            <a:avLst/>
          </a:prstGeom>
        </p:spPr>
      </p:pic>
      <p:grpSp>
        <p:nvGrpSpPr>
          <p:cNvPr id="12" name="block-71"/>
          <p:cNvGrpSpPr/>
          <p:nvPr/>
        </p:nvGrpSpPr>
        <p:grpSpPr>
          <a:xfrm>
            <a:off x="1968500" y="1993900"/>
            <a:ext cx="3721100" cy="622300"/>
            <a:chOff x="0" y="0"/>
            <a:chExt cx="3721100" cy="622300"/>
          </a:xfrm>
        </p:grpSpPr>
        <p:sp>
          <p:nvSpPr>
            <p:cNvPr id="10" name="head-69"/>
            <p:cNvSpPr txBox="1"/>
            <p:nvPr/>
          </p:nvSpPr>
          <p:spPr>
            <a:xfrm>
              <a:off x="0" y="31572"/>
              <a:ext cx="3721100" cy="3176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4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dirty="0">
                  <a:solidFill>
                    <a:srgbClr val="1F2D22"/>
                  </a:solidFill>
                  <a:latin typeface="Fraunces"/>
                  <a:ea typeface="Fraunces"/>
                  <a:cs typeface="Fraunces"/>
                </a:rPr>
                <a:t>How do you set goals?</a:t>
              </a:r>
              <a:endParaRPr lang="en-US" sz="2200" dirty="0"/>
            </a:p>
          </p:txBody>
        </p:sp>
        <p:sp>
          <p:nvSpPr>
            <p:cNvPr id="11" name="body-70"/>
            <p:cNvSpPr txBox="1"/>
            <p:nvPr/>
          </p:nvSpPr>
          <p:spPr>
            <a:xfrm>
              <a:off x="0" y="439420"/>
              <a:ext cx="3721100" cy="6337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4D5B50"/>
                  </a:solidFill>
                  <a:latin typeface="Lexend"/>
                  <a:ea typeface="Lexend"/>
                  <a:cs typeface="Lexend"/>
                </a:rPr>
                <a:t>Listen for goals written with you and your child.</a:t>
              </a:r>
              <a:endParaRPr lang="en-US" sz="1800" dirty="0"/>
            </a:p>
          </p:txBody>
        </p:sp>
      </p:grpSp>
      <p:sp>
        <p:nvSpPr>
          <p:cNvPr id="13" name="card-72"/>
          <p:cNvSpPr/>
          <p:nvPr/>
        </p:nvSpPr>
        <p:spPr>
          <a:xfrm>
            <a:off x="6261100" y="1714500"/>
            <a:ext cx="5156200" cy="2006600"/>
          </a:xfrm>
          <a:prstGeom prst="roundRect">
            <a:avLst>
              <a:gd name="adj" fmla="val 9810"/>
            </a:avLst>
          </a:prstGeom>
          <a:solidFill>
            <a:srgbClr val="FFFFFF"/>
          </a:solidFill>
          <a:ln w="12700">
            <a:solidFill>
              <a:srgbClr val="E1E5DA"/>
            </a:solidFill>
          </a:ln>
        </p:spPr>
      </p:sp>
      <p:sp>
        <p:nvSpPr>
          <p:cNvPr id="14" name="icon-bg-73"/>
          <p:cNvSpPr/>
          <p:nvPr/>
        </p:nvSpPr>
        <p:spPr>
          <a:xfrm>
            <a:off x="6502400" y="1981200"/>
            <a:ext cx="762000" cy="762000"/>
          </a:xfrm>
          <a:prstGeom prst="ellipse">
            <a:avLst/>
          </a:prstGeom>
          <a:solidFill>
            <a:srgbClr val="D9EADC"/>
          </a:solidFill>
          <a:ln>
            <a:noFill/>
          </a:ln>
        </p:spPr>
      </p:sp>
      <p:pic>
        <p:nvPicPr>
          <p:cNvPr id="15" name="icon-74" descr="icon-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950" y="2063750"/>
            <a:ext cx="596900" cy="596900"/>
          </a:xfrm>
          <a:prstGeom prst="rect">
            <a:avLst/>
          </a:prstGeom>
        </p:spPr>
      </p:pic>
      <p:grpSp>
        <p:nvGrpSpPr>
          <p:cNvPr id="18" name="block-77"/>
          <p:cNvGrpSpPr/>
          <p:nvPr/>
        </p:nvGrpSpPr>
        <p:grpSpPr>
          <a:xfrm>
            <a:off x="7454900" y="1993900"/>
            <a:ext cx="3721100" cy="660400"/>
            <a:chOff x="0" y="0"/>
            <a:chExt cx="3721100" cy="660400"/>
          </a:xfrm>
        </p:grpSpPr>
        <p:sp>
          <p:nvSpPr>
            <p:cNvPr id="16" name="head-75"/>
            <p:cNvSpPr txBox="1"/>
            <p:nvPr/>
          </p:nvSpPr>
          <p:spPr>
            <a:xfrm>
              <a:off x="0" y="31572"/>
              <a:ext cx="3721100" cy="6288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4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dirty="0">
                  <a:solidFill>
                    <a:srgbClr val="1F2D22"/>
                  </a:solidFill>
                  <a:latin typeface="Fraunces"/>
                  <a:ea typeface="Fraunces"/>
                  <a:cs typeface="Fraunces"/>
                </a:rPr>
                <a:t>How do you include my child's voice?</a:t>
              </a:r>
              <a:endParaRPr lang="en-US" sz="2200" dirty="0"/>
            </a:p>
          </p:txBody>
        </p:sp>
        <p:sp>
          <p:nvSpPr>
            <p:cNvPr id="17" name="body-76"/>
            <p:cNvSpPr txBox="1"/>
            <p:nvPr/>
          </p:nvSpPr>
          <p:spPr>
            <a:xfrm>
              <a:off x="0" y="750570"/>
              <a:ext cx="3721100" cy="6337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4D5B50"/>
                  </a:solidFill>
                  <a:latin typeface="Lexend"/>
                  <a:ea typeface="Lexend"/>
                  <a:cs typeface="Lexend"/>
                </a:rPr>
                <a:t>Assent, choice and interests should matter.</a:t>
              </a:r>
              <a:endParaRPr lang="en-US" sz="1800" dirty="0"/>
            </a:p>
          </p:txBody>
        </p:sp>
      </p:grpSp>
      <p:sp>
        <p:nvSpPr>
          <p:cNvPr id="19" name="card-78"/>
          <p:cNvSpPr/>
          <p:nvPr/>
        </p:nvSpPr>
        <p:spPr>
          <a:xfrm>
            <a:off x="774700" y="4051300"/>
            <a:ext cx="5156200" cy="2006600"/>
          </a:xfrm>
          <a:prstGeom prst="roundRect">
            <a:avLst>
              <a:gd name="adj" fmla="val 9810"/>
            </a:avLst>
          </a:prstGeom>
          <a:solidFill>
            <a:srgbClr val="FFFFFF"/>
          </a:solidFill>
          <a:ln w="12700">
            <a:solidFill>
              <a:srgbClr val="E1E5DA"/>
            </a:solidFill>
          </a:ln>
        </p:spPr>
      </p:sp>
      <p:sp>
        <p:nvSpPr>
          <p:cNvPr id="20" name="icon-bg-79"/>
          <p:cNvSpPr/>
          <p:nvPr/>
        </p:nvSpPr>
        <p:spPr>
          <a:xfrm>
            <a:off x="1016000" y="4318000"/>
            <a:ext cx="762000" cy="762000"/>
          </a:xfrm>
          <a:prstGeom prst="ellipse">
            <a:avLst/>
          </a:prstGeom>
          <a:solidFill>
            <a:srgbClr val="D9EADC"/>
          </a:solidFill>
          <a:ln>
            <a:noFill/>
          </a:ln>
        </p:spPr>
      </p:sp>
      <p:pic>
        <p:nvPicPr>
          <p:cNvPr id="21" name="icon-80" descr="icon-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550" y="4400550"/>
            <a:ext cx="596900" cy="596900"/>
          </a:xfrm>
          <a:prstGeom prst="rect">
            <a:avLst/>
          </a:prstGeom>
        </p:spPr>
      </p:pic>
      <p:grpSp>
        <p:nvGrpSpPr>
          <p:cNvPr id="24" name="block-83"/>
          <p:cNvGrpSpPr/>
          <p:nvPr/>
        </p:nvGrpSpPr>
        <p:grpSpPr>
          <a:xfrm>
            <a:off x="1968500" y="4330700"/>
            <a:ext cx="3721100" cy="660400"/>
            <a:chOff x="0" y="0"/>
            <a:chExt cx="3721100" cy="660400"/>
          </a:xfrm>
        </p:grpSpPr>
        <p:sp>
          <p:nvSpPr>
            <p:cNvPr id="22" name="head-81"/>
            <p:cNvSpPr txBox="1"/>
            <p:nvPr/>
          </p:nvSpPr>
          <p:spPr>
            <a:xfrm>
              <a:off x="0" y="31572"/>
              <a:ext cx="3721100" cy="6288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4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dirty="0">
                  <a:solidFill>
                    <a:srgbClr val="1F2D22"/>
                  </a:solidFill>
                  <a:latin typeface="Fraunces"/>
                  <a:ea typeface="Fraunces"/>
                  <a:cs typeface="Fraunces"/>
                </a:rPr>
                <a:t>What does a session look like?</a:t>
              </a:r>
              <a:endParaRPr lang="en-US" sz="2200" dirty="0"/>
            </a:p>
          </p:txBody>
        </p:sp>
        <p:sp>
          <p:nvSpPr>
            <p:cNvPr id="23" name="body-82"/>
            <p:cNvSpPr txBox="1"/>
            <p:nvPr/>
          </p:nvSpPr>
          <p:spPr>
            <a:xfrm>
              <a:off x="0" y="750570"/>
              <a:ext cx="3721100" cy="6337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4D5B50"/>
                  </a:solidFill>
                  <a:latin typeface="Lexend"/>
                  <a:ea typeface="Lexend"/>
                  <a:cs typeface="Lexend"/>
                </a:rPr>
                <a:t>Ask to observe, or watch a short video.</a:t>
              </a:r>
              <a:endParaRPr lang="en-US" sz="1800" dirty="0"/>
            </a:p>
          </p:txBody>
        </p:sp>
      </p:grpSp>
      <p:sp>
        <p:nvSpPr>
          <p:cNvPr id="25" name="card-84"/>
          <p:cNvSpPr/>
          <p:nvPr/>
        </p:nvSpPr>
        <p:spPr>
          <a:xfrm>
            <a:off x="6261100" y="4051300"/>
            <a:ext cx="5156200" cy="2006600"/>
          </a:xfrm>
          <a:prstGeom prst="roundRect">
            <a:avLst>
              <a:gd name="adj" fmla="val 9810"/>
            </a:avLst>
          </a:prstGeom>
          <a:solidFill>
            <a:srgbClr val="FFFFFF"/>
          </a:solidFill>
          <a:ln w="12700">
            <a:solidFill>
              <a:srgbClr val="E1E5DA"/>
            </a:solidFill>
          </a:ln>
        </p:spPr>
      </p:sp>
      <p:sp>
        <p:nvSpPr>
          <p:cNvPr id="26" name="icon-bg-85"/>
          <p:cNvSpPr/>
          <p:nvPr/>
        </p:nvSpPr>
        <p:spPr>
          <a:xfrm>
            <a:off x="6502400" y="4318000"/>
            <a:ext cx="762000" cy="762000"/>
          </a:xfrm>
          <a:prstGeom prst="ellipse">
            <a:avLst/>
          </a:prstGeom>
          <a:solidFill>
            <a:srgbClr val="D9EADC"/>
          </a:solidFill>
          <a:ln>
            <a:noFill/>
          </a:ln>
        </p:spPr>
      </p:sp>
      <p:pic>
        <p:nvPicPr>
          <p:cNvPr id="27" name="icon-86" descr="icon-8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4950" y="4400550"/>
            <a:ext cx="596900" cy="596900"/>
          </a:xfrm>
          <a:prstGeom prst="rect">
            <a:avLst/>
          </a:prstGeom>
        </p:spPr>
      </p:pic>
      <p:grpSp>
        <p:nvGrpSpPr>
          <p:cNvPr id="30" name="block-89"/>
          <p:cNvGrpSpPr/>
          <p:nvPr/>
        </p:nvGrpSpPr>
        <p:grpSpPr>
          <a:xfrm>
            <a:off x="7454900" y="4330700"/>
            <a:ext cx="3721100" cy="660400"/>
            <a:chOff x="0" y="0"/>
            <a:chExt cx="3721100" cy="660400"/>
          </a:xfrm>
        </p:grpSpPr>
        <p:sp>
          <p:nvSpPr>
            <p:cNvPr id="28" name="head-87"/>
            <p:cNvSpPr txBox="1"/>
            <p:nvPr/>
          </p:nvSpPr>
          <p:spPr>
            <a:xfrm>
              <a:off x="0" y="31572"/>
              <a:ext cx="3721100" cy="6288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4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dirty="0">
                  <a:solidFill>
                    <a:srgbClr val="1F2D22"/>
                  </a:solidFill>
                  <a:latin typeface="Fraunces"/>
                  <a:ea typeface="Fraunces"/>
                  <a:cs typeface="Fraunces"/>
                </a:rPr>
                <a:t>How will we know it's working?</a:t>
              </a:r>
              <a:endParaRPr lang="en-US" sz="2200" dirty="0"/>
            </a:p>
          </p:txBody>
        </p:sp>
        <p:sp>
          <p:nvSpPr>
            <p:cNvPr id="29" name="body-88"/>
            <p:cNvSpPr txBox="1"/>
            <p:nvPr/>
          </p:nvSpPr>
          <p:spPr>
            <a:xfrm>
              <a:off x="0" y="750570"/>
              <a:ext cx="3721100" cy="6337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4D5B50"/>
                  </a:solidFill>
                  <a:latin typeface="Lexend"/>
                  <a:ea typeface="Lexend"/>
                  <a:cs typeface="Lexend"/>
                </a:rPr>
                <a:t>Expect clear measures and regular reviews.</a:t>
              </a:r>
              <a:endParaRPr lang="en-US" sz="18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6-compare"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-dot"/>
          <p:cNvSpPr/>
          <p:nvPr/>
        </p:nvSpPr>
        <p:spPr>
          <a:xfrm>
            <a:off x="11239500" y="533400"/>
            <a:ext cx="292100" cy="292100"/>
          </a:xfrm>
          <a:prstGeom prst="ellipse">
            <a:avLst/>
          </a:prstGeom>
          <a:solidFill>
            <a:srgbClr val="D9EADC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762000" y="6283350"/>
            <a:ext cx="2516188" cy="225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D5B50"/>
                </a:solidFill>
                <a:latin typeface="Lexend"/>
                <a:ea typeface="Lexend"/>
                <a:cs typeface="Lexend"/>
              </a:rPr>
              <a:t>Finding the Right Therapist</a:t>
            </a:r>
            <a:endParaRPr lang="en-US" sz="1200" dirty="0"/>
          </a:p>
        </p:txBody>
      </p:sp>
      <p:sp>
        <p:nvSpPr>
          <p:cNvPr id="4" name="page-number"/>
          <p:cNvSpPr txBox="1"/>
          <p:nvPr/>
        </p:nvSpPr>
        <p:spPr>
          <a:xfrm>
            <a:off x="10858500" y="6274359"/>
            <a:ext cx="577850" cy="20899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D5B50"/>
                </a:solidFill>
                <a:latin typeface="Lexend"/>
                <a:ea typeface="Lexend"/>
                <a:cs typeface="Lexend"/>
              </a:rPr>
              <a:t>6 / 8</a:t>
            </a:r>
            <a:endParaRPr lang="en-US" sz="1200" dirty="0"/>
          </a:p>
        </p:txBody>
      </p:sp>
      <p:sp>
        <p:nvSpPr>
          <p:cNvPr id="5" name="title-bar-90"/>
          <p:cNvSpPr/>
          <p:nvPr/>
        </p:nvSpPr>
        <p:spPr>
          <a:xfrm>
            <a:off x="762000" y="584200"/>
            <a:ext cx="457200" cy="63500"/>
          </a:xfrm>
          <a:prstGeom prst="roundRect">
            <a:avLst>
              <a:gd name="adj" fmla="val 50000"/>
            </a:avLst>
          </a:prstGeom>
          <a:solidFill>
            <a:srgbClr val="3F7A52"/>
          </a:solidFill>
          <a:ln>
            <a:noFill/>
          </a:ln>
        </p:spPr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762000" y="730593"/>
            <a:ext cx="6461125" cy="47590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742"/>
              </a:lnSpc>
              <a:buNone/>
            </a:pPr>
            <a:r>
              <a:rPr lang="en-US" sz="3400" b="1" dirty="0">
                <a:solidFill>
                  <a:srgbClr val="1F2D22"/>
                </a:solidFill>
                <a:latin typeface="Fraunces"/>
                <a:ea typeface="Fraunces"/>
                <a:cs typeface="Fraunces"/>
              </a:rPr>
              <a:t>Green flags and red flags</a:t>
            </a:r>
            <a:endParaRPr lang="en-US" sz="3400" dirty="0"/>
          </a:p>
        </p:txBody>
      </p:sp>
      <p:sp>
        <p:nvSpPr>
          <p:cNvPr id="7" name="col-91"/>
          <p:cNvSpPr/>
          <p:nvPr/>
        </p:nvSpPr>
        <p:spPr>
          <a:xfrm>
            <a:off x="774700" y="1739900"/>
            <a:ext cx="5156200" cy="4165600"/>
          </a:xfrm>
          <a:prstGeom prst="roundRect">
            <a:avLst>
              <a:gd name="adj" fmla="val 5335"/>
            </a:avLst>
          </a:prstGeom>
          <a:solidFill>
            <a:srgbClr val="FFFFFF"/>
          </a:solidFill>
          <a:ln w="12700">
            <a:solidFill>
              <a:srgbClr val="E1E5DA"/>
            </a:solidFill>
          </a:ln>
        </p:spPr>
      </p:sp>
      <p:sp>
        <p:nvSpPr>
          <p:cNvPr id="8" name="col-band-92"/>
          <p:cNvSpPr/>
          <p:nvPr/>
        </p:nvSpPr>
        <p:spPr>
          <a:xfrm>
            <a:off x="762000" y="1727200"/>
            <a:ext cx="5181600" cy="952500"/>
          </a:xfrm>
          <a:prstGeom prst="roundRect">
            <a:avLst>
              <a:gd name="adj" fmla="val 24000"/>
            </a:avLst>
          </a:prstGeom>
          <a:solidFill>
            <a:srgbClr val="3F7A52"/>
          </a:solidFill>
          <a:ln>
            <a:noFill/>
          </a:ln>
        </p:spPr>
      </p:sp>
      <p:sp>
        <p:nvSpPr>
          <p:cNvPr id="9" name="col-band-fix-93"/>
          <p:cNvSpPr/>
          <p:nvPr/>
        </p:nvSpPr>
        <p:spPr>
          <a:xfrm>
            <a:off x="762000" y="2425700"/>
            <a:ext cx="5181600" cy="254000"/>
          </a:xfrm>
          <a:prstGeom prst="rect">
            <a:avLst/>
          </a:prstGeom>
          <a:solidFill>
            <a:srgbClr val="3F7A52"/>
          </a:solidFill>
          <a:ln>
            <a:noFill/>
          </a:ln>
        </p:spPr>
      </p:sp>
      <p:sp>
        <p:nvSpPr>
          <p:cNvPr id="10" name="icon-bg-94"/>
          <p:cNvSpPr/>
          <p:nvPr/>
        </p:nvSpPr>
        <p:spPr>
          <a:xfrm>
            <a:off x="1016000" y="1885950"/>
            <a:ext cx="635000" cy="63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1" name="icon-95" descr="icon-9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1955800"/>
            <a:ext cx="495300" cy="495300"/>
          </a:xfrm>
          <a:prstGeom prst="rect">
            <a:avLst/>
          </a:prstGeom>
        </p:spPr>
      </p:pic>
      <p:sp>
        <p:nvSpPr>
          <p:cNvPr id="12" name="col-head-96"/>
          <p:cNvSpPr txBox="1"/>
          <p:nvPr/>
        </p:nvSpPr>
        <p:spPr>
          <a:xfrm>
            <a:off x="1841500" y="1954962"/>
            <a:ext cx="2495550" cy="3945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102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Fraunces"/>
                <a:ea typeface="Fraunces"/>
                <a:cs typeface="Fraunces"/>
              </a:rPr>
              <a:t>Green flags</a:t>
            </a:r>
            <a:endParaRPr lang="en-US" sz="2800" dirty="0"/>
          </a:p>
        </p:txBody>
      </p:sp>
      <p:sp>
        <p:nvSpPr>
          <p:cNvPr id="13" name="col-body-97"/>
          <p:cNvSpPr txBox="1"/>
          <p:nvPr/>
        </p:nvSpPr>
        <p:spPr>
          <a:xfrm>
            <a:off x="1066800" y="2991485"/>
            <a:ext cx="4572000" cy="19615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marL="320040" indent="-320040" lvl="0">
              <a:lnSpc>
                <a:spcPts val="2340"/>
              </a:lnSpc>
              <a:spcBef>
                <a:spcPts val="0"/>
              </a:spcBef>
              <a:spcAft>
                <a:spcPts val="1500"/>
              </a:spcAft>
              <a:buFont typeface="Arial"/>
              <a:buChar char="•"/>
            </a:pPr>
            <a:r>
              <a:rPr lang="en-US" sz="1800" dirty="0">
                <a:solidFill>
                  <a:srgbClr val="1F2D22"/>
                </a:solidFill>
                <a:latin typeface="Lexend"/>
                <a:ea typeface="Lexend"/>
                <a:cs typeface="Lexend"/>
              </a:rPr>
              <a:t>Welcomes questions and observation</a:t>
            </a:r>
            <a:endParaRPr lang="en-US" sz="1800" dirty="0"/>
          </a:p>
          <a:p>
            <a:pPr algn="l" marL="320040" indent="-320040" lvl="0">
              <a:lnSpc>
                <a:spcPts val="2340"/>
              </a:lnSpc>
              <a:spcBef>
                <a:spcPts val="0"/>
              </a:spcBef>
              <a:spcAft>
                <a:spcPts val="1500"/>
              </a:spcAft>
              <a:buFont typeface="Arial"/>
              <a:buChar char="•"/>
            </a:pPr>
            <a:r>
              <a:rPr lang="en-US" sz="1800" dirty="0">
                <a:solidFill>
                  <a:srgbClr val="1F2D22"/>
                </a:solidFill>
                <a:latin typeface="Lexend"/>
                <a:ea typeface="Lexend"/>
                <a:cs typeface="Lexend"/>
              </a:rPr>
              <a:t>Celebrates strengths and stims</a:t>
            </a:r>
            <a:endParaRPr lang="en-US" sz="1800" dirty="0"/>
          </a:p>
          <a:p>
            <a:pPr algn="l" marL="320040" indent="-320040" lvl="0">
              <a:lnSpc>
                <a:spcPts val="2340"/>
              </a:lnSpc>
              <a:spcBef>
                <a:spcPts val="0"/>
              </a:spcBef>
              <a:spcAft>
                <a:spcPts val="1500"/>
              </a:spcAft>
              <a:buFont typeface="Arial"/>
              <a:buChar char="•"/>
            </a:pPr>
            <a:r>
              <a:rPr lang="en-US" sz="1800" dirty="0">
                <a:solidFill>
                  <a:srgbClr val="1F2D22"/>
                </a:solidFill>
                <a:latin typeface="Lexend"/>
                <a:ea typeface="Lexend"/>
                <a:cs typeface="Lexend"/>
              </a:rPr>
              <a:t>Adjusts when your child is upset</a:t>
            </a:r>
            <a:endParaRPr lang="en-US" sz="1800" dirty="0"/>
          </a:p>
          <a:p>
            <a:pPr algn="l" marL="320040" indent="-320040" lvl="0">
              <a:lnSpc>
                <a:spcPts val="2340"/>
              </a:lnSpc>
              <a:spcBef>
                <a:spcPts val="0"/>
              </a:spcBef>
              <a:spcAft>
                <a:spcPts val="1500"/>
              </a:spcAft>
              <a:buFont typeface="Arial"/>
              <a:buChar char="•"/>
            </a:pPr>
            <a:r>
              <a:rPr lang="en-US" sz="1800" dirty="0">
                <a:solidFill>
                  <a:srgbClr val="1F2D22"/>
                </a:solidFill>
                <a:latin typeface="Lexend"/>
                <a:ea typeface="Lexend"/>
                <a:cs typeface="Lexend"/>
              </a:rPr>
              <a:t>Shares progress data openly</a:t>
            </a:r>
            <a:endParaRPr lang="en-US" sz="1800" dirty="0"/>
          </a:p>
        </p:txBody>
      </p:sp>
      <p:sp>
        <p:nvSpPr>
          <p:cNvPr id="14" name="col-98"/>
          <p:cNvSpPr/>
          <p:nvPr/>
        </p:nvSpPr>
        <p:spPr>
          <a:xfrm>
            <a:off x="6261100" y="1739900"/>
            <a:ext cx="5156200" cy="4165600"/>
          </a:xfrm>
          <a:prstGeom prst="roundRect">
            <a:avLst>
              <a:gd name="adj" fmla="val 5335"/>
            </a:avLst>
          </a:prstGeom>
          <a:solidFill>
            <a:srgbClr val="FFFFFF"/>
          </a:solidFill>
          <a:ln w="12700">
            <a:solidFill>
              <a:srgbClr val="E1E5DA"/>
            </a:solidFill>
          </a:ln>
        </p:spPr>
      </p:sp>
      <p:sp>
        <p:nvSpPr>
          <p:cNvPr id="15" name="col-band-99"/>
          <p:cNvSpPr/>
          <p:nvPr/>
        </p:nvSpPr>
        <p:spPr>
          <a:xfrm>
            <a:off x="6248400" y="1727200"/>
            <a:ext cx="5181600" cy="952500"/>
          </a:xfrm>
          <a:prstGeom prst="roundRect">
            <a:avLst>
              <a:gd name="adj" fmla="val 24000"/>
            </a:avLst>
          </a:prstGeom>
          <a:solidFill>
            <a:srgbClr val="B5543C"/>
          </a:solidFill>
          <a:ln>
            <a:noFill/>
          </a:ln>
        </p:spPr>
      </p:sp>
      <p:sp>
        <p:nvSpPr>
          <p:cNvPr id="16" name="col-band-fix-100"/>
          <p:cNvSpPr/>
          <p:nvPr/>
        </p:nvSpPr>
        <p:spPr>
          <a:xfrm>
            <a:off x="6248400" y="2425700"/>
            <a:ext cx="5181600" cy="254000"/>
          </a:xfrm>
          <a:prstGeom prst="rect">
            <a:avLst/>
          </a:prstGeom>
          <a:solidFill>
            <a:srgbClr val="B5543C"/>
          </a:solidFill>
          <a:ln>
            <a:noFill/>
          </a:ln>
        </p:spPr>
      </p:sp>
      <p:sp>
        <p:nvSpPr>
          <p:cNvPr id="17" name="icon-bg-101"/>
          <p:cNvSpPr/>
          <p:nvPr/>
        </p:nvSpPr>
        <p:spPr>
          <a:xfrm>
            <a:off x="6502400" y="1885950"/>
            <a:ext cx="635000" cy="63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8" name="icon-102" descr="icon-1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1955800"/>
            <a:ext cx="495300" cy="495300"/>
          </a:xfrm>
          <a:prstGeom prst="rect">
            <a:avLst/>
          </a:prstGeom>
        </p:spPr>
      </p:pic>
      <p:sp>
        <p:nvSpPr>
          <p:cNvPr id="19" name="col-head-103"/>
          <p:cNvSpPr txBox="1"/>
          <p:nvPr/>
        </p:nvSpPr>
        <p:spPr>
          <a:xfrm>
            <a:off x="7327900" y="1954962"/>
            <a:ext cx="2120900" cy="3945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102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Fraunces"/>
                <a:ea typeface="Fraunces"/>
                <a:cs typeface="Fraunces"/>
              </a:rPr>
              <a:t>Red flags</a:t>
            </a:r>
            <a:endParaRPr lang="en-US" sz="2800" dirty="0"/>
          </a:p>
        </p:txBody>
      </p:sp>
      <p:sp>
        <p:nvSpPr>
          <p:cNvPr id="20" name="col-body-104"/>
          <p:cNvSpPr txBox="1"/>
          <p:nvPr/>
        </p:nvSpPr>
        <p:spPr>
          <a:xfrm>
            <a:off x="6553200" y="2991485"/>
            <a:ext cx="4572000" cy="19615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marL="320040" indent="-320040" lvl="0">
              <a:lnSpc>
                <a:spcPts val="2340"/>
              </a:lnSpc>
              <a:spcBef>
                <a:spcPts val="0"/>
              </a:spcBef>
              <a:spcAft>
                <a:spcPts val="1500"/>
              </a:spcAft>
              <a:buFont typeface="Arial"/>
              <a:buChar char="•"/>
            </a:pPr>
            <a:r>
              <a:rPr lang="en-US" sz="1800" dirty="0">
                <a:solidFill>
                  <a:srgbClr val="1F2D22"/>
                </a:solidFill>
                <a:latin typeface="Lexend"/>
                <a:ea typeface="Lexend"/>
                <a:cs typeface="Lexend"/>
              </a:rPr>
              <a:t>Promises a cure or fast fix</a:t>
            </a:r>
            <a:endParaRPr lang="en-US" sz="1800" dirty="0"/>
          </a:p>
          <a:p>
            <a:pPr algn="l" marL="320040" indent="-320040" lvl="0">
              <a:lnSpc>
                <a:spcPts val="2340"/>
              </a:lnSpc>
              <a:spcBef>
                <a:spcPts val="0"/>
              </a:spcBef>
              <a:spcAft>
                <a:spcPts val="1500"/>
              </a:spcAft>
              <a:buFont typeface="Arial"/>
              <a:buChar char="•"/>
            </a:pPr>
            <a:r>
              <a:rPr lang="en-US" sz="1800" dirty="0">
                <a:solidFill>
                  <a:srgbClr val="1F2D22"/>
                </a:solidFill>
                <a:latin typeface="Lexend"/>
                <a:ea typeface="Lexend"/>
                <a:cs typeface="Lexend"/>
              </a:rPr>
              <a:t>Keeps parents out of sessions</a:t>
            </a:r>
            <a:endParaRPr lang="en-US" sz="1800" dirty="0"/>
          </a:p>
          <a:p>
            <a:pPr algn="l" marL="320040" indent="-320040" lvl="0">
              <a:lnSpc>
                <a:spcPts val="2340"/>
              </a:lnSpc>
              <a:spcBef>
                <a:spcPts val="0"/>
              </a:spcBef>
              <a:spcAft>
                <a:spcPts val="1500"/>
              </a:spcAft>
              <a:buFont typeface="Arial"/>
              <a:buChar char="•"/>
            </a:pPr>
            <a:r>
              <a:rPr lang="en-US" sz="1800" dirty="0">
                <a:solidFill>
                  <a:srgbClr val="1F2D22"/>
                </a:solidFill>
                <a:latin typeface="Lexend"/>
                <a:ea typeface="Lexend"/>
                <a:cs typeface="Lexend"/>
              </a:rPr>
              <a:t>Pushes on through distress</a:t>
            </a:r>
            <a:endParaRPr lang="en-US" sz="1800" dirty="0"/>
          </a:p>
          <a:p>
            <a:pPr algn="l" marL="320040" indent="-320040" lvl="0">
              <a:lnSpc>
                <a:spcPts val="2340"/>
              </a:lnSpc>
              <a:spcBef>
                <a:spcPts val="0"/>
              </a:spcBef>
              <a:spcAft>
                <a:spcPts val="1500"/>
              </a:spcAft>
              <a:buFont typeface="Arial"/>
              <a:buChar char="•"/>
            </a:pPr>
            <a:r>
              <a:rPr lang="en-US" sz="1800" dirty="0">
                <a:solidFill>
                  <a:srgbClr val="1F2D22"/>
                </a:solidFill>
                <a:latin typeface="Lexend"/>
                <a:ea typeface="Lexend"/>
                <a:cs typeface="Lexend"/>
              </a:rPr>
              <a:t>Sells costly, unproven treatments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7-idea">
    <p:bg>
      <p:bgPr>
        <a:solidFill>
          <a:srgbClr val="3F7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dea-disc"/>
          <p:cNvSpPr/>
          <p:nvPr/>
        </p:nvSpPr>
        <p:spPr>
          <a:xfrm>
            <a:off x="-1397000" y="3937000"/>
            <a:ext cx="4064000" cy="40640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3" name="idea-disc-2"/>
          <p:cNvSpPr/>
          <p:nvPr/>
        </p:nvSpPr>
        <p:spPr>
          <a:xfrm>
            <a:off x="9906000" y="-1016000"/>
            <a:ext cx="3302000" cy="33020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4" name="icon-bg-105"/>
          <p:cNvSpPr/>
          <p:nvPr/>
        </p:nvSpPr>
        <p:spPr>
          <a:xfrm>
            <a:off x="5715000" y="1206500"/>
            <a:ext cx="762000" cy="762000"/>
          </a:xfrm>
          <a:prstGeom prst="ellipse">
            <a:avLst/>
          </a:prstGeom>
          <a:solidFill>
            <a:srgbClr val="E6F2E8"/>
          </a:solidFill>
          <a:ln>
            <a:noFill/>
          </a:ln>
        </p:spPr>
      </p:sp>
      <p:pic>
        <p:nvPicPr>
          <p:cNvPr id="5" name="icon-106" descr="icon-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550" y="1289050"/>
            <a:ext cx="596900" cy="596900"/>
          </a:xfrm>
          <a:prstGeom prst="rect">
            <a:avLst/>
          </a:prstGeom>
        </p:spPr>
      </p:pic>
      <p:sp>
        <p:nvSpPr>
          <p:cNvPr id="6" name="kicker"/>
          <p:cNvSpPr txBox="1"/>
          <p:nvPr/>
        </p:nvSpPr>
        <p:spPr>
          <a:xfrm>
            <a:off x="5524500" y="2192020"/>
            <a:ext cx="1485900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exend"/>
                <a:ea typeface="Lexend"/>
                <a:cs typeface="Lexend"/>
              </a:rPr>
              <a:t>KEY IDEA</a:t>
            </a:r>
            <a:endParaRPr lang="en-US" sz="1800" dirty="0"/>
          </a:p>
        </p:txBody>
      </p:sp>
      <p:grpSp>
        <p:nvGrpSpPr>
          <p:cNvPr id="9" name="block-107"/>
          <p:cNvGrpSpPr/>
          <p:nvPr/>
        </p:nvGrpSpPr>
        <p:grpSpPr>
          <a:xfrm>
            <a:off x="1333500" y="2794000"/>
            <a:ext cx="9525000" cy="1022350"/>
            <a:chOff x="0" y="0"/>
            <a:chExt cx="9525000" cy="1022350"/>
          </a:xfrm>
        </p:grpSpPr>
        <p:sp>
          <p:nvSpPr>
            <p:cNvPr id="7" name="statement"/>
            <p:cNvSpPr txBox="1"/>
            <p:nvPr/>
          </p:nvSpPr>
          <p:spPr>
            <a:xfrm>
              <a:off x="0" y="48793"/>
              <a:ext cx="9525000" cy="97355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ts val="38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1" dirty="0">
                  <a:solidFill>
                    <a:srgbClr val="FFFFFF"/>
                  </a:solidFill>
                  <a:latin typeface="Fraunces"/>
                  <a:ea typeface="Fraunces"/>
                  <a:cs typeface="Fraunces"/>
                </a:rPr>
                <a:t>You know your child best. A good therapist treats you as a partner.</a:t>
              </a:r>
              <a:endParaRPr lang="en-US" sz="3400" dirty="0"/>
            </a:p>
          </p:txBody>
        </p:sp>
        <p:sp>
          <p:nvSpPr>
            <p:cNvPr id="8" name="subtitle"/>
            <p:cNvSpPr txBox="1"/>
            <p:nvPr/>
          </p:nvSpPr>
          <p:spPr>
            <a:xfrm>
              <a:off x="0" y="1264920"/>
              <a:ext cx="9525000" cy="3225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FFFFFF"/>
                  </a:solidFill>
                  <a:latin typeface="Lexend"/>
                  <a:ea typeface="Lexend"/>
                  <a:cs typeface="Lexend"/>
                </a:rPr>
                <a:t>If it doesn't feel right after a fair try, it's okay to change providers.</a:t>
              </a:r>
              <a:endParaRPr lang="en-US" sz="1800" dirty="0"/>
            </a:p>
          </p:txBody>
        </p:sp>
      </p:grpSp>
      <p:sp>
        <p:nvSpPr>
          <p:cNvPr id="10" name="footer"/>
          <p:cNvSpPr txBox="1"/>
          <p:nvPr/>
        </p:nvSpPr>
        <p:spPr>
          <a:xfrm>
            <a:off x="762000" y="6283350"/>
            <a:ext cx="2516188" cy="225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exend"/>
                <a:ea typeface="Lexend"/>
                <a:cs typeface="Lexend"/>
              </a:rPr>
              <a:t>Finding the Right Therapist</a:t>
            </a:r>
            <a:endParaRPr lang="en-US" sz="1200" dirty="0"/>
          </a:p>
        </p:txBody>
      </p:sp>
      <p:sp>
        <p:nvSpPr>
          <p:cNvPr id="11" name="page-number"/>
          <p:cNvSpPr txBox="1"/>
          <p:nvPr/>
        </p:nvSpPr>
        <p:spPr>
          <a:xfrm>
            <a:off x="10858500" y="6272530"/>
            <a:ext cx="571500" cy="2044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exend"/>
                <a:ea typeface="Lexend"/>
                <a:cs typeface="Lexend"/>
              </a:rPr>
              <a:t>7 / 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8-closing">
    <p:bg>
      <p:bgPr>
        <a:solidFill>
          <a:srgbClr val="1F2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e-disc"/>
          <p:cNvSpPr/>
          <p:nvPr/>
        </p:nvSpPr>
        <p:spPr>
          <a:xfrm>
            <a:off x="8890000" y="3048000"/>
            <a:ext cx="5461000" cy="5461000"/>
          </a:xfrm>
          <a:prstGeom prst="ellipse">
            <a:avLst/>
          </a:prstGeom>
          <a:solidFill>
            <a:srgbClr val="3F7A52">
              <a:alpha val="22000"/>
            </a:srgbClr>
          </a:solidFill>
          <a:ln>
            <a:noFill/>
          </a:ln>
        </p:spPr>
      </p:sp>
      <p:sp>
        <p:nvSpPr>
          <p:cNvPr id="3" name="close-bar"/>
          <p:cNvSpPr/>
          <p:nvPr/>
        </p:nvSpPr>
        <p:spPr>
          <a:xfrm>
            <a:off x="762000" y="584200"/>
            <a:ext cx="457200" cy="63500"/>
          </a:xfrm>
          <a:prstGeom prst="roundRect">
            <a:avLst>
              <a:gd name="adj" fmla="val 50000"/>
            </a:avLst>
          </a:prstGeom>
          <a:solidFill>
            <a:srgbClr val="3F7A52"/>
          </a:solidFill>
          <a:ln>
            <a:noFill/>
          </a:ln>
        </p:spPr>
      </p:sp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762000" y="711810"/>
            <a:ext cx="4000500" cy="4692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742"/>
              </a:lnSpc>
              <a:buNone/>
            </a:pPr>
            <a:r>
              <a:rPr lang="en-US" sz="3400" b="1" dirty="0">
                <a:solidFill>
                  <a:srgbClr val="F5F6F0"/>
                </a:solidFill>
                <a:latin typeface="Fraunces"/>
                <a:ea typeface="Fraunces"/>
                <a:cs typeface="Fraunces"/>
              </a:rPr>
              <a:t>Your next steps</a:t>
            </a:r>
            <a:endParaRPr lang="en-US" sz="3400" dirty="0"/>
          </a:p>
        </p:txBody>
      </p:sp>
      <p:sp>
        <p:nvSpPr>
          <p:cNvPr id="5" name="close-num-108"/>
          <p:cNvSpPr/>
          <p:nvPr/>
        </p:nvSpPr>
        <p:spPr>
          <a:xfrm>
            <a:off x="762000" y="1841500"/>
            <a:ext cx="558800" cy="558800"/>
          </a:xfrm>
          <a:prstGeom prst="ellipse">
            <a:avLst/>
          </a:prstGeom>
          <a:solidFill>
            <a:srgbClr val="3F7A52"/>
          </a:solidFill>
          <a:ln>
            <a:noFill/>
          </a:ln>
        </p:spPr>
      </p:sp>
      <p:sp>
        <p:nvSpPr>
          <p:cNvPr id="6" name="close-n-109"/>
          <p:cNvSpPr txBox="1"/>
          <p:nvPr/>
        </p:nvSpPr>
        <p:spPr>
          <a:xfrm>
            <a:off x="974725" y="1914766"/>
            <a:ext cx="552450" cy="30773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63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Fraunces"/>
                <a:ea typeface="Fraunces"/>
                <a:cs typeface="Fraunces"/>
              </a:rPr>
              <a:t>1</a:t>
            </a:r>
            <a:endParaRPr lang="en-US" sz="2200" dirty="0"/>
          </a:p>
        </p:txBody>
      </p:sp>
      <p:sp>
        <p:nvSpPr>
          <p:cNvPr id="7" name="close-item-110"/>
          <p:cNvSpPr txBox="1"/>
          <p:nvPr/>
        </p:nvSpPr>
        <p:spPr>
          <a:xfrm>
            <a:off x="1574800" y="1923415"/>
            <a:ext cx="9525000" cy="3752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5F6F0"/>
                </a:solidFill>
                <a:latin typeface="Lexend"/>
                <a:ea typeface="Lexend"/>
                <a:cs typeface="Lexend"/>
              </a:rPr>
              <a:t>Write down your concerns and your child's strengths.</a:t>
            </a:r>
            <a:endParaRPr lang="en-US" sz="2200" dirty="0"/>
          </a:p>
        </p:txBody>
      </p:sp>
      <p:sp>
        <p:nvSpPr>
          <p:cNvPr id="8" name="close-num-111"/>
          <p:cNvSpPr/>
          <p:nvPr/>
        </p:nvSpPr>
        <p:spPr>
          <a:xfrm>
            <a:off x="762000" y="2692400"/>
            <a:ext cx="558800" cy="558800"/>
          </a:xfrm>
          <a:prstGeom prst="ellipse">
            <a:avLst/>
          </a:prstGeom>
          <a:solidFill>
            <a:srgbClr val="3F7A52"/>
          </a:solidFill>
          <a:ln>
            <a:noFill/>
          </a:ln>
        </p:spPr>
      </p:sp>
      <p:sp>
        <p:nvSpPr>
          <p:cNvPr id="9" name="close-n-112"/>
          <p:cNvSpPr txBox="1"/>
          <p:nvPr/>
        </p:nvSpPr>
        <p:spPr>
          <a:xfrm>
            <a:off x="952500" y="2761933"/>
            <a:ext cx="596900" cy="3146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63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Fraunces"/>
                <a:ea typeface="Fraunces"/>
                <a:cs typeface="Fraunces"/>
              </a:rPr>
              <a:t>2</a:t>
            </a:r>
            <a:endParaRPr lang="en-US" sz="2200" dirty="0"/>
          </a:p>
        </p:txBody>
      </p:sp>
      <p:sp>
        <p:nvSpPr>
          <p:cNvPr id="10" name="close-item-113"/>
          <p:cNvSpPr txBox="1"/>
          <p:nvPr/>
        </p:nvSpPr>
        <p:spPr>
          <a:xfrm>
            <a:off x="1574800" y="2774315"/>
            <a:ext cx="9525000" cy="3752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5F6F0"/>
                </a:solidFill>
                <a:latin typeface="Lexend"/>
                <a:ea typeface="Lexend"/>
                <a:cs typeface="Lexend"/>
              </a:rPr>
              <a:t>Ask your doctor and school about evaluations this week.</a:t>
            </a:r>
            <a:endParaRPr lang="en-US" sz="2200" dirty="0"/>
          </a:p>
        </p:txBody>
      </p:sp>
      <p:sp>
        <p:nvSpPr>
          <p:cNvPr id="11" name="close-num-114"/>
          <p:cNvSpPr/>
          <p:nvPr/>
        </p:nvSpPr>
        <p:spPr>
          <a:xfrm>
            <a:off x="762000" y="3543300"/>
            <a:ext cx="558800" cy="558800"/>
          </a:xfrm>
          <a:prstGeom prst="ellipse">
            <a:avLst/>
          </a:prstGeom>
          <a:solidFill>
            <a:srgbClr val="3F7A52"/>
          </a:solidFill>
          <a:ln>
            <a:noFill/>
          </a:ln>
        </p:spPr>
      </p:sp>
      <p:sp>
        <p:nvSpPr>
          <p:cNvPr id="12" name="close-n-115"/>
          <p:cNvSpPr txBox="1"/>
          <p:nvPr/>
        </p:nvSpPr>
        <p:spPr>
          <a:xfrm>
            <a:off x="962025" y="3611677"/>
            <a:ext cx="577850" cy="31262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63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Fraunces"/>
                <a:ea typeface="Fraunces"/>
                <a:cs typeface="Fraunces"/>
              </a:rPr>
              <a:t>3</a:t>
            </a:r>
            <a:endParaRPr lang="en-US" sz="2200" dirty="0"/>
          </a:p>
        </p:txBody>
      </p:sp>
      <p:sp>
        <p:nvSpPr>
          <p:cNvPr id="13" name="close-item-116"/>
          <p:cNvSpPr txBox="1"/>
          <p:nvPr/>
        </p:nvSpPr>
        <p:spPr>
          <a:xfrm>
            <a:off x="1574800" y="3625215"/>
            <a:ext cx="9525000" cy="3752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5F6F0"/>
                </a:solidFill>
                <a:latin typeface="Lexend"/>
                <a:ea typeface="Lexend"/>
                <a:cs typeface="Lexend"/>
              </a:rPr>
              <a:t>Interview two providers using the questions in this deck.</a:t>
            </a:r>
            <a:endParaRPr lang="en-US" sz="2200" dirty="0"/>
          </a:p>
        </p:txBody>
      </p:sp>
      <p:sp>
        <p:nvSpPr>
          <p:cNvPr id="14" name="credit"/>
          <p:cNvSpPr txBox="1"/>
          <p:nvPr/>
        </p:nvSpPr>
        <p:spPr>
          <a:xfrm>
            <a:off x="762000" y="5711190"/>
            <a:ext cx="9525000" cy="2070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D9EADC"/>
                </a:solidFill>
                <a:latin typeface="Lexend"/>
                <a:ea typeface="Lexend"/>
                <a:cs typeface="Lexend"/>
              </a:rPr>
              <a:t>This overview is educational and does not replace advice from a qualified clinician.</a:t>
            </a:r>
            <a:endParaRPr lang="en-US" sz="1200" dirty="0"/>
          </a:p>
        </p:txBody>
      </p:sp>
      <p:sp>
        <p:nvSpPr>
          <p:cNvPr id="15" name="footer"/>
          <p:cNvSpPr txBox="1"/>
          <p:nvPr/>
        </p:nvSpPr>
        <p:spPr>
          <a:xfrm>
            <a:off x="762000" y="6283350"/>
            <a:ext cx="2516188" cy="225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D9EADC"/>
                </a:solidFill>
                <a:latin typeface="Lexend"/>
                <a:ea typeface="Lexend"/>
                <a:cs typeface="Lexend"/>
              </a:rPr>
              <a:t>Finding the Right Therapist</a:t>
            </a:r>
            <a:endParaRPr lang="en-US" sz="1200" dirty="0"/>
          </a:p>
        </p:txBody>
      </p:sp>
      <p:sp>
        <p:nvSpPr>
          <p:cNvPr id="16" name="page-number"/>
          <p:cNvSpPr txBox="1"/>
          <p:nvPr/>
        </p:nvSpPr>
        <p:spPr>
          <a:xfrm>
            <a:off x="10858500" y="6272530"/>
            <a:ext cx="577850" cy="2044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D9EADC"/>
                </a:solidFill>
                <a:latin typeface="Lexend"/>
                <a:ea typeface="Lexend"/>
                <a:cs typeface="Lexend"/>
              </a:rPr>
              <a:t>8 /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Vixl</Application>
  <Slides>8</Slides>
  <Notes>8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Your next steps</dc:title>
  <dc:creator>Vixl</dc:creator>
</cp:coreProperties>
</file>