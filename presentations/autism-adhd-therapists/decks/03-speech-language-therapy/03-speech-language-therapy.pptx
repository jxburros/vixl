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381000" y="685800"/>
            <a:ext cx="6096000" cy="3429000"/>
          </a:xfrm>
          <a:prstGeom prst="rect">
            <a:avLst/>
          </a:prstGeom>
        </p:spPr>
        <p:txBody>
          <a:bodyPr/>
          <a:lstStyle/>
          <a:p>
            <a:endParaRPr lang="en-US"/>
          </a:p>
        </p:txBody>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marL="0" algn="l">
      <a:defRPr sz="1200" kern="1200">
        <a:solidFill>
          <a:schemeClr val="tx1"/>
        </a:solidFill>
        <a:latin typeface="+mn-lt"/>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Speech-language pathologists, often called SLPs or speech therapists, support every form of communication: understanding, expressing, social interaction and literacy. This deck covers what they do for autistic people and people with ADHD.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SLPs assess receptive language (understanding) and expressive language (saying). Social communication work should teach skills the person finds useful, and should respect autistic communication styles rather than forcing eye contact or scripted small talk. They also support speech sound clarity and introduce augmentative and alternative communication.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autistic people speak fluently, some speak a little, some do not speak, and many lose speech under stress. Behavior is communication too. The SLP's job is to make sure the person has a dependable way to share needs, opinions and feelings at all times.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AAC stands for augmentative and alternative communication. It ranges from simple picture cards to sophisticated speech-generating devices. A persistent myth is that AAC prevents people from learning to speak; studies do not support this, and AAC often supports spoken language. Many speaking autistic adults also use AAC when tired or overwhelmed.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with ADHD are more likely to have language and learning differences. SLPs help with working-memory heavy tasks such as following directions, with narrative and written organization, and with the pragmatics of conversation. Visual supports and graphic organizers are common tools.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members are the most important communication partners. Modeling means using the person's system yourself, without demanding they repeat it. Waiting gives processing time. Responding to every attempt shows communication works. Expanding gently grows language: if a child says 'car', you might say 'red car'.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communication is a right, AAC is a tool, families are partners. In the U.S., SLPs are licensed by their state and certified by ASHA, shown as CCC-SLP.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28625"/>
            <a:ext cx="10668000" cy="1143000"/>
          </a:xfrm>
          <a:prstGeom prst="rect">
            <a:avLst/>
          </a:prstGeom>
        </p:spPr>
        <p:txBody>
          <a:bodyPr/>
          <a:lstStyle/>
          <a:p>
            <a:endParaRPr lang="en-US"/>
          </a:p>
        </p:txBody>
      </p:sp>
      <p:sp>
        <p:nvSpPr>
          <p:cNvPr id="3" name="Text Placeholder 2"/>
          <p:cNvSpPr>
            <a:spLocks noGrp="1"/>
          </p:cNvSpPr>
          <p:nvPr>
            <p:ph type="body" idx="1"/>
          </p:nvPr>
        </p:nvSpPr>
        <p:spPr>
          <a:xfrm>
            <a:off x="762000" y="1714500"/>
            <a:ext cx="10668000" cy="34290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4400" kern="1200">
          <a:solidFill>
            <a:schemeClr val="tx1"/>
          </a:solidFill>
          <a:latin typeface="+mj-lt"/>
        </a:defRPr>
      </a:lvl1pPr>
    </p:titleStyle>
    <p:bodyStyle>
      <a:lvl1pPr marL="228600" indent="-228600">
        <a:defRPr sz="2800" kern="1200">
          <a:solidFill>
            <a:schemeClr val="tx1"/>
          </a:solidFill>
          <a:latin typeface="+mn-lt"/>
        </a:defRPr>
      </a:lvl1pPr>
    </p:bodyStyle>
    <p:otherStyle>
      <a:defPPr>
        <a:defRPr lang="en-US"/>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01-cover">
    <p:bg>
      <p:bgPr>
        <a:solidFill>
          <a:srgbClr val="F2F5FA"/>
        </a:solidFill>
        <a:effectLst/>
      </p:bgPr>
    </p:bg>
    <p:spTree>
      <p:nvGrpSpPr>
        <p:cNvPr id="1" name=""/>
        <p:cNvGrpSpPr/>
        <p:nvPr/>
      </p:nvGrpSpPr>
      <p:grpSpPr>
        <a:xfrm>
          <a:off x="0" y="0"/>
          <a:ext cx="0" cy="0"/>
          <a:chOff x="0" y="0"/>
          <a:chExt cx="0" cy="0"/>
        </a:xfrm>
      </p:grpSpPr>
      <p:sp>
        <p:nvSpPr>
          <p:cNvPr id="2" name="art-disc"/>
          <p:cNvSpPr/>
          <p:nvPr/>
        </p:nvSpPr>
        <p:spPr>
          <a:xfrm>
            <a:off x="6858000" y="825500"/>
            <a:ext cx="5207000" cy="5207000"/>
          </a:xfrm>
          <a:prstGeom prst="ellipse">
            <a:avLst/>
          </a:prstGeom>
          <a:solidFill>
            <a:srgbClr val="D7E3F5"/>
          </a:solidFill>
          <a:ln>
            <a:noFill/>
          </a:ln>
        </p:spPr>
      </p:sp>
      <p:sp>
        <p:nvSpPr>
          <p:cNvPr id="3" name="art-ring"/>
          <p:cNvSpPr/>
          <p:nvPr/>
        </p:nvSpPr>
        <p:spPr>
          <a:xfrm>
            <a:off x="9525000" y="4064000"/>
            <a:ext cx="2286000" cy="2286000"/>
          </a:xfrm>
          <a:prstGeom prst="ellipse">
            <a:avLst/>
          </a:prstGeom>
          <a:solidFill>
            <a:srgbClr val="FBE3CF"/>
          </a:solidFill>
          <a:ln>
            <a:noFill/>
          </a:ln>
        </p:spPr>
      </p:sp>
      <p:sp>
        <p:nvSpPr>
          <p:cNvPr id="4" name="icon-bg-1"/>
          <p:cNvSpPr/>
          <p:nvPr/>
        </p:nvSpPr>
        <p:spPr>
          <a:xfrm>
            <a:off x="7620000" y="1397000"/>
            <a:ext cx="1270000" cy="1270000"/>
          </a:xfrm>
          <a:prstGeom prst="ellipse">
            <a:avLst/>
          </a:prstGeom>
          <a:solidFill>
            <a:srgbClr val="FFFFFF"/>
          </a:solidFill>
          <a:ln>
            <a:noFill/>
          </a:ln>
        </p:spPr>
      </p:sp>
      <p:pic>
        <p:nvPicPr>
          <p:cNvPr id="5" name="icon-2" descr="icon-2"/>
          <p:cNvPicPr>
            <a:picLocks noChangeAspect="1"/>
          </p:cNvPicPr>
          <p:nvPr/>
        </p:nvPicPr>
        <p:blipFill>
          <a:blip r:embed="rId3"/>
          <a:stretch>
            <a:fillRect/>
          </a:stretch>
        </p:blipFill>
        <p:spPr>
          <a:xfrm>
            <a:off x="7759700" y="1536700"/>
            <a:ext cx="990600" cy="990600"/>
          </a:xfrm>
          <a:prstGeom prst="rect">
            <a:avLst/>
          </a:prstGeom>
        </p:spPr>
      </p:pic>
      <p:sp>
        <p:nvSpPr>
          <p:cNvPr id="6" name="icon-bg-3"/>
          <p:cNvSpPr/>
          <p:nvPr/>
        </p:nvSpPr>
        <p:spPr>
          <a:xfrm>
            <a:off x="9969500" y="1905000"/>
            <a:ext cx="762000" cy="762000"/>
          </a:xfrm>
          <a:prstGeom prst="ellipse">
            <a:avLst/>
          </a:prstGeom>
          <a:solidFill>
            <a:srgbClr val="FFFFFF"/>
          </a:solidFill>
          <a:ln>
            <a:noFill/>
          </a:ln>
        </p:spPr>
      </p:sp>
      <p:pic>
        <p:nvPicPr>
          <p:cNvPr id="7" name="icon-4" descr="icon-4"/>
          <p:cNvPicPr>
            <a:picLocks noChangeAspect="1"/>
          </p:cNvPicPr>
          <p:nvPr/>
        </p:nvPicPr>
        <p:blipFill>
          <a:blip r:embed="rId4"/>
          <a:stretch>
            <a:fillRect/>
          </a:stretch>
        </p:blipFill>
        <p:spPr>
          <a:xfrm>
            <a:off x="10052050" y="1987550"/>
            <a:ext cx="596900" cy="596900"/>
          </a:xfrm>
          <a:prstGeom prst="rect">
            <a:avLst/>
          </a:prstGeom>
        </p:spPr>
      </p:pic>
      <p:sp>
        <p:nvSpPr>
          <p:cNvPr id="8" name="icon-bg-5"/>
          <p:cNvSpPr/>
          <p:nvPr/>
        </p:nvSpPr>
        <p:spPr>
          <a:xfrm>
            <a:off x="8191500" y="3556000"/>
            <a:ext cx="1270000" cy="1270000"/>
          </a:xfrm>
          <a:prstGeom prst="ellipse">
            <a:avLst/>
          </a:prstGeom>
          <a:solidFill>
            <a:srgbClr val="FFFFFF"/>
          </a:solidFill>
          <a:ln>
            <a:noFill/>
          </a:ln>
        </p:spPr>
      </p:sp>
      <p:pic>
        <p:nvPicPr>
          <p:cNvPr id="9" name="icon-6" descr="icon-6"/>
          <p:cNvPicPr>
            <a:picLocks noChangeAspect="1"/>
          </p:cNvPicPr>
          <p:nvPr/>
        </p:nvPicPr>
        <p:blipFill>
          <a:blip r:embed="rId5"/>
          <a:stretch>
            <a:fillRect/>
          </a:stretch>
        </p:blipFill>
        <p:spPr>
          <a:xfrm>
            <a:off x="8331200" y="3695700"/>
            <a:ext cx="990600" cy="990600"/>
          </a:xfrm>
          <a:prstGeom prst="rect">
            <a:avLst/>
          </a:prstGeom>
        </p:spPr>
      </p:pic>
      <p:sp>
        <p:nvSpPr>
          <p:cNvPr id="10" name="icon-bg-7"/>
          <p:cNvSpPr/>
          <p:nvPr/>
        </p:nvSpPr>
        <p:spPr>
          <a:xfrm>
            <a:off x="10223500" y="4127500"/>
            <a:ext cx="762000" cy="762000"/>
          </a:xfrm>
          <a:prstGeom prst="ellipse">
            <a:avLst/>
          </a:prstGeom>
          <a:solidFill>
            <a:srgbClr val="FFFFFF"/>
          </a:solidFill>
          <a:ln>
            <a:noFill/>
          </a:ln>
        </p:spPr>
      </p:sp>
      <p:pic>
        <p:nvPicPr>
          <p:cNvPr id="11" name="icon-8" descr="icon-8"/>
          <p:cNvPicPr>
            <a:picLocks noChangeAspect="1"/>
          </p:cNvPicPr>
          <p:nvPr/>
        </p:nvPicPr>
        <p:blipFill>
          <a:blip r:embed="rId6"/>
          <a:stretch>
            <a:fillRect/>
          </a:stretch>
        </p:blipFill>
        <p:spPr>
          <a:xfrm>
            <a:off x="10306050" y="4210050"/>
            <a:ext cx="596900" cy="596900"/>
          </a:xfrm>
          <a:prstGeom prst="rect">
            <a:avLst/>
          </a:prstGeom>
        </p:spPr>
      </p:pic>
      <p:sp>
        <p:nvSpPr>
          <p:cNvPr id="12" name="kicker"/>
          <p:cNvSpPr txBox="1"/>
          <p:nvPr/>
        </p:nvSpPr>
        <p:spPr>
          <a:xfrm>
            <a:off x="762000" y="1407820"/>
            <a:ext cx="3484562" cy="262230"/>
          </a:xfrm>
          <a:prstGeom prst="rect">
            <a:avLst/>
          </a:prstGeom>
          <a:noFill/>
        </p:spPr>
        <p:txBody>
          <a:bodyPr wrap="square" lIns="0" tIns="0" rIns="0" bIns="0" rtlCol="0" anchor="t">
            <a:noAutofit/>
          </a:bodyPr>
          <a:lstStyle/>
          <a:p>
            <a:pPr algn="l">
              <a:lnSpc>
                <a:spcPts val="2450"/>
              </a:lnSpc>
              <a:buNone/>
            </a:pPr>
            <a:r>
              <a:rPr lang="en-US" sz="1800" b="1" dirty="0">
                <a:solidFill>
                  <a:srgbClr val="264F8C"/>
                </a:solidFill>
                <a:latin typeface="Lexend"/>
                <a:ea typeface="Lexend"/>
                <a:cs typeface="Lexend"/>
              </a:rPr>
              <a:t>THERAPIST SPOTLIGHT</a:t>
            </a:r>
            <a:endParaRPr lang="en-US" sz="1800" dirty="0"/>
          </a:p>
        </p:txBody>
      </p:sp>
      <p:grpSp>
        <p:nvGrpSpPr>
          <p:cNvPr id="15" name="block-9"/>
          <p:cNvGrpSpPr/>
          <p:nvPr/>
        </p:nvGrpSpPr>
        <p:grpSpPr>
          <a:xfrm>
            <a:off x="762000" y="1968500"/>
            <a:ext cx="6096000" cy="2298700"/>
            <a:chOff x="0" y="0"/>
            <a:chExt cx="6096000" cy="2298700"/>
          </a:xfrm>
        </p:grpSpPr>
        <p:sp>
          <p:nvSpPr>
            <p:cNvPr id="13" name="title"/>
            <p:cNvSpPr>
              <a:spLocks noGrp="1"/>
            </p:cNvSpPr>
            <p:nvPr>
              <p:ph type="title"/>
            </p:nvPr>
          </p:nvSpPr>
          <p:spPr>
            <a:xfrm>
              <a:off x="0" y="74625"/>
              <a:ext cx="6096000" cy="2224075"/>
            </a:xfrm>
            <a:prstGeom prst="rect">
              <a:avLst/>
            </a:prstGeom>
            <a:noFill/>
          </p:spPr>
          <p:txBody>
            <a:bodyPr wrap="square" lIns="0" tIns="0" rIns="0" bIns="0" rtlCol="0" anchor="t">
              <a:noAutofit/>
            </a:bodyPr>
            <a:lstStyle/>
            <a:p>
              <a:pPr algn="l">
                <a:lnSpc>
                  <a:spcPts val="5824"/>
                </a:lnSpc>
                <a:spcBef>
                  <a:spcPts val="0"/>
                </a:spcBef>
                <a:spcAft>
                  <a:spcPts val="0"/>
                </a:spcAft>
                <a:buNone/>
              </a:pPr>
              <a:r>
                <a:rPr lang="en-US" sz="5200" b="1" dirty="0">
                  <a:solidFill>
                    <a:srgbClr val="1B2A41"/>
                  </a:solidFill>
                  <a:latin typeface="Fraunces"/>
                  <a:ea typeface="Fraunces"/>
                  <a:cs typeface="Fraunces"/>
                </a:rPr>
                <a:t>Speech-Language Therapy &amp; Communication</a:t>
              </a:r>
              <a:endParaRPr lang="en-US" sz="5200" dirty="0"/>
            </a:p>
          </p:txBody>
        </p:sp>
        <p:sp>
          <p:nvSpPr>
            <p:cNvPr id="14" name="subtitle"/>
            <p:cNvSpPr txBox="1"/>
            <p:nvPr/>
          </p:nvSpPr>
          <p:spPr>
            <a:xfrm>
              <a:off x="0" y="2545715"/>
              <a:ext cx="6096000" cy="10991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4A5871"/>
                  </a:solidFill>
                  <a:latin typeface="Lexend"/>
                  <a:ea typeface="Lexend"/>
                  <a:cs typeface="Lexend"/>
                </a:rPr>
                <a:t>How speech-language pathologists help autistic and ADHD people connect and be understood.</a:t>
              </a:r>
              <a:endParaRPr lang="en-US" sz="2200" dirty="0"/>
            </a:p>
          </p:txBody>
        </p:sp>
      </p:grpSp>
      <p:sp>
        <p:nvSpPr>
          <p:cNvPr id="16" name="cover-rule"/>
          <p:cNvSpPr/>
          <p:nvPr/>
        </p:nvSpPr>
        <p:spPr>
          <a:xfrm>
            <a:off x="762000" y="5905500"/>
            <a:ext cx="762000" cy="38100"/>
          </a:xfrm>
          <a:prstGeom prst="roundRect">
            <a:avLst>
              <a:gd name="adj" fmla="val 50000"/>
            </a:avLst>
          </a:prstGeom>
          <a:solidFill>
            <a:srgbClr val="2F5FA7"/>
          </a:solidFill>
          <a:ln>
            <a:noFill/>
          </a:ln>
        </p:spPr>
      </p:sp>
      <p:sp>
        <p:nvSpPr>
          <p:cNvPr id="17" name="footer"/>
          <p:cNvSpPr txBox="1"/>
          <p:nvPr/>
        </p:nvSpPr>
        <p:spPr>
          <a:xfrm>
            <a:off x="762000" y="6042050"/>
            <a:ext cx="1754188" cy="18730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Presentation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02-cards">
    <p:bg>
      <p:bgPr>
        <a:solidFill>
          <a:srgbClr val="F2F5FA"/>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7E3F5"/>
          </a:solidFill>
          <a:ln>
            <a:noFill/>
          </a:ln>
        </p:spPr>
      </p:sp>
      <p:sp>
        <p:nvSpPr>
          <p:cNvPr id="3"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Speech-Language Therapy &amp; Communication</a:t>
            </a:r>
            <a:endParaRPr lang="en-US" sz="1200" dirty="0"/>
          </a:p>
        </p:txBody>
      </p:sp>
      <p:sp>
        <p:nvSpPr>
          <p:cNvPr id="4" name="page-number"/>
          <p:cNvSpPr txBox="1"/>
          <p:nvPr/>
        </p:nvSpPr>
        <p:spPr>
          <a:xfrm>
            <a:off x="10858500" y="6274054"/>
            <a:ext cx="565150" cy="209296"/>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2 / 7</a:t>
            </a:r>
            <a:endParaRPr lang="en-US" sz="1200" dirty="0"/>
          </a:p>
        </p:txBody>
      </p:sp>
      <p:sp>
        <p:nvSpPr>
          <p:cNvPr id="5" name="title-bar-10"/>
          <p:cNvSpPr/>
          <p:nvPr/>
        </p:nvSpPr>
        <p:spPr>
          <a:xfrm>
            <a:off x="762000" y="584200"/>
            <a:ext cx="457200" cy="63500"/>
          </a:xfrm>
          <a:prstGeom prst="roundRect">
            <a:avLst>
              <a:gd name="adj" fmla="val 50000"/>
            </a:avLst>
          </a:prstGeom>
          <a:solidFill>
            <a:srgbClr val="2F5FA7"/>
          </a:solidFill>
          <a:ln>
            <a:noFill/>
          </a:ln>
        </p:spPr>
      </p:sp>
      <p:sp>
        <p:nvSpPr>
          <p:cNvPr id="6" name="title"/>
          <p:cNvSpPr>
            <a:spLocks noGrp="1"/>
          </p:cNvSpPr>
          <p:nvPr>
            <p:ph type="title"/>
          </p:nvPr>
        </p:nvSpPr>
        <p:spPr>
          <a:xfrm>
            <a:off x="762000" y="730593"/>
            <a:ext cx="5889625" cy="374307"/>
          </a:xfrm>
          <a:prstGeom prst="rect">
            <a:avLst/>
          </a:prstGeom>
          <a:noFill/>
        </p:spPr>
        <p:txBody>
          <a:bodyPr wrap="square" lIns="0" tIns="0" rIns="0" bIns="0" rtlCol="0" anchor="t">
            <a:noAutofit/>
          </a:bodyPr>
          <a:lstStyle/>
          <a:p>
            <a:pPr algn="l">
              <a:lnSpc>
                <a:spcPts val="3742"/>
              </a:lnSpc>
              <a:buNone/>
            </a:pPr>
            <a:r>
              <a:rPr lang="en-US" sz="3400" b="1" dirty="0">
                <a:solidFill>
                  <a:srgbClr val="1B2A41"/>
                </a:solidFill>
                <a:latin typeface="Fraunces"/>
                <a:ea typeface="Fraunces"/>
                <a:cs typeface="Fraunces"/>
              </a:rPr>
              <a:t>What an SLP works on</a:t>
            </a:r>
            <a:endParaRPr lang="en-US" sz="3400" dirty="0"/>
          </a:p>
        </p:txBody>
      </p:sp>
      <p:sp>
        <p:nvSpPr>
          <p:cNvPr id="7" name="card-11"/>
          <p:cNvSpPr/>
          <p:nvPr/>
        </p:nvSpPr>
        <p:spPr>
          <a:xfrm>
            <a:off x="774700" y="1790700"/>
            <a:ext cx="3327400" cy="4038600"/>
          </a:xfrm>
          <a:prstGeom prst="roundRect">
            <a:avLst>
              <a:gd name="adj" fmla="val 6679"/>
            </a:avLst>
          </a:prstGeom>
          <a:solidFill>
            <a:srgbClr val="FFFFFF"/>
          </a:solidFill>
          <a:ln w="12700">
            <a:solidFill>
              <a:srgbClr val="DFE5EE"/>
            </a:solidFill>
          </a:ln>
        </p:spPr>
      </p:sp>
      <p:sp>
        <p:nvSpPr>
          <p:cNvPr id="8" name="icon-bg-12"/>
          <p:cNvSpPr/>
          <p:nvPr/>
        </p:nvSpPr>
        <p:spPr>
          <a:xfrm>
            <a:off x="1066800" y="2082800"/>
            <a:ext cx="762000" cy="762000"/>
          </a:xfrm>
          <a:prstGeom prst="ellipse">
            <a:avLst/>
          </a:prstGeom>
          <a:solidFill>
            <a:srgbClr val="D7E3F5"/>
          </a:solidFill>
          <a:ln>
            <a:noFill/>
          </a:ln>
        </p:spPr>
      </p:sp>
      <p:pic>
        <p:nvPicPr>
          <p:cNvPr id="9" name="icon-13" descr="icon-13"/>
          <p:cNvPicPr>
            <a:picLocks noChangeAspect="1"/>
          </p:cNvPicPr>
          <p:nvPr/>
        </p:nvPicPr>
        <p:blipFill>
          <a:blip r:embed="rId3"/>
          <a:stretch>
            <a:fillRect/>
          </a:stretch>
        </p:blipFill>
        <p:spPr>
          <a:xfrm>
            <a:off x="1149350" y="2165350"/>
            <a:ext cx="596900" cy="596900"/>
          </a:xfrm>
          <a:prstGeom prst="rect">
            <a:avLst/>
          </a:prstGeom>
        </p:spPr>
      </p:pic>
      <p:grpSp>
        <p:nvGrpSpPr>
          <p:cNvPr id="12" name="block-16"/>
          <p:cNvGrpSpPr/>
          <p:nvPr/>
        </p:nvGrpSpPr>
        <p:grpSpPr>
          <a:xfrm>
            <a:off x="1066800" y="3111500"/>
            <a:ext cx="2743200" cy="1238250"/>
            <a:chOff x="0" y="0"/>
            <a:chExt cx="2743200" cy="1238250"/>
          </a:xfrm>
        </p:grpSpPr>
        <p:sp>
          <p:nvSpPr>
            <p:cNvPr id="10" name="head-14"/>
            <p:cNvSpPr txBox="1"/>
            <p:nvPr/>
          </p:nvSpPr>
          <p:spPr>
            <a:xfrm>
              <a:off x="0" y="31572"/>
              <a:ext cx="27432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Language</a:t>
              </a:r>
              <a:endParaRPr lang="en-US" sz="2200" dirty="0"/>
            </a:p>
          </p:txBody>
        </p:sp>
        <p:sp>
          <p:nvSpPr>
            <p:cNvPr id="11" name="body-15"/>
            <p:cNvSpPr txBox="1"/>
            <p:nvPr/>
          </p:nvSpPr>
          <p:spPr>
            <a:xfrm>
              <a:off x="0" y="464820"/>
              <a:ext cx="2743200" cy="124968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Understanding words and sentences, and expressing needs and ideas.</a:t>
              </a:r>
              <a:endParaRPr lang="en-US" sz="1800" dirty="0"/>
            </a:p>
          </p:txBody>
        </p:sp>
      </p:grpSp>
      <p:sp>
        <p:nvSpPr>
          <p:cNvPr id="13" name="card-17"/>
          <p:cNvSpPr/>
          <p:nvPr/>
        </p:nvSpPr>
        <p:spPr>
          <a:xfrm>
            <a:off x="4432300" y="1790700"/>
            <a:ext cx="3327400" cy="4038600"/>
          </a:xfrm>
          <a:prstGeom prst="roundRect">
            <a:avLst>
              <a:gd name="adj" fmla="val 6679"/>
            </a:avLst>
          </a:prstGeom>
          <a:solidFill>
            <a:srgbClr val="FFFFFF"/>
          </a:solidFill>
          <a:ln w="12700">
            <a:solidFill>
              <a:srgbClr val="DFE5EE"/>
            </a:solidFill>
          </a:ln>
        </p:spPr>
      </p:sp>
      <p:sp>
        <p:nvSpPr>
          <p:cNvPr id="14" name="icon-bg-18"/>
          <p:cNvSpPr/>
          <p:nvPr/>
        </p:nvSpPr>
        <p:spPr>
          <a:xfrm>
            <a:off x="4724400" y="2082800"/>
            <a:ext cx="762000" cy="762000"/>
          </a:xfrm>
          <a:prstGeom prst="ellipse">
            <a:avLst/>
          </a:prstGeom>
          <a:solidFill>
            <a:srgbClr val="D7E3F5"/>
          </a:solidFill>
          <a:ln>
            <a:noFill/>
          </a:ln>
        </p:spPr>
      </p:sp>
      <p:pic>
        <p:nvPicPr>
          <p:cNvPr id="15" name="icon-19" descr="icon-19"/>
          <p:cNvPicPr>
            <a:picLocks noChangeAspect="1"/>
          </p:cNvPicPr>
          <p:nvPr/>
        </p:nvPicPr>
        <p:blipFill>
          <a:blip r:embed="rId4"/>
          <a:stretch>
            <a:fillRect/>
          </a:stretch>
        </p:blipFill>
        <p:spPr>
          <a:xfrm>
            <a:off x="4806950" y="2165350"/>
            <a:ext cx="596900" cy="596900"/>
          </a:xfrm>
          <a:prstGeom prst="rect">
            <a:avLst/>
          </a:prstGeom>
        </p:spPr>
      </p:pic>
      <p:grpSp>
        <p:nvGrpSpPr>
          <p:cNvPr id="18" name="block-22"/>
          <p:cNvGrpSpPr/>
          <p:nvPr/>
        </p:nvGrpSpPr>
        <p:grpSpPr>
          <a:xfrm>
            <a:off x="4724400" y="3111500"/>
            <a:ext cx="2743200" cy="1238250"/>
            <a:chOff x="0" y="0"/>
            <a:chExt cx="2743200" cy="1238250"/>
          </a:xfrm>
        </p:grpSpPr>
        <p:sp>
          <p:nvSpPr>
            <p:cNvPr id="16" name="head-20"/>
            <p:cNvSpPr txBox="1"/>
            <p:nvPr/>
          </p:nvSpPr>
          <p:spPr>
            <a:xfrm>
              <a:off x="0" y="31572"/>
              <a:ext cx="2743200" cy="62882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Social communication</a:t>
              </a:r>
              <a:endParaRPr lang="en-US" sz="2200" dirty="0"/>
            </a:p>
          </p:txBody>
        </p:sp>
        <p:sp>
          <p:nvSpPr>
            <p:cNvPr id="17" name="body-21"/>
            <p:cNvSpPr txBox="1"/>
            <p:nvPr/>
          </p:nvSpPr>
          <p:spPr>
            <a:xfrm>
              <a:off x="0" y="775970"/>
              <a:ext cx="2743200" cy="124968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Conversation, turn-taking and reading context, on the person's terms.</a:t>
              </a:r>
              <a:endParaRPr lang="en-US" sz="1800" dirty="0"/>
            </a:p>
          </p:txBody>
        </p:sp>
      </p:grpSp>
      <p:sp>
        <p:nvSpPr>
          <p:cNvPr id="19" name="card-23"/>
          <p:cNvSpPr/>
          <p:nvPr/>
        </p:nvSpPr>
        <p:spPr>
          <a:xfrm>
            <a:off x="8089900" y="1790700"/>
            <a:ext cx="3327400" cy="4038600"/>
          </a:xfrm>
          <a:prstGeom prst="roundRect">
            <a:avLst>
              <a:gd name="adj" fmla="val 6679"/>
            </a:avLst>
          </a:prstGeom>
          <a:solidFill>
            <a:srgbClr val="FFFFFF"/>
          </a:solidFill>
          <a:ln w="12700">
            <a:solidFill>
              <a:srgbClr val="DFE5EE"/>
            </a:solidFill>
          </a:ln>
        </p:spPr>
      </p:sp>
      <p:sp>
        <p:nvSpPr>
          <p:cNvPr id="20" name="icon-bg-24"/>
          <p:cNvSpPr/>
          <p:nvPr/>
        </p:nvSpPr>
        <p:spPr>
          <a:xfrm>
            <a:off x="8382000" y="2082800"/>
            <a:ext cx="762000" cy="762000"/>
          </a:xfrm>
          <a:prstGeom prst="ellipse">
            <a:avLst/>
          </a:prstGeom>
          <a:solidFill>
            <a:srgbClr val="D7E3F5"/>
          </a:solidFill>
          <a:ln>
            <a:noFill/>
          </a:ln>
        </p:spPr>
      </p:sp>
      <p:pic>
        <p:nvPicPr>
          <p:cNvPr id="21" name="icon-25" descr="icon-25"/>
          <p:cNvPicPr>
            <a:picLocks noChangeAspect="1"/>
          </p:cNvPicPr>
          <p:nvPr/>
        </p:nvPicPr>
        <p:blipFill>
          <a:blip r:embed="rId5"/>
          <a:stretch>
            <a:fillRect/>
          </a:stretch>
        </p:blipFill>
        <p:spPr>
          <a:xfrm>
            <a:off x="8464550" y="2165350"/>
            <a:ext cx="596900" cy="596900"/>
          </a:xfrm>
          <a:prstGeom prst="rect">
            <a:avLst/>
          </a:prstGeom>
        </p:spPr>
      </p:pic>
      <p:grpSp>
        <p:nvGrpSpPr>
          <p:cNvPr id="24" name="block-28"/>
          <p:cNvGrpSpPr/>
          <p:nvPr/>
        </p:nvGrpSpPr>
        <p:grpSpPr>
          <a:xfrm>
            <a:off x="8382000" y="3111500"/>
            <a:ext cx="2743200" cy="927100"/>
            <a:chOff x="0" y="0"/>
            <a:chExt cx="2743200" cy="927100"/>
          </a:xfrm>
        </p:grpSpPr>
        <p:sp>
          <p:nvSpPr>
            <p:cNvPr id="22" name="head-26"/>
            <p:cNvSpPr txBox="1"/>
            <p:nvPr/>
          </p:nvSpPr>
          <p:spPr>
            <a:xfrm>
              <a:off x="0" y="31572"/>
              <a:ext cx="27432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Speech &amp; AAC</a:t>
              </a:r>
              <a:endParaRPr lang="en-US" sz="2200" dirty="0"/>
            </a:p>
          </p:txBody>
        </p:sp>
        <p:sp>
          <p:nvSpPr>
            <p:cNvPr id="23" name="body-27"/>
            <p:cNvSpPr txBox="1"/>
            <p:nvPr/>
          </p:nvSpPr>
          <p:spPr>
            <a:xfrm>
              <a:off x="0" y="464820"/>
              <a:ext cx="2743200" cy="9385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Clear speech, plus pictures, signs or devices when helpful.</a:t>
              </a:r>
              <a:endParaRPr lang="en-US" sz="18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03-idea">
    <p:bg>
      <p:bgPr>
        <a:solidFill>
          <a:srgbClr val="2F5FA7"/>
        </a:solidFill>
        <a:effectLst/>
      </p:bgPr>
    </p:bg>
    <p:spTree>
      <p:nvGrpSpPr>
        <p:cNvPr id="1" name=""/>
        <p:cNvGrpSpPr/>
        <p:nvPr/>
      </p:nvGrpSpPr>
      <p:grpSpPr>
        <a:xfrm>
          <a:off x="0" y="0"/>
          <a:ext cx="0" cy="0"/>
          <a:chOff x="0" y="0"/>
          <a:chExt cx="0" cy="0"/>
        </a:xfrm>
      </p:grpSpPr>
      <p:sp>
        <p:nvSpPr>
          <p:cNvPr id="2" name="idea-disc"/>
          <p:cNvSpPr/>
          <p:nvPr/>
        </p:nvSpPr>
        <p:spPr>
          <a:xfrm>
            <a:off x="-1397000" y="3937000"/>
            <a:ext cx="4064000" cy="4064000"/>
          </a:xfrm>
          <a:prstGeom prst="ellipse">
            <a:avLst/>
          </a:prstGeom>
          <a:solidFill>
            <a:srgbClr val="FFFFFF">
              <a:alpha val="8000"/>
            </a:srgbClr>
          </a:solidFill>
          <a:ln>
            <a:noFill/>
          </a:ln>
        </p:spPr>
      </p:sp>
      <p:sp>
        <p:nvSpPr>
          <p:cNvPr id="3" name="idea-disc-2"/>
          <p:cNvSpPr/>
          <p:nvPr/>
        </p:nvSpPr>
        <p:spPr>
          <a:xfrm>
            <a:off x="9906000" y="-1016000"/>
            <a:ext cx="3302000" cy="3302000"/>
          </a:xfrm>
          <a:prstGeom prst="ellipse">
            <a:avLst/>
          </a:prstGeom>
          <a:solidFill>
            <a:srgbClr val="FFFFFF">
              <a:alpha val="8000"/>
            </a:srgbClr>
          </a:solidFill>
          <a:ln>
            <a:noFill/>
          </a:ln>
        </p:spPr>
      </p:sp>
      <p:sp>
        <p:nvSpPr>
          <p:cNvPr id="4" name="icon-bg-29"/>
          <p:cNvSpPr/>
          <p:nvPr/>
        </p:nvSpPr>
        <p:spPr>
          <a:xfrm>
            <a:off x="5715000" y="1206500"/>
            <a:ext cx="762000" cy="762000"/>
          </a:xfrm>
          <a:prstGeom prst="ellipse">
            <a:avLst/>
          </a:prstGeom>
          <a:solidFill>
            <a:srgbClr val="E6EEFA"/>
          </a:solidFill>
          <a:ln>
            <a:noFill/>
          </a:ln>
        </p:spPr>
      </p:sp>
      <p:pic>
        <p:nvPicPr>
          <p:cNvPr id="5" name="icon-30" descr="icon-30"/>
          <p:cNvPicPr>
            <a:picLocks noChangeAspect="1"/>
          </p:cNvPicPr>
          <p:nvPr/>
        </p:nvPicPr>
        <p:blipFill>
          <a:blip r:embed="rId3"/>
          <a:stretch>
            <a:fillRect/>
          </a:stretch>
        </p:blipFill>
        <p:spPr>
          <a:xfrm>
            <a:off x="5797550" y="1289050"/>
            <a:ext cx="596900" cy="596900"/>
          </a:xfrm>
          <a:prstGeom prst="rect">
            <a:avLst/>
          </a:prstGeom>
        </p:spPr>
      </p:pic>
      <p:sp>
        <p:nvSpPr>
          <p:cNvPr id="6" name="kicker"/>
          <p:cNvSpPr txBox="1"/>
          <p:nvPr/>
        </p:nvSpPr>
        <p:spPr>
          <a:xfrm>
            <a:off x="5524500" y="2192020"/>
            <a:ext cx="1485900" cy="259080"/>
          </a:xfrm>
          <a:prstGeom prst="rect">
            <a:avLst/>
          </a:prstGeom>
          <a:noFill/>
        </p:spPr>
        <p:txBody>
          <a:bodyPr wrap="square" lIns="0" tIns="0" rIns="0" bIns="0" rtlCol="0" anchor="t">
            <a:noAutofit/>
          </a:bodyPr>
          <a:lstStyle/>
          <a:p>
            <a:pPr algn="l">
              <a:lnSpc>
                <a:spcPts val="2450"/>
              </a:lnSpc>
              <a:buNone/>
            </a:pPr>
            <a:r>
              <a:rPr lang="en-US" sz="1800" b="1" dirty="0">
                <a:solidFill>
                  <a:srgbClr val="FFFFFF"/>
                </a:solidFill>
                <a:latin typeface="Lexend"/>
                <a:ea typeface="Lexend"/>
                <a:cs typeface="Lexend"/>
              </a:rPr>
              <a:t>KEY IDEA</a:t>
            </a:r>
            <a:endParaRPr lang="en-US" sz="1800" dirty="0"/>
          </a:p>
        </p:txBody>
      </p:sp>
      <p:grpSp>
        <p:nvGrpSpPr>
          <p:cNvPr id="9" name="block-31"/>
          <p:cNvGrpSpPr/>
          <p:nvPr/>
        </p:nvGrpSpPr>
        <p:grpSpPr>
          <a:xfrm>
            <a:off x="1333500" y="2794000"/>
            <a:ext cx="9525000" cy="1022350"/>
            <a:chOff x="0" y="0"/>
            <a:chExt cx="9525000" cy="1022350"/>
          </a:xfrm>
        </p:grpSpPr>
        <p:sp>
          <p:nvSpPr>
            <p:cNvPr id="7" name="statement"/>
            <p:cNvSpPr txBox="1"/>
            <p:nvPr/>
          </p:nvSpPr>
          <p:spPr>
            <a:xfrm>
              <a:off x="0" y="48793"/>
              <a:ext cx="9525000" cy="973557"/>
            </a:xfrm>
            <a:prstGeom prst="rect">
              <a:avLst/>
            </a:prstGeom>
            <a:noFill/>
          </p:spPr>
          <p:txBody>
            <a:bodyPr wrap="square" lIns="0" tIns="0" rIns="0" bIns="0" rtlCol="0" anchor="t">
              <a:noAutofit/>
            </a:bodyPr>
            <a:lstStyle/>
            <a:p>
              <a:pPr algn="ctr">
                <a:lnSpc>
                  <a:spcPts val="3808"/>
                </a:lnSpc>
                <a:spcBef>
                  <a:spcPts val="0"/>
                </a:spcBef>
                <a:spcAft>
                  <a:spcPts val="0"/>
                </a:spcAft>
                <a:buNone/>
              </a:pPr>
              <a:r>
                <a:rPr lang="en-US" sz="3400" b="1" dirty="0">
                  <a:solidFill>
                    <a:srgbClr val="FFFFFF"/>
                  </a:solidFill>
                  <a:latin typeface="Fraunces"/>
                  <a:ea typeface="Fraunces"/>
                  <a:cs typeface="Fraunces"/>
                </a:rPr>
                <a:t>All communication counts: speech, signs, pictures, devices and behavior.</a:t>
              </a:r>
              <a:endParaRPr lang="en-US" sz="3400" dirty="0"/>
            </a:p>
          </p:txBody>
        </p:sp>
        <p:sp>
          <p:nvSpPr>
            <p:cNvPr id="8" name="subtitle"/>
            <p:cNvSpPr txBox="1"/>
            <p:nvPr/>
          </p:nvSpPr>
          <p:spPr>
            <a:xfrm>
              <a:off x="0" y="1264920"/>
              <a:ext cx="9525000" cy="32258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FFFFFF"/>
                  </a:solidFill>
                  <a:latin typeface="Lexend"/>
                  <a:ea typeface="Lexend"/>
                  <a:cs typeface="Lexend"/>
                </a:rPr>
                <a:t>Every person deserves a reliable way to be heard.</a:t>
              </a:r>
              <a:endParaRPr lang="en-US" sz="1800" dirty="0"/>
            </a:p>
          </p:txBody>
        </p:sp>
      </p:grpSp>
      <p:sp>
        <p:nvSpPr>
          <p:cNvPr id="10"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Speech-Language Therapy &amp; Communication</a:t>
            </a:r>
            <a:endParaRPr lang="en-US" sz="1200" dirty="0"/>
          </a:p>
        </p:txBody>
      </p:sp>
      <p:sp>
        <p:nvSpPr>
          <p:cNvPr id="11"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FFFFFF"/>
                </a:solidFill>
                <a:latin typeface="Lexend"/>
                <a:ea typeface="Lexend"/>
                <a:cs typeface="Lexend"/>
              </a:rPr>
              <a:t>3 /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04-split">
    <p:bg>
      <p:bgPr>
        <a:solidFill>
          <a:srgbClr val="F2F5FA"/>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7E3F5"/>
          </a:solidFill>
          <a:ln>
            <a:noFill/>
          </a:ln>
        </p:spPr>
      </p:sp>
      <p:sp>
        <p:nvSpPr>
          <p:cNvPr id="3"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Speech-Language Therapy &amp; Communication</a:t>
            </a:r>
            <a:endParaRPr lang="en-US" sz="1200" dirty="0"/>
          </a:p>
        </p:txBody>
      </p:sp>
      <p:sp>
        <p:nvSpPr>
          <p:cNvPr id="4" name="page-number"/>
          <p:cNvSpPr txBox="1"/>
          <p:nvPr/>
        </p:nvSpPr>
        <p:spPr>
          <a:xfrm>
            <a:off x="10858500" y="6272530"/>
            <a:ext cx="577850" cy="20447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4 / 7</a:t>
            </a:r>
            <a:endParaRPr lang="en-US" sz="1200" dirty="0"/>
          </a:p>
        </p:txBody>
      </p:sp>
      <p:sp>
        <p:nvSpPr>
          <p:cNvPr id="5" name="title-bar-32"/>
          <p:cNvSpPr/>
          <p:nvPr/>
        </p:nvSpPr>
        <p:spPr>
          <a:xfrm>
            <a:off x="762000" y="584200"/>
            <a:ext cx="457200" cy="63500"/>
          </a:xfrm>
          <a:prstGeom prst="roundRect">
            <a:avLst>
              <a:gd name="adj" fmla="val 50000"/>
            </a:avLst>
          </a:prstGeom>
          <a:solidFill>
            <a:srgbClr val="2F5FA7"/>
          </a:solidFill>
          <a:ln>
            <a:noFill/>
          </a:ln>
        </p:spPr>
      </p:sp>
      <p:sp>
        <p:nvSpPr>
          <p:cNvPr id="6" name="title"/>
          <p:cNvSpPr>
            <a:spLocks noGrp="1"/>
          </p:cNvSpPr>
          <p:nvPr>
            <p:ph type="title"/>
          </p:nvPr>
        </p:nvSpPr>
        <p:spPr>
          <a:xfrm>
            <a:off x="762000" y="730593"/>
            <a:ext cx="6469062" cy="469557"/>
          </a:xfrm>
          <a:prstGeom prst="rect">
            <a:avLst/>
          </a:prstGeom>
          <a:noFill/>
        </p:spPr>
        <p:txBody>
          <a:bodyPr wrap="square" lIns="0" tIns="0" rIns="0" bIns="0" rtlCol="0" anchor="t">
            <a:noAutofit/>
          </a:bodyPr>
          <a:lstStyle/>
          <a:p>
            <a:pPr algn="l">
              <a:lnSpc>
                <a:spcPts val="3742"/>
              </a:lnSpc>
              <a:buNone/>
            </a:pPr>
            <a:r>
              <a:rPr lang="en-US" sz="3400" b="1" dirty="0">
                <a:solidFill>
                  <a:srgbClr val="1B2A41"/>
                </a:solidFill>
                <a:latin typeface="Fraunces"/>
                <a:ea typeface="Fraunces"/>
                <a:cs typeface="Fraunces"/>
              </a:rPr>
              <a:t>AAC: another way to talk</a:t>
            </a:r>
            <a:endParaRPr lang="en-US" sz="3400" dirty="0"/>
          </a:p>
        </p:txBody>
      </p:sp>
      <p:sp>
        <p:nvSpPr>
          <p:cNvPr id="7" name="body"/>
          <p:cNvSpPr txBox="1"/>
          <p:nvPr/>
        </p:nvSpPr>
        <p:spPr>
          <a:xfrm>
            <a:off x="762000" y="1898015"/>
            <a:ext cx="5588000" cy="2534285"/>
          </a:xfrm>
          <a:prstGeom prst="rect">
            <a:avLst/>
          </a:prstGeom>
          <a:noFill/>
        </p:spPr>
        <p:txBody>
          <a:bodyPr wrap="square" lIns="0" tIns="0" rIns="0" bIns="0" rtlCol="0" anchor="t">
            <a:noAutofit/>
          </a:bodyPr>
          <a:lstStyle/>
          <a:p>
            <a:pPr algn="l" marL="391160" indent="-391160" lvl="0">
              <a:lnSpc>
                <a:spcPts val="2860"/>
              </a:lnSpc>
              <a:spcBef>
                <a:spcPts val="0"/>
              </a:spcBef>
              <a:spcAft>
                <a:spcPts val="1400"/>
              </a:spcAft>
              <a:buFont typeface="Arial"/>
              <a:buChar char="•"/>
            </a:pPr>
            <a:r>
              <a:rPr lang="en-US" sz="2200" dirty="0">
                <a:solidFill>
                  <a:srgbClr val="1B2A41"/>
                </a:solidFill>
                <a:latin typeface="Lexend"/>
                <a:ea typeface="Lexend"/>
                <a:cs typeface="Lexend"/>
              </a:rPr>
              <a:t>Picture boards and communication books</a:t>
            </a:r>
            <a:endParaRPr lang="en-US" sz="2200" dirty="0"/>
          </a:p>
          <a:p>
            <a:pPr algn="l" marL="391160" indent="-391160" lvl="0">
              <a:lnSpc>
                <a:spcPts val="2860"/>
              </a:lnSpc>
              <a:spcBef>
                <a:spcPts val="0"/>
              </a:spcBef>
              <a:spcAft>
                <a:spcPts val="1400"/>
              </a:spcAft>
              <a:buFont typeface="Arial"/>
              <a:buChar char="•"/>
            </a:pPr>
            <a:r>
              <a:rPr lang="en-US" sz="2200" dirty="0">
                <a:solidFill>
                  <a:srgbClr val="1B2A41"/>
                </a:solidFill>
                <a:latin typeface="Lexend"/>
                <a:ea typeface="Lexend"/>
                <a:cs typeface="Lexend"/>
              </a:rPr>
              <a:t>Speech-generating apps and devices</a:t>
            </a:r>
            <a:endParaRPr lang="en-US" sz="2200" dirty="0"/>
          </a:p>
          <a:p>
            <a:pPr algn="l" marL="391160" indent="-391160" lvl="0">
              <a:lnSpc>
                <a:spcPts val="2860"/>
              </a:lnSpc>
              <a:spcBef>
                <a:spcPts val="0"/>
              </a:spcBef>
              <a:spcAft>
                <a:spcPts val="1400"/>
              </a:spcAft>
              <a:buFont typeface="Arial"/>
              <a:buChar char="•"/>
            </a:pPr>
            <a:r>
              <a:rPr lang="en-US" sz="2200" dirty="0">
                <a:solidFill>
                  <a:srgbClr val="1B2A41"/>
                </a:solidFill>
                <a:latin typeface="Lexend"/>
                <a:ea typeface="Lexend"/>
                <a:cs typeface="Lexend"/>
              </a:rPr>
              <a:t>Sign language and gestures</a:t>
            </a:r>
            <a:endParaRPr lang="en-US" sz="2200" dirty="0"/>
          </a:p>
          <a:p>
            <a:pPr algn="l" marL="391160" indent="-391160" lvl="0">
              <a:lnSpc>
                <a:spcPts val="2860"/>
              </a:lnSpc>
              <a:spcBef>
                <a:spcPts val="0"/>
              </a:spcBef>
              <a:spcAft>
                <a:spcPts val="1400"/>
              </a:spcAft>
              <a:buFont typeface="Arial"/>
              <a:buChar char="•"/>
            </a:pPr>
            <a:r>
              <a:rPr lang="en-US" sz="2200" dirty="0">
                <a:solidFill>
                  <a:srgbClr val="1B2A41"/>
                </a:solidFill>
                <a:latin typeface="Lexend"/>
                <a:ea typeface="Lexend"/>
                <a:cs typeface="Lexend"/>
              </a:rPr>
              <a:t>Useful for full-time or part-time use</a:t>
            </a:r>
            <a:endParaRPr lang="en-US" sz="2200" dirty="0"/>
          </a:p>
        </p:txBody>
      </p:sp>
      <p:sp>
        <p:nvSpPr>
          <p:cNvPr id="8" name="panel"/>
          <p:cNvSpPr/>
          <p:nvPr/>
        </p:nvSpPr>
        <p:spPr>
          <a:xfrm>
            <a:off x="7048500" y="1701800"/>
            <a:ext cx="4381500" cy="4381500"/>
          </a:xfrm>
          <a:prstGeom prst="roundRect">
            <a:avLst>
              <a:gd name="adj" fmla="val 5797"/>
            </a:avLst>
          </a:prstGeom>
          <a:solidFill>
            <a:srgbClr val="2F5FA7"/>
          </a:solidFill>
          <a:ln>
            <a:noFill/>
          </a:ln>
        </p:spPr>
      </p:sp>
      <p:sp>
        <p:nvSpPr>
          <p:cNvPr id="9" name="icon-bg-33"/>
          <p:cNvSpPr/>
          <p:nvPr/>
        </p:nvSpPr>
        <p:spPr>
          <a:xfrm>
            <a:off x="7404100" y="2057400"/>
            <a:ext cx="762000" cy="762000"/>
          </a:xfrm>
          <a:prstGeom prst="ellipse">
            <a:avLst/>
          </a:prstGeom>
          <a:solidFill>
            <a:srgbClr val="E6EEFA"/>
          </a:solidFill>
          <a:ln>
            <a:noFill/>
          </a:ln>
        </p:spPr>
      </p:sp>
      <p:pic>
        <p:nvPicPr>
          <p:cNvPr id="10" name="icon-34" descr="icon-34"/>
          <p:cNvPicPr>
            <a:picLocks noChangeAspect="1"/>
          </p:cNvPicPr>
          <p:nvPr/>
        </p:nvPicPr>
        <p:blipFill>
          <a:blip r:embed="rId3"/>
          <a:stretch>
            <a:fillRect/>
          </a:stretch>
        </p:blipFill>
        <p:spPr>
          <a:xfrm>
            <a:off x="7486650" y="2139950"/>
            <a:ext cx="596900" cy="596900"/>
          </a:xfrm>
          <a:prstGeom prst="rect">
            <a:avLst/>
          </a:prstGeom>
        </p:spPr>
      </p:pic>
      <p:grpSp>
        <p:nvGrpSpPr>
          <p:cNvPr id="13" name="block-35"/>
          <p:cNvGrpSpPr/>
          <p:nvPr/>
        </p:nvGrpSpPr>
        <p:grpSpPr>
          <a:xfrm>
            <a:off x="7404100" y="3098800"/>
            <a:ext cx="3670300" cy="1282700"/>
            <a:chOff x="0" y="0"/>
            <a:chExt cx="3670300" cy="1282700"/>
          </a:xfrm>
        </p:grpSpPr>
        <p:sp>
          <p:nvSpPr>
            <p:cNvPr id="11" name="panel-head"/>
            <p:cNvSpPr txBox="1"/>
            <p:nvPr/>
          </p:nvSpPr>
          <p:spPr>
            <a:xfrm>
              <a:off x="0" y="40183"/>
              <a:ext cx="3670300" cy="798017"/>
            </a:xfrm>
            <a:prstGeom prst="rect">
              <a:avLst/>
            </a:prstGeom>
            <a:noFill/>
          </p:spPr>
          <p:txBody>
            <a:bodyPr wrap="square" lIns="0" tIns="0" rIns="0" bIns="0" rtlCol="0" anchor="t">
              <a:noAutofit/>
            </a:bodyPr>
            <a:lstStyle/>
            <a:p>
              <a:pPr algn="l">
                <a:lnSpc>
                  <a:spcPts val="3136"/>
                </a:lnSpc>
                <a:spcBef>
                  <a:spcPts val="0"/>
                </a:spcBef>
                <a:spcAft>
                  <a:spcPts val="0"/>
                </a:spcAft>
                <a:buNone/>
              </a:pPr>
              <a:r>
                <a:rPr lang="en-US" sz="2800" b="1" dirty="0">
                  <a:solidFill>
                    <a:srgbClr val="FFFFFF"/>
                  </a:solidFill>
                  <a:latin typeface="Fraunces"/>
                  <a:ea typeface="Fraunces"/>
                  <a:cs typeface="Fraunces"/>
                </a:rPr>
                <a:t>Myth: AAC stops speech</a:t>
              </a:r>
              <a:endParaRPr lang="en-US" sz="2800" dirty="0"/>
            </a:p>
          </p:txBody>
        </p:sp>
        <p:sp>
          <p:nvSpPr>
            <p:cNvPr id="12" name="panel-body"/>
            <p:cNvSpPr txBox="1"/>
            <p:nvPr/>
          </p:nvSpPr>
          <p:spPr>
            <a:xfrm>
              <a:off x="0" y="973455"/>
              <a:ext cx="3670300" cy="1299845"/>
            </a:xfrm>
            <a:prstGeom prst="rect">
              <a:avLst/>
            </a:prstGeom>
            <a:noFill/>
          </p:spPr>
          <p:txBody>
            <a:bodyPr wrap="square" lIns="0" tIns="0" rIns="0" bIns="0" rtlCol="0" anchor="t">
              <a:noAutofit/>
            </a:bodyPr>
            <a:lstStyle/>
            <a:p>
              <a:pPr algn="l">
                <a:lnSpc>
                  <a:spcPts val="2520"/>
                </a:lnSpc>
                <a:spcBef>
                  <a:spcPts val="0"/>
                </a:spcBef>
                <a:spcAft>
                  <a:spcPts val="0"/>
                </a:spcAft>
                <a:buNone/>
              </a:pPr>
              <a:r>
                <a:rPr lang="en-US" sz="1800" dirty="0">
                  <a:solidFill>
                    <a:srgbClr val="FFFFFF"/>
                  </a:solidFill>
                  <a:latin typeface="Lexend"/>
                  <a:ea typeface="Lexend"/>
                  <a:cs typeface="Lexend"/>
                </a:rPr>
                <a:t>Research shows AAC does not hold back speech, and it can support speech development. It also reduces frustration.</a:t>
              </a:r>
              <a:endParaRPr lang="en-US" sz="18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05-cards">
    <p:bg>
      <p:bgPr>
        <a:solidFill>
          <a:srgbClr val="F2F5FA"/>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7E3F5"/>
          </a:solidFill>
          <a:ln>
            <a:noFill/>
          </a:ln>
        </p:spPr>
      </p:sp>
      <p:sp>
        <p:nvSpPr>
          <p:cNvPr id="3"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Speech-Language Therapy &amp; Communication</a:t>
            </a:r>
            <a:endParaRPr lang="en-US" sz="1200" dirty="0"/>
          </a:p>
        </p:txBody>
      </p:sp>
      <p:sp>
        <p:nvSpPr>
          <p:cNvPr id="4" name="page-number"/>
          <p:cNvSpPr txBox="1"/>
          <p:nvPr/>
        </p:nvSpPr>
        <p:spPr>
          <a:xfrm>
            <a:off x="10858500" y="6272530"/>
            <a:ext cx="571500" cy="20447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5 / 7</a:t>
            </a:r>
            <a:endParaRPr lang="en-US" sz="1200" dirty="0"/>
          </a:p>
        </p:txBody>
      </p:sp>
      <p:sp>
        <p:nvSpPr>
          <p:cNvPr id="5" name="title-bar-36"/>
          <p:cNvSpPr/>
          <p:nvPr/>
        </p:nvSpPr>
        <p:spPr>
          <a:xfrm>
            <a:off x="762000" y="584200"/>
            <a:ext cx="457200" cy="63500"/>
          </a:xfrm>
          <a:prstGeom prst="roundRect">
            <a:avLst>
              <a:gd name="adj" fmla="val 50000"/>
            </a:avLst>
          </a:prstGeom>
          <a:solidFill>
            <a:srgbClr val="2F5FA7"/>
          </a:solidFill>
          <a:ln>
            <a:noFill/>
          </a:ln>
        </p:spPr>
      </p:sp>
      <p:sp>
        <p:nvSpPr>
          <p:cNvPr id="6" name="title"/>
          <p:cNvSpPr>
            <a:spLocks noGrp="1"/>
          </p:cNvSpPr>
          <p:nvPr>
            <p:ph type="title"/>
          </p:nvPr>
        </p:nvSpPr>
        <p:spPr>
          <a:xfrm>
            <a:off x="762000" y="730593"/>
            <a:ext cx="7040562" cy="469557"/>
          </a:xfrm>
          <a:prstGeom prst="rect">
            <a:avLst/>
          </a:prstGeom>
          <a:noFill/>
        </p:spPr>
        <p:txBody>
          <a:bodyPr wrap="square" lIns="0" tIns="0" rIns="0" bIns="0" rtlCol="0" anchor="t">
            <a:noAutofit/>
          </a:bodyPr>
          <a:lstStyle/>
          <a:p>
            <a:pPr algn="l">
              <a:lnSpc>
                <a:spcPts val="3742"/>
              </a:lnSpc>
              <a:buNone/>
            </a:pPr>
            <a:r>
              <a:rPr lang="en-US" sz="3400" b="1" dirty="0">
                <a:solidFill>
                  <a:srgbClr val="1B2A41"/>
                </a:solidFill>
                <a:latin typeface="Fraunces"/>
                <a:ea typeface="Fraunces"/>
                <a:cs typeface="Fraunces"/>
              </a:rPr>
              <a:t>How SLPs help with ADHD</a:t>
            </a:r>
            <a:endParaRPr lang="en-US" sz="3400" dirty="0"/>
          </a:p>
        </p:txBody>
      </p:sp>
      <p:sp>
        <p:nvSpPr>
          <p:cNvPr id="7" name="card-37"/>
          <p:cNvSpPr/>
          <p:nvPr/>
        </p:nvSpPr>
        <p:spPr>
          <a:xfrm>
            <a:off x="774700" y="1714500"/>
            <a:ext cx="5156200" cy="2006600"/>
          </a:xfrm>
          <a:prstGeom prst="roundRect">
            <a:avLst>
              <a:gd name="adj" fmla="val 9810"/>
            </a:avLst>
          </a:prstGeom>
          <a:solidFill>
            <a:srgbClr val="FFFFFF"/>
          </a:solidFill>
          <a:ln w="12700">
            <a:solidFill>
              <a:srgbClr val="DFE5EE"/>
            </a:solidFill>
          </a:ln>
        </p:spPr>
      </p:sp>
      <p:sp>
        <p:nvSpPr>
          <p:cNvPr id="8" name="icon-bg-38"/>
          <p:cNvSpPr/>
          <p:nvPr/>
        </p:nvSpPr>
        <p:spPr>
          <a:xfrm>
            <a:off x="1016000" y="1981200"/>
            <a:ext cx="762000" cy="762000"/>
          </a:xfrm>
          <a:prstGeom prst="ellipse">
            <a:avLst/>
          </a:prstGeom>
          <a:solidFill>
            <a:srgbClr val="D7E3F5"/>
          </a:solidFill>
          <a:ln>
            <a:noFill/>
          </a:ln>
        </p:spPr>
      </p:sp>
      <p:pic>
        <p:nvPicPr>
          <p:cNvPr id="9" name="icon-39" descr="icon-39"/>
          <p:cNvPicPr>
            <a:picLocks noChangeAspect="1"/>
          </p:cNvPicPr>
          <p:nvPr/>
        </p:nvPicPr>
        <p:blipFill>
          <a:blip r:embed="rId3"/>
          <a:stretch>
            <a:fillRect/>
          </a:stretch>
        </p:blipFill>
        <p:spPr>
          <a:xfrm>
            <a:off x="1098550" y="2063750"/>
            <a:ext cx="596900" cy="596900"/>
          </a:xfrm>
          <a:prstGeom prst="rect">
            <a:avLst/>
          </a:prstGeom>
        </p:spPr>
      </p:pic>
      <p:grpSp>
        <p:nvGrpSpPr>
          <p:cNvPr id="12" name="block-42"/>
          <p:cNvGrpSpPr/>
          <p:nvPr/>
        </p:nvGrpSpPr>
        <p:grpSpPr>
          <a:xfrm>
            <a:off x="1968500" y="1993900"/>
            <a:ext cx="3721100" cy="622300"/>
            <a:chOff x="0" y="0"/>
            <a:chExt cx="3721100" cy="622300"/>
          </a:xfrm>
        </p:grpSpPr>
        <p:sp>
          <p:nvSpPr>
            <p:cNvPr id="10" name="head-40"/>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Following directions</a:t>
              </a:r>
              <a:endParaRPr lang="en-US" sz="2200" dirty="0"/>
            </a:p>
          </p:txBody>
        </p:sp>
        <p:sp>
          <p:nvSpPr>
            <p:cNvPr id="11" name="body-41"/>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Strategies for multi-step instructions and listening.</a:t>
              </a:r>
              <a:endParaRPr lang="en-US" sz="1800" dirty="0"/>
            </a:p>
          </p:txBody>
        </p:sp>
      </p:grpSp>
      <p:sp>
        <p:nvSpPr>
          <p:cNvPr id="13" name="card-43"/>
          <p:cNvSpPr/>
          <p:nvPr/>
        </p:nvSpPr>
        <p:spPr>
          <a:xfrm>
            <a:off x="6261100" y="1714500"/>
            <a:ext cx="5156200" cy="2006600"/>
          </a:xfrm>
          <a:prstGeom prst="roundRect">
            <a:avLst>
              <a:gd name="adj" fmla="val 9810"/>
            </a:avLst>
          </a:prstGeom>
          <a:solidFill>
            <a:srgbClr val="FFFFFF"/>
          </a:solidFill>
          <a:ln w="12700">
            <a:solidFill>
              <a:srgbClr val="DFE5EE"/>
            </a:solidFill>
          </a:ln>
        </p:spPr>
      </p:sp>
      <p:sp>
        <p:nvSpPr>
          <p:cNvPr id="14" name="icon-bg-44"/>
          <p:cNvSpPr/>
          <p:nvPr/>
        </p:nvSpPr>
        <p:spPr>
          <a:xfrm>
            <a:off x="6502400" y="1981200"/>
            <a:ext cx="762000" cy="762000"/>
          </a:xfrm>
          <a:prstGeom prst="ellipse">
            <a:avLst/>
          </a:prstGeom>
          <a:solidFill>
            <a:srgbClr val="D7E3F5"/>
          </a:solidFill>
          <a:ln>
            <a:noFill/>
          </a:ln>
        </p:spPr>
      </p:sp>
      <p:pic>
        <p:nvPicPr>
          <p:cNvPr id="15" name="icon-45" descr="icon-45"/>
          <p:cNvPicPr>
            <a:picLocks noChangeAspect="1"/>
          </p:cNvPicPr>
          <p:nvPr/>
        </p:nvPicPr>
        <p:blipFill>
          <a:blip r:embed="rId4"/>
          <a:stretch>
            <a:fillRect/>
          </a:stretch>
        </p:blipFill>
        <p:spPr>
          <a:xfrm>
            <a:off x="6584950" y="2063750"/>
            <a:ext cx="596900" cy="596900"/>
          </a:xfrm>
          <a:prstGeom prst="rect">
            <a:avLst/>
          </a:prstGeom>
        </p:spPr>
      </p:pic>
      <p:grpSp>
        <p:nvGrpSpPr>
          <p:cNvPr id="18" name="block-48"/>
          <p:cNvGrpSpPr/>
          <p:nvPr/>
        </p:nvGrpSpPr>
        <p:grpSpPr>
          <a:xfrm>
            <a:off x="7454900" y="1993900"/>
            <a:ext cx="3721100" cy="622300"/>
            <a:chOff x="0" y="0"/>
            <a:chExt cx="3721100" cy="622300"/>
          </a:xfrm>
        </p:grpSpPr>
        <p:sp>
          <p:nvSpPr>
            <p:cNvPr id="16" name="head-46"/>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Storytelling &amp; writing</a:t>
              </a:r>
              <a:endParaRPr lang="en-US" sz="2200" dirty="0"/>
            </a:p>
          </p:txBody>
        </p:sp>
        <p:sp>
          <p:nvSpPr>
            <p:cNvPr id="17" name="body-47"/>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Organizing ideas into a clear beginning, middle and end.</a:t>
              </a:r>
              <a:endParaRPr lang="en-US" sz="1800" dirty="0"/>
            </a:p>
          </p:txBody>
        </p:sp>
      </p:grpSp>
      <p:sp>
        <p:nvSpPr>
          <p:cNvPr id="19" name="card-49"/>
          <p:cNvSpPr/>
          <p:nvPr/>
        </p:nvSpPr>
        <p:spPr>
          <a:xfrm>
            <a:off x="774700" y="4051300"/>
            <a:ext cx="5156200" cy="2006600"/>
          </a:xfrm>
          <a:prstGeom prst="roundRect">
            <a:avLst>
              <a:gd name="adj" fmla="val 9810"/>
            </a:avLst>
          </a:prstGeom>
          <a:solidFill>
            <a:srgbClr val="FFFFFF"/>
          </a:solidFill>
          <a:ln w="12700">
            <a:solidFill>
              <a:srgbClr val="DFE5EE"/>
            </a:solidFill>
          </a:ln>
        </p:spPr>
      </p:sp>
      <p:sp>
        <p:nvSpPr>
          <p:cNvPr id="20" name="icon-bg-50"/>
          <p:cNvSpPr/>
          <p:nvPr/>
        </p:nvSpPr>
        <p:spPr>
          <a:xfrm>
            <a:off x="1016000" y="4318000"/>
            <a:ext cx="762000" cy="762000"/>
          </a:xfrm>
          <a:prstGeom prst="ellipse">
            <a:avLst/>
          </a:prstGeom>
          <a:solidFill>
            <a:srgbClr val="D7E3F5"/>
          </a:solidFill>
          <a:ln>
            <a:noFill/>
          </a:ln>
        </p:spPr>
      </p:sp>
      <p:pic>
        <p:nvPicPr>
          <p:cNvPr id="21" name="icon-51" descr="icon-51"/>
          <p:cNvPicPr>
            <a:picLocks noChangeAspect="1"/>
          </p:cNvPicPr>
          <p:nvPr/>
        </p:nvPicPr>
        <p:blipFill>
          <a:blip r:embed="rId5"/>
          <a:stretch>
            <a:fillRect/>
          </a:stretch>
        </p:blipFill>
        <p:spPr>
          <a:xfrm>
            <a:off x="1098550" y="4400550"/>
            <a:ext cx="596900" cy="596900"/>
          </a:xfrm>
          <a:prstGeom prst="rect">
            <a:avLst/>
          </a:prstGeom>
        </p:spPr>
      </p:pic>
      <p:grpSp>
        <p:nvGrpSpPr>
          <p:cNvPr id="24" name="block-54"/>
          <p:cNvGrpSpPr/>
          <p:nvPr/>
        </p:nvGrpSpPr>
        <p:grpSpPr>
          <a:xfrm>
            <a:off x="1968500" y="4330700"/>
            <a:ext cx="3721100" cy="622300"/>
            <a:chOff x="0" y="0"/>
            <a:chExt cx="3721100" cy="622300"/>
          </a:xfrm>
        </p:grpSpPr>
        <p:sp>
          <p:nvSpPr>
            <p:cNvPr id="22" name="head-52"/>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Conversation flow</a:t>
              </a:r>
              <a:endParaRPr lang="en-US" sz="2200" dirty="0"/>
            </a:p>
          </p:txBody>
        </p:sp>
        <p:sp>
          <p:nvSpPr>
            <p:cNvPr id="23" name="body-53"/>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Turn-taking, staying on topic and repairing misunderstandings.</a:t>
              </a:r>
              <a:endParaRPr lang="en-US" sz="1800" dirty="0"/>
            </a:p>
          </p:txBody>
        </p:sp>
      </p:grpSp>
      <p:sp>
        <p:nvSpPr>
          <p:cNvPr id="25" name="card-55"/>
          <p:cNvSpPr/>
          <p:nvPr/>
        </p:nvSpPr>
        <p:spPr>
          <a:xfrm>
            <a:off x="6261100" y="4051300"/>
            <a:ext cx="5156200" cy="2006600"/>
          </a:xfrm>
          <a:prstGeom prst="roundRect">
            <a:avLst>
              <a:gd name="adj" fmla="val 9810"/>
            </a:avLst>
          </a:prstGeom>
          <a:solidFill>
            <a:srgbClr val="FFFFFF"/>
          </a:solidFill>
          <a:ln w="12700">
            <a:solidFill>
              <a:srgbClr val="DFE5EE"/>
            </a:solidFill>
          </a:ln>
        </p:spPr>
      </p:sp>
      <p:sp>
        <p:nvSpPr>
          <p:cNvPr id="26" name="icon-bg-56"/>
          <p:cNvSpPr/>
          <p:nvPr/>
        </p:nvSpPr>
        <p:spPr>
          <a:xfrm>
            <a:off x="6502400" y="4318000"/>
            <a:ext cx="762000" cy="762000"/>
          </a:xfrm>
          <a:prstGeom prst="ellipse">
            <a:avLst/>
          </a:prstGeom>
          <a:solidFill>
            <a:srgbClr val="D7E3F5"/>
          </a:solidFill>
          <a:ln>
            <a:noFill/>
          </a:ln>
        </p:spPr>
      </p:sp>
      <p:pic>
        <p:nvPicPr>
          <p:cNvPr id="27" name="icon-57" descr="icon-57"/>
          <p:cNvPicPr>
            <a:picLocks noChangeAspect="1"/>
          </p:cNvPicPr>
          <p:nvPr/>
        </p:nvPicPr>
        <p:blipFill>
          <a:blip r:embed="rId6"/>
          <a:stretch>
            <a:fillRect/>
          </a:stretch>
        </p:blipFill>
        <p:spPr>
          <a:xfrm>
            <a:off x="6584950" y="4400550"/>
            <a:ext cx="596900" cy="596900"/>
          </a:xfrm>
          <a:prstGeom prst="rect">
            <a:avLst/>
          </a:prstGeom>
        </p:spPr>
      </p:pic>
      <p:grpSp>
        <p:nvGrpSpPr>
          <p:cNvPr id="30" name="block-60"/>
          <p:cNvGrpSpPr/>
          <p:nvPr/>
        </p:nvGrpSpPr>
        <p:grpSpPr>
          <a:xfrm>
            <a:off x="7454900" y="4330700"/>
            <a:ext cx="3721100" cy="622300"/>
            <a:chOff x="0" y="0"/>
            <a:chExt cx="3721100" cy="622300"/>
          </a:xfrm>
        </p:grpSpPr>
        <p:sp>
          <p:nvSpPr>
            <p:cNvPr id="28" name="head-58"/>
            <p:cNvSpPr txBox="1"/>
            <p:nvPr/>
          </p:nvSpPr>
          <p:spPr>
            <a:xfrm>
              <a:off x="0" y="31572"/>
              <a:ext cx="3721100" cy="317678"/>
            </a:xfrm>
            <a:prstGeom prst="rect">
              <a:avLst/>
            </a:prstGeom>
            <a:noFill/>
          </p:spPr>
          <p:txBody>
            <a:bodyPr wrap="square" lIns="0" tIns="0" rIns="0" bIns="0" rtlCol="0" anchor="t">
              <a:noAutofit/>
            </a:bodyPr>
            <a:lstStyle/>
            <a:p>
              <a:pPr algn="l">
                <a:lnSpc>
                  <a:spcPts val="2464"/>
                </a:lnSpc>
                <a:spcBef>
                  <a:spcPts val="0"/>
                </a:spcBef>
                <a:spcAft>
                  <a:spcPts val="0"/>
                </a:spcAft>
                <a:buNone/>
              </a:pPr>
              <a:r>
                <a:rPr lang="en-US" sz="2200" b="1" dirty="0">
                  <a:solidFill>
                    <a:srgbClr val="1B2A41"/>
                  </a:solidFill>
                  <a:latin typeface="Fraunces"/>
                  <a:ea typeface="Fraunces"/>
                  <a:cs typeface="Fraunces"/>
                </a:rPr>
                <a:t>Reading comprehension</a:t>
              </a:r>
              <a:endParaRPr lang="en-US" sz="2200" dirty="0"/>
            </a:p>
          </p:txBody>
        </p:sp>
        <p:sp>
          <p:nvSpPr>
            <p:cNvPr id="29" name="body-59"/>
            <p:cNvSpPr txBox="1"/>
            <p:nvPr/>
          </p:nvSpPr>
          <p:spPr>
            <a:xfrm>
              <a:off x="0" y="439420"/>
              <a:ext cx="3721100" cy="633730"/>
            </a:xfrm>
            <a:prstGeom prst="rect">
              <a:avLst/>
            </a:prstGeom>
            <a:noFill/>
          </p:spPr>
          <p:txBody>
            <a:bodyPr wrap="square" lIns="0" tIns="0" rIns="0" bIns="0" rtlCol="0" anchor="t">
              <a:noAutofit/>
            </a:bodyPr>
            <a:lstStyle/>
            <a:p>
              <a:pPr algn="l">
                <a:lnSpc>
                  <a:spcPts val="2430"/>
                </a:lnSpc>
                <a:spcBef>
                  <a:spcPts val="0"/>
                </a:spcBef>
                <a:spcAft>
                  <a:spcPts val="0"/>
                </a:spcAft>
                <a:buNone/>
              </a:pPr>
              <a:r>
                <a:rPr lang="en-US" sz="1800" dirty="0">
                  <a:solidFill>
                    <a:srgbClr val="4A5871"/>
                  </a:solidFill>
                  <a:latin typeface="Lexend"/>
                  <a:ea typeface="Lexend"/>
                  <a:cs typeface="Lexend"/>
                </a:rPr>
                <a:t>Tracking main ideas and details in longer texts.</a:t>
              </a:r>
              <a:endParaRPr lang="en-US" sz="18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06-steps">
    <p:bg>
      <p:bgPr>
        <a:solidFill>
          <a:srgbClr val="F2F5FA"/>
        </a:solidFill>
        <a:effectLst/>
      </p:bgPr>
    </p:bg>
    <p:spTree>
      <p:nvGrpSpPr>
        <p:cNvPr id="1" name=""/>
        <p:cNvGrpSpPr/>
        <p:nvPr/>
      </p:nvGrpSpPr>
      <p:grpSpPr>
        <a:xfrm>
          <a:off x="0" y="0"/>
          <a:ext cx="0" cy="0"/>
          <a:chOff x="0" y="0"/>
          <a:chExt cx="0" cy="0"/>
        </a:xfrm>
      </p:grpSpPr>
      <p:sp>
        <p:nvSpPr>
          <p:cNvPr id="2" name="corner-dot"/>
          <p:cNvSpPr/>
          <p:nvPr/>
        </p:nvSpPr>
        <p:spPr>
          <a:xfrm>
            <a:off x="11239500" y="533400"/>
            <a:ext cx="292100" cy="292100"/>
          </a:xfrm>
          <a:prstGeom prst="ellipse">
            <a:avLst/>
          </a:prstGeom>
          <a:solidFill>
            <a:srgbClr val="D7E3F5"/>
          </a:solidFill>
          <a:ln>
            <a:noFill/>
          </a:ln>
        </p:spPr>
      </p:sp>
      <p:sp>
        <p:nvSpPr>
          <p:cNvPr id="3"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Speech-Language Therapy &amp; Communication</a:t>
            </a:r>
            <a:endParaRPr lang="en-US" sz="1200" dirty="0"/>
          </a:p>
        </p:txBody>
      </p:sp>
      <p:sp>
        <p:nvSpPr>
          <p:cNvPr id="4" name="page-number"/>
          <p:cNvSpPr txBox="1"/>
          <p:nvPr/>
        </p:nvSpPr>
        <p:spPr>
          <a:xfrm>
            <a:off x="10858500" y="6274359"/>
            <a:ext cx="571500" cy="208991"/>
          </a:xfrm>
          <a:prstGeom prst="rect">
            <a:avLst/>
          </a:prstGeom>
          <a:noFill/>
        </p:spPr>
        <p:txBody>
          <a:bodyPr wrap="square" lIns="0" tIns="0" rIns="0" bIns="0" rtlCol="0" anchor="t">
            <a:noAutofit/>
          </a:bodyPr>
          <a:lstStyle/>
          <a:p>
            <a:pPr algn="l">
              <a:lnSpc>
                <a:spcPts val="1750"/>
              </a:lnSpc>
              <a:buNone/>
            </a:pPr>
            <a:r>
              <a:rPr lang="en-US" sz="1200" dirty="0">
                <a:solidFill>
                  <a:srgbClr val="4A5871"/>
                </a:solidFill>
                <a:latin typeface="Lexend"/>
                <a:ea typeface="Lexend"/>
                <a:cs typeface="Lexend"/>
              </a:rPr>
              <a:t>6 / 7</a:t>
            </a:r>
            <a:endParaRPr lang="en-US" sz="1200" dirty="0"/>
          </a:p>
        </p:txBody>
      </p:sp>
      <p:sp>
        <p:nvSpPr>
          <p:cNvPr id="5" name="title-bar-61"/>
          <p:cNvSpPr/>
          <p:nvPr/>
        </p:nvSpPr>
        <p:spPr>
          <a:xfrm>
            <a:off x="762000" y="584200"/>
            <a:ext cx="457200" cy="63500"/>
          </a:xfrm>
          <a:prstGeom prst="roundRect">
            <a:avLst>
              <a:gd name="adj" fmla="val 50000"/>
            </a:avLst>
          </a:prstGeom>
          <a:solidFill>
            <a:srgbClr val="2F5FA7"/>
          </a:solidFill>
          <a:ln>
            <a:noFill/>
          </a:ln>
        </p:spPr>
      </p:sp>
      <p:sp>
        <p:nvSpPr>
          <p:cNvPr id="6" name="title"/>
          <p:cNvSpPr>
            <a:spLocks noGrp="1"/>
          </p:cNvSpPr>
          <p:nvPr>
            <p:ph type="title"/>
          </p:nvPr>
        </p:nvSpPr>
        <p:spPr>
          <a:xfrm>
            <a:off x="762000" y="730593"/>
            <a:ext cx="8604250" cy="469557"/>
          </a:xfrm>
          <a:prstGeom prst="rect">
            <a:avLst/>
          </a:prstGeom>
          <a:noFill/>
        </p:spPr>
        <p:txBody>
          <a:bodyPr wrap="square" lIns="0" tIns="0" rIns="0" bIns="0" rtlCol="0" anchor="t">
            <a:noAutofit/>
          </a:bodyPr>
          <a:lstStyle/>
          <a:p>
            <a:pPr algn="l">
              <a:lnSpc>
                <a:spcPts val="3742"/>
              </a:lnSpc>
              <a:buNone/>
            </a:pPr>
            <a:r>
              <a:rPr lang="en-US" sz="3400" b="1" dirty="0">
                <a:solidFill>
                  <a:srgbClr val="1B2A41"/>
                </a:solidFill>
                <a:latin typeface="Fraunces"/>
                <a:ea typeface="Fraunces"/>
                <a:cs typeface="Fraunces"/>
              </a:rPr>
              <a:t>Support communication at home</a:t>
            </a:r>
            <a:endParaRPr lang="en-US" sz="3400" dirty="0"/>
          </a:p>
        </p:txBody>
      </p:sp>
      <p:sp>
        <p:nvSpPr>
          <p:cNvPr id="7" name="steps-line"/>
          <p:cNvSpPr/>
          <p:nvPr/>
        </p:nvSpPr>
        <p:spPr>
          <a:xfrm>
            <a:off x="2095500" y="2489200"/>
            <a:ext cx="8001000" cy="50800"/>
          </a:xfrm>
          <a:prstGeom prst="roundRect">
            <a:avLst>
              <a:gd name="adj" fmla="val 50000"/>
            </a:avLst>
          </a:prstGeom>
          <a:solidFill>
            <a:srgbClr val="D7E3F5"/>
          </a:solidFill>
          <a:ln>
            <a:noFill/>
          </a:ln>
        </p:spPr>
      </p:sp>
      <p:sp>
        <p:nvSpPr>
          <p:cNvPr id="8" name="step-dot-62"/>
          <p:cNvSpPr/>
          <p:nvPr/>
        </p:nvSpPr>
        <p:spPr>
          <a:xfrm>
            <a:off x="1676400" y="2095500"/>
            <a:ext cx="838200" cy="838200"/>
          </a:xfrm>
          <a:prstGeom prst="ellipse">
            <a:avLst/>
          </a:prstGeom>
          <a:solidFill>
            <a:srgbClr val="2F5FA7"/>
          </a:solidFill>
          <a:ln>
            <a:noFill/>
          </a:ln>
        </p:spPr>
      </p:sp>
      <p:sp>
        <p:nvSpPr>
          <p:cNvPr id="9" name="step-num-63"/>
          <p:cNvSpPr txBox="1"/>
          <p:nvPr/>
        </p:nvSpPr>
        <p:spPr>
          <a:xfrm>
            <a:off x="2009775" y="2336241"/>
            <a:ext cx="704850" cy="308534"/>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1</a:t>
            </a:r>
            <a:endParaRPr lang="en-US" sz="2800" dirty="0"/>
          </a:p>
        </p:txBody>
      </p:sp>
      <p:grpSp>
        <p:nvGrpSpPr>
          <p:cNvPr id="12" name="block-66"/>
          <p:cNvGrpSpPr/>
          <p:nvPr/>
        </p:nvGrpSpPr>
        <p:grpSpPr>
          <a:xfrm>
            <a:off x="876300" y="3213100"/>
            <a:ext cx="2438400" cy="622300"/>
            <a:chOff x="0" y="0"/>
            <a:chExt cx="2438400" cy="622300"/>
          </a:xfrm>
        </p:grpSpPr>
        <p:sp>
          <p:nvSpPr>
            <p:cNvPr id="10" name="head-64"/>
            <p:cNvSpPr txBox="1"/>
            <p:nvPr/>
          </p:nvSpPr>
          <p:spPr>
            <a:xfrm>
              <a:off x="0" y="31572"/>
              <a:ext cx="24384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B2A41"/>
                  </a:solidFill>
                  <a:latin typeface="Fraunces"/>
                  <a:ea typeface="Fraunces"/>
                  <a:cs typeface="Fraunces"/>
                </a:rPr>
                <a:t>Model</a:t>
              </a:r>
              <a:endParaRPr lang="en-US" sz="2200" dirty="0"/>
            </a:p>
          </p:txBody>
        </p:sp>
        <p:sp>
          <p:nvSpPr>
            <p:cNvPr id="11" name="body-65"/>
            <p:cNvSpPr txBox="1"/>
            <p:nvPr/>
          </p:nvSpPr>
          <p:spPr>
            <a:xfrm>
              <a:off x="0" y="452120"/>
              <a:ext cx="24384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A5871"/>
                  </a:solidFill>
                  <a:latin typeface="Lexend"/>
                  <a:ea typeface="Lexend"/>
                  <a:cs typeface="Lexend"/>
                </a:rPr>
                <a:t>Use words, signs or AAC yourself.</a:t>
              </a:r>
              <a:endParaRPr lang="en-US" sz="1800" dirty="0"/>
            </a:p>
          </p:txBody>
        </p:sp>
      </p:grpSp>
      <p:sp>
        <p:nvSpPr>
          <p:cNvPr id="13" name="step-dot-67"/>
          <p:cNvSpPr/>
          <p:nvPr/>
        </p:nvSpPr>
        <p:spPr>
          <a:xfrm>
            <a:off x="4343400" y="2095500"/>
            <a:ext cx="838200" cy="838200"/>
          </a:xfrm>
          <a:prstGeom prst="ellipse">
            <a:avLst/>
          </a:prstGeom>
          <a:solidFill>
            <a:srgbClr val="2F5FA7"/>
          </a:solidFill>
          <a:ln>
            <a:noFill/>
          </a:ln>
        </p:spPr>
      </p:sp>
      <p:sp>
        <p:nvSpPr>
          <p:cNvPr id="14" name="step-num-68"/>
          <p:cNvSpPr txBox="1"/>
          <p:nvPr/>
        </p:nvSpPr>
        <p:spPr>
          <a:xfrm>
            <a:off x="4651375" y="2335530"/>
            <a:ext cx="755650" cy="309245"/>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2</a:t>
            </a:r>
            <a:endParaRPr lang="en-US" sz="2800" dirty="0"/>
          </a:p>
        </p:txBody>
      </p:sp>
      <p:grpSp>
        <p:nvGrpSpPr>
          <p:cNvPr id="17" name="block-71"/>
          <p:cNvGrpSpPr/>
          <p:nvPr/>
        </p:nvGrpSpPr>
        <p:grpSpPr>
          <a:xfrm>
            <a:off x="3543300" y="3213100"/>
            <a:ext cx="2438400" cy="622300"/>
            <a:chOff x="0" y="0"/>
            <a:chExt cx="2438400" cy="622300"/>
          </a:xfrm>
        </p:grpSpPr>
        <p:sp>
          <p:nvSpPr>
            <p:cNvPr id="15" name="head-69"/>
            <p:cNvSpPr txBox="1"/>
            <p:nvPr/>
          </p:nvSpPr>
          <p:spPr>
            <a:xfrm>
              <a:off x="0" y="31572"/>
              <a:ext cx="24384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B2A41"/>
                  </a:solidFill>
                  <a:latin typeface="Fraunces"/>
                  <a:ea typeface="Fraunces"/>
                  <a:cs typeface="Fraunces"/>
                </a:rPr>
                <a:t>Wait</a:t>
              </a:r>
              <a:endParaRPr lang="en-US" sz="2200" dirty="0"/>
            </a:p>
          </p:txBody>
        </p:sp>
        <p:sp>
          <p:nvSpPr>
            <p:cNvPr id="16" name="body-70"/>
            <p:cNvSpPr txBox="1"/>
            <p:nvPr/>
          </p:nvSpPr>
          <p:spPr>
            <a:xfrm>
              <a:off x="0" y="452120"/>
              <a:ext cx="24384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A5871"/>
                  </a:solidFill>
                  <a:latin typeface="Lexend"/>
                  <a:ea typeface="Lexend"/>
                  <a:cs typeface="Lexend"/>
                </a:rPr>
                <a:t>Pause longer than feels natural.</a:t>
              </a:r>
              <a:endParaRPr lang="en-US" sz="1800" dirty="0"/>
            </a:p>
          </p:txBody>
        </p:sp>
      </p:grpSp>
      <p:sp>
        <p:nvSpPr>
          <p:cNvPr id="18" name="step-dot-72"/>
          <p:cNvSpPr/>
          <p:nvPr/>
        </p:nvSpPr>
        <p:spPr>
          <a:xfrm>
            <a:off x="7010400" y="2095500"/>
            <a:ext cx="838200" cy="838200"/>
          </a:xfrm>
          <a:prstGeom prst="ellipse">
            <a:avLst/>
          </a:prstGeom>
          <a:solidFill>
            <a:srgbClr val="2F5FA7"/>
          </a:solidFill>
          <a:ln>
            <a:noFill/>
          </a:ln>
        </p:spPr>
      </p:sp>
      <p:sp>
        <p:nvSpPr>
          <p:cNvPr id="19" name="step-num-73"/>
          <p:cNvSpPr txBox="1"/>
          <p:nvPr/>
        </p:nvSpPr>
        <p:spPr>
          <a:xfrm>
            <a:off x="7327900" y="2330018"/>
            <a:ext cx="736600" cy="314757"/>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3</a:t>
            </a:r>
            <a:endParaRPr lang="en-US" sz="2800" dirty="0"/>
          </a:p>
        </p:txBody>
      </p:sp>
      <p:grpSp>
        <p:nvGrpSpPr>
          <p:cNvPr id="22" name="block-76"/>
          <p:cNvGrpSpPr/>
          <p:nvPr/>
        </p:nvGrpSpPr>
        <p:grpSpPr>
          <a:xfrm>
            <a:off x="6210300" y="3213100"/>
            <a:ext cx="2438400" cy="622300"/>
            <a:chOff x="0" y="0"/>
            <a:chExt cx="2438400" cy="622300"/>
          </a:xfrm>
        </p:grpSpPr>
        <p:sp>
          <p:nvSpPr>
            <p:cNvPr id="20" name="head-74"/>
            <p:cNvSpPr txBox="1"/>
            <p:nvPr/>
          </p:nvSpPr>
          <p:spPr>
            <a:xfrm>
              <a:off x="0" y="31572"/>
              <a:ext cx="24384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B2A41"/>
                  </a:solidFill>
                  <a:latin typeface="Fraunces"/>
                  <a:ea typeface="Fraunces"/>
                  <a:cs typeface="Fraunces"/>
                </a:rPr>
                <a:t>Respond</a:t>
              </a:r>
              <a:endParaRPr lang="en-US" sz="2200" dirty="0"/>
            </a:p>
          </p:txBody>
        </p:sp>
        <p:sp>
          <p:nvSpPr>
            <p:cNvPr id="21" name="body-75"/>
            <p:cNvSpPr txBox="1"/>
            <p:nvPr/>
          </p:nvSpPr>
          <p:spPr>
            <a:xfrm>
              <a:off x="0" y="452120"/>
              <a:ext cx="24384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A5871"/>
                  </a:solidFill>
                  <a:latin typeface="Lexend"/>
                  <a:ea typeface="Lexend"/>
                  <a:cs typeface="Lexend"/>
                </a:rPr>
                <a:t>Honor every attempt to communicate.</a:t>
              </a:r>
              <a:endParaRPr lang="en-US" sz="1800" dirty="0"/>
            </a:p>
          </p:txBody>
        </p:sp>
      </p:grpSp>
      <p:sp>
        <p:nvSpPr>
          <p:cNvPr id="23" name="step-dot-77"/>
          <p:cNvSpPr/>
          <p:nvPr/>
        </p:nvSpPr>
        <p:spPr>
          <a:xfrm>
            <a:off x="9677400" y="2095500"/>
            <a:ext cx="838200" cy="838200"/>
          </a:xfrm>
          <a:prstGeom prst="ellipse">
            <a:avLst/>
          </a:prstGeom>
          <a:solidFill>
            <a:srgbClr val="2F5FA7"/>
          </a:solidFill>
          <a:ln>
            <a:noFill/>
          </a:ln>
        </p:spPr>
      </p:sp>
      <p:sp>
        <p:nvSpPr>
          <p:cNvPr id="24" name="step-num-78"/>
          <p:cNvSpPr txBox="1"/>
          <p:nvPr/>
        </p:nvSpPr>
        <p:spPr>
          <a:xfrm>
            <a:off x="9982200" y="2339264"/>
            <a:ext cx="762000" cy="305511"/>
          </a:xfrm>
          <a:prstGeom prst="rect">
            <a:avLst/>
          </a:prstGeom>
          <a:noFill/>
        </p:spPr>
        <p:txBody>
          <a:bodyPr wrap="square" lIns="0" tIns="0" rIns="0" bIns="0" rtlCol="0" anchor="t">
            <a:noAutofit/>
          </a:bodyPr>
          <a:lstStyle/>
          <a:p>
            <a:pPr algn="l">
              <a:lnSpc>
                <a:spcPts val="3102"/>
              </a:lnSpc>
              <a:buNone/>
            </a:pPr>
            <a:r>
              <a:rPr lang="en-US" sz="2800" b="1" dirty="0">
                <a:solidFill>
                  <a:srgbClr val="FFFFFF"/>
                </a:solidFill>
                <a:latin typeface="Fraunces"/>
                <a:ea typeface="Fraunces"/>
                <a:cs typeface="Fraunces"/>
              </a:rPr>
              <a:t>4</a:t>
            </a:r>
            <a:endParaRPr lang="en-US" sz="2800" dirty="0"/>
          </a:p>
        </p:txBody>
      </p:sp>
      <p:grpSp>
        <p:nvGrpSpPr>
          <p:cNvPr id="27" name="block-81"/>
          <p:cNvGrpSpPr/>
          <p:nvPr/>
        </p:nvGrpSpPr>
        <p:grpSpPr>
          <a:xfrm>
            <a:off x="8877300" y="3213100"/>
            <a:ext cx="2438400" cy="622300"/>
            <a:chOff x="0" y="0"/>
            <a:chExt cx="2438400" cy="622300"/>
          </a:xfrm>
        </p:grpSpPr>
        <p:sp>
          <p:nvSpPr>
            <p:cNvPr id="25" name="head-79"/>
            <p:cNvSpPr txBox="1"/>
            <p:nvPr/>
          </p:nvSpPr>
          <p:spPr>
            <a:xfrm>
              <a:off x="0" y="31572"/>
              <a:ext cx="2438400" cy="317678"/>
            </a:xfrm>
            <a:prstGeom prst="rect">
              <a:avLst/>
            </a:prstGeom>
            <a:noFill/>
          </p:spPr>
          <p:txBody>
            <a:bodyPr wrap="square" lIns="0" tIns="0" rIns="0" bIns="0" rtlCol="0" anchor="t">
              <a:noAutofit/>
            </a:bodyPr>
            <a:lstStyle/>
            <a:p>
              <a:pPr algn="ctr">
                <a:lnSpc>
                  <a:spcPts val="2464"/>
                </a:lnSpc>
                <a:spcBef>
                  <a:spcPts val="0"/>
                </a:spcBef>
                <a:spcAft>
                  <a:spcPts val="0"/>
                </a:spcAft>
                <a:buNone/>
              </a:pPr>
              <a:r>
                <a:rPr lang="en-US" sz="2200" b="1" dirty="0">
                  <a:solidFill>
                    <a:srgbClr val="1B2A41"/>
                  </a:solidFill>
                  <a:latin typeface="Fraunces"/>
                  <a:ea typeface="Fraunces"/>
                  <a:cs typeface="Fraunces"/>
                </a:rPr>
                <a:t>Expand</a:t>
              </a:r>
              <a:endParaRPr lang="en-US" sz="2200" dirty="0"/>
            </a:p>
          </p:txBody>
        </p:sp>
        <p:sp>
          <p:nvSpPr>
            <p:cNvPr id="26" name="body-80"/>
            <p:cNvSpPr txBox="1"/>
            <p:nvPr/>
          </p:nvSpPr>
          <p:spPr>
            <a:xfrm>
              <a:off x="0" y="452120"/>
              <a:ext cx="2438400" cy="633730"/>
            </a:xfrm>
            <a:prstGeom prst="rect">
              <a:avLst/>
            </a:prstGeom>
            <a:noFill/>
          </p:spPr>
          <p:txBody>
            <a:bodyPr wrap="square" lIns="0" tIns="0" rIns="0" bIns="0" rtlCol="0" anchor="t">
              <a:noAutofit/>
            </a:bodyPr>
            <a:lstStyle/>
            <a:p>
              <a:pPr algn="ctr">
                <a:lnSpc>
                  <a:spcPts val="2430"/>
                </a:lnSpc>
                <a:spcBef>
                  <a:spcPts val="0"/>
                </a:spcBef>
                <a:spcAft>
                  <a:spcPts val="0"/>
                </a:spcAft>
                <a:buNone/>
              </a:pPr>
              <a:r>
                <a:rPr lang="en-US" sz="1800" dirty="0">
                  <a:solidFill>
                    <a:srgbClr val="4A5871"/>
                  </a:solidFill>
                  <a:latin typeface="Lexend"/>
                  <a:ea typeface="Lexend"/>
                  <a:cs typeface="Lexend"/>
                </a:rPr>
                <a:t>Add one word to what they said.</a:t>
              </a:r>
              <a:endParaRPr lang="en-US" sz="18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07-closing">
    <p:bg>
      <p:bgPr>
        <a:solidFill>
          <a:srgbClr val="1B2A41"/>
        </a:solidFill>
        <a:effectLst/>
      </p:bgPr>
    </p:bg>
    <p:spTree>
      <p:nvGrpSpPr>
        <p:cNvPr id="1" name=""/>
        <p:cNvGrpSpPr/>
        <p:nvPr/>
      </p:nvGrpSpPr>
      <p:grpSpPr>
        <a:xfrm>
          <a:off x="0" y="0"/>
          <a:ext cx="0" cy="0"/>
          <a:chOff x="0" y="0"/>
          <a:chExt cx="0" cy="0"/>
        </a:xfrm>
      </p:grpSpPr>
      <p:sp>
        <p:nvSpPr>
          <p:cNvPr id="2" name="close-disc"/>
          <p:cNvSpPr/>
          <p:nvPr/>
        </p:nvSpPr>
        <p:spPr>
          <a:xfrm>
            <a:off x="8890000" y="3048000"/>
            <a:ext cx="5461000" cy="5461000"/>
          </a:xfrm>
          <a:prstGeom prst="ellipse">
            <a:avLst/>
          </a:prstGeom>
          <a:solidFill>
            <a:srgbClr val="2F5FA7">
              <a:alpha val="22000"/>
            </a:srgbClr>
          </a:solidFill>
          <a:ln>
            <a:noFill/>
          </a:ln>
        </p:spPr>
      </p:sp>
      <p:sp>
        <p:nvSpPr>
          <p:cNvPr id="3" name="close-bar"/>
          <p:cNvSpPr/>
          <p:nvPr/>
        </p:nvSpPr>
        <p:spPr>
          <a:xfrm>
            <a:off x="762000" y="584200"/>
            <a:ext cx="457200" cy="63500"/>
          </a:xfrm>
          <a:prstGeom prst="roundRect">
            <a:avLst>
              <a:gd name="adj" fmla="val 50000"/>
            </a:avLst>
          </a:prstGeom>
          <a:solidFill>
            <a:srgbClr val="2F5FA7"/>
          </a:solidFill>
          <a:ln>
            <a:noFill/>
          </a:ln>
        </p:spPr>
      </p:sp>
      <p:sp>
        <p:nvSpPr>
          <p:cNvPr id="4" name="title"/>
          <p:cNvSpPr>
            <a:spLocks noGrp="1"/>
          </p:cNvSpPr>
          <p:nvPr>
            <p:ph type="title"/>
          </p:nvPr>
        </p:nvSpPr>
        <p:spPr>
          <a:xfrm>
            <a:off x="762000" y="730593"/>
            <a:ext cx="3889375" cy="469557"/>
          </a:xfrm>
          <a:prstGeom prst="rect">
            <a:avLst/>
          </a:prstGeom>
          <a:noFill/>
        </p:spPr>
        <p:txBody>
          <a:bodyPr wrap="square" lIns="0" tIns="0" rIns="0" bIns="0" rtlCol="0" anchor="t">
            <a:noAutofit/>
          </a:bodyPr>
          <a:lstStyle/>
          <a:p>
            <a:pPr algn="l">
              <a:lnSpc>
                <a:spcPts val="3742"/>
              </a:lnSpc>
              <a:buNone/>
            </a:pPr>
            <a:r>
              <a:rPr lang="en-US" sz="3400" b="1" dirty="0">
                <a:solidFill>
                  <a:srgbClr val="F2F5FA"/>
                </a:solidFill>
                <a:latin typeface="Fraunces"/>
                <a:ea typeface="Fraunces"/>
                <a:cs typeface="Fraunces"/>
              </a:rPr>
              <a:t>Key takeaways</a:t>
            </a:r>
            <a:endParaRPr lang="en-US" sz="3400" dirty="0"/>
          </a:p>
        </p:txBody>
      </p:sp>
      <p:sp>
        <p:nvSpPr>
          <p:cNvPr id="5" name="close-num-82"/>
          <p:cNvSpPr/>
          <p:nvPr/>
        </p:nvSpPr>
        <p:spPr>
          <a:xfrm>
            <a:off x="762000" y="1841500"/>
            <a:ext cx="558800" cy="558800"/>
          </a:xfrm>
          <a:prstGeom prst="ellipse">
            <a:avLst/>
          </a:prstGeom>
          <a:solidFill>
            <a:srgbClr val="2F5FA7"/>
          </a:solidFill>
          <a:ln>
            <a:noFill/>
          </a:ln>
        </p:spPr>
      </p:sp>
      <p:sp>
        <p:nvSpPr>
          <p:cNvPr id="6" name="close-n-83"/>
          <p:cNvSpPr txBox="1"/>
          <p:nvPr/>
        </p:nvSpPr>
        <p:spPr>
          <a:xfrm>
            <a:off x="974725" y="1914766"/>
            <a:ext cx="552450" cy="307734"/>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1</a:t>
            </a:r>
            <a:endParaRPr lang="en-US" sz="2200" dirty="0"/>
          </a:p>
        </p:txBody>
      </p:sp>
      <p:sp>
        <p:nvSpPr>
          <p:cNvPr id="7" name="close-item-84"/>
          <p:cNvSpPr txBox="1"/>
          <p:nvPr/>
        </p:nvSpPr>
        <p:spPr>
          <a:xfrm>
            <a:off x="1574800" y="19234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2F5FA"/>
                </a:solidFill>
                <a:latin typeface="Lexend"/>
                <a:ea typeface="Lexend"/>
                <a:cs typeface="Lexend"/>
              </a:rPr>
              <a:t>SLPs support every form of communication, not just speech.</a:t>
            </a:r>
            <a:endParaRPr lang="en-US" sz="2200" dirty="0"/>
          </a:p>
        </p:txBody>
      </p:sp>
      <p:sp>
        <p:nvSpPr>
          <p:cNvPr id="8" name="close-num-85"/>
          <p:cNvSpPr/>
          <p:nvPr/>
        </p:nvSpPr>
        <p:spPr>
          <a:xfrm>
            <a:off x="762000" y="2692400"/>
            <a:ext cx="558800" cy="558800"/>
          </a:xfrm>
          <a:prstGeom prst="ellipse">
            <a:avLst/>
          </a:prstGeom>
          <a:solidFill>
            <a:srgbClr val="2F5FA7"/>
          </a:solidFill>
          <a:ln>
            <a:noFill/>
          </a:ln>
        </p:spPr>
      </p:sp>
      <p:sp>
        <p:nvSpPr>
          <p:cNvPr id="9" name="close-n-86"/>
          <p:cNvSpPr txBox="1"/>
          <p:nvPr/>
        </p:nvSpPr>
        <p:spPr>
          <a:xfrm>
            <a:off x="952500" y="2761933"/>
            <a:ext cx="596900" cy="314642"/>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2</a:t>
            </a:r>
            <a:endParaRPr lang="en-US" sz="2200" dirty="0"/>
          </a:p>
        </p:txBody>
      </p:sp>
      <p:sp>
        <p:nvSpPr>
          <p:cNvPr id="10" name="close-item-87"/>
          <p:cNvSpPr txBox="1"/>
          <p:nvPr/>
        </p:nvSpPr>
        <p:spPr>
          <a:xfrm>
            <a:off x="1574800" y="27743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2F5FA"/>
                </a:solidFill>
                <a:latin typeface="Lexend"/>
                <a:ea typeface="Lexend"/>
                <a:cs typeface="Lexend"/>
              </a:rPr>
              <a:t>AAC is a valid way to talk, and it does not stop speech.</a:t>
            </a:r>
            <a:endParaRPr lang="en-US" sz="2200" dirty="0"/>
          </a:p>
        </p:txBody>
      </p:sp>
      <p:sp>
        <p:nvSpPr>
          <p:cNvPr id="11" name="close-num-88"/>
          <p:cNvSpPr/>
          <p:nvPr/>
        </p:nvSpPr>
        <p:spPr>
          <a:xfrm>
            <a:off x="762000" y="3543300"/>
            <a:ext cx="558800" cy="558800"/>
          </a:xfrm>
          <a:prstGeom prst="ellipse">
            <a:avLst/>
          </a:prstGeom>
          <a:solidFill>
            <a:srgbClr val="2F5FA7"/>
          </a:solidFill>
          <a:ln>
            <a:noFill/>
          </a:ln>
        </p:spPr>
      </p:sp>
      <p:sp>
        <p:nvSpPr>
          <p:cNvPr id="12" name="close-n-89"/>
          <p:cNvSpPr txBox="1"/>
          <p:nvPr/>
        </p:nvSpPr>
        <p:spPr>
          <a:xfrm>
            <a:off x="962025" y="3611677"/>
            <a:ext cx="577850" cy="312623"/>
          </a:xfrm>
          <a:prstGeom prst="rect">
            <a:avLst/>
          </a:prstGeom>
          <a:noFill/>
        </p:spPr>
        <p:txBody>
          <a:bodyPr wrap="square" lIns="0" tIns="0" rIns="0" bIns="0" rtlCol="0" anchor="t">
            <a:noAutofit/>
          </a:bodyPr>
          <a:lstStyle/>
          <a:p>
            <a:pPr algn="l">
              <a:lnSpc>
                <a:spcPts val="2963"/>
              </a:lnSpc>
              <a:buNone/>
            </a:pPr>
            <a:r>
              <a:rPr lang="en-US" sz="2200" b="1" dirty="0">
                <a:solidFill>
                  <a:srgbClr val="FFFFFF"/>
                </a:solidFill>
                <a:latin typeface="Fraunces"/>
                <a:ea typeface="Fraunces"/>
                <a:cs typeface="Fraunces"/>
              </a:rPr>
              <a:t>3</a:t>
            </a:r>
            <a:endParaRPr lang="en-US" sz="2200" dirty="0"/>
          </a:p>
        </p:txBody>
      </p:sp>
      <p:sp>
        <p:nvSpPr>
          <p:cNvPr id="13" name="close-item-90"/>
          <p:cNvSpPr txBox="1"/>
          <p:nvPr/>
        </p:nvSpPr>
        <p:spPr>
          <a:xfrm>
            <a:off x="1574800" y="3625215"/>
            <a:ext cx="9525000" cy="375285"/>
          </a:xfrm>
          <a:prstGeom prst="rect">
            <a:avLst/>
          </a:prstGeom>
          <a:noFill/>
        </p:spPr>
        <p:txBody>
          <a:bodyPr wrap="square" lIns="0" tIns="0" rIns="0" bIns="0" rtlCol="0" anchor="t">
            <a:noAutofit/>
          </a:bodyPr>
          <a:lstStyle/>
          <a:p>
            <a:pPr algn="l">
              <a:lnSpc>
                <a:spcPts val="2860"/>
              </a:lnSpc>
              <a:spcBef>
                <a:spcPts val="0"/>
              </a:spcBef>
              <a:spcAft>
                <a:spcPts val="0"/>
              </a:spcAft>
              <a:buNone/>
            </a:pPr>
            <a:r>
              <a:rPr lang="en-US" sz="2200" dirty="0">
                <a:solidFill>
                  <a:srgbClr val="F2F5FA"/>
                </a:solidFill>
                <a:latin typeface="Lexend"/>
                <a:ea typeface="Lexend"/>
                <a:cs typeface="Lexend"/>
              </a:rPr>
              <a:t>Everyday conversations at home multiply therapy gains.</a:t>
            </a:r>
            <a:endParaRPr lang="en-US" sz="2200" dirty="0"/>
          </a:p>
        </p:txBody>
      </p:sp>
      <p:sp>
        <p:nvSpPr>
          <p:cNvPr id="14" name="credit"/>
          <p:cNvSpPr txBox="1"/>
          <p:nvPr/>
        </p:nvSpPr>
        <p:spPr>
          <a:xfrm>
            <a:off x="762000" y="5711190"/>
            <a:ext cx="9525000" cy="207010"/>
          </a:xfrm>
          <a:prstGeom prst="rect">
            <a:avLst/>
          </a:prstGeom>
          <a:noFill/>
        </p:spPr>
        <p:txBody>
          <a:bodyPr wrap="square" lIns="0" tIns="0" rIns="0" bIns="0" rtlCol="0" anchor="t">
            <a:noAutofit/>
          </a:bodyPr>
          <a:lstStyle/>
          <a:p>
            <a:pPr algn="l">
              <a:lnSpc>
                <a:spcPts val="1560"/>
              </a:lnSpc>
              <a:spcBef>
                <a:spcPts val="0"/>
              </a:spcBef>
              <a:spcAft>
                <a:spcPts val="0"/>
              </a:spcAft>
              <a:buNone/>
            </a:pPr>
            <a:r>
              <a:rPr lang="en-US" sz="1200" dirty="0">
                <a:solidFill>
                  <a:srgbClr val="D7E3F5"/>
                </a:solidFill>
                <a:latin typeface="Lexend"/>
                <a:ea typeface="Lexend"/>
                <a:cs typeface="Lexend"/>
              </a:rPr>
              <a:t>Look for the credential CCC-SLP (Certificate of Clinical Competence, ASHA).</a:t>
            </a:r>
            <a:endParaRPr lang="en-US" sz="1200" dirty="0"/>
          </a:p>
        </p:txBody>
      </p:sp>
      <p:sp>
        <p:nvSpPr>
          <p:cNvPr id="15" name="footer"/>
          <p:cNvSpPr txBox="1"/>
          <p:nvPr/>
        </p:nvSpPr>
        <p:spPr>
          <a:xfrm>
            <a:off x="762000" y="6283350"/>
            <a:ext cx="4206875" cy="225400"/>
          </a:xfrm>
          <a:prstGeom prst="rect">
            <a:avLst/>
          </a:prstGeom>
          <a:noFill/>
        </p:spPr>
        <p:txBody>
          <a:bodyPr wrap="square" lIns="0" tIns="0" rIns="0" bIns="0" rtlCol="0" anchor="t">
            <a:noAutofit/>
          </a:bodyPr>
          <a:lstStyle/>
          <a:p>
            <a:pPr algn="l">
              <a:lnSpc>
                <a:spcPts val="1750"/>
              </a:lnSpc>
              <a:buNone/>
            </a:pPr>
            <a:r>
              <a:rPr lang="en-US" sz="1200" dirty="0">
                <a:solidFill>
                  <a:srgbClr val="D7E3F5"/>
                </a:solidFill>
                <a:latin typeface="Lexend"/>
                <a:ea typeface="Lexend"/>
                <a:cs typeface="Lexend"/>
              </a:rPr>
              <a:t>Speech-Language Therapy &amp; Communication</a:t>
            </a:r>
            <a:endParaRPr lang="en-US" sz="1200" dirty="0"/>
          </a:p>
        </p:txBody>
      </p:sp>
      <p:sp>
        <p:nvSpPr>
          <p:cNvPr id="16" name="page-number"/>
          <p:cNvSpPr txBox="1"/>
          <p:nvPr/>
        </p:nvSpPr>
        <p:spPr>
          <a:xfrm>
            <a:off x="10858500" y="6272530"/>
            <a:ext cx="565150" cy="204470"/>
          </a:xfrm>
          <a:prstGeom prst="rect">
            <a:avLst/>
          </a:prstGeom>
          <a:noFill/>
        </p:spPr>
        <p:txBody>
          <a:bodyPr wrap="square" lIns="0" tIns="0" rIns="0" bIns="0" rtlCol="0" anchor="t">
            <a:noAutofit/>
          </a:bodyPr>
          <a:lstStyle/>
          <a:p>
            <a:pPr algn="l">
              <a:lnSpc>
                <a:spcPts val="1750"/>
              </a:lnSpc>
              <a:buNone/>
            </a:pPr>
            <a:r>
              <a:rPr lang="en-US" sz="1200" dirty="0">
                <a:solidFill>
                  <a:srgbClr val="D7E3F5"/>
                </a:solidFill>
                <a:latin typeface="Lexend"/>
                <a:ea typeface="Lexend"/>
                <a:cs typeface="Lexend"/>
              </a:rPr>
              <a:t>7 / 7</a:t>
            </a:r>
            <a:endParaRPr lang="en-US" sz="1200" dirty="0"/>
          </a:p>
        </p:txBody>
      </p:sp>
    </p:spTree>
  </p:cSld>
  <p:clrMapOvr>
    <a:masterClrMapping/>
  </p:clrMapOvr>
</p:sld>
</file>

<file path=ppt/theme/theme1.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Vixl">
  <a:themeElements>
    <a:clrScheme name="Vixl">
      <a:dk1>
        <a:srgbClr val="000000"/>
      </a:dk1>
      <a:lt1>
        <a:srgbClr val="FFFFFF"/>
      </a:lt1>
      <a:dk2>
        <a:srgbClr val="1F2937"/>
      </a:dk2>
      <a:lt2>
        <a:srgbClr val="F3F4F6"/>
      </a:lt2>
      <a:accent1>
        <a:srgbClr val="2563EB"/>
      </a:accent1>
      <a:accent2>
        <a:srgbClr val="DB2777"/>
      </a:accent2>
      <a:accent3>
        <a:srgbClr val="059669"/>
      </a:accent3>
      <a:accent4>
        <a:srgbClr val="D97706"/>
      </a:accent4>
      <a:accent5>
        <a:srgbClr val="7C3AED"/>
      </a:accent5>
      <a:accent6>
        <a:srgbClr val="0891B2"/>
      </a:accent6>
      <a:hlink>
        <a:srgbClr val="2563EB"/>
      </a:hlink>
      <a:folHlink>
        <a:srgbClr val="7C3AED"/>
      </a:folHlink>
    </a:clrScheme>
    <a:fontScheme name="Vixl">
      <a:majorFont>
        <a:latin typeface="Calibri Light"/>
        <a:ea typeface=""/>
        <a:cs typeface=""/>
      </a:majorFont>
      <a:minorFont>
        <a:latin typeface="Calibri"/>
        <a:ea typeface=""/>
        <a:cs typeface=""/>
      </a:minorFont>
    </a:fontScheme>
    <a:fmtScheme name="Vixl">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Vixl</Application>
  <Slides>7</Slides>
  <Notes>7</Notes>
</Properties>
</file>

<file path=docProps/core.xml><?xml version="1.0" encoding="utf-8"?>
<cp:coreProperties xmlns:cp="http://schemas.openxmlformats.org/package/2006/metadata/core-properties" xmlns:dc="http://purl.org/dc/elements/1.1/" xmlns:dcterms="http://purl.org/dc/terms/" xmlns:xsi="http://www.w3.org/2001/XMLSchema-instance">
  <dc:title>Key takeaways</dc:title>
  <dc:creator>Vixl</dc:creator>
</cp:coreProperties>
</file>