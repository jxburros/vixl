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Lst>
  <p:sldSz cx="12192000" cy="6858000"/>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a:xfrm>
            <a:off x="381000" y="685800"/>
            <a:ext cx="6096000" cy="3429000"/>
          </a:xfrm>
          <a:prstGeom prst="rect">
            <a:avLst/>
          </a:prstGeom>
        </p:spPr>
        <p:txBody>
          <a:bodyPr/>
          <a:lstStyle/>
          <a:p>
            <a:endParaRPr lang="en-US"/>
          </a:p>
        </p:txBody>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Style>
    <a:lvl1pPr marL="0" algn="l">
      <a:defRPr sz="1200" kern="1200">
        <a:solidFill>
          <a:schemeClr val="tx1"/>
        </a:solidFill>
        <a:latin typeface="+mn-lt"/>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Occupational therapy is about occupations in the broad sense: the everyday activities that fill a day, such as getting dressed, eating, playing, learning and working. This deck covers what OTs do for autistic people and people with ADHD.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autistic people and many people with ADHD experience sensory differences: some sensations feel overwhelming, others are sought out. OTs assess these patterns and build strategies. They also work on fine and gross motor skills and on the self-care routines that make school, work and home life smoother.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Sensory differences are part of the autism diagnostic criteria and are common in ADHD. Meltdowns are not tantrums; they are a response to overload. Harmless stimming, like rocking or hand-flapping, usually helps regulation and should not be stopped. A sensory diet is an individualized schedule of activities, designed with an OT, that helps the nervous system stay in a comfortable zone.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Sessions often look like play, and that is intentional. Movement and heavy work help regulation, which makes it easier to learn. Skills are practiced in motivating ways, often through the child's interests. Good OTs always send home something small and realistic so progress carries into daily life.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function covers planning, starting, switching and finishing tasks, and it is a core challenge in ADHD and for many autistic people. OTs use external supports so the environment carries some of the load. These strategies are inexpensive and work at home, at school and at work.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affirming OT changes the world around the person as well as teaching skills: noise-cancelling headphones, softer clothing, a movement break or a different seat can matter more than drills. Success is measured by comfort, participation and independence.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families to ask about goals, how progress is measured and how home practice works. In the U.S., licensed occupational therapists hold an OTR/L. Pediatric specialists may have additional sensory integration training.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28625"/>
            <a:ext cx="10668000" cy="1143000"/>
          </a:xfrm>
          <a:prstGeom prst="rect">
            <a:avLst/>
          </a:prstGeom>
        </p:spPr>
        <p:txBody>
          <a:bodyPr/>
          <a:lstStyle/>
          <a:p>
            <a:endParaRPr lang="en-US"/>
          </a:p>
        </p:txBody>
      </p:sp>
      <p:sp>
        <p:nvSpPr>
          <p:cNvPr id="3" name="Text Placeholder 2"/>
          <p:cNvSpPr>
            <a:spLocks noGrp="1"/>
          </p:cNvSpPr>
          <p:nvPr>
            <p:ph type="body" idx="1"/>
          </p:nvPr>
        </p:nvSpPr>
        <p:spPr>
          <a:xfrm>
            <a:off x="762000" y="1714500"/>
            <a:ext cx="10668000" cy="34290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4400" kern="1200">
          <a:solidFill>
            <a:schemeClr val="tx1"/>
          </a:solidFill>
          <a:latin typeface="+mj-lt"/>
        </a:defRPr>
      </a:lvl1pPr>
    </p:titleStyle>
    <p:bodyStyle>
      <a:lvl1pPr marL="228600" indent="-228600">
        <a:defRPr sz="2800" kern="1200">
          <a:solidFill>
            <a:schemeClr val="tx1"/>
          </a:solidFill>
          <a:latin typeface="+mn-lt"/>
        </a:defRPr>
      </a:lvl1pPr>
    </p:bodyStyle>
    <p:otherStyle>
      <a:defPPr>
        <a:defRPr lang="en-US"/>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01-cover">
    <p:bg>
      <p:bgPr>
        <a:solidFill>
          <a:srgbClr val="FAF4EE"/>
        </a:solidFill>
        <a:effectLst/>
      </p:bgPr>
    </p:bg>
    <p:spTree>
      <p:nvGrpSpPr>
        <p:cNvPr id="1" name=""/>
        <p:cNvGrpSpPr/>
        <p:nvPr/>
      </p:nvGrpSpPr>
      <p:grpSpPr>
        <a:xfrm>
          <a:off x="0" y="0"/>
          <a:ext cx="0" cy="0"/>
          <a:chOff x="0" y="0"/>
          <a:chExt cx="0" cy="0"/>
        </a:xfrm>
      </p:grpSpPr>
      <p:sp>
        <p:nvSpPr>
          <p:cNvPr id="2" name="art-disc"/>
          <p:cNvSpPr/>
          <p:nvPr/>
        </p:nvSpPr>
        <p:spPr>
          <a:xfrm>
            <a:off x="6858000" y="825500"/>
            <a:ext cx="5207000" cy="5207000"/>
          </a:xfrm>
          <a:prstGeom prst="ellipse">
            <a:avLst/>
          </a:prstGeom>
          <a:solidFill>
            <a:srgbClr val="F5D9CB"/>
          </a:solidFill>
          <a:ln>
            <a:noFill/>
          </a:ln>
        </p:spPr>
      </p:sp>
      <p:sp>
        <p:nvSpPr>
          <p:cNvPr id="3" name="art-ring"/>
          <p:cNvSpPr/>
          <p:nvPr/>
        </p:nvSpPr>
        <p:spPr>
          <a:xfrm>
            <a:off x="9525000" y="4064000"/>
            <a:ext cx="2286000" cy="2286000"/>
          </a:xfrm>
          <a:prstGeom prst="ellipse">
            <a:avLst/>
          </a:prstGeom>
          <a:solidFill>
            <a:srgbClr val="E3E8D2"/>
          </a:solidFill>
          <a:ln>
            <a:noFill/>
          </a:ln>
        </p:spPr>
      </p:sp>
      <p:sp>
        <p:nvSpPr>
          <p:cNvPr id="4" name="icon-bg-1"/>
          <p:cNvSpPr/>
          <p:nvPr/>
        </p:nvSpPr>
        <p:spPr>
          <a:xfrm>
            <a:off x="7620000" y="1397000"/>
            <a:ext cx="1270000" cy="1270000"/>
          </a:xfrm>
          <a:prstGeom prst="ellipse">
            <a:avLst/>
          </a:prstGeom>
          <a:solidFill>
            <a:srgbClr val="FFFFFF"/>
          </a:solidFill>
          <a:ln>
            <a:noFill/>
          </a:ln>
        </p:spPr>
      </p:sp>
      <p:pic>
        <p:nvPicPr>
          <p:cNvPr id="5" name="icon-2" descr="icon-2"/>
          <p:cNvPicPr>
            <a:picLocks noChangeAspect="1"/>
          </p:cNvPicPr>
          <p:nvPr/>
        </p:nvPicPr>
        <p:blipFill>
          <a:blip r:embed="rId3"/>
          <a:stretch>
            <a:fillRect/>
          </a:stretch>
        </p:blipFill>
        <p:spPr>
          <a:xfrm>
            <a:off x="7759700" y="1536700"/>
            <a:ext cx="990600" cy="990600"/>
          </a:xfrm>
          <a:prstGeom prst="rect">
            <a:avLst/>
          </a:prstGeom>
        </p:spPr>
      </p:pic>
      <p:sp>
        <p:nvSpPr>
          <p:cNvPr id="6" name="icon-bg-3"/>
          <p:cNvSpPr/>
          <p:nvPr/>
        </p:nvSpPr>
        <p:spPr>
          <a:xfrm>
            <a:off x="9969500" y="1905000"/>
            <a:ext cx="762000" cy="762000"/>
          </a:xfrm>
          <a:prstGeom prst="ellipse">
            <a:avLst/>
          </a:prstGeom>
          <a:solidFill>
            <a:srgbClr val="FFFFFF"/>
          </a:solidFill>
          <a:ln>
            <a:noFill/>
          </a:ln>
        </p:spPr>
      </p:sp>
      <p:pic>
        <p:nvPicPr>
          <p:cNvPr id="7" name="icon-4" descr="icon-4"/>
          <p:cNvPicPr>
            <a:picLocks noChangeAspect="1"/>
          </p:cNvPicPr>
          <p:nvPr/>
        </p:nvPicPr>
        <p:blipFill>
          <a:blip r:embed="rId4"/>
          <a:stretch>
            <a:fillRect/>
          </a:stretch>
        </p:blipFill>
        <p:spPr>
          <a:xfrm>
            <a:off x="10052050" y="1987550"/>
            <a:ext cx="596900" cy="596900"/>
          </a:xfrm>
          <a:prstGeom prst="rect">
            <a:avLst/>
          </a:prstGeom>
        </p:spPr>
      </p:pic>
      <p:sp>
        <p:nvSpPr>
          <p:cNvPr id="8" name="icon-bg-5"/>
          <p:cNvSpPr/>
          <p:nvPr/>
        </p:nvSpPr>
        <p:spPr>
          <a:xfrm>
            <a:off x="8191500" y="3556000"/>
            <a:ext cx="1270000" cy="1270000"/>
          </a:xfrm>
          <a:prstGeom prst="ellipse">
            <a:avLst/>
          </a:prstGeom>
          <a:solidFill>
            <a:srgbClr val="FFFFFF"/>
          </a:solidFill>
          <a:ln>
            <a:noFill/>
          </a:ln>
        </p:spPr>
      </p:sp>
      <p:pic>
        <p:nvPicPr>
          <p:cNvPr id="9" name="icon-6" descr="icon-6"/>
          <p:cNvPicPr>
            <a:picLocks noChangeAspect="1"/>
          </p:cNvPicPr>
          <p:nvPr/>
        </p:nvPicPr>
        <p:blipFill>
          <a:blip r:embed="rId5"/>
          <a:stretch>
            <a:fillRect/>
          </a:stretch>
        </p:blipFill>
        <p:spPr>
          <a:xfrm>
            <a:off x="8331200" y="3695700"/>
            <a:ext cx="990600" cy="990600"/>
          </a:xfrm>
          <a:prstGeom prst="rect">
            <a:avLst/>
          </a:prstGeom>
        </p:spPr>
      </p:pic>
      <p:sp>
        <p:nvSpPr>
          <p:cNvPr id="10" name="icon-bg-7"/>
          <p:cNvSpPr/>
          <p:nvPr/>
        </p:nvSpPr>
        <p:spPr>
          <a:xfrm>
            <a:off x="10223500" y="4127500"/>
            <a:ext cx="762000" cy="762000"/>
          </a:xfrm>
          <a:prstGeom prst="ellipse">
            <a:avLst/>
          </a:prstGeom>
          <a:solidFill>
            <a:srgbClr val="FFFFFF"/>
          </a:solidFill>
          <a:ln>
            <a:noFill/>
          </a:ln>
        </p:spPr>
      </p:sp>
      <p:pic>
        <p:nvPicPr>
          <p:cNvPr id="11" name="icon-8" descr="icon-8"/>
          <p:cNvPicPr>
            <a:picLocks noChangeAspect="1"/>
          </p:cNvPicPr>
          <p:nvPr/>
        </p:nvPicPr>
        <p:blipFill>
          <a:blip r:embed="rId6"/>
          <a:stretch>
            <a:fillRect/>
          </a:stretch>
        </p:blipFill>
        <p:spPr>
          <a:xfrm>
            <a:off x="10306050" y="4210050"/>
            <a:ext cx="596900" cy="596900"/>
          </a:xfrm>
          <a:prstGeom prst="rect">
            <a:avLst/>
          </a:prstGeom>
        </p:spPr>
      </p:pic>
      <p:sp>
        <p:nvSpPr>
          <p:cNvPr id="12" name="kicker"/>
          <p:cNvSpPr txBox="1"/>
          <p:nvPr/>
        </p:nvSpPr>
        <p:spPr>
          <a:xfrm>
            <a:off x="762000" y="1407820"/>
            <a:ext cx="3484562" cy="262230"/>
          </a:xfrm>
          <a:prstGeom prst="rect">
            <a:avLst/>
          </a:prstGeom>
          <a:noFill/>
        </p:spPr>
        <p:txBody>
          <a:bodyPr wrap="square" lIns="0" tIns="0" rIns="0" bIns="0" rtlCol="0" anchor="t">
            <a:noAutofit/>
          </a:bodyPr>
          <a:lstStyle/>
          <a:p>
            <a:pPr algn="l">
              <a:lnSpc>
                <a:spcPts val="2450"/>
              </a:lnSpc>
              <a:buNone/>
            </a:pPr>
            <a:r>
              <a:rPr lang="en-US" sz="1800" b="1" dirty="0">
                <a:solidFill>
                  <a:srgbClr val="97462C"/>
                </a:solidFill>
                <a:latin typeface="Lexend"/>
                <a:ea typeface="Lexend"/>
                <a:cs typeface="Lexend"/>
              </a:rPr>
              <a:t>THERAPIST SPOTLIGHT</a:t>
            </a:r>
            <a:endParaRPr lang="en-US" sz="1800" dirty="0"/>
          </a:p>
        </p:txBody>
      </p:sp>
      <p:grpSp>
        <p:nvGrpSpPr>
          <p:cNvPr id="15" name="block-9"/>
          <p:cNvGrpSpPr/>
          <p:nvPr/>
        </p:nvGrpSpPr>
        <p:grpSpPr>
          <a:xfrm>
            <a:off x="762000" y="1968500"/>
            <a:ext cx="6096000" cy="2298700"/>
            <a:chOff x="0" y="0"/>
            <a:chExt cx="6096000" cy="2298700"/>
          </a:xfrm>
        </p:grpSpPr>
        <p:sp>
          <p:nvSpPr>
            <p:cNvPr id="13" name="title"/>
            <p:cNvSpPr>
              <a:spLocks noGrp="1"/>
            </p:cNvSpPr>
            <p:nvPr>
              <p:ph type="title"/>
            </p:nvPr>
          </p:nvSpPr>
          <p:spPr>
            <a:xfrm>
              <a:off x="0" y="74625"/>
              <a:ext cx="6096000" cy="2224075"/>
            </a:xfrm>
            <a:prstGeom prst="rect">
              <a:avLst/>
            </a:prstGeom>
            <a:noFill/>
          </p:spPr>
          <p:txBody>
            <a:bodyPr wrap="square" lIns="0" tIns="0" rIns="0" bIns="0" rtlCol="0" anchor="t">
              <a:noAutofit/>
            </a:bodyPr>
            <a:lstStyle/>
            <a:p>
              <a:pPr algn="l">
                <a:lnSpc>
                  <a:spcPts val="5824"/>
                </a:lnSpc>
                <a:spcBef>
                  <a:spcPts val="0"/>
                </a:spcBef>
                <a:spcAft>
                  <a:spcPts val="0"/>
                </a:spcAft>
                <a:buNone/>
              </a:pPr>
              <a:r>
                <a:rPr lang="en-US" sz="5200" b="1" dirty="0">
                  <a:solidFill>
                    <a:srgbClr val="3A2A22"/>
                  </a:solidFill>
                  <a:latin typeface="Fraunces"/>
                  <a:ea typeface="Fraunces"/>
                  <a:cs typeface="Fraunces"/>
                </a:rPr>
                <a:t>Occupational Therapy: Making Daily Life Work</a:t>
              </a:r>
              <a:endParaRPr lang="en-US" sz="5200" dirty="0"/>
            </a:p>
          </p:txBody>
        </p:sp>
        <p:sp>
          <p:nvSpPr>
            <p:cNvPr id="14" name="subtitle"/>
            <p:cNvSpPr txBox="1"/>
            <p:nvPr/>
          </p:nvSpPr>
          <p:spPr>
            <a:xfrm>
              <a:off x="0" y="2545715"/>
              <a:ext cx="6096000" cy="10991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5F4D44"/>
                  </a:solidFill>
                  <a:latin typeface="Lexend"/>
                  <a:ea typeface="Lexend"/>
                  <a:cs typeface="Lexend"/>
                </a:rPr>
                <a:t>How OTs support sensory needs, motor skills and routines for autistic and ADHD kids and adults.</a:t>
              </a:r>
              <a:endParaRPr lang="en-US" sz="2200" dirty="0"/>
            </a:p>
          </p:txBody>
        </p:sp>
      </p:grpSp>
      <p:sp>
        <p:nvSpPr>
          <p:cNvPr id="16" name="cover-rule"/>
          <p:cNvSpPr/>
          <p:nvPr/>
        </p:nvSpPr>
        <p:spPr>
          <a:xfrm>
            <a:off x="762000" y="5905500"/>
            <a:ext cx="762000" cy="38100"/>
          </a:xfrm>
          <a:prstGeom prst="roundRect">
            <a:avLst>
              <a:gd name="adj" fmla="val 50000"/>
            </a:avLst>
          </a:prstGeom>
          <a:solidFill>
            <a:srgbClr val="B4583A"/>
          </a:solidFill>
          <a:ln>
            <a:noFill/>
          </a:ln>
        </p:spPr>
      </p:sp>
      <p:sp>
        <p:nvSpPr>
          <p:cNvPr id="17" name="footer"/>
          <p:cNvSpPr txBox="1"/>
          <p:nvPr/>
        </p:nvSpPr>
        <p:spPr>
          <a:xfrm>
            <a:off x="762000" y="6042050"/>
            <a:ext cx="1754188" cy="187300"/>
          </a:xfrm>
          <a:prstGeom prst="rect">
            <a:avLst/>
          </a:prstGeom>
          <a:noFill/>
        </p:spPr>
        <p:txBody>
          <a:bodyPr wrap="square" lIns="0" tIns="0" rIns="0" bIns="0" rtlCol="0" anchor="t">
            <a:noAutofit/>
          </a:bodyPr>
          <a:lstStyle/>
          <a:p>
            <a:pPr algn="l">
              <a:lnSpc>
                <a:spcPts val="1750"/>
              </a:lnSpc>
              <a:buNone/>
            </a:pPr>
            <a:r>
              <a:rPr lang="en-US" sz="1200" dirty="0">
                <a:solidFill>
                  <a:srgbClr val="5F4D44"/>
                </a:solidFill>
                <a:latin typeface="Lexend"/>
                <a:ea typeface="Lexend"/>
                <a:cs typeface="Lexend"/>
              </a:rPr>
              <a:t>Presentation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02-cards">
    <p:bg>
      <p:bgPr>
        <a:solidFill>
          <a:srgbClr val="FAF4EE"/>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F5D9CB"/>
          </a:solidFill>
          <a:ln>
            <a:noFill/>
          </a:ln>
        </p:spPr>
      </p:sp>
      <p:sp>
        <p:nvSpPr>
          <p:cNvPr id="3" name="footer"/>
          <p:cNvSpPr txBox="1"/>
          <p:nvPr/>
        </p:nvSpPr>
        <p:spPr>
          <a:xfrm>
            <a:off x="762000" y="6283350"/>
            <a:ext cx="3865562" cy="225400"/>
          </a:xfrm>
          <a:prstGeom prst="rect">
            <a:avLst/>
          </a:prstGeom>
          <a:noFill/>
        </p:spPr>
        <p:txBody>
          <a:bodyPr wrap="square" lIns="0" tIns="0" rIns="0" bIns="0" rtlCol="0" anchor="t">
            <a:noAutofit/>
          </a:bodyPr>
          <a:lstStyle/>
          <a:p>
            <a:pPr algn="l">
              <a:lnSpc>
                <a:spcPts val="1750"/>
              </a:lnSpc>
              <a:buNone/>
            </a:pPr>
            <a:r>
              <a:rPr lang="en-US" sz="1200" dirty="0">
                <a:solidFill>
                  <a:srgbClr val="5F4D44"/>
                </a:solidFill>
                <a:latin typeface="Lexend"/>
                <a:ea typeface="Lexend"/>
                <a:cs typeface="Lexend"/>
              </a:rPr>
              <a:t>Occupational Therapy for Autism &amp; ADHD</a:t>
            </a:r>
            <a:endParaRPr lang="en-US" sz="1200" dirty="0"/>
          </a:p>
        </p:txBody>
      </p:sp>
      <p:sp>
        <p:nvSpPr>
          <p:cNvPr id="4" name="page-number"/>
          <p:cNvSpPr txBox="1"/>
          <p:nvPr/>
        </p:nvSpPr>
        <p:spPr>
          <a:xfrm>
            <a:off x="10858500" y="6274054"/>
            <a:ext cx="565150" cy="209296"/>
          </a:xfrm>
          <a:prstGeom prst="rect">
            <a:avLst/>
          </a:prstGeom>
          <a:noFill/>
        </p:spPr>
        <p:txBody>
          <a:bodyPr wrap="square" lIns="0" tIns="0" rIns="0" bIns="0" rtlCol="0" anchor="t">
            <a:noAutofit/>
          </a:bodyPr>
          <a:lstStyle/>
          <a:p>
            <a:pPr algn="l">
              <a:lnSpc>
                <a:spcPts val="1750"/>
              </a:lnSpc>
              <a:buNone/>
            </a:pPr>
            <a:r>
              <a:rPr lang="en-US" sz="1200" dirty="0">
                <a:solidFill>
                  <a:srgbClr val="5F4D44"/>
                </a:solidFill>
                <a:latin typeface="Lexend"/>
                <a:ea typeface="Lexend"/>
                <a:cs typeface="Lexend"/>
              </a:rPr>
              <a:t>2 / 7</a:t>
            </a:r>
            <a:endParaRPr lang="en-US" sz="1200" dirty="0"/>
          </a:p>
        </p:txBody>
      </p:sp>
      <p:sp>
        <p:nvSpPr>
          <p:cNvPr id="5" name="title-bar-10"/>
          <p:cNvSpPr/>
          <p:nvPr/>
        </p:nvSpPr>
        <p:spPr>
          <a:xfrm>
            <a:off x="762000" y="584200"/>
            <a:ext cx="457200" cy="63500"/>
          </a:xfrm>
          <a:prstGeom prst="roundRect">
            <a:avLst>
              <a:gd name="adj" fmla="val 50000"/>
            </a:avLst>
          </a:prstGeom>
          <a:solidFill>
            <a:srgbClr val="B4583A"/>
          </a:solidFill>
          <a:ln>
            <a:noFill/>
          </a:ln>
        </p:spPr>
      </p:sp>
      <p:sp>
        <p:nvSpPr>
          <p:cNvPr id="6" name="title"/>
          <p:cNvSpPr>
            <a:spLocks noGrp="1"/>
          </p:cNvSpPr>
          <p:nvPr>
            <p:ph type="title"/>
          </p:nvPr>
        </p:nvSpPr>
        <p:spPr>
          <a:xfrm>
            <a:off x="762000" y="730593"/>
            <a:ext cx="5651500" cy="374307"/>
          </a:xfrm>
          <a:prstGeom prst="rect">
            <a:avLst/>
          </a:prstGeom>
          <a:noFill/>
        </p:spPr>
        <p:txBody>
          <a:bodyPr wrap="square" lIns="0" tIns="0" rIns="0" bIns="0" rtlCol="0" anchor="t">
            <a:noAutofit/>
          </a:bodyPr>
          <a:lstStyle/>
          <a:p>
            <a:pPr algn="l">
              <a:lnSpc>
                <a:spcPts val="3742"/>
              </a:lnSpc>
              <a:buNone/>
            </a:pPr>
            <a:r>
              <a:rPr lang="en-US" sz="3400" b="1" dirty="0">
                <a:solidFill>
                  <a:srgbClr val="3A2A22"/>
                </a:solidFill>
                <a:latin typeface="Fraunces"/>
                <a:ea typeface="Fraunces"/>
                <a:cs typeface="Fraunces"/>
              </a:rPr>
              <a:t>What an OT works on</a:t>
            </a:r>
            <a:endParaRPr lang="en-US" sz="3400" dirty="0"/>
          </a:p>
        </p:txBody>
      </p:sp>
      <p:sp>
        <p:nvSpPr>
          <p:cNvPr id="7" name="card-11"/>
          <p:cNvSpPr/>
          <p:nvPr/>
        </p:nvSpPr>
        <p:spPr>
          <a:xfrm>
            <a:off x="774700" y="1790700"/>
            <a:ext cx="3327400" cy="4038600"/>
          </a:xfrm>
          <a:prstGeom prst="roundRect">
            <a:avLst>
              <a:gd name="adj" fmla="val 6679"/>
            </a:avLst>
          </a:prstGeom>
          <a:solidFill>
            <a:srgbClr val="FFFFFF"/>
          </a:solidFill>
          <a:ln w="12700">
            <a:solidFill>
              <a:srgbClr val="ECDFD4"/>
            </a:solidFill>
          </a:ln>
        </p:spPr>
      </p:sp>
      <p:sp>
        <p:nvSpPr>
          <p:cNvPr id="8" name="icon-bg-12"/>
          <p:cNvSpPr/>
          <p:nvPr/>
        </p:nvSpPr>
        <p:spPr>
          <a:xfrm>
            <a:off x="1066800" y="2082800"/>
            <a:ext cx="762000" cy="762000"/>
          </a:xfrm>
          <a:prstGeom prst="ellipse">
            <a:avLst/>
          </a:prstGeom>
          <a:solidFill>
            <a:srgbClr val="F5D9CB"/>
          </a:solidFill>
          <a:ln>
            <a:noFill/>
          </a:ln>
        </p:spPr>
      </p:sp>
      <p:pic>
        <p:nvPicPr>
          <p:cNvPr id="9" name="icon-13" descr="icon-13"/>
          <p:cNvPicPr>
            <a:picLocks noChangeAspect="1"/>
          </p:cNvPicPr>
          <p:nvPr/>
        </p:nvPicPr>
        <p:blipFill>
          <a:blip r:embed="rId3"/>
          <a:stretch>
            <a:fillRect/>
          </a:stretch>
        </p:blipFill>
        <p:spPr>
          <a:xfrm>
            <a:off x="1149350" y="2165350"/>
            <a:ext cx="596900" cy="596900"/>
          </a:xfrm>
          <a:prstGeom prst="rect">
            <a:avLst/>
          </a:prstGeom>
        </p:spPr>
      </p:pic>
      <p:grpSp>
        <p:nvGrpSpPr>
          <p:cNvPr id="12" name="block-16"/>
          <p:cNvGrpSpPr/>
          <p:nvPr/>
        </p:nvGrpSpPr>
        <p:grpSpPr>
          <a:xfrm>
            <a:off x="1066800" y="3111500"/>
            <a:ext cx="2743200" cy="927100"/>
            <a:chOff x="0" y="0"/>
            <a:chExt cx="2743200" cy="927100"/>
          </a:xfrm>
        </p:grpSpPr>
        <p:sp>
          <p:nvSpPr>
            <p:cNvPr id="10" name="head-14"/>
            <p:cNvSpPr txBox="1"/>
            <p:nvPr/>
          </p:nvSpPr>
          <p:spPr>
            <a:xfrm>
              <a:off x="0" y="31572"/>
              <a:ext cx="27432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3A2A22"/>
                  </a:solidFill>
                  <a:latin typeface="Fraunces"/>
                  <a:ea typeface="Fraunces"/>
                  <a:cs typeface="Fraunces"/>
                </a:rPr>
                <a:t>Sensory processing</a:t>
              </a:r>
              <a:endParaRPr lang="en-US" sz="2200" dirty="0"/>
            </a:p>
          </p:txBody>
        </p:sp>
        <p:sp>
          <p:nvSpPr>
            <p:cNvPr id="11" name="body-15"/>
            <p:cNvSpPr txBox="1"/>
            <p:nvPr/>
          </p:nvSpPr>
          <p:spPr>
            <a:xfrm>
              <a:off x="0" y="464820"/>
              <a:ext cx="2743200" cy="9385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5F4D44"/>
                  </a:solidFill>
                  <a:latin typeface="Lexend"/>
                  <a:ea typeface="Lexend"/>
                  <a:cs typeface="Lexend"/>
                </a:rPr>
                <a:t>Finding comfort with sound, touch, light and movement.</a:t>
              </a:r>
              <a:endParaRPr lang="en-US" sz="1800" dirty="0"/>
            </a:p>
          </p:txBody>
        </p:sp>
      </p:grpSp>
      <p:sp>
        <p:nvSpPr>
          <p:cNvPr id="13" name="card-17"/>
          <p:cNvSpPr/>
          <p:nvPr/>
        </p:nvSpPr>
        <p:spPr>
          <a:xfrm>
            <a:off x="4432300" y="1790700"/>
            <a:ext cx="3327400" cy="4038600"/>
          </a:xfrm>
          <a:prstGeom prst="roundRect">
            <a:avLst>
              <a:gd name="adj" fmla="val 6679"/>
            </a:avLst>
          </a:prstGeom>
          <a:solidFill>
            <a:srgbClr val="FFFFFF"/>
          </a:solidFill>
          <a:ln w="12700">
            <a:solidFill>
              <a:srgbClr val="ECDFD4"/>
            </a:solidFill>
          </a:ln>
        </p:spPr>
      </p:sp>
      <p:sp>
        <p:nvSpPr>
          <p:cNvPr id="14" name="icon-bg-18"/>
          <p:cNvSpPr/>
          <p:nvPr/>
        </p:nvSpPr>
        <p:spPr>
          <a:xfrm>
            <a:off x="4724400" y="2082800"/>
            <a:ext cx="762000" cy="762000"/>
          </a:xfrm>
          <a:prstGeom prst="ellipse">
            <a:avLst/>
          </a:prstGeom>
          <a:solidFill>
            <a:srgbClr val="F5D9CB"/>
          </a:solidFill>
          <a:ln>
            <a:noFill/>
          </a:ln>
        </p:spPr>
      </p:sp>
      <p:pic>
        <p:nvPicPr>
          <p:cNvPr id="15" name="icon-19" descr="icon-19"/>
          <p:cNvPicPr>
            <a:picLocks noChangeAspect="1"/>
          </p:cNvPicPr>
          <p:nvPr/>
        </p:nvPicPr>
        <p:blipFill>
          <a:blip r:embed="rId4"/>
          <a:stretch>
            <a:fillRect/>
          </a:stretch>
        </p:blipFill>
        <p:spPr>
          <a:xfrm>
            <a:off x="4806950" y="2165350"/>
            <a:ext cx="596900" cy="596900"/>
          </a:xfrm>
          <a:prstGeom prst="rect">
            <a:avLst/>
          </a:prstGeom>
        </p:spPr>
      </p:pic>
      <p:grpSp>
        <p:nvGrpSpPr>
          <p:cNvPr id="18" name="block-22"/>
          <p:cNvGrpSpPr/>
          <p:nvPr/>
        </p:nvGrpSpPr>
        <p:grpSpPr>
          <a:xfrm>
            <a:off x="4724400" y="3111500"/>
            <a:ext cx="2743200" cy="927100"/>
            <a:chOff x="0" y="0"/>
            <a:chExt cx="2743200" cy="927100"/>
          </a:xfrm>
        </p:grpSpPr>
        <p:sp>
          <p:nvSpPr>
            <p:cNvPr id="16" name="head-20"/>
            <p:cNvSpPr txBox="1"/>
            <p:nvPr/>
          </p:nvSpPr>
          <p:spPr>
            <a:xfrm>
              <a:off x="0" y="31572"/>
              <a:ext cx="27432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3A2A22"/>
                  </a:solidFill>
                  <a:latin typeface="Fraunces"/>
                  <a:ea typeface="Fraunces"/>
                  <a:cs typeface="Fraunces"/>
                </a:rPr>
                <a:t>Motor skills</a:t>
              </a:r>
              <a:endParaRPr lang="en-US" sz="2200" dirty="0"/>
            </a:p>
          </p:txBody>
        </p:sp>
        <p:sp>
          <p:nvSpPr>
            <p:cNvPr id="17" name="body-21"/>
            <p:cNvSpPr txBox="1"/>
            <p:nvPr/>
          </p:nvSpPr>
          <p:spPr>
            <a:xfrm>
              <a:off x="0" y="464820"/>
              <a:ext cx="2743200" cy="9385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5F4D44"/>
                  </a:solidFill>
                  <a:latin typeface="Lexend"/>
                  <a:ea typeface="Lexend"/>
                  <a:cs typeface="Lexend"/>
                </a:rPr>
                <a:t>Handwriting, scissors, buttons, balance and coordination.</a:t>
              </a:r>
              <a:endParaRPr lang="en-US" sz="1800" dirty="0"/>
            </a:p>
          </p:txBody>
        </p:sp>
      </p:grpSp>
      <p:sp>
        <p:nvSpPr>
          <p:cNvPr id="19" name="card-23"/>
          <p:cNvSpPr/>
          <p:nvPr/>
        </p:nvSpPr>
        <p:spPr>
          <a:xfrm>
            <a:off x="8089900" y="1790700"/>
            <a:ext cx="3327400" cy="4038600"/>
          </a:xfrm>
          <a:prstGeom prst="roundRect">
            <a:avLst>
              <a:gd name="adj" fmla="val 6679"/>
            </a:avLst>
          </a:prstGeom>
          <a:solidFill>
            <a:srgbClr val="FFFFFF"/>
          </a:solidFill>
          <a:ln w="12700">
            <a:solidFill>
              <a:srgbClr val="ECDFD4"/>
            </a:solidFill>
          </a:ln>
        </p:spPr>
      </p:sp>
      <p:sp>
        <p:nvSpPr>
          <p:cNvPr id="20" name="icon-bg-24"/>
          <p:cNvSpPr/>
          <p:nvPr/>
        </p:nvSpPr>
        <p:spPr>
          <a:xfrm>
            <a:off x="8382000" y="2082800"/>
            <a:ext cx="762000" cy="762000"/>
          </a:xfrm>
          <a:prstGeom prst="ellipse">
            <a:avLst/>
          </a:prstGeom>
          <a:solidFill>
            <a:srgbClr val="F5D9CB"/>
          </a:solidFill>
          <a:ln>
            <a:noFill/>
          </a:ln>
        </p:spPr>
      </p:sp>
      <p:pic>
        <p:nvPicPr>
          <p:cNvPr id="21" name="icon-25" descr="icon-25"/>
          <p:cNvPicPr>
            <a:picLocks noChangeAspect="1"/>
          </p:cNvPicPr>
          <p:nvPr/>
        </p:nvPicPr>
        <p:blipFill>
          <a:blip r:embed="rId5"/>
          <a:stretch>
            <a:fillRect/>
          </a:stretch>
        </p:blipFill>
        <p:spPr>
          <a:xfrm>
            <a:off x="8464550" y="2165350"/>
            <a:ext cx="596900" cy="596900"/>
          </a:xfrm>
          <a:prstGeom prst="rect">
            <a:avLst/>
          </a:prstGeom>
        </p:spPr>
      </p:pic>
      <p:grpSp>
        <p:nvGrpSpPr>
          <p:cNvPr id="24" name="block-28"/>
          <p:cNvGrpSpPr/>
          <p:nvPr/>
        </p:nvGrpSpPr>
        <p:grpSpPr>
          <a:xfrm>
            <a:off x="8382000" y="3111500"/>
            <a:ext cx="2743200" cy="927100"/>
            <a:chOff x="0" y="0"/>
            <a:chExt cx="2743200" cy="927100"/>
          </a:xfrm>
        </p:grpSpPr>
        <p:sp>
          <p:nvSpPr>
            <p:cNvPr id="22" name="head-26"/>
            <p:cNvSpPr txBox="1"/>
            <p:nvPr/>
          </p:nvSpPr>
          <p:spPr>
            <a:xfrm>
              <a:off x="0" y="31572"/>
              <a:ext cx="27432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3A2A22"/>
                  </a:solidFill>
                  <a:latin typeface="Fraunces"/>
                  <a:ea typeface="Fraunces"/>
                  <a:cs typeface="Fraunces"/>
                </a:rPr>
                <a:t>Daily living</a:t>
              </a:r>
              <a:endParaRPr lang="en-US" sz="2200" dirty="0"/>
            </a:p>
          </p:txBody>
        </p:sp>
        <p:sp>
          <p:nvSpPr>
            <p:cNvPr id="23" name="body-27"/>
            <p:cNvSpPr txBox="1"/>
            <p:nvPr/>
          </p:nvSpPr>
          <p:spPr>
            <a:xfrm>
              <a:off x="0" y="464820"/>
              <a:ext cx="2743200" cy="9385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5F4D44"/>
                  </a:solidFill>
                  <a:latin typeface="Lexend"/>
                  <a:ea typeface="Lexend"/>
                  <a:cs typeface="Lexend"/>
                </a:rPr>
                <a:t>Dressing, eating, hygiene, sleep and morning routines.</a:t>
              </a:r>
              <a:endParaRPr lang="en-US" sz="180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03-split">
    <p:bg>
      <p:bgPr>
        <a:solidFill>
          <a:srgbClr val="FAF4EE"/>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F5D9CB"/>
          </a:solidFill>
          <a:ln>
            <a:noFill/>
          </a:ln>
        </p:spPr>
      </p:sp>
      <p:sp>
        <p:nvSpPr>
          <p:cNvPr id="3" name="footer"/>
          <p:cNvSpPr txBox="1"/>
          <p:nvPr/>
        </p:nvSpPr>
        <p:spPr>
          <a:xfrm>
            <a:off x="762000" y="6283350"/>
            <a:ext cx="3865562" cy="225400"/>
          </a:xfrm>
          <a:prstGeom prst="rect">
            <a:avLst/>
          </a:prstGeom>
          <a:noFill/>
        </p:spPr>
        <p:txBody>
          <a:bodyPr wrap="square" lIns="0" tIns="0" rIns="0" bIns="0" rtlCol="0" anchor="t">
            <a:noAutofit/>
          </a:bodyPr>
          <a:lstStyle/>
          <a:p>
            <a:pPr algn="l">
              <a:lnSpc>
                <a:spcPts val="1750"/>
              </a:lnSpc>
              <a:buNone/>
            </a:pPr>
            <a:r>
              <a:rPr lang="en-US" sz="1200" dirty="0">
                <a:solidFill>
                  <a:srgbClr val="5F4D44"/>
                </a:solidFill>
                <a:latin typeface="Lexend"/>
                <a:ea typeface="Lexend"/>
                <a:cs typeface="Lexend"/>
              </a:rPr>
              <a:t>Occupational Therapy for Autism &amp; ADHD</a:t>
            </a:r>
            <a:endParaRPr lang="en-US" sz="1200" dirty="0"/>
          </a:p>
        </p:txBody>
      </p:sp>
      <p:sp>
        <p:nvSpPr>
          <p:cNvPr id="4" name="page-number"/>
          <p:cNvSpPr txBox="1"/>
          <p:nvPr/>
        </p:nvSpPr>
        <p:spPr>
          <a:xfrm>
            <a:off x="10858500" y="6272530"/>
            <a:ext cx="565150" cy="204470"/>
          </a:xfrm>
          <a:prstGeom prst="rect">
            <a:avLst/>
          </a:prstGeom>
          <a:noFill/>
        </p:spPr>
        <p:txBody>
          <a:bodyPr wrap="square" lIns="0" tIns="0" rIns="0" bIns="0" rtlCol="0" anchor="t">
            <a:noAutofit/>
          </a:bodyPr>
          <a:lstStyle/>
          <a:p>
            <a:pPr algn="l">
              <a:lnSpc>
                <a:spcPts val="1750"/>
              </a:lnSpc>
              <a:buNone/>
            </a:pPr>
            <a:r>
              <a:rPr lang="en-US" sz="1200" dirty="0">
                <a:solidFill>
                  <a:srgbClr val="5F4D44"/>
                </a:solidFill>
                <a:latin typeface="Lexend"/>
                <a:ea typeface="Lexend"/>
                <a:cs typeface="Lexend"/>
              </a:rPr>
              <a:t>3 / 7</a:t>
            </a:r>
            <a:endParaRPr lang="en-US" sz="1200" dirty="0"/>
          </a:p>
        </p:txBody>
      </p:sp>
      <p:sp>
        <p:nvSpPr>
          <p:cNvPr id="5" name="title-bar-29"/>
          <p:cNvSpPr/>
          <p:nvPr/>
        </p:nvSpPr>
        <p:spPr>
          <a:xfrm>
            <a:off x="762000" y="584200"/>
            <a:ext cx="457200" cy="63500"/>
          </a:xfrm>
          <a:prstGeom prst="roundRect">
            <a:avLst>
              <a:gd name="adj" fmla="val 50000"/>
            </a:avLst>
          </a:prstGeom>
          <a:solidFill>
            <a:srgbClr val="B4583A"/>
          </a:solidFill>
          <a:ln>
            <a:noFill/>
          </a:ln>
        </p:spPr>
      </p:sp>
      <p:sp>
        <p:nvSpPr>
          <p:cNvPr id="6" name="title"/>
          <p:cNvSpPr>
            <a:spLocks noGrp="1"/>
          </p:cNvSpPr>
          <p:nvPr>
            <p:ph type="title"/>
          </p:nvPr>
        </p:nvSpPr>
        <p:spPr>
          <a:xfrm>
            <a:off x="762000" y="730593"/>
            <a:ext cx="7286625" cy="469557"/>
          </a:xfrm>
          <a:prstGeom prst="rect">
            <a:avLst/>
          </a:prstGeom>
          <a:noFill/>
        </p:spPr>
        <p:txBody>
          <a:bodyPr wrap="square" lIns="0" tIns="0" rIns="0" bIns="0" rtlCol="0" anchor="t">
            <a:noAutofit/>
          </a:bodyPr>
          <a:lstStyle/>
          <a:p>
            <a:pPr algn="l">
              <a:lnSpc>
                <a:spcPts val="3742"/>
              </a:lnSpc>
              <a:buNone/>
            </a:pPr>
            <a:r>
              <a:rPr lang="en-US" sz="3400" b="1" dirty="0">
                <a:solidFill>
                  <a:srgbClr val="3A2A22"/>
                </a:solidFill>
                <a:latin typeface="Fraunces"/>
                <a:ea typeface="Fraunces"/>
                <a:cs typeface="Fraunces"/>
              </a:rPr>
              <a:t>Sensory differences are real</a:t>
            </a:r>
            <a:endParaRPr lang="en-US" sz="3400" dirty="0"/>
          </a:p>
        </p:txBody>
      </p:sp>
      <p:sp>
        <p:nvSpPr>
          <p:cNvPr id="7" name="body"/>
          <p:cNvSpPr txBox="1"/>
          <p:nvPr/>
        </p:nvSpPr>
        <p:spPr>
          <a:xfrm>
            <a:off x="762000" y="1898015"/>
            <a:ext cx="5588000" cy="3626485"/>
          </a:xfrm>
          <a:prstGeom prst="rect">
            <a:avLst/>
          </a:prstGeom>
          <a:noFill/>
        </p:spPr>
        <p:txBody>
          <a:bodyPr wrap="square" lIns="0" tIns="0" rIns="0" bIns="0" rtlCol="0" anchor="t">
            <a:noAutofit/>
          </a:bodyPr>
          <a:lstStyle/>
          <a:p>
            <a:pPr algn="l" marL="391160" indent="-391160" lvl="0">
              <a:lnSpc>
                <a:spcPts val="2860"/>
              </a:lnSpc>
              <a:spcBef>
                <a:spcPts val="0"/>
              </a:spcBef>
              <a:spcAft>
                <a:spcPts val="1400"/>
              </a:spcAft>
              <a:buFont typeface="Arial"/>
              <a:buChar char="•"/>
            </a:pPr>
            <a:r>
              <a:rPr lang="en-US" sz="2200" dirty="0">
                <a:solidFill>
                  <a:srgbClr val="3A2A22"/>
                </a:solidFill>
                <a:latin typeface="Lexend"/>
                <a:ea typeface="Lexend"/>
                <a:cs typeface="Lexend"/>
              </a:rPr>
              <a:t>Noise, tags or bright light can feel painful</a:t>
            </a:r>
            <a:endParaRPr lang="en-US" sz="2200" dirty="0"/>
          </a:p>
          <a:p>
            <a:pPr algn="l" marL="391160" indent="-391160" lvl="0">
              <a:lnSpc>
                <a:spcPts val="2860"/>
              </a:lnSpc>
              <a:spcBef>
                <a:spcPts val="0"/>
              </a:spcBef>
              <a:spcAft>
                <a:spcPts val="1400"/>
              </a:spcAft>
              <a:buFont typeface="Arial"/>
              <a:buChar char="•"/>
            </a:pPr>
            <a:r>
              <a:rPr lang="en-US" sz="2200" dirty="0">
                <a:solidFill>
                  <a:srgbClr val="3A2A22"/>
                </a:solidFill>
                <a:latin typeface="Lexend"/>
                <a:ea typeface="Lexend"/>
                <a:cs typeface="Lexend"/>
              </a:rPr>
              <a:t>Some people seek movement, pressure or chewing</a:t>
            </a:r>
            <a:endParaRPr lang="en-US" sz="2200" dirty="0"/>
          </a:p>
          <a:p>
            <a:pPr algn="l" marL="391160" indent="-391160" lvl="0">
              <a:lnSpc>
                <a:spcPts val="2860"/>
              </a:lnSpc>
              <a:spcBef>
                <a:spcPts val="0"/>
              </a:spcBef>
              <a:spcAft>
                <a:spcPts val="1400"/>
              </a:spcAft>
              <a:buFont typeface="Arial"/>
              <a:buChar char="•"/>
            </a:pPr>
            <a:r>
              <a:rPr lang="en-US" sz="2200" dirty="0">
                <a:solidFill>
                  <a:srgbClr val="3A2A22"/>
                </a:solidFill>
                <a:latin typeface="Lexend"/>
                <a:ea typeface="Lexend"/>
                <a:cs typeface="Lexend"/>
              </a:rPr>
              <a:t>Overload can look like a meltdown or shutdown</a:t>
            </a:r>
            <a:endParaRPr lang="en-US" sz="2200" dirty="0"/>
          </a:p>
          <a:p>
            <a:pPr algn="l" marL="391160" indent="-391160" lvl="0">
              <a:lnSpc>
                <a:spcPts val="2860"/>
              </a:lnSpc>
              <a:spcBef>
                <a:spcPts val="0"/>
              </a:spcBef>
              <a:spcAft>
                <a:spcPts val="1400"/>
              </a:spcAft>
              <a:buFont typeface="Arial"/>
              <a:buChar char="•"/>
            </a:pPr>
            <a:r>
              <a:rPr lang="en-US" sz="2200" dirty="0">
                <a:solidFill>
                  <a:srgbClr val="3A2A22"/>
                </a:solidFill>
                <a:latin typeface="Lexend"/>
                <a:ea typeface="Lexend"/>
                <a:cs typeface="Lexend"/>
              </a:rPr>
              <a:t>Stimming often helps a person self-regulate</a:t>
            </a:r>
            <a:endParaRPr lang="en-US" sz="2200" dirty="0"/>
          </a:p>
        </p:txBody>
      </p:sp>
      <p:sp>
        <p:nvSpPr>
          <p:cNvPr id="8" name="panel"/>
          <p:cNvSpPr/>
          <p:nvPr/>
        </p:nvSpPr>
        <p:spPr>
          <a:xfrm>
            <a:off x="7048500" y="1701800"/>
            <a:ext cx="4381500" cy="4381500"/>
          </a:xfrm>
          <a:prstGeom prst="roundRect">
            <a:avLst>
              <a:gd name="adj" fmla="val 5797"/>
            </a:avLst>
          </a:prstGeom>
          <a:solidFill>
            <a:srgbClr val="B4583A"/>
          </a:solidFill>
          <a:ln>
            <a:noFill/>
          </a:ln>
        </p:spPr>
      </p:sp>
      <p:sp>
        <p:nvSpPr>
          <p:cNvPr id="9" name="icon-bg-30"/>
          <p:cNvSpPr/>
          <p:nvPr/>
        </p:nvSpPr>
        <p:spPr>
          <a:xfrm>
            <a:off x="7404100" y="2057400"/>
            <a:ext cx="762000" cy="762000"/>
          </a:xfrm>
          <a:prstGeom prst="ellipse">
            <a:avLst/>
          </a:prstGeom>
          <a:solidFill>
            <a:srgbClr val="FBE9E0"/>
          </a:solidFill>
          <a:ln>
            <a:noFill/>
          </a:ln>
        </p:spPr>
      </p:sp>
      <p:pic>
        <p:nvPicPr>
          <p:cNvPr id="10" name="icon-31" descr="icon-31"/>
          <p:cNvPicPr>
            <a:picLocks noChangeAspect="1"/>
          </p:cNvPicPr>
          <p:nvPr/>
        </p:nvPicPr>
        <p:blipFill>
          <a:blip r:embed="rId3"/>
          <a:stretch>
            <a:fillRect/>
          </a:stretch>
        </p:blipFill>
        <p:spPr>
          <a:xfrm>
            <a:off x="7486650" y="2139950"/>
            <a:ext cx="596900" cy="596900"/>
          </a:xfrm>
          <a:prstGeom prst="rect">
            <a:avLst/>
          </a:prstGeom>
        </p:spPr>
      </p:pic>
      <p:grpSp>
        <p:nvGrpSpPr>
          <p:cNvPr id="13" name="block-32"/>
          <p:cNvGrpSpPr/>
          <p:nvPr/>
        </p:nvGrpSpPr>
        <p:grpSpPr>
          <a:xfrm>
            <a:off x="7404100" y="3098800"/>
            <a:ext cx="3670300" cy="1600200"/>
            <a:chOff x="0" y="0"/>
            <a:chExt cx="3670300" cy="1600200"/>
          </a:xfrm>
        </p:grpSpPr>
        <p:sp>
          <p:nvSpPr>
            <p:cNvPr id="11" name="panel-head"/>
            <p:cNvSpPr txBox="1"/>
            <p:nvPr/>
          </p:nvSpPr>
          <p:spPr>
            <a:xfrm>
              <a:off x="0" y="40183"/>
              <a:ext cx="3670300" cy="404317"/>
            </a:xfrm>
            <a:prstGeom prst="rect">
              <a:avLst/>
            </a:prstGeom>
            <a:noFill/>
          </p:spPr>
          <p:txBody>
            <a:bodyPr wrap="square" lIns="0" tIns="0" rIns="0" bIns="0" rtlCol="0" anchor="t">
              <a:noAutofit/>
            </a:bodyPr>
            <a:lstStyle/>
            <a:p>
              <a:pPr algn="l">
                <a:lnSpc>
                  <a:spcPts val="3136"/>
                </a:lnSpc>
                <a:spcBef>
                  <a:spcPts val="0"/>
                </a:spcBef>
                <a:spcAft>
                  <a:spcPts val="0"/>
                </a:spcAft>
                <a:buNone/>
              </a:pPr>
              <a:r>
                <a:rPr lang="en-US" sz="2800" b="1" dirty="0">
                  <a:solidFill>
                    <a:srgbClr val="FFFFFF"/>
                  </a:solidFill>
                  <a:latin typeface="Fraunces"/>
                  <a:ea typeface="Fraunces"/>
                  <a:cs typeface="Fraunces"/>
                </a:rPr>
                <a:t>A sensory diet</a:t>
              </a:r>
              <a:endParaRPr lang="en-US" sz="2800" dirty="0"/>
            </a:p>
          </p:txBody>
        </p:sp>
        <p:sp>
          <p:nvSpPr>
            <p:cNvPr id="12" name="panel-body"/>
            <p:cNvSpPr txBox="1"/>
            <p:nvPr/>
          </p:nvSpPr>
          <p:spPr>
            <a:xfrm>
              <a:off x="0" y="579755"/>
              <a:ext cx="3670300" cy="1617345"/>
            </a:xfrm>
            <a:prstGeom prst="rect">
              <a:avLst/>
            </a:prstGeom>
            <a:noFill/>
          </p:spPr>
          <p:txBody>
            <a:bodyPr wrap="square" lIns="0" tIns="0" rIns="0" bIns="0" rtlCol="0" anchor="t">
              <a:noAutofit/>
            </a:bodyPr>
            <a:lstStyle/>
            <a:p>
              <a:pPr algn="l">
                <a:lnSpc>
                  <a:spcPts val="2520"/>
                </a:lnSpc>
                <a:spcBef>
                  <a:spcPts val="0"/>
                </a:spcBef>
                <a:spcAft>
                  <a:spcPts val="0"/>
                </a:spcAft>
                <a:buNone/>
              </a:pPr>
              <a:r>
                <a:rPr lang="en-US" sz="1800" dirty="0">
                  <a:solidFill>
                    <a:srgbClr val="FFFFFF"/>
                  </a:solidFill>
                  <a:latin typeface="Lexend"/>
                  <a:ea typeface="Lexend"/>
                  <a:cs typeface="Lexend"/>
                </a:rPr>
                <a:t>A planned set of activities through the day, such as swinging, heavy work or quiet breaks, that keeps the body regulated.</a:t>
              </a:r>
              <a:endParaRPr lang="en-US" sz="1800"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04-steps">
    <p:bg>
      <p:bgPr>
        <a:solidFill>
          <a:srgbClr val="FAF4EE"/>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F5D9CB"/>
          </a:solidFill>
          <a:ln>
            <a:noFill/>
          </a:ln>
        </p:spPr>
      </p:sp>
      <p:sp>
        <p:nvSpPr>
          <p:cNvPr id="3" name="footer"/>
          <p:cNvSpPr txBox="1"/>
          <p:nvPr/>
        </p:nvSpPr>
        <p:spPr>
          <a:xfrm>
            <a:off x="762000" y="6283350"/>
            <a:ext cx="3865562" cy="225400"/>
          </a:xfrm>
          <a:prstGeom prst="rect">
            <a:avLst/>
          </a:prstGeom>
          <a:noFill/>
        </p:spPr>
        <p:txBody>
          <a:bodyPr wrap="square" lIns="0" tIns="0" rIns="0" bIns="0" rtlCol="0" anchor="t">
            <a:noAutofit/>
          </a:bodyPr>
          <a:lstStyle/>
          <a:p>
            <a:pPr algn="l">
              <a:lnSpc>
                <a:spcPts val="1750"/>
              </a:lnSpc>
              <a:buNone/>
            </a:pPr>
            <a:r>
              <a:rPr lang="en-US" sz="1200" dirty="0">
                <a:solidFill>
                  <a:srgbClr val="5F4D44"/>
                </a:solidFill>
                <a:latin typeface="Lexend"/>
                <a:ea typeface="Lexend"/>
                <a:cs typeface="Lexend"/>
              </a:rPr>
              <a:t>Occupational Therapy for Autism &amp; ADHD</a:t>
            </a:r>
            <a:endParaRPr lang="en-US" sz="1200" dirty="0"/>
          </a:p>
        </p:txBody>
      </p:sp>
      <p:sp>
        <p:nvSpPr>
          <p:cNvPr id="4" name="page-number"/>
          <p:cNvSpPr txBox="1"/>
          <p:nvPr/>
        </p:nvSpPr>
        <p:spPr>
          <a:xfrm>
            <a:off x="10858500" y="6272530"/>
            <a:ext cx="577850" cy="204470"/>
          </a:xfrm>
          <a:prstGeom prst="rect">
            <a:avLst/>
          </a:prstGeom>
          <a:noFill/>
        </p:spPr>
        <p:txBody>
          <a:bodyPr wrap="square" lIns="0" tIns="0" rIns="0" bIns="0" rtlCol="0" anchor="t">
            <a:noAutofit/>
          </a:bodyPr>
          <a:lstStyle/>
          <a:p>
            <a:pPr algn="l">
              <a:lnSpc>
                <a:spcPts val="1750"/>
              </a:lnSpc>
              <a:buNone/>
            </a:pPr>
            <a:r>
              <a:rPr lang="en-US" sz="1200" dirty="0">
                <a:solidFill>
                  <a:srgbClr val="5F4D44"/>
                </a:solidFill>
                <a:latin typeface="Lexend"/>
                <a:ea typeface="Lexend"/>
                <a:cs typeface="Lexend"/>
              </a:rPr>
              <a:t>4 / 7</a:t>
            </a:r>
            <a:endParaRPr lang="en-US" sz="1200" dirty="0"/>
          </a:p>
        </p:txBody>
      </p:sp>
      <p:sp>
        <p:nvSpPr>
          <p:cNvPr id="5" name="title-bar-33"/>
          <p:cNvSpPr/>
          <p:nvPr/>
        </p:nvSpPr>
        <p:spPr>
          <a:xfrm>
            <a:off x="762000" y="584200"/>
            <a:ext cx="457200" cy="63500"/>
          </a:xfrm>
          <a:prstGeom prst="roundRect">
            <a:avLst>
              <a:gd name="adj" fmla="val 50000"/>
            </a:avLst>
          </a:prstGeom>
          <a:solidFill>
            <a:srgbClr val="B4583A"/>
          </a:solidFill>
          <a:ln>
            <a:noFill/>
          </a:ln>
        </p:spPr>
      </p:sp>
      <p:sp>
        <p:nvSpPr>
          <p:cNvPr id="6" name="title"/>
          <p:cNvSpPr>
            <a:spLocks noGrp="1"/>
          </p:cNvSpPr>
          <p:nvPr>
            <p:ph type="title"/>
          </p:nvPr>
        </p:nvSpPr>
        <p:spPr>
          <a:xfrm>
            <a:off x="762000" y="730593"/>
            <a:ext cx="5349875" cy="374307"/>
          </a:xfrm>
          <a:prstGeom prst="rect">
            <a:avLst/>
          </a:prstGeom>
          <a:noFill/>
        </p:spPr>
        <p:txBody>
          <a:bodyPr wrap="square" lIns="0" tIns="0" rIns="0" bIns="0" rtlCol="0" anchor="t">
            <a:noAutofit/>
          </a:bodyPr>
          <a:lstStyle/>
          <a:p>
            <a:pPr algn="l">
              <a:lnSpc>
                <a:spcPts val="3742"/>
              </a:lnSpc>
              <a:buNone/>
            </a:pPr>
            <a:r>
              <a:rPr lang="en-US" sz="3400" b="1" dirty="0">
                <a:solidFill>
                  <a:srgbClr val="3A2A22"/>
                </a:solidFill>
                <a:latin typeface="Fraunces"/>
                <a:ea typeface="Fraunces"/>
                <a:cs typeface="Fraunces"/>
              </a:rPr>
              <a:t>Inside an OT session</a:t>
            </a:r>
            <a:endParaRPr lang="en-US" sz="3400" dirty="0"/>
          </a:p>
        </p:txBody>
      </p:sp>
      <p:sp>
        <p:nvSpPr>
          <p:cNvPr id="7" name="steps-line"/>
          <p:cNvSpPr/>
          <p:nvPr/>
        </p:nvSpPr>
        <p:spPr>
          <a:xfrm>
            <a:off x="1828800" y="2489200"/>
            <a:ext cx="8534400" cy="50800"/>
          </a:xfrm>
          <a:prstGeom prst="roundRect">
            <a:avLst>
              <a:gd name="adj" fmla="val 50000"/>
            </a:avLst>
          </a:prstGeom>
          <a:solidFill>
            <a:srgbClr val="F5D9CB"/>
          </a:solidFill>
          <a:ln>
            <a:noFill/>
          </a:ln>
        </p:spPr>
      </p:sp>
      <p:sp>
        <p:nvSpPr>
          <p:cNvPr id="8" name="step-dot-34"/>
          <p:cNvSpPr/>
          <p:nvPr/>
        </p:nvSpPr>
        <p:spPr>
          <a:xfrm>
            <a:off x="1409700" y="2095500"/>
            <a:ext cx="838200" cy="838200"/>
          </a:xfrm>
          <a:prstGeom prst="ellipse">
            <a:avLst/>
          </a:prstGeom>
          <a:solidFill>
            <a:srgbClr val="B4583A"/>
          </a:solidFill>
          <a:ln>
            <a:noFill/>
          </a:ln>
        </p:spPr>
      </p:sp>
      <p:sp>
        <p:nvSpPr>
          <p:cNvPr id="9" name="step-num-35"/>
          <p:cNvSpPr txBox="1"/>
          <p:nvPr/>
        </p:nvSpPr>
        <p:spPr>
          <a:xfrm>
            <a:off x="1743075" y="2336241"/>
            <a:ext cx="704850" cy="308534"/>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1</a:t>
            </a:r>
            <a:endParaRPr lang="en-US" sz="2800" dirty="0"/>
          </a:p>
        </p:txBody>
      </p:sp>
      <p:grpSp>
        <p:nvGrpSpPr>
          <p:cNvPr id="12" name="block-38"/>
          <p:cNvGrpSpPr/>
          <p:nvPr/>
        </p:nvGrpSpPr>
        <p:grpSpPr>
          <a:xfrm>
            <a:off x="876300" y="3213100"/>
            <a:ext cx="1905000" cy="622300"/>
            <a:chOff x="0" y="0"/>
            <a:chExt cx="1905000" cy="622300"/>
          </a:xfrm>
        </p:grpSpPr>
        <p:sp>
          <p:nvSpPr>
            <p:cNvPr id="10" name="head-36"/>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3A2A22"/>
                  </a:solidFill>
                  <a:latin typeface="Fraunces"/>
                  <a:ea typeface="Fraunces"/>
                  <a:cs typeface="Fraunces"/>
                </a:rPr>
                <a:t>Check in</a:t>
              </a:r>
              <a:endParaRPr lang="en-US" sz="2200" dirty="0"/>
            </a:p>
          </p:txBody>
        </p:sp>
        <p:sp>
          <p:nvSpPr>
            <p:cNvPr id="11" name="body-37"/>
            <p:cNvSpPr txBox="1"/>
            <p:nvPr/>
          </p:nvSpPr>
          <p:spPr>
            <a:xfrm>
              <a:off x="0" y="452120"/>
              <a:ext cx="1905000" cy="6337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5F4D44"/>
                  </a:solidFill>
                  <a:latin typeface="Lexend"/>
                  <a:ea typeface="Lexend"/>
                  <a:cs typeface="Lexend"/>
                </a:rPr>
                <a:t>How is the body feeling today?</a:t>
              </a:r>
              <a:endParaRPr lang="en-US" sz="1800" dirty="0"/>
            </a:p>
          </p:txBody>
        </p:sp>
      </p:grpSp>
      <p:sp>
        <p:nvSpPr>
          <p:cNvPr id="13" name="step-dot-39"/>
          <p:cNvSpPr/>
          <p:nvPr/>
        </p:nvSpPr>
        <p:spPr>
          <a:xfrm>
            <a:off x="3543300" y="2095500"/>
            <a:ext cx="838200" cy="838200"/>
          </a:xfrm>
          <a:prstGeom prst="ellipse">
            <a:avLst/>
          </a:prstGeom>
          <a:solidFill>
            <a:srgbClr val="B4583A"/>
          </a:solidFill>
          <a:ln>
            <a:noFill/>
          </a:ln>
        </p:spPr>
      </p:sp>
      <p:sp>
        <p:nvSpPr>
          <p:cNvPr id="14" name="step-num-40"/>
          <p:cNvSpPr txBox="1"/>
          <p:nvPr/>
        </p:nvSpPr>
        <p:spPr>
          <a:xfrm>
            <a:off x="3851275" y="2335530"/>
            <a:ext cx="755650" cy="309245"/>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2</a:t>
            </a:r>
            <a:endParaRPr lang="en-US" sz="2800" dirty="0"/>
          </a:p>
        </p:txBody>
      </p:sp>
      <p:grpSp>
        <p:nvGrpSpPr>
          <p:cNvPr id="17" name="block-43"/>
          <p:cNvGrpSpPr/>
          <p:nvPr/>
        </p:nvGrpSpPr>
        <p:grpSpPr>
          <a:xfrm>
            <a:off x="3009900" y="3213100"/>
            <a:ext cx="1905000" cy="927100"/>
            <a:chOff x="0" y="0"/>
            <a:chExt cx="1905000" cy="927100"/>
          </a:xfrm>
        </p:grpSpPr>
        <p:sp>
          <p:nvSpPr>
            <p:cNvPr id="15" name="head-41"/>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3A2A22"/>
                  </a:solidFill>
                  <a:latin typeface="Fraunces"/>
                  <a:ea typeface="Fraunces"/>
                  <a:cs typeface="Fraunces"/>
                </a:rPr>
                <a:t>Move</a:t>
              </a:r>
              <a:endParaRPr lang="en-US" sz="2200" dirty="0"/>
            </a:p>
          </p:txBody>
        </p:sp>
        <p:sp>
          <p:nvSpPr>
            <p:cNvPr id="16" name="body-42"/>
            <p:cNvSpPr txBox="1"/>
            <p:nvPr/>
          </p:nvSpPr>
          <p:spPr>
            <a:xfrm>
              <a:off x="0" y="452120"/>
              <a:ext cx="1905000" cy="9385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5F4D44"/>
                  </a:solidFill>
                  <a:latin typeface="Lexend"/>
                  <a:ea typeface="Lexend"/>
                  <a:cs typeface="Lexend"/>
                </a:rPr>
                <a:t>Swings, climbing or heavy work to regulate.</a:t>
              </a:r>
              <a:endParaRPr lang="en-US" sz="1800" dirty="0"/>
            </a:p>
          </p:txBody>
        </p:sp>
      </p:grpSp>
      <p:sp>
        <p:nvSpPr>
          <p:cNvPr id="18" name="step-dot-44"/>
          <p:cNvSpPr/>
          <p:nvPr/>
        </p:nvSpPr>
        <p:spPr>
          <a:xfrm>
            <a:off x="5676900" y="2095500"/>
            <a:ext cx="838200" cy="838200"/>
          </a:xfrm>
          <a:prstGeom prst="ellipse">
            <a:avLst/>
          </a:prstGeom>
          <a:solidFill>
            <a:srgbClr val="B4583A"/>
          </a:solidFill>
          <a:ln>
            <a:noFill/>
          </a:ln>
        </p:spPr>
      </p:sp>
      <p:sp>
        <p:nvSpPr>
          <p:cNvPr id="19" name="step-num-45"/>
          <p:cNvSpPr txBox="1"/>
          <p:nvPr/>
        </p:nvSpPr>
        <p:spPr>
          <a:xfrm>
            <a:off x="5994400" y="2330018"/>
            <a:ext cx="736600" cy="314757"/>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3</a:t>
            </a:r>
            <a:endParaRPr lang="en-US" sz="2800" dirty="0"/>
          </a:p>
        </p:txBody>
      </p:sp>
      <p:grpSp>
        <p:nvGrpSpPr>
          <p:cNvPr id="22" name="block-48"/>
          <p:cNvGrpSpPr/>
          <p:nvPr/>
        </p:nvGrpSpPr>
        <p:grpSpPr>
          <a:xfrm>
            <a:off x="5143500" y="3213100"/>
            <a:ext cx="1905000" cy="622300"/>
            <a:chOff x="0" y="0"/>
            <a:chExt cx="1905000" cy="622300"/>
          </a:xfrm>
        </p:grpSpPr>
        <p:sp>
          <p:nvSpPr>
            <p:cNvPr id="20" name="head-46"/>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3A2A22"/>
                  </a:solidFill>
                  <a:latin typeface="Fraunces"/>
                  <a:ea typeface="Fraunces"/>
                  <a:cs typeface="Fraunces"/>
                </a:rPr>
                <a:t>Practice</a:t>
              </a:r>
              <a:endParaRPr lang="en-US" sz="2200" dirty="0"/>
            </a:p>
          </p:txBody>
        </p:sp>
        <p:sp>
          <p:nvSpPr>
            <p:cNvPr id="21" name="body-47"/>
            <p:cNvSpPr txBox="1"/>
            <p:nvPr/>
          </p:nvSpPr>
          <p:spPr>
            <a:xfrm>
              <a:off x="0" y="452120"/>
              <a:ext cx="1905000" cy="6337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5F4D44"/>
                  </a:solidFill>
                  <a:latin typeface="Lexend"/>
                  <a:ea typeface="Lexend"/>
                  <a:cs typeface="Lexend"/>
                </a:rPr>
                <a:t>A target skill, built into play.</a:t>
              </a:r>
              <a:endParaRPr lang="en-US" sz="1800" dirty="0"/>
            </a:p>
          </p:txBody>
        </p:sp>
      </p:grpSp>
      <p:sp>
        <p:nvSpPr>
          <p:cNvPr id="23" name="step-dot-49"/>
          <p:cNvSpPr/>
          <p:nvPr/>
        </p:nvSpPr>
        <p:spPr>
          <a:xfrm>
            <a:off x="7810500" y="2095500"/>
            <a:ext cx="838200" cy="838200"/>
          </a:xfrm>
          <a:prstGeom prst="ellipse">
            <a:avLst/>
          </a:prstGeom>
          <a:solidFill>
            <a:srgbClr val="B4583A"/>
          </a:solidFill>
          <a:ln>
            <a:noFill/>
          </a:ln>
        </p:spPr>
      </p:sp>
      <p:sp>
        <p:nvSpPr>
          <p:cNvPr id="24" name="step-num-50"/>
          <p:cNvSpPr txBox="1"/>
          <p:nvPr/>
        </p:nvSpPr>
        <p:spPr>
          <a:xfrm>
            <a:off x="8115300" y="2339264"/>
            <a:ext cx="762000" cy="305511"/>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4</a:t>
            </a:r>
            <a:endParaRPr lang="en-US" sz="2800" dirty="0"/>
          </a:p>
        </p:txBody>
      </p:sp>
      <p:grpSp>
        <p:nvGrpSpPr>
          <p:cNvPr id="27" name="block-53"/>
          <p:cNvGrpSpPr/>
          <p:nvPr/>
        </p:nvGrpSpPr>
        <p:grpSpPr>
          <a:xfrm>
            <a:off x="7277100" y="3213100"/>
            <a:ext cx="1905000" cy="927100"/>
            <a:chOff x="0" y="0"/>
            <a:chExt cx="1905000" cy="927100"/>
          </a:xfrm>
        </p:grpSpPr>
        <p:sp>
          <p:nvSpPr>
            <p:cNvPr id="25" name="head-51"/>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3A2A22"/>
                  </a:solidFill>
                  <a:latin typeface="Fraunces"/>
                  <a:ea typeface="Fraunces"/>
                  <a:cs typeface="Fraunces"/>
                </a:rPr>
                <a:t>Calm down</a:t>
              </a:r>
              <a:endParaRPr lang="en-US" sz="2200" dirty="0"/>
            </a:p>
          </p:txBody>
        </p:sp>
        <p:sp>
          <p:nvSpPr>
            <p:cNvPr id="26" name="body-52"/>
            <p:cNvSpPr txBox="1"/>
            <p:nvPr/>
          </p:nvSpPr>
          <p:spPr>
            <a:xfrm>
              <a:off x="0" y="452120"/>
              <a:ext cx="1905000" cy="9385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5F4D44"/>
                  </a:solidFill>
                  <a:latin typeface="Lexend"/>
                  <a:ea typeface="Lexend"/>
                  <a:cs typeface="Lexend"/>
                </a:rPr>
                <a:t>Quiet, deep pressure or breathing.</a:t>
              </a:r>
              <a:endParaRPr lang="en-US" sz="1800" dirty="0"/>
            </a:p>
          </p:txBody>
        </p:sp>
      </p:grpSp>
      <p:sp>
        <p:nvSpPr>
          <p:cNvPr id="28" name="step-dot-54"/>
          <p:cNvSpPr/>
          <p:nvPr/>
        </p:nvSpPr>
        <p:spPr>
          <a:xfrm>
            <a:off x="9944100" y="2095500"/>
            <a:ext cx="838200" cy="838200"/>
          </a:xfrm>
          <a:prstGeom prst="ellipse">
            <a:avLst/>
          </a:prstGeom>
          <a:solidFill>
            <a:srgbClr val="B4583A"/>
          </a:solidFill>
          <a:ln>
            <a:noFill/>
          </a:ln>
        </p:spPr>
      </p:sp>
      <p:sp>
        <p:nvSpPr>
          <p:cNvPr id="29" name="step-num-55"/>
          <p:cNvSpPr txBox="1"/>
          <p:nvPr/>
        </p:nvSpPr>
        <p:spPr>
          <a:xfrm>
            <a:off x="10258425" y="2335338"/>
            <a:ext cx="742950" cy="312612"/>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5</a:t>
            </a:r>
            <a:endParaRPr lang="en-US" sz="2800" dirty="0"/>
          </a:p>
        </p:txBody>
      </p:sp>
      <p:grpSp>
        <p:nvGrpSpPr>
          <p:cNvPr id="32" name="block-58"/>
          <p:cNvGrpSpPr/>
          <p:nvPr/>
        </p:nvGrpSpPr>
        <p:grpSpPr>
          <a:xfrm>
            <a:off x="9410700" y="3213100"/>
            <a:ext cx="1905000" cy="927100"/>
            <a:chOff x="0" y="0"/>
            <a:chExt cx="1905000" cy="927100"/>
          </a:xfrm>
        </p:grpSpPr>
        <p:sp>
          <p:nvSpPr>
            <p:cNvPr id="30" name="head-56"/>
            <p:cNvSpPr txBox="1"/>
            <p:nvPr/>
          </p:nvSpPr>
          <p:spPr>
            <a:xfrm>
              <a:off x="0" y="31572"/>
              <a:ext cx="19050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3A2A22"/>
                  </a:solidFill>
                  <a:latin typeface="Fraunces"/>
                  <a:ea typeface="Fraunces"/>
                  <a:cs typeface="Fraunces"/>
                </a:rPr>
                <a:t>Take home</a:t>
              </a:r>
              <a:endParaRPr lang="en-US" sz="2200" dirty="0"/>
            </a:p>
          </p:txBody>
        </p:sp>
        <p:sp>
          <p:nvSpPr>
            <p:cNvPr id="31" name="body-57"/>
            <p:cNvSpPr txBox="1"/>
            <p:nvPr/>
          </p:nvSpPr>
          <p:spPr>
            <a:xfrm>
              <a:off x="0" y="452120"/>
              <a:ext cx="1905000" cy="9385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5F4D44"/>
                  </a:solidFill>
                  <a:latin typeface="Lexend"/>
                  <a:ea typeface="Lexend"/>
                  <a:cs typeface="Lexend"/>
                </a:rPr>
                <a:t>One small strategy for the week.</a:t>
              </a:r>
              <a:endParaRPr lang="en-US" sz="18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05-cards">
    <p:bg>
      <p:bgPr>
        <a:solidFill>
          <a:srgbClr val="FAF4EE"/>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F5D9CB"/>
          </a:solidFill>
          <a:ln>
            <a:noFill/>
          </a:ln>
        </p:spPr>
      </p:sp>
      <p:sp>
        <p:nvSpPr>
          <p:cNvPr id="3" name="footer"/>
          <p:cNvSpPr txBox="1"/>
          <p:nvPr/>
        </p:nvSpPr>
        <p:spPr>
          <a:xfrm>
            <a:off x="762000" y="6283350"/>
            <a:ext cx="3865562" cy="225400"/>
          </a:xfrm>
          <a:prstGeom prst="rect">
            <a:avLst/>
          </a:prstGeom>
          <a:noFill/>
        </p:spPr>
        <p:txBody>
          <a:bodyPr wrap="square" lIns="0" tIns="0" rIns="0" bIns="0" rtlCol="0" anchor="t">
            <a:noAutofit/>
          </a:bodyPr>
          <a:lstStyle/>
          <a:p>
            <a:pPr algn="l">
              <a:lnSpc>
                <a:spcPts val="1750"/>
              </a:lnSpc>
              <a:buNone/>
            </a:pPr>
            <a:r>
              <a:rPr lang="en-US" sz="1200" dirty="0">
                <a:solidFill>
                  <a:srgbClr val="5F4D44"/>
                </a:solidFill>
                <a:latin typeface="Lexend"/>
                <a:ea typeface="Lexend"/>
                <a:cs typeface="Lexend"/>
              </a:rPr>
              <a:t>Occupational Therapy for Autism &amp; ADHD</a:t>
            </a:r>
            <a:endParaRPr lang="en-US" sz="1200" dirty="0"/>
          </a:p>
        </p:txBody>
      </p:sp>
      <p:sp>
        <p:nvSpPr>
          <p:cNvPr id="4" name="page-number"/>
          <p:cNvSpPr txBox="1"/>
          <p:nvPr/>
        </p:nvSpPr>
        <p:spPr>
          <a:xfrm>
            <a:off x="10858500" y="6272530"/>
            <a:ext cx="571500" cy="204470"/>
          </a:xfrm>
          <a:prstGeom prst="rect">
            <a:avLst/>
          </a:prstGeom>
          <a:noFill/>
        </p:spPr>
        <p:txBody>
          <a:bodyPr wrap="square" lIns="0" tIns="0" rIns="0" bIns="0" rtlCol="0" anchor="t">
            <a:noAutofit/>
          </a:bodyPr>
          <a:lstStyle/>
          <a:p>
            <a:pPr algn="l">
              <a:lnSpc>
                <a:spcPts val="1750"/>
              </a:lnSpc>
              <a:buNone/>
            </a:pPr>
            <a:r>
              <a:rPr lang="en-US" sz="1200" dirty="0">
                <a:solidFill>
                  <a:srgbClr val="5F4D44"/>
                </a:solidFill>
                <a:latin typeface="Lexend"/>
                <a:ea typeface="Lexend"/>
                <a:cs typeface="Lexend"/>
              </a:rPr>
              <a:t>5 / 7</a:t>
            </a:r>
            <a:endParaRPr lang="en-US" sz="1200" dirty="0"/>
          </a:p>
        </p:txBody>
      </p:sp>
      <p:sp>
        <p:nvSpPr>
          <p:cNvPr id="5" name="title-bar-59"/>
          <p:cNvSpPr/>
          <p:nvPr/>
        </p:nvSpPr>
        <p:spPr>
          <a:xfrm>
            <a:off x="762000" y="584200"/>
            <a:ext cx="457200" cy="63500"/>
          </a:xfrm>
          <a:prstGeom prst="roundRect">
            <a:avLst>
              <a:gd name="adj" fmla="val 50000"/>
            </a:avLst>
          </a:prstGeom>
          <a:solidFill>
            <a:srgbClr val="B4583A"/>
          </a:solidFill>
          <a:ln>
            <a:noFill/>
          </a:ln>
        </p:spPr>
      </p:sp>
      <p:sp>
        <p:nvSpPr>
          <p:cNvPr id="6" name="title"/>
          <p:cNvSpPr>
            <a:spLocks noGrp="1"/>
          </p:cNvSpPr>
          <p:nvPr>
            <p:ph type="title"/>
          </p:nvPr>
        </p:nvSpPr>
        <p:spPr>
          <a:xfrm>
            <a:off x="762000" y="724116"/>
            <a:ext cx="7429500" cy="469684"/>
          </a:xfrm>
          <a:prstGeom prst="rect">
            <a:avLst/>
          </a:prstGeom>
          <a:noFill/>
        </p:spPr>
        <p:txBody>
          <a:bodyPr wrap="square" lIns="0" tIns="0" rIns="0" bIns="0" rtlCol="0" anchor="t">
            <a:noAutofit/>
          </a:bodyPr>
          <a:lstStyle/>
          <a:p>
            <a:pPr algn="l">
              <a:lnSpc>
                <a:spcPts val="3742"/>
              </a:lnSpc>
              <a:buNone/>
            </a:pPr>
            <a:r>
              <a:rPr lang="en-US" sz="3400" b="1" dirty="0">
                <a:solidFill>
                  <a:srgbClr val="3A2A22"/>
                </a:solidFill>
                <a:latin typeface="Fraunces"/>
                <a:ea typeface="Fraunces"/>
                <a:cs typeface="Fraunces"/>
              </a:rPr>
              <a:t>Executive-function supports</a:t>
            </a:r>
            <a:endParaRPr lang="en-US" sz="3400" dirty="0"/>
          </a:p>
        </p:txBody>
      </p:sp>
      <p:sp>
        <p:nvSpPr>
          <p:cNvPr id="7" name="card-60"/>
          <p:cNvSpPr/>
          <p:nvPr/>
        </p:nvSpPr>
        <p:spPr>
          <a:xfrm>
            <a:off x="774700" y="1714500"/>
            <a:ext cx="5156200" cy="2006600"/>
          </a:xfrm>
          <a:prstGeom prst="roundRect">
            <a:avLst>
              <a:gd name="adj" fmla="val 9810"/>
            </a:avLst>
          </a:prstGeom>
          <a:solidFill>
            <a:srgbClr val="FFFFFF"/>
          </a:solidFill>
          <a:ln w="12700">
            <a:solidFill>
              <a:srgbClr val="ECDFD4"/>
            </a:solidFill>
          </a:ln>
        </p:spPr>
      </p:sp>
      <p:sp>
        <p:nvSpPr>
          <p:cNvPr id="8" name="icon-bg-61"/>
          <p:cNvSpPr/>
          <p:nvPr/>
        </p:nvSpPr>
        <p:spPr>
          <a:xfrm>
            <a:off x="1016000" y="1981200"/>
            <a:ext cx="762000" cy="762000"/>
          </a:xfrm>
          <a:prstGeom prst="ellipse">
            <a:avLst/>
          </a:prstGeom>
          <a:solidFill>
            <a:srgbClr val="F5D9CB"/>
          </a:solidFill>
          <a:ln>
            <a:noFill/>
          </a:ln>
        </p:spPr>
      </p:sp>
      <p:pic>
        <p:nvPicPr>
          <p:cNvPr id="9" name="icon-62" descr="icon-62"/>
          <p:cNvPicPr>
            <a:picLocks noChangeAspect="1"/>
          </p:cNvPicPr>
          <p:nvPr/>
        </p:nvPicPr>
        <p:blipFill>
          <a:blip r:embed="rId3"/>
          <a:stretch>
            <a:fillRect/>
          </a:stretch>
        </p:blipFill>
        <p:spPr>
          <a:xfrm>
            <a:off x="1098550" y="2063750"/>
            <a:ext cx="596900" cy="596900"/>
          </a:xfrm>
          <a:prstGeom prst="rect">
            <a:avLst/>
          </a:prstGeom>
        </p:spPr>
      </p:pic>
      <p:grpSp>
        <p:nvGrpSpPr>
          <p:cNvPr id="12" name="block-65"/>
          <p:cNvGrpSpPr/>
          <p:nvPr/>
        </p:nvGrpSpPr>
        <p:grpSpPr>
          <a:xfrm>
            <a:off x="1968500" y="1993900"/>
            <a:ext cx="3721100" cy="622300"/>
            <a:chOff x="0" y="0"/>
            <a:chExt cx="3721100" cy="622300"/>
          </a:xfrm>
        </p:grpSpPr>
        <p:sp>
          <p:nvSpPr>
            <p:cNvPr id="10" name="head-63"/>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3A2A22"/>
                  </a:solidFill>
                  <a:latin typeface="Fraunces"/>
                  <a:ea typeface="Fraunces"/>
                  <a:cs typeface="Fraunces"/>
                </a:rPr>
                <a:t>Visual schedules</a:t>
              </a:r>
              <a:endParaRPr lang="en-US" sz="2200" dirty="0"/>
            </a:p>
          </p:txBody>
        </p:sp>
        <p:sp>
          <p:nvSpPr>
            <p:cNvPr id="11" name="body-64"/>
            <p:cNvSpPr txBox="1"/>
            <p:nvPr/>
          </p:nvSpPr>
          <p:spPr>
            <a:xfrm>
              <a:off x="0" y="43942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5F4D44"/>
                  </a:solidFill>
                  <a:latin typeface="Lexend"/>
                  <a:ea typeface="Lexend"/>
                  <a:cs typeface="Lexend"/>
                </a:rPr>
                <a:t>Pictures or lists show what comes next and reduce stress.</a:t>
              </a:r>
              <a:endParaRPr lang="en-US" sz="1800" dirty="0"/>
            </a:p>
          </p:txBody>
        </p:sp>
      </p:grpSp>
      <p:sp>
        <p:nvSpPr>
          <p:cNvPr id="13" name="card-66"/>
          <p:cNvSpPr/>
          <p:nvPr/>
        </p:nvSpPr>
        <p:spPr>
          <a:xfrm>
            <a:off x="6261100" y="1714500"/>
            <a:ext cx="5156200" cy="2006600"/>
          </a:xfrm>
          <a:prstGeom prst="roundRect">
            <a:avLst>
              <a:gd name="adj" fmla="val 9810"/>
            </a:avLst>
          </a:prstGeom>
          <a:solidFill>
            <a:srgbClr val="FFFFFF"/>
          </a:solidFill>
          <a:ln w="12700">
            <a:solidFill>
              <a:srgbClr val="ECDFD4"/>
            </a:solidFill>
          </a:ln>
        </p:spPr>
      </p:sp>
      <p:sp>
        <p:nvSpPr>
          <p:cNvPr id="14" name="icon-bg-67"/>
          <p:cNvSpPr/>
          <p:nvPr/>
        </p:nvSpPr>
        <p:spPr>
          <a:xfrm>
            <a:off x="6502400" y="1981200"/>
            <a:ext cx="762000" cy="762000"/>
          </a:xfrm>
          <a:prstGeom prst="ellipse">
            <a:avLst/>
          </a:prstGeom>
          <a:solidFill>
            <a:srgbClr val="F5D9CB"/>
          </a:solidFill>
          <a:ln>
            <a:noFill/>
          </a:ln>
        </p:spPr>
      </p:sp>
      <p:pic>
        <p:nvPicPr>
          <p:cNvPr id="15" name="icon-68" descr="icon-68"/>
          <p:cNvPicPr>
            <a:picLocks noChangeAspect="1"/>
          </p:cNvPicPr>
          <p:nvPr/>
        </p:nvPicPr>
        <p:blipFill>
          <a:blip r:embed="rId4"/>
          <a:stretch>
            <a:fillRect/>
          </a:stretch>
        </p:blipFill>
        <p:spPr>
          <a:xfrm>
            <a:off x="6584950" y="2063750"/>
            <a:ext cx="596900" cy="596900"/>
          </a:xfrm>
          <a:prstGeom prst="rect">
            <a:avLst/>
          </a:prstGeom>
        </p:spPr>
      </p:pic>
      <p:grpSp>
        <p:nvGrpSpPr>
          <p:cNvPr id="18" name="block-71"/>
          <p:cNvGrpSpPr/>
          <p:nvPr/>
        </p:nvGrpSpPr>
        <p:grpSpPr>
          <a:xfrm>
            <a:off x="7454900" y="1993900"/>
            <a:ext cx="3721100" cy="622300"/>
            <a:chOff x="0" y="0"/>
            <a:chExt cx="3721100" cy="622300"/>
          </a:xfrm>
        </p:grpSpPr>
        <p:sp>
          <p:nvSpPr>
            <p:cNvPr id="16" name="head-69"/>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3A2A22"/>
                  </a:solidFill>
                  <a:latin typeface="Fraunces"/>
                  <a:ea typeface="Fraunces"/>
                  <a:cs typeface="Fraunces"/>
                </a:rPr>
                <a:t>Visible timers</a:t>
              </a:r>
              <a:endParaRPr lang="en-US" sz="2200" dirty="0"/>
            </a:p>
          </p:txBody>
        </p:sp>
        <p:sp>
          <p:nvSpPr>
            <p:cNvPr id="17" name="body-70"/>
            <p:cNvSpPr txBox="1"/>
            <p:nvPr/>
          </p:nvSpPr>
          <p:spPr>
            <a:xfrm>
              <a:off x="0" y="43942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5F4D44"/>
                  </a:solidFill>
                  <a:latin typeface="Lexend"/>
                  <a:ea typeface="Lexend"/>
                  <a:cs typeface="Lexend"/>
                </a:rPr>
                <a:t>Make time concrete for starting and switching tasks.</a:t>
              </a:r>
              <a:endParaRPr lang="en-US" sz="1800" dirty="0"/>
            </a:p>
          </p:txBody>
        </p:sp>
      </p:grpSp>
      <p:sp>
        <p:nvSpPr>
          <p:cNvPr id="19" name="card-72"/>
          <p:cNvSpPr/>
          <p:nvPr/>
        </p:nvSpPr>
        <p:spPr>
          <a:xfrm>
            <a:off x="774700" y="4051300"/>
            <a:ext cx="5156200" cy="2006600"/>
          </a:xfrm>
          <a:prstGeom prst="roundRect">
            <a:avLst>
              <a:gd name="adj" fmla="val 9810"/>
            </a:avLst>
          </a:prstGeom>
          <a:solidFill>
            <a:srgbClr val="FFFFFF"/>
          </a:solidFill>
          <a:ln w="12700">
            <a:solidFill>
              <a:srgbClr val="ECDFD4"/>
            </a:solidFill>
          </a:ln>
        </p:spPr>
      </p:sp>
      <p:sp>
        <p:nvSpPr>
          <p:cNvPr id="20" name="icon-bg-73"/>
          <p:cNvSpPr/>
          <p:nvPr/>
        </p:nvSpPr>
        <p:spPr>
          <a:xfrm>
            <a:off x="1016000" y="4318000"/>
            <a:ext cx="762000" cy="762000"/>
          </a:xfrm>
          <a:prstGeom prst="ellipse">
            <a:avLst/>
          </a:prstGeom>
          <a:solidFill>
            <a:srgbClr val="F5D9CB"/>
          </a:solidFill>
          <a:ln>
            <a:noFill/>
          </a:ln>
        </p:spPr>
      </p:sp>
      <p:pic>
        <p:nvPicPr>
          <p:cNvPr id="21" name="icon-74" descr="icon-74"/>
          <p:cNvPicPr>
            <a:picLocks noChangeAspect="1"/>
          </p:cNvPicPr>
          <p:nvPr/>
        </p:nvPicPr>
        <p:blipFill>
          <a:blip r:embed="rId5"/>
          <a:stretch>
            <a:fillRect/>
          </a:stretch>
        </p:blipFill>
        <p:spPr>
          <a:xfrm>
            <a:off x="1098550" y="4400550"/>
            <a:ext cx="596900" cy="596900"/>
          </a:xfrm>
          <a:prstGeom prst="rect">
            <a:avLst/>
          </a:prstGeom>
        </p:spPr>
      </p:pic>
      <p:grpSp>
        <p:nvGrpSpPr>
          <p:cNvPr id="24" name="block-77"/>
          <p:cNvGrpSpPr/>
          <p:nvPr/>
        </p:nvGrpSpPr>
        <p:grpSpPr>
          <a:xfrm>
            <a:off x="1968500" y="4330700"/>
            <a:ext cx="3721100" cy="622300"/>
            <a:chOff x="0" y="0"/>
            <a:chExt cx="3721100" cy="622300"/>
          </a:xfrm>
        </p:grpSpPr>
        <p:sp>
          <p:nvSpPr>
            <p:cNvPr id="22" name="head-75"/>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3A2A22"/>
                  </a:solidFill>
                  <a:latin typeface="Fraunces"/>
                  <a:ea typeface="Fraunces"/>
                  <a:cs typeface="Fraunces"/>
                </a:rPr>
                <a:t>Chunking</a:t>
              </a:r>
              <a:endParaRPr lang="en-US" sz="2200" dirty="0"/>
            </a:p>
          </p:txBody>
        </p:sp>
        <p:sp>
          <p:nvSpPr>
            <p:cNvPr id="23" name="body-76"/>
            <p:cNvSpPr txBox="1"/>
            <p:nvPr/>
          </p:nvSpPr>
          <p:spPr>
            <a:xfrm>
              <a:off x="0" y="43942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5F4D44"/>
                  </a:solidFill>
                  <a:latin typeface="Lexend"/>
                  <a:ea typeface="Lexend"/>
                  <a:cs typeface="Lexend"/>
                </a:rPr>
                <a:t>Break big tasks into small, finishable steps.</a:t>
              </a:r>
              <a:endParaRPr lang="en-US" sz="1800" dirty="0"/>
            </a:p>
          </p:txBody>
        </p:sp>
      </p:grpSp>
      <p:sp>
        <p:nvSpPr>
          <p:cNvPr id="25" name="card-78"/>
          <p:cNvSpPr/>
          <p:nvPr/>
        </p:nvSpPr>
        <p:spPr>
          <a:xfrm>
            <a:off x="6261100" y="4051300"/>
            <a:ext cx="5156200" cy="2006600"/>
          </a:xfrm>
          <a:prstGeom prst="roundRect">
            <a:avLst>
              <a:gd name="adj" fmla="val 9810"/>
            </a:avLst>
          </a:prstGeom>
          <a:solidFill>
            <a:srgbClr val="FFFFFF"/>
          </a:solidFill>
          <a:ln w="12700">
            <a:solidFill>
              <a:srgbClr val="ECDFD4"/>
            </a:solidFill>
          </a:ln>
        </p:spPr>
      </p:sp>
      <p:sp>
        <p:nvSpPr>
          <p:cNvPr id="26" name="icon-bg-79"/>
          <p:cNvSpPr/>
          <p:nvPr/>
        </p:nvSpPr>
        <p:spPr>
          <a:xfrm>
            <a:off x="6502400" y="4318000"/>
            <a:ext cx="762000" cy="762000"/>
          </a:xfrm>
          <a:prstGeom prst="ellipse">
            <a:avLst/>
          </a:prstGeom>
          <a:solidFill>
            <a:srgbClr val="F5D9CB"/>
          </a:solidFill>
          <a:ln>
            <a:noFill/>
          </a:ln>
        </p:spPr>
      </p:sp>
      <p:pic>
        <p:nvPicPr>
          <p:cNvPr id="27" name="icon-80" descr="icon-80"/>
          <p:cNvPicPr>
            <a:picLocks noChangeAspect="1"/>
          </p:cNvPicPr>
          <p:nvPr/>
        </p:nvPicPr>
        <p:blipFill>
          <a:blip r:embed="rId6"/>
          <a:stretch>
            <a:fillRect/>
          </a:stretch>
        </p:blipFill>
        <p:spPr>
          <a:xfrm>
            <a:off x="6584950" y="4400550"/>
            <a:ext cx="596900" cy="596900"/>
          </a:xfrm>
          <a:prstGeom prst="rect">
            <a:avLst/>
          </a:prstGeom>
        </p:spPr>
      </p:pic>
      <p:grpSp>
        <p:nvGrpSpPr>
          <p:cNvPr id="30" name="block-83"/>
          <p:cNvGrpSpPr/>
          <p:nvPr/>
        </p:nvGrpSpPr>
        <p:grpSpPr>
          <a:xfrm>
            <a:off x="7454900" y="4330700"/>
            <a:ext cx="3721100" cy="622300"/>
            <a:chOff x="0" y="0"/>
            <a:chExt cx="3721100" cy="622300"/>
          </a:xfrm>
        </p:grpSpPr>
        <p:sp>
          <p:nvSpPr>
            <p:cNvPr id="28" name="head-81"/>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3A2A22"/>
                  </a:solidFill>
                  <a:latin typeface="Fraunces"/>
                  <a:ea typeface="Fraunces"/>
                  <a:cs typeface="Fraunces"/>
                </a:rPr>
                <a:t>Workspace setup</a:t>
              </a:r>
              <a:endParaRPr lang="en-US" sz="2200" dirty="0"/>
            </a:p>
          </p:txBody>
        </p:sp>
        <p:sp>
          <p:nvSpPr>
            <p:cNvPr id="29" name="body-82"/>
            <p:cNvSpPr txBox="1"/>
            <p:nvPr/>
          </p:nvSpPr>
          <p:spPr>
            <a:xfrm>
              <a:off x="0" y="43942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5F4D44"/>
                  </a:solidFill>
                  <a:latin typeface="Lexend"/>
                  <a:ea typeface="Lexend"/>
                  <a:cs typeface="Lexend"/>
                </a:rPr>
                <a:t>Fewer distractions, movement options and the right seat.</a:t>
              </a:r>
              <a:endParaRPr lang="en-US" sz="18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06-idea">
    <p:bg>
      <p:bgPr>
        <a:solidFill>
          <a:srgbClr val="B4583A"/>
        </a:solidFill>
        <a:effectLst/>
      </p:bgPr>
    </p:bg>
    <p:spTree>
      <p:nvGrpSpPr>
        <p:cNvPr id="1" name=""/>
        <p:cNvGrpSpPr/>
        <p:nvPr/>
      </p:nvGrpSpPr>
      <p:grpSpPr>
        <a:xfrm>
          <a:off x="0" y="0"/>
          <a:ext cx="0" cy="0"/>
          <a:chOff x="0" y="0"/>
          <a:chExt cx="0" cy="0"/>
        </a:xfrm>
      </p:grpSpPr>
      <p:sp>
        <p:nvSpPr>
          <p:cNvPr id="2" name="idea-disc"/>
          <p:cNvSpPr/>
          <p:nvPr/>
        </p:nvSpPr>
        <p:spPr>
          <a:xfrm>
            <a:off x="-1397000" y="3937000"/>
            <a:ext cx="4064000" cy="4064000"/>
          </a:xfrm>
          <a:prstGeom prst="ellipse">
            <a:avLst/>
          </a:prstGeom>
          <a:solidFill>
            <a:srgbClr val="FFFFFF">
              <a:alpha val="8000"/>
            </a:srgbClr>
          </a:solidFill>
          <a:ln>
            <a:noFill/>
          </a:ln>
        </p:spPr>
      </p:sp>
      <p:sp>
        <p:nvSpPr>
          <p:cNvPr id="3" name="idea-disc-2"/>
          <p:cNvSpPr/>
          <p:nvPr/>
        </p:nvSpPr>
        <p:spPr>
          <a:xfrm>
            <a:off x="9906000" y="-1016000"/>
            <a:ext cx="3302000" cy="3302000"/>
          </a:xfrm>
          <a:prstGeom prst="ellipse">
            <a:avLst/>
          </a:prstGeom>
          <a:solidFill>
            <a:srgbClr val="FFFFFF">
              <a:alpha val="8000"/>
            </a:srgbClr>
          </a:solidFill>
          <a:ln>
            <a:noFill/>
          </a:ln>
        </p:spPr>
      </p:sp>
      <p:sp>
        <p:nvSpPr>
          <p:cNvPr id="4" name="icon-bg-84"/>
          <p:cNvSpPr/>
          <p:nvPr/>
        </p:nvSpPr>
        <p:spPr>
          <a:xfrm>
            <a:off x="5715000" y="1206500"/>
            <a:ext cx="762000" cy="762000"/>
          </a:xfrm>
          <a:prstGeom prst="ellipse">
            <a:avLst/>
          </a:prstGeom>
          <a:solidFill>
            <a:srgbClr val="FBE9E0"/>
          </a:solidFill>
          <a:ln>
            <a:noFill/>
          </a:ln>
        </p:spPr>
      </p:sp>
      <p:pic>
        <p:nvPicPr>
          <p:cNvPr id="5" name="icon-85" descr="icon-85"/>
          <p:cNvPicPr>
            <a:picLocks noChangeAspect="1"/>
          </p:cNvPicPr>
          <p:nvPr/>
        </p:nvPicPr>
        <p:blipFill>
          <a:blip r:embed="rId3"/>
          <a:stretch>
            <a:fillRect/>
          </a:stretch>
        </p:blipFill>
        <p:spPr>
          <a:xfrm>
            <a:off x="5797550" y="1289050"/>
            <a:ext cx="596900" cy="596900"/>
          </a:xfrm>
          <a:prstGeom prst="rect">
            <a:avLst/>
          </a:prstGeom>
        </p:spPr>
      </p:pic>
      <p:sp>
        <p:nvSpPr>
          <p:cNvPr id="6" name="kicker"/>
          <p:cNvSpPr txBox="1"/>
          <p:nvPr/>
        </p:nvSpPr>
        <p:spPr>
          <a:xfrm>
            <a:off x="5524500" y="2192020"/>
            <a:ext cx="1485900" cy="259080"/>
          </a:xfrm>
          <a:prstGeom prst="rect">
            <a:avLst/>
          </a:prstGeom>
          <a:noFill/>
        </p:spPr>
        <p:txBody>
          <a:bodyPr wrap="square" lIns="0" tIns="0" rIns="0" bIns="0" rtlCol="0" anchor="t">
            <a:noAutofit/>
          </a:bodyPr>
          <a:lstStyle/>
          <a:p>
            <a:pPr algn="l">
              <a:lnSpc>
                <a:spcPts val="2450"/>
              </a:lnSpc>
              <a:buNone/>
            </a:pPr>
            <a:r>
              <a:rPr lang="en-US" sz="1800" b="1" dirty="0">
                <a:solidFill>
                  <a:srgbClr val="FFFFFF"/>
                </a:solidFill>
                <a:latin typeface="Lexend"/>
                <a:ea typeface="Lexend"/>
                <a:cs typeface="Lexend"/>
              </a:rPr>
              <a:t>KEY IDEA</a:t>
            </a:r>
            <a:endParaRPr lang="en-US" sz="1800" dirty="0"/>
          </a:p>
        </p:txBody>
      </p:sp>
      <p:grpSp>
        <p:nvGrpSpPr>
          <p:cNvPr id="9" name="block-86"/>
          <p:cNvGrpSpPr/>
          <p:nvPr/>
        </p:nvGrpSpPr>
        <p:grpSpPr>
          <a:xfrm>
            <a:off x="1333500" y="2794000"/>
            <a:ext cx="9525000" cy="1022350"/>
            <a:chOff x="0" y="0"/>
            <a:chExt cx="9525000" cy="1022350"/>
          </a:xfrm>
        </p:grpSpPr>
        <p:sp>
          <p:nvSpPr>
            <p:cNvPr id="7" name="statement"/>
            <p:cNvSpPr txBox="1"/>
            <p:nvPr/>
          </p:nvSpPr>
          <p:spPr>
            <a:xfrm>
              <a:off x="0" y="48793"/>
              <a:ext cx="9525000" cy="973557"/>
            </a:xfrm>
            <a:prstGeom prst="rect">
              <a:avLst/>
            </a:prstGeom>
            <a:noFill/>
          </p:spPr>
          <p:txBody>
            <a:bodyPr wrap="square" lIns="0" tIns="0" rIns="0" bIns="0" rtlCol="0" anchor="t">
              <a:noAutofit/>
            </a:bodyPr>
            <a:lstStyle/>
            <a:p>
              <a:pPr algn="ctr">
                <a:lnSpc>
                  <a:spcPts val="3808"/>
                </a:lnSpc>
                <a:spcBef>
                  <a:spcPts val="0"/>
                </a:spcBef>
                <a:spcAft>
                  <a:spcPts val="0"/>
                </a:spcAft>
                <a:buNone/>
              </a:pPr>
              <a:r>
                <a:rPr lang="en-US" sz="3400" b="1" dirty="0">
                  <a:solidFill>
                    <a:srgbClr val="FFFFFF"/>
                  </a:solidFill>
                  <a:latin typeface="Fraunces"/>
                  <a:ea typeface="Fraunces"/>
                  <a:cs typeface="Fraunces"/>
                </a:rPr>
                <a:t>The goal is not to look typical. It's to make daily life comfortable and doable.</a:t>
              </a:r>
              <a:endParaRPr lang="en-US" sz="3400" dirty="0"/>
            </a:p>
          </p:txBody>
        </p:sp>
        <p:sp>
          <p:nvSpPr>
            <p:cNvPr id="8" name="subtitle"/>
            <p:cNvSpPr txBox="1"/>
            <p:nvPr/>
          </p:nvSpPr>
          <p:spPr>
            <a:xfrm>
              <a:off x="0" y="1264920"/>
              <a:ext cx="9525000" cy="32258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FFFFFF"/>
                  </a:solidFill>
                  <a:latin typeface="Lexend"/>
                  <a:ea typeface="Lexend"/>
                  <a:cs typeface="Lexend"/>
                </a:rPr>
                <a:t>Adapting the environment counts as much as building skills.</a:t>
              </a:r>
              <a:endParaRPr lang="en-US" sz="1800" dirty="0"/>
            </a:p>
          </p:txBody>
        </p:sp>
      </p:grpSp>
      <p:sp>
        <p:nvSpPr>
          <p:cNvPr id="10" name="footer"/>
          <p:cNvSpPr txBox="1"/>
          <p:nvPr/>
        </p:nvSpPr>
        <p:spPr>
          <a:xfrm>
            <a:off x="762000" y="6283350"/>
            <a:ext cx="3865562" cy="225400"/>
          </a:xfrm>
          <a:prstGeom prst="rect">
            <a:avLst/>
          </a:prstGeom>
          <a:noFill/>
        </p:spPr>
        <p:txBody>
          <a:bodyPr wrap="square" lIns="0" tIns="0" rIns="0" bIns="0" rtlCol="0" anchor="t">
            <a:noAutofit/>
          </a:bodyPr>
          <a:lstStyle/>
          <a:p>
            <a:pPr algn="l">
              <a:lnSpc>
                <a:spcPts val="1750"/>
              </a:lnSpc>
              <a:buNone/>
            </a:pPr>
            <a:r>
              <a:rPr lang="en-US" sz="1200" dirty="0">
                <a:solidFill>
                  <a:srgbClr val="FFFFFF"/>
                </a:solidFill>
                <a:latin typeface="Lexend"/>
                <a:ea typeface="Lexend"/>
                <a:cs typeface="Lexend"/>
              </a:rPr>
              <a:t>Occupational Therapy for Autism &amp; ADHD</a:t>
            </a:r>
            <a:endParaRPr lang="en-US" sz="1200" dirty="0"/>
          </a:p>
        </p:txBody>
      </p:sp>
      <p:sp>
        <p:nvSpPr>
          <p:cNvPr id="11" name="page-number"/>
          <p:cNvSpPr txBox="1"/>
          <p:nvPr/>
        </p:nvSpPr>
        <p:spPr>
          <a:xfrm>
            <a:off x="10858500" y="6274359"/>
            <a:ext cx="571500" cy="208991"/>
          </a:xfrm>
          <a:prstGeom prst="rect">
            <a:avLst/>
          </a:prstGeom>
          <a:noFill/>
        </p:spPr>
        <p:txBody>
          <a:bodyPr wrap="square" lIns="0" tIns="0" rIns="0" bIns="0" rtlCol="0" anchor="t">
            <a:noAutofit/>
          </a:bodyPr>
          <a:lstStyle/>
          <a:p>
            <a:pPr algn="l">
              <a:lnSpc>
                <a:spcPts val="1750"/>
              </a:lnSpc>
              <a:buNone/>
            </a:pPr>
            <a:r>
              <a:rPr lang="en-US" sz="1200" dirty="0">
                <a:solidFill>
                  <a:srgbClr val="FFFFFF"/>
                </a:solidFill>
                <a:latin typeface="Lexend"/>
                <a:ea typeface="Lexend"/>
                <a:cs typeface="Lexend"/>
              </a:rPr>
              <a:t>6 / 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07-closing">
    <p:bg>
      <p:bgPr>
        <a:solidFill>
          <a:srgbClr val="3A2A22"/>
        </a:solidFill>
        <a:effectLst/>
      </p:bgPr>
    </p:bg>
    <p:spTree>
      <p:nvGrpSpPr>
        <p:cNvPr id="1" name=""/>
        <p:cNvGrpSpPr/>
        <p:nvPr/>
      </p:nvGrpSpPr>
      <p:grpSpPr>
        <a:xfrm>
          <a:off x="0" y="0"/>
          <a:ext cx="0" cy="0"/>
          <a:chOff x="0" y="0"/>
          <a:chExt cx="0" cy="0"/>
        </a:xfrm>
      </p:grpSpPr>
      <p:sp>
        <p:nvSpPr>
          <p:cNvPr id="2" name="close-disc"/>
          <p:cNvSpPr/>
          <p:nvPr/>
        </p:nvSpPr>
        <p:spPr>
          <a:xfrm>
            <a:off x="8890000" y="3048000"/>
            <a:ext cx="5461000" cy="5461000"/>
          </a:xfrm>
          <a:prstGeom prst="ellipse">
            <a:avLst/>
          </a:prstGeom>
          <a:solidFill>
            <a:srgbClr val="B4583A">
              <a:alpha val="22000"/>
            </a:srgbClr>
          </a:solidFill>
          <a:ln>
            <a:noFill/>
          </a:ln>
        </p:spPr>
      </p:sp>
      <p:sp>
        <p:nvSpPr>
          <p:cNvPr id="3" name="close-bar"/>
          <p:cNvSpPr/>
          <p:nvPr/>
        </p:nvSpPr>
        <p:spPr>
          <a:xfrm>
            <a:off x="762000" y="584200"/>
            <a:ext cx="457200" cy="63500"/>
          </a:xfrm>
          <a:prstGeom prst="roundRect">
            <a:avLst>
              <a:gd name="adj" fmla="val 50000"/>
            </a:avLst>
          </a:prstGeom>
          <a:solidFill>
            <a:srgbClr val="B4583A"/>
          </a:solidFill>
          <a:ln>
            <a:noFill/>
          </a:ln>
        </p:spPr>
      </p:sp>
      <p:sp>
        <p:nvSpPr>
          <p:cNvPr id="4" name="title"/>
          <p:cNvSpPr>
            <a:spLocks noGrp="1"/>
          </p:cNvSpPr>
          <p:nvPr>
            <p:ph type="title"/>
          </p:nvPr>
        </p:nvSpPr>
        <p:spPr>
          <a:xfrm>
            <a:off x="762000" y="730593"/>
            <a:ext cx="5992812" cy="425107"/>
          </a:xfrm>
          <a:prstGeom prst="rect">
            <a:avLst/>
          </a:prstGeom>
          <a:noFill/>
        </p:spPr>
        <p:txBody>
          <a:bodyPr wrap="square" lIns="0" tIns="0" rIns="0" bIns="0" rtlCol="0" anchor="t">
            <a:noAutofit/>
          </a:bodyPr>
          <a:lstStyle/>
          <a:p>
            <a:pPr algn="l">
              <a:lnSpc>
                <a:spcPts val="3742"/>
              </a:lnSpc>
              <a:buNone/>
            </a:pPr>
            <a:r>
              <a:rPr lang="en-US" sz="3400" b="1" dirty="0">
                <a:solidFill>
                  <a:srgbClr val="FAF4EE"/>
                </a:solidFill>
                <a:latin typeface="Fraunces"/>
                <a:ea typeface="Fraunces"/>
                <a:cs typeface="Fraunces"/>
              </a:rPr>
              <a:t>Questions to ask an OT</a:t>
            </a:r>
            <a:endParaRPr lang="en-US" sz="3400" dirty="0"/>
          </a:p>
        </p:txBody>
      </p:sp>
      <p:sp>
        <p:nvSpPr>
          <p:cNvPr id="5" name="close-num-87"/>
          <p:cNvSpPr/>
          <p:nvPr/>
        </p:nvSpPr>
        <p:spPr>
          <a:xfrm>
            <a:off x="762000" y="1841500"/>
            <a:ext cx="558800" cy="558800"/>
          </a:xfrm>
          <a:prstGeom prst="ellipse">
            <a:avLst/>
          </a:prstGeom>
          <a:solidFill>
            <a:srgbClr val="B4583A"/>
          </a:solidFill>
          <a:ln>
            <a:noFill/>
          </a:ln>
        </p:spPr>
      </p:sp>
      <p:sp>
        <p:nvSpPr>
          <p:cNvPr id="6" name="close-n-88"/>
          <p:cNvSpPr txBox="1"/>
          <p:nvPr/>
        </p:nvSpPr>
        <p:spPr>
          <a:xfrm>
            <a:off x="974725" y="1914766"/>
            <a:ext cx="552450" cy="307734"/>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1</a:t>
            </a:r>
            <a:endParaRPr lang="en-US" sz="2200" dirty="0"/>
          </a:p>
        </p:txBody>
      </p:sp>
      <p:sp>
        <p:nvSpPr>
          <p:cNvPr id="7" name="close-item-89"/>
          <p:cNvSpPr txBox="1"/>
          <p:nvPr/>
        </p:nvSpPr>
        <p:spPr>
          <a:xfrm>
            <a:off x="1574800" y="1923415"/>
            <a:ext cx="9525000" cy="3752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AF4EE"/>
                </a:solidFill>
                <a:latin typeface="Lexend"/>
                <a:ea typeface="Lexend"/>
                <a:cs typeface="Lexend"/>
              </a:rPr>
              <a:t>Which sensory or motor needs will you focus on first, and why?</a:t>
            </a:r>
            <a:endParaRPr lang="en-US" sz="2200" dirty="0"/>
          </a:p>
        </p:txBody>
      </p:sp>
      <p:sp>
        <p:nvSpPr>
          <p:cNvPr id="8" name="close-num-90"/>
          <p:cNvSpPr/>
          <p:nvPr/>
        </p:nvSpPr>
        <p:spPr>
          <a:xfrm>
            <a:off x="762000" y="2692400"/>
            <a:ext cx="558800" cy="558800"/>
          </a:xfrm>
          <a:prstGeom prst="ellipse">
            <a:avLst/>
          </a:prstGeom>
          <a:solidFill>
            <a:srgbClr val="B4583A"/>
          </a:solidFill>
          <a:ln>
            <a:noFill/>
          </a:ln>
        </p:spPr>
      </p:sp>
      <p:sp>
        <p:nvSpPr>
          <p:cNvPr id="9" name="close-n-91"/>
          <p:cNvSpPr txBox="1"/>
          <p:nvPr/>
        </p:nvSpPr>
        <p:spPr>
          <a:xfrm>
            <a:off x="952500" y="2761933"/>
            <a:ext cx="596900" cy="314642"/>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2</a:t>
            </a:r>
            <a:endParaRPr lang="en-US" sz="2200" dirty="0"/>
          </a:p>
        </p:txBody>
      </p:sp>
      <p:sp>
        <p:nvSpPr>
          <p:cNvPr id="10" name="close-item-92"/>
          <p:cNvSpPr txBox="1"/>
          <p:nvPr/>
        </p:nvSpPr>
        <p:spPr>
          <a:xfrm>
            <a:off x="1574800" y="2774315"/>
            <a:ext cx="9525000" cy="3752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AF4EE"/>
                </a:solidFill>
                <a:latin typeface="Lexend"/>
                <a:ea typeface="Lexend"/>
                <a:cs typeface="Lexend"/>
              </a:rPr>
              <a:t>How will sessions use my child's interests?</a:t>
            </a:r>
            <a:endParaRPr lang="en-US" sz="2200" dirty="0"/>
          </a:p>
        </p:txBody>
      </p:sp>
      <p:sp>
        <p:nvSpPr>
          <p:cNvPr id="11" name="close-num-93"/>
          <p:cNvSpPr/>
          <p:nvPr/>
        </p:nvSpPr>
        <p:spPr>
          <a:xfrm>
            <a:off x="762000" y="3543300"/>
            <a:ext cx="558800" cy="558800"/>
          </a:xfrm>
          <a:prstGeom prst="ellipse">
            <a:avLst/>
          </a:prstGeom>
          <a:solidFill>
            <a:srgbClr val="B4583A"/>
          </a:solidFill>
          <a:ln>
            <a:noFill/>
          </a:ln>
        </p:spPr>
      </p:sp>
      <p:sp>
        <p:nvSpPr>
          <p:cNvPr id="12" name="close-n-94"/>
          <p:cNvSpPr txBox="1"/>
          <p:nvPr/>
        </p:nvSpPr>
        <p:spPr>
          <a:xfrm>
            <a:off x="962025" y="3611677"/>
            <a:ext cx="577850" cy="312623"/>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3</a:t>
            </a:r>
            <a:endParaRPr lang="en-US" sz="2200" dirty="0"/>
          </a:p>
        </p:txBody>
      </p:sp>
      <p:sp>
        <p:nvSpPr>
          <p:cNvPr id="13" name="close-item-95"/>
          <p:cNvSpPr txBox="1"/>
          <p:nvPr/>
        </p:nvSpPr>
        <p:spPr>
          <a:xfrm>
            <a:off x="1574800" y="3625215"/>
            <a:ext cx="9525000" cy="3752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AF4EE"/>
                </a:solidFill>
                <a:latin typeface="Lexend"/>
                <a:ea typeface="Lexend"/>
                <a:cs typeface="Lexend"/>
              </a:rPr>
              <a:t>What can we practice at home between sessions?</a:t>
            </a:r>
            <a:endParaRPr lang="en-US" sz="2200" dirty="0"/>
          </a:p>
        </p:txBody>
      </p:sp>
      <p:sp>
        <p:nvSpPr>
          <p:cNvPr id="14" name="credit"/>
          <p:cNvSpPr txBox="1"/>
          <p:nvPr/>
        </p:nvSpPr>
        <p:spPr>
          <a:xfrm>
            <a:off x="762000" y="5711190"/>
            <a:ext cx="9525000" cy="207010"/>
          </a:xfrm>
          <a:prstGeom prst="rect">
            <a:avLst/>
          </a:prstGeom>
          <a:noFill/>
        </p:spPr>
        <p:txBody>
          <a:bodyPr wrap="square" lIns="0" tIns="0" rIns="0" bIns="0" rtlCol="0" anchor="t">
            <a:noAutofit/>
          </a:bodyPr>
          <a:lstStyle/>
          <a:p>
            <a:pPr algn="l">
              <a:lnSpc>
                <a:spcPts val="1560"/>
              </a:lnSpc>
              <a:spcBef>
                <a:spcPts val="0"/>
              </a:spcBef>
              <a:spcAft>
                <a:spcPts val="0"/>
              </a:spcAft>
              <a:buNone/>
            </a:pPr>
            <a:r>
              <a:rPr lang="en-US" sz="1200" dirty="0">
                <a:solidFill>
                  <a:srgbClr val="F5D9CB"/>
                </a:solidFill>
                <a:latin typeface="Lexend"/>
                <a:ea typeface="Lexend"/>
                <a:cs typeface="Lexend"/>
              </a:rPr>
              <a:t>Look for the credential OTR/L (registered, licensed occupational therapist).</a:t>
            </a:r>
            <a:endParaRPr lang="en-US" sz="1200" dirty="0"/>
          </a:p>
        </p:txBody>
      </p:sp>
      <p:sp>
        <p:nvSpPr>
          <p:cNvPr id="15" name="footer"/>
          <p:cNvSpPr txBox="1"/>
          <p:nvPr/>
        </p:nvSpPr>
        <p:spPr>
          <a:xfrm>
            <a:off x="762000" y="6283350"/>
            <a:ext cx="3865562" cy="225400"/>
          </a:xfrm>
          <a:prstGeom prst="rect">
            <a:avLst/>
          </a:prstGeom>
          <a:noFill/>
        </p:spPr>
        <p:txBody>
          <a:bodyPr wrap="square" lIns="0" tIns="0" rIns="0" bIns="0" rtlCol="0" anchor="t">
            <a:noAutofit/>
          </a:bodyPr>
          <a:lstStyle/>
          <a:p>
            <a:pPr algn="l">
              <a:lnSpc>
                <a:spcPts val="1750"/>
              </a:lnSpc>
              <a:buNone/>
            </a:pPr>
            <a:r>
              <a:rPr lang="en-US" sz="1200" dirty="0">
                <a:solidFill>
                  <a:srgbClr val="F5D9CB"/>
                </a:solidFill>
                <a:latin typeface="Lexend"/>
                <a:ea typeface="Lexend"/>
                <a:cs typeface="Lexend"/>
              </a:rPr>
              <a:t>Occupational Therapy for Autism &amp; ADHD</a:t>
            </a:r>
            <a:endParaRPr lang="en-US" sz="1200" dirty="0"/>
          </a:p>
        </p:txBody>
      </p:sp>
      <p:sp>
        <p:nvSpPr>
          <p:cNvPr id="16" name="page-number"/>
          <p:cNvSpPr txBox="1"/>
          <p:nvPr/>
        </p:nvSpPr>
        <p:spPr>
          <a:xfrm>
            <a:off x="10858500" y="6272530"/>
            <a:ext cx="565150" cy="204470"/>
          </a:xfrm>
          <a:prstGeom prst="rect">
            <a:avLst/>
          </a:prstGeom>
          <a:noFill/>
        </p:spPr>
        <p:txBody>
          <a:bodyPr wrap="square" lIns="0" tIns="0" rIns="0" bIns="0" rtlCol="0" anchor="t">
            <a:noAutofit/>
          </a:bodyPr>
          <a:lstStyle/>
          <a:p>
            <a:pPr algn="l">
              <a:lnSpc>
                <a:spcPts val="1750"/>
              </a:lnSpc>
              <a:buNone/>
            </a:pPr>
            <a:r>
              <a:rPr lang="en-US" sz="1200" dirty="0">
                <a:solidFill>
                  <a:srgbClr val="F5D9CB"/>
                </a:solidFill>
                <a:latin typeface="Lexend"/>
                <a:ea typeface="Lexend"/>
                <a:cs typeface="Lexend"/>
              </a:rPr>
              <a:t>7 / 7</a:t>
            </a:r>
            <a:endParaRPr lang="en-US" sz="1200" dirty="0"/>
          </a:p>
        </p:txBody>
      </p:sp>
    </p:spTree>
  </p:cSld>
  <p:clrMapOvr>
    <a:masterClrMapping/>
  </p:clrMapOvr>
</p:sld>
</file>

<file path=ppt/theme/theme1.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Vixl</Application>
  <Slides>7</Slides>
  <Notes>7</Notes>
</Properties>
</file>

<file path=docProps/core.xml><?xml version="1.0" encoding="utf-8"?>
<cp:coreProperties xmlns:cp="http://schemas.openxmlformats.org/package/2006/metadata/core-properties" xmlns:dc="http://purl.org/dc/elements/1.1/" xmlns:dcterms="http://purl.org/dc/terms/" xmlns:xsi="http://www.w3.org/2001/XMLSchema-instance">
  <dc:title>Questions to ask an OT</dc:title>
  <dc:creator>Vixl</dc:creator>
</cp:coreProperties>
</file>