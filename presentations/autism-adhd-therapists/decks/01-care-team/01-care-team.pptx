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11"/>
    <p:sldId id="257" r:id="rId12"/>
    <p:sldId id="258" r:id="rId13"/>
    <p:sldId id="259" r:id="rId14"/>
    <p:sldId id="260" r:id="rId15"/>
    <p:sldId id="261" r:id="rId16"/>
    <p:sldId id="262" r:id="rId17"/>
    <p:sldId id="263" r:id="rId18"/>
  </p:sldIdLst>
  <p:sldSz cx="12192000" cy="6858000"/>
  <p:notesSz cx="6858000" cy="9144000"/>
  <p:defaultTextStyle>
    <a:defPPr>
      <a:defRPr lang="en-US"/>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ableStyles" Target="tableStyles.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a:xfrm>
            <a:off x="381000" y="685800"/>
            <a:ext cx="6096000" cy="3429000"/>
          </a:xfrm>
          <a:prstGeom prst="rect">
            <a:avLst/>
          </a:prstGeom>
        </p:spPr>
        <p:txBody>
          <a:bodyPr/>
          <a:lstStyle/>
          <a:p>
            <a:endParaRPr lang="en-US"/>
          </a:p>
        </p:txBody>
      </p:sp>
      <p:sp>
        <p:nvSpPr>
          <p:cNvPr id="3" name="Notes Placeholder 2"/>
          <p:cNvSpPr>
            <a:spLocks noGrp="1"/>
          </p:cNvSpPr>
          <p:nvPr>
            <p:ph type="body" idx="1"/>
          </p:nvPr>
        </p:nvSpPr>
        <p:spPr>
          <a:xfrm>
            <a:off x="685800" y="4343400"/>
            <a:ext cx="5486400" cy="41148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notesStyle>
    <a:lvl1pPr marL="0" algn="l">
      <a:defRPr sz="1200" kern="1200">
        <a:solidFill>
          <a:schemeClr val="tx1"/>
        </a:solidFill>
        <a:latin typeface="+mn-lt"/>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deck introduces the professionals who support autistic people and people with ADHD: what each discipline focuses on, how care usually unfolds, and what good, respectful support looks like. It is an overview, not medical advice.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Autism and ADHD are common. The CDC's monitoring network found about 1 in 31 eight-year-olds identified as autistic in 2022. About 7 million U.S. children, roughly 11 percent, have ever received an ADHD diagnosis. Many adults are also being identified for the first time. The two often occur together, so families frequently work with several professionals at once.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neurodiversity-affirming approach treats autism and ADHD as natural variations in development. Therapy still matters a great deal: it can ease distress, build communication and daily-living skills, and help people get the accommodations they need. The goal is a better life on the person's own terms, not making someone look typical.</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Occupational therapists help with sensory processing, handwriting, coordination and daily routines. Speech-language pathologists work on all forms of communication, including augmentative and alternative communication. Psychologists often lead diagnostic evaluations and provide talk therapy such as CBT, plus parent training. Board Certified Behavior Analysts design behavior-based skill programs; practices vary widely, so look for naturalistic, play-based providers who respect the person's assent and avoid compliance-focused drills.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Medical doctors such as developmental-behavioral pediatricians, child psychiatrists and neurologists diagnose, rule out other conditions, and prescribe medication when it helps. Licensed counselors and clinical social workers provide therapy and are often skilled at navigating services. Coaches are not licensed clinicians but can be very practical for planning and follow-through. Physical therapists help with motor delays, low muscle tone or coordination.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journeys start when someone notices a difference. Pediatricians screen for autism at 18 and 24 month checkups and can screen for ADHD from age 4. A full evaluation by a psychologist, developmental pediatrician or team leads to a diagnosis and a picture of strengths and needs. Goals should be written with the family, and with the person themselves whenever possible, then reviewed regularly.</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therapists are curious about the person, use their interests to motivate learning, accept speech, signs, pictures and devices equally, stop when someone is distressed, and share measurable goals. Be cautious of anyone promising a cure, using expensive unproven treatments, or pushing compliance over comfort and trust.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reinforcing that there is no single right therapist. Families build a team over time, and needs change with age. Invite questions and point to the other decks in this series for detail on each discipline.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2000" y="428625"/>
            <a:ext cx="10668000" cy="1143000"/>
          </a:xfrm>
          <a:prstGeom prst="rect">
            <a:avLst/>
          </a:prstGeom>
        </p:spPr>
        <p:txBody>
          <a:bodyPr/>
          <a:lstStyle/>
          <a:p>
            <a:endParaRPr lang="en-US"/>
          </a:p>
        </p:txBody>
      </p:sp>
      <p:sp>
        <p:nvSpPr>
          <p:cNvPr id="3" name="Text Placeholder 2"/>
          <p:cNvSpPr>
            <a:spLocks noGrp="1"/>
          </p:cNvSpPr>
          <p:nvPr>
            <p:ph type="body" idx="1"/>
          </p:nvPr>
        </p:nvSpPr>
        <p:spPr>
          <a:xfrm>
            <a:off x="762000" y="1714500"/>
            <a:ext cx="10668000" cy="34290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a:defRPr sz="4400" kern="1200">
          <a:solidFill>
            <a:schemeClr val="tx1"/>
          </a:solidFill>
          <a:latin typeface="+mj-lt"/>
        </a:defRPr>
      </a:lvl1pPr>
    </p:titleStyle>
    <p:bodyStyle>
      <a:lvl1pPr marL="228600" indent="-228600">
        <a:defRPr sz="2800" kern="1200">
          <a:solidFill>
            <a:schemeClr val="tx1"/>
          </a:solidFill>
          <a:latin typeface="+mn-lt"/>
        </a:defRPr>
      </a:lvl1pPr>
    </p:bodyStyle>
    <p:otherStyle>
      <a:defPPr>
        <a:defRPr lang="en-US"/>
      </a:def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7.png"/><Relationship Id="rId6"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01-cover">
    <p:bg>
      <p:bgPr>
        <a:solidFill>
          <a:srgbClr val="F7F3EC"/>
        </a:solidFill>
        <a:effectLst/>
      </p:bgPr>
    </p:bg>
    <p:spTree>
      <p:nvGrpSpPr>
        <p:cNvPr id="1" name=""/>
        <p:cNvGrpSpPr/>
        <p:nvPr/>
      </p:nvGrpSpPr>
      <p:grpSpPr>
        <a:xfrm>
          <a:off x="0" y="0"/>
          <a:ext cx="0" cy="0"/>
          <a:chOff x="0" y="0"/>
          <a:chExt cx="0" cy="0"/>
        </a:xfrm>
      </p:grpSpPr>
      <p:sp>
        <p:nvSpPr>
          <p:cNvPr id="2" name="art-disc"/>
          <p:cNvSpPr/>
          <p:nvPr/>
        </p:nvSpPr>
        <p:spPr>
          <a:xfrm>
            <a:off x="6858000" y="825500"/>
            <a:ext cx="5207000" cy="5207000"/>
          </a:xfrm>
          <a:prstGeom prst="ellipse">
            <a:avLst/>
          </a:prstGeom>
          <a:solidFill>
            <a:srgbClr val="D6EBE6"/>
          </a:solidFill>
          <a:ln>
            <a:noFill/>
          </a:ln>
        </p:spPr>
      </p:sp>
      <p:sp>
        <p:nvSpPr>
          <p:cNvPr id="3" name="art-ring"/>
          <p:cNvSpPr/>
          <p:nvPr/>
        </p:nvSpPr>
        <p:spPr>
          <a:xfrm>
            <a:off x="9525000" y="4064000"/>
            <a:ext cx="2286000" cy="2286000"/>
          </a:xfrm>
          <a:prstGeom prst="ellipse">
            <a:avLst/>
          </a:prstGeom>
          <a:solidFill>
            <a:srgbClr val="F3DCC8"/>
          </a:solidFill>
          <a:ln>
            <a:noFill/>
          </a:ln>
        </p:spPr>
      </p:sp>
      <p:sp>
        <p:nvSpPr>
          <p:cNvPr id="4" name="icon-bg-1"/>
          <p:cNvSpPr/>
          <p:nvPr/>
        </p:nvSpPr>
        <p:spPr>
          <a:xfrm>
            <a:off x="7620000" y="1397000"/>
            <a:ext cx="1270000" cy="1270000"/>
          </a:xfrm>
          <a:prstGeom prst="ellipse">
            <a:avLst/>
          </a:prstGeom>
          <a:solidFill>
            <a:srgbClr val="FFFFFF"/>
          </a:solidFill>
          <a:ln>
            <a:noFill/>
          </a:ln>
        </p:spPr>
      </p:sp>
      <p:pic>
        <p:nvPicPr>
          <p:cNvPr id="5" name="icon-2" descr="icon-2"/>
          <p:cNvPicPr>
            <a:picLocks noChangeAspect="1"/>
          </p:cNvPicPr>
          <p:nvPr/>
        </p:nvPicPr>
        <p:blipFill>
          <a:blip r:embed="rId3"/>
          <a:stretch>
            <a:fillRect/>
          </a:stretch>
        </p:blipFill>
        <p:spPr>
          <a:xfrm>
            <a:off x="7759700" y="1536700"/>
            <a:ext cx="990600" cy="990600"/>
          </a:xfrm>
          <a:prstGeom prst="rect">
            <a:avLst/>
          </a:prstGeom>
        </p:spPr>
      </p:pic>
      <p:sp>
        <p:nvSpPr>
          <p:cNvPr id="6" name="icon-bg-3"/>
          <p:cNvSpPr/>
          <p:nvPr/>
        </p:nvSpPr>
        <p:spPr>
          <a:xfrm>
            <a:off x="9969500" y="1905000"/>
            <a:ext cx="762000" cy="762000"/>
          </a:xfrm>
          <a:prstGeom prst="ellipse">
            <a:avLst/>
          </a:prstGeom>
          <a:solidFill>
            <a:srgbClr val="FFFFFF"/>
          </a:solidFill>
          <a:ln>
            <a:noFill/>
          </a:ln>
        </p:spPr>
      </p:sp>
      <p:pic>
        <p:nvPicPr>
          <p:cNvPr id="7" name="icon-4" descr="icon-4"/>
          <p:cNvPicPr>
            <a:picLocks noChangeAspect="1"/>
          </p:cNvPicPr>
          <p:nvPr/>
        </p:nvPicPr>
        <p:blipFill>
          <a:blip r:embed="rId4"/>
          <a:stretch>
            <a:fillRect/>
          </a:stretch>
        </p:blipFill>
        <p:spPr>
          <a:xfrm>
            <a:off x="10052050" y="1987550"/>
            <a:ext cx="596900" cy="596900"/>
          </a:xfrm>
          <a:prstGeom prst="rect">
            <a:avLst/>
          </a:prstGeom>
        </p:spPr>
      </p:pic>
      <p:sp>
        <p:nvSpPr>
          <p:cNvPr id="8" name="icon-bg-5"/>
          <p:cNvSpPr/>
          <p:nvPr/>
        </p:nvSpPr>
        <p:spPr>
          <a:xfrm>
            <a:off x="8191500" y="3556000"/>
            <a:ext cx="1270000" cy="1270000"/>
          </a:xfrm>
          <a:prstGeom prst="ellipse">
            <a:avLst/>
          </a:prstGeom>
          <a:solidFill>
            <a:srgbClr val="FFFFFF"/>
          </a:solidFill>
          <a:ln>
            <a:noFill/>
          </a:ln>
        </p:spPr>
      </p:sp>
      <p:pic>
        <p:nvPicPr>
          <p:cNvPr id="9" name="icon-6" descr="icon-6"/>
          <p:cNvPicPr>
            <a:picLocks noChangeAspect="1"/>
          </p:cNvPicPr>
          <p:nvPr/>
        </p:nvPicPr>
        <p:blipFill>
          <a:blip r:embed="rId5"/>
          <a:stretch>
            <a:fillRect/>
          </a:stretch>
        </p:blipFill>
        <p:spPr>
          <a:xfrm>
            <a:off x="8331200" y="3695700"/>
            <a:ext cx="990600" cy="990600"/>
          </a:xfrm>
          <a:prstGeom prst="rect">
            <a:avLst/>
          </a:prstGeom>
        </p:spPr>
      </p:pic>
      <p:sp>
        <p:nvSpPr>
          <p:cNvPr id="10" name="icon-bg-7"/>
          <p:cNvSpPr/>
          <p:nvPr/>
        </p:nvSpPr>
        <p:spPr>
          <a:xfrm>
            <a:off x="10223500" y="4127500"/>
            <a:ext cx="762000" cy="762000"/>
          </a:xfrm>
          <a:prstGeom prst="ellipse">
            <a:avLst/>
          </a:prstGeom>
          <a:solidFill>
            <a:srgbClr val="FFFFFF"/>
          </a:solidFill>
          <a:ln>
            <a:noFill/>
          </a:ln>
        </p:spPr>
      </p:sp>
      <p:pic>
        <p:nvPicPr>
          <p:cNvPr id="11" name="icon-8" descr="icon-8"/>
          <p:cNvPicPr>
            <a:picLocks noChangeAspect="1"/>
          </p:cNvPicPr>
          <p:nvPr/>
        </p:nvPicPr>
        <p:blipFill>
          <a:blip r:embed="rId6"/>
          <a:stretch>
            <a:fillRect/>
          </a:stretch>
        </p:blipFill>
        <p:spPr>
          <a:xfrm>
            <a:off x="10306050" y="4210050"/>
            <a:ext cx="596900" cy="596900"/>
          </a:xfrm>
          <a:prstGeom prst="rect">
            <a:avLst/>
          </a:prstGeom>
        </p:spPr>
      </p:pic>
      <p:sp>
        <p:nvSpPr>
          <p:cNvPr id="12" name="kicker"/>
          <p:cNvSpPr txBox="1"/>
          <p:nvPr/>
        </p:nvSpPr>
        <p:spPr>
          <a:xfrm>
            <a:off x="762000" y="1407820"/>
            <a:ext cx="7413625" cy="300330"/>
          </a:xfrm>
          <a:prstGeom prst="rect">
            <a:avLst/>
          </a:prstGeom>
          <a:noFill/>
        </p:spPr>
        <p:txBody>
          <a:bodyPr wrap="square" lIns="0" tIns="0" rIns="0" bIns="0" rtlCol="0" anchor="t">
            <a:noAutofit/>
          </a:bodyPr>
          <a:lstStyle/>
          <a:p>
            <a:pPr algn="l">
              <a:lnSpc>
                <a:spcPts val="2450"/>
              </a:lnSpc>
              <a:buNone/>
            </a:pPr>
            <a:r>
              <a:rPr lang="en-US" sz="1800" b="1" dirty="0">
                <a:solidFill>
                  <a:srgbClr val="23615A"/>
                </a:solidFill>
                <a:latin typeface="Lexend"/>
                <a:ea typeface="Lexend"/>
                <a:cs typeface="Lexend"/>
              </a:rPr>
              <a:t>A GUIDE FOR FAMILIES, EDUCATORS AND ADULTS</a:t>
            </a:r>
            <a:endParaRPr lang="en-US" sz="1800" dirty="0"/>
          </a:p>
        </p:txBody>
      </p:sp>
      <p:grpSp>
        <p:nvGrpSpPr>
          <p:cNvPr id="15" name="block-9"/>
          <p:cNvGrpSpPr/>
          <p:nvPr/>
        </p:nvGrpSpPr>
        <p:grpSpPr>
          <a:xfrm>
            <a:off x="762000" y="1968500"/>
            <a:ext cx="6096000" cy="2298700"/>
            <a:chOff x="0" y="0"/>
            <a:chExt cx="6096000" cy="2298700"/>
          </a:xfrm>
        </p:grpSpPr>
        <p:sp>
          <p:nvSpPr>
            <p:cNvPr id="13" name="title"/>
            <p:cNvSpPr>
              <a:spLocks noGrp="1"/>
            </p:cNvSpPr>
            <p:nvPr>
              <p:ph type="title"/>
            </p:nvPr>
          </p:nvSpPr>
          <p:spPr>
            <a:xfrm>
              <a:off x="0" y="74625"/>
              <a:ext cx="6096000" cy="2224075"/>
            </a:xfrm>
            <a:prstGeom prst="rect">
              <a:avLst/>
            </a:prstGeom>
            <a:noFill/>
          </p:spPr>
          <p:txBody>
            <a:bodyPr wrap="square" lIns="0" tIns="0" rIns="0" bIns="0" rtlCol="0" anchor="t">
              <a:noAutofit/>
            </a:bodyPr>
            <a:lstStyle/>
            <a:p>
              <a:pPr algn="l">
                <a:lnSpc>
                  <a:spcPts val="5824"/>
                </a:lnSpc>
                <a:spcBef>
                  <a:spcPts val="0"/>
                </a:spcBef>
                <a:spcAft>
                  <a:spcPts val="0"/>
                </a:spcAft>
                <a:buNone/>
              </a:pPr>
              <a:r>
                <a:rPr lang="en-US" sz="5200" b="1" dirty="0">
                  <a:solidFill>
                    <a:srgbClr val="1F3634"/>
                  </a:solidFill>
                  <a:latin typeface="Fraunces"/>
                  <a:ea typeface="Fraunces"/>
                  <a:cs typeface="Fraunces"/>
                </a:rPr>
                <a:t>Who Helps? Therapists for Autism &amp; ADHD</a:t>
              </a:r>
              <a:endParaRPr lang="en-US" sz="5200" dirty="0"/>
            </a:p>
          </p:txBody>
        </p:sp>
        <p:sp>
          <p:nvSpPr>
            <p:cNvPr id="14" name="subtitle"/>
            <p:cNvSpPr txBox="1"/>
            <p:nvPr/>
          </p:nvSpPr>
          <p:spPr>
            <a:xfrm>
              <a:off x="0" y="2545715"/>
              <a:ext cx="6096000" cy="737235"/>
            </a:xfrm>
            <a:prstGeom prst="rect">
              <a:avLst/>
            </a:prstGeom>
            <a:noFill/>
          </p:spPr>
          <p:txBody>
            <a:bodyPr wrap="square" lIns="0" tIns="0" rIns="0" bIns="0" rtlCol="0" anchor="t">
              <a:noAutofit/>
            </a:bodyPr>
            <a:lstStyle/>
            <a:p>
              <a:pPr algn="l">
                <a:lnSpc>
                  <a:spcPts val="2860"/>
                </a:lnSpc>
                <a:spcBef>
                  <a:spcPts val="0"/>
                </a:spcBef>
                <a:spcAft>
                  <a:spcPts val="0"/>
                </a:spcAft>
                <a:buNone/>
              </a:pPr>
              <a:r>
                <a:rPr lang="en-US" sz="2200" dirty="0">
                  <a:solidFill>
                    <a:srgbClr val="4F605D"/>
                  </a:solidFill>
                  <a:latin typeface="Lexend"/>
                  <a:ea typeface="Lexend"/>
                  <a:cs typeface="Lexend"/>
                </a:rPr>
                <a:t>The professionals, what each one does, and how they work together.</a:t>
              </a:r>
              <a:endParaRPr lang="en-US" sz="2200" dirty="0"/>
            </a:p>
          </p:txBody>
        </p:sp>
      </p:grpSp>
      <p:sp>
        <p:nvSpPr>
          <p:cNvPr id="16" name="cover-rule"/>
          <p:cNvSpPr/>
          <p:nvPr/>
        </p:nvSpPr>
        <p:spPr>
          <a:xfrm>
            <a:off x="762000" y="5905500"/>
            <a:ext cx="762000" cy="38100"/>
          </a:xfrm>
          <a:prstGeom prst="roundRect">
            <a:avLst>
              <a:gd name="adj" fmla="val 50000"/>
            </a:avLst>
          </a:prstGeom>
          <a:solidFill>
            <a:srgbClr val="2F7A72"/>
          </a:solidFill>
          <a:ln>
            <a:noFill/>
          </a:ln>
        </p:spPr>
      </p:sp>
      <p:sp>
        <p:nvSpPr>
          <p:cNvPr id="17" name="footer"/>
          <p:cNvSpPr txBox="1"/>
          <p:nvPr/>
        </p:nvSpPr>
        <p:spPr>
          <a:xfrm>
            <a:off x="762000" y="6042050"/>
            <a:ext cx="1754188" cy="187300"/>
          </a:xfrm>
          <a:prstGeom prst="rect">
            <a:avLst/>
          </a:prstGeom>
          <a:noFill/>
        </p:spPr>
        <p:txBody>
          <a:bodyPr wrap="square" lIns="0" tIns="0" rIns="0" bIns="0" rtlCol="0" anchor="t">
            <a:noAutofit/>
          </a:bodyPr>
          <a:lstStyle/>
          <a:p>
            <a:pPr algn="l">
              <a:lnSpc>
                <a:spcPts val="1750"/>
              </a:lnSpc>
              <a:buNone/>
            </a:pPr>
            <a:r>
              <a:rPr lang="en-US" sz="1200" dirty="0">
                <a:solidFill>
                  <a:srgbClr val="4F605D"/>
                </a:solidFill>
                <a:latin typeface="Lexend"/>
                <a:ea typeface="Lexend"/>
                <a:cs typeface="Lexend"/>
              </a:rPr>
              <a:t>Presentation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02-stats">
    <p:bg>
      <p:bgPr>
        <a:solidFill>
          <a:srgbClr val="F7F3EC"/>
        </a:solidFill>
        <a:effectLst/>
      </p:bgPr>
    </p:bg>
    <p:spTree>
      <p:nvGrpSpPr>
        <p:cNvPr id="1" name=""/>
        <p:cNvGrpSpPr/>
        <p:nvPr/>
      </p:nvGrpSpPr>
      <p:grpSpPr>
        <a:xfrm>
          <a:off x="0" y="0"/>
          <a:ext cx="0" cy="0"/>
          <a:chOff x="0" y="0"/>
          <a:chExt cx="0" cy="0"/>
        </a:xfrm>
      </p:grpSpPr>
      <p:sp>
        <p:nvSpPr>
          <p:cNvPr id="2" name="corner-dot"/>
          <p:cNvSpPr/>
          <p:nvPr/>
        </p:nvSpPr>
        <p:spPr>
          <a:xfrm>
            <a:off x="11239500" y="533400"/>
            <a:ext cx="292100" cy="292100"/>
          </a:xfrm>
          <a:prstGeom prst="ellipse">
            <a:avLst/>
          </a:prstGeom>
          <a:solidFill>
            <a:srgbClr val="D6EBE6"/>
          </a:solidFill>
          <a:ln>
            <a:noFill/>
          </a:ln>
        </p:spPr>
      </p:sp>
      <p:sp>
        <p:nvSpPr>
          <p:cNvPr id="3" name="footer"/>
          <p:cNvSpPr txBox="1"/>
          <p:nvPr/>
        </p:nvSpPr>
        <p:spPr>
          <a:xfrm>
            <a:off x="762000" y="6283350"/>
            <a:ext cx="4024312" cy="219050"/>
          </a:xfrm>
          <a:prstGeom prst="rect">
            <a:avLst/>
          </a:prstGeom>
          <a:noFill/>
        </p:spPr>
        <p:txBody>
          <a:bodyPr wrap="square" lIns="0" tIns="0" rIns="0" bIns="0" rtlCol="0" anchor="t">
            <a:noAutofit/>
          </a:bodyPr>
          <a:lstStyle/>
          <a:p>
            <a:pPr algn="l">
              <a:lnSpc>
                <a:spcPts val="1750"/>
              </a:lnSpc>
              <a:buNone/>
            </a:pPr>
            <a:r>
              <a:rPr lang="en-US" sz="1200" dirty="0">
                <a:solidFill>
                  <a:srgbClr val="4F605D"/>
                </a:solidFill>
                <a:latin typeface="Lexend"/>
                <a:ea typeface="Lexend"/>
                <a:cs typeface="Lexend"/>
              </a:rPr>
              <a:t>Who Helps? The Autism &amp; ADHD Care Team</a:t>
            </a:r>
            <a:endParaRPr lang="en-US" sz="1200" dirty="0"/>
          </a:p>
        </p:txBody>
      </p:sp>
      <p:sp>
        <p:nvSpPr>
          <p:cNvPr id="4" name="page-number"/>
          <p:cNvSpPr txBox="1"/>
          <p:nvPr/>
        </p:nvSpPr>
        <p:spPr>
          <a:xfrm>
            <a:off x="10858500" y="6274054"/>
            <a:ext cx="571500" cy="209296"/>
          </a:xfrm>
          <a:prstGeom prst="rect">
            <a:avLst/>
          </a:prstGeom>
          <a:noFill/>
        </p:spPr>
        <p:txBody>
          <a:bodyPr wrap="square" lIns="0" tIns="0" rIns="0" bIns="0" rtlCol="0" anchor="t">
            <a:noAutofit/>
          </a:bodyPr>
          <a:lstStyle/>
          <a:p>
            <a:pPr algn="l">
              <a:lnSpc>
                <a:spcPts val="1750"/>
              </a:lnSpc>
              <a:buNone/>
            </a:pPr>
            <a:r>
              <a:rPr lang="en-US" sz="1200" dirty="0">
                <a:solidFill>
                  <a:srgbClr val="4F605D"/>
                </a:solidFill>
                <a:latin typeface="Lexend"/>
                <a:ea typeface="Lexend"/>
                <a:cs typeface="Lexend"/>
              </a:rPr>
              <a:t>2 / 8</a:t>
            </a:r>
            <a:endParaRPr lang="en-US" sz="1200" dirty="0"/>
          </a:p>
        </p:txBody>
      </p:sp>
      <p:sp>
        <p:nvSpPr>
          <p:cNvPr id="5" name="title-bar-10"/>
          <p:cNvSpPr/>
          <p:nvPr/>
        </p:nvSpPr>
        <p:spPr>
          <a:xfrm>
            <a:off x="762000" y="584200"/>
            <a:ext cx="457200" cy="63500"/>
          </a:xfrm>
          <a:prstGeom prst="roundRect">
            <a:avLst>
              <a:gd name="adj" fmla="val 50000"/>
            </a:avLst>
          </a:prstGeom>
          <a:solidFill>
            <a:srgbClr val="2F7A72"/>
          </a:solidFill>
          <a:ln>
            <a:noFill/>
          </a:ln>
        </p:spPr>
      </p:sp>
      <p:sp>
        <p:nvSpPr>
          <p:cNvPr id="6" name="title"/>
          <p:cNvSpPr>
            <a:spLocks noGrp="1"/>
          </p:cNvSpPr>
          <p:nvPr>
            <p:ph type="title"/>
          </p:nvPr>
        </p:nvSpPr>
        <p:spPr>
          <a:xfrm>
            <a:off x="762000" y="730593"/>
            <a:ext cx="4508500" cy="469557"/>
          </a:xfrm>
          <a:prstGeom prst="rect">
            <a:avLst/>
          </a:prstGeom>
          <a:noFill/>
        </p:spPr>
        <p:txBody>
          <a:bodyPr wrap="square" lIns="0" tIns="0" rIns="0" bIns="0" rtlCol="0" anchor="t">
            <a:noAutofit/>
          </a:bodyPr>
          <a:lstStyle/>
          <a:p>
            <a:pPr algn="l">
              <a:lnSpc>
                <a:spcPts val="3742"/>
              </a:lnSpc>
              <a:buNone/>
            </a:pPr>
            <a:r>
              <a:rPr lang="en-US" sz="3400" b="1" dirty="0">
                <a:solidFill>
                  <a:srgbClr val="1F3634"/>
                </a:solidFill>
                <a:latin typeface="Fraunces"/>
                <a:ea typeface="Fraunces"/>
                <a:cs typeface="Fraunces"/>
              </a:rPr>
              <a:t>Why this matters</a:t>
            </a:r>
            <a:endParaRPr lang="en-US" sz="3400" dirty="0"/>
          </a:p>
        </p:txBody>
      </p:sp>
      <p:sp>
        <p:nvSpPr>
          <p:cNvPr id="7" name="stat-card-11"/>
          <p:cNvSpPr/>
          <p:nvPr/>
        </p:nvSpPr>
        <p:spPr>
          <a:xfrm>
            <a:off x="774700" y="1790700"/>
            <a:ext cx="5156200" cy="3530600"/>
          </a:xfrm>
          <a:prstGeom prst="roundRect">
            <a:avLst>
              <a:gd name="adj" fmla="val 6295"/>
            </a:avLst>
          </a:prstGeom>
          <a:solidFill>
            <a:srgbClr val="FFFFFF"/>
          </a:solidFill>
          <a:ln w="12700">
            <a:solidFill>
              <a:srgbClr val="E7E0D4"/>
            </a:solidFill>
          </a:ln>
        </p:spPr>
      </p:sp>
      <p:sp>
        <p:nvSpPr>
          <p:cNvPr id="8" name="stat-num-12"/>
          <p:cNvSpPr txBox="1"/>
          <p:nvPr/>
        </p:nvSpPr>
        <p:spPr>
          <a:xfrm>
            <a:off x="1168400" y="2060607"/>
            <a:ext cx="5308600" cy="923893"/>
          </a:xfrm>
          <a:prstGeom prst="rect">
            <a:avLst/>
          </a:prstGeom>
          <a:noFill/>
        </p:spPr>
        <p:txBody>
          <a:bodyPr wrap="square" lIns="0" tIns="0" rIns="0" bIns="0" rtlCol="0" anchor="t">
            <a:noAutofit/>
          </a:bodyPr>
          <a:lstStyle/>
          <a:p>
            <a:pPr algn="l">
              <a:lnSpc>
                <a:spcPts val="9514"/>
              </a:lnSpc>
              <a:buNone/>
            </a:pPr>
            <a:r>
              <a:rPr lang="en-US" sz="9500" b="1" dirty="0">
                <a:solidFill>
                  <a:srgbClr val="23615A"/>
                </a:solidFill>
                <a:latin typeface="Fraunces"/>
                <a:ea typeface="Fraunces"/>
                <a:cs typeface="Fraunces"/>
              </a:rPr>
              <a:t>1 in 31</a:t>
            </a:r>
            <a:endParaRPr lang="en-US" sz="9500" dirty="0"/>
          </a:p>
        </p:txBody>
      </p:sp>
      <p:sp>
        <p:nvSpPr>
          <p:cNvPr id="9" name="stat-rule-13"/>
          <p:cNvSpPr/>
          <p:nvPr/>
        </p:nvSpPr>
        <p:spPr>
          <a:xfrm>
            <a:off x="1168400" y="3619500"/>
            <a:ext cx="609600" cy="50800"/>
          </a:xfrm>
          <a:prstGeom prst="roundRect">
            <a:avLst>
              <a:gd name="adj" fmla="val 50000"/>
            </a:avLst>
          </a:prstGeom>
          <a:solidFill>
            <a:srgbClr val="2F7A72"/>
          </a:solidFill>
          <a:ln>
            <a:noFill/>
          </a:ln>
        </p:spPr>
      </p:sp>
      <p:sp>
        <p:nvSpPr>
          <p:cNvPr id="10" name="stat-label-14"/>
          <p:cNvSpPr txBox="1"/>
          <p:nvPr/>
        </p:nvSpPr>
        <p:spPr>
          <a:xfrm>
            <a:off x="1168400" y="3866515"/>
            <a:ext cx="4368800" cy="737235"/>
          </a:xfrm>
          <a:prstGeom prst="rect">
            <a:avLst/>
          </a:prstGeom>
          <a:noFill/>
        </p:spPr>
        <p:txBody>
          <a:bodyPr wrap="square" lIns="0" tIns="0" rIns="0" bIns="0" rtlCol="0" anchor="t">
            <a:noAutofit/>
          </a:bodyPr>
          <a:lstStyle/>
          <a:p>
            <a:pPr algn="l">
              <a:lnSpc>
                <a:spcPts val="2860"/>
              </a:lnSpc>
              <a:spcBef>
                <a:spcPts val="0"/>
              </a:spcBef>
              <a:spcAft>
                <a:spcPts val="0"/>
              </a:spcAft>
              <a:buNone/>
            </a:pPr>
            <a:r>
              <a:rPr lang="en-US" sz="2200" dirty="0">
                <a:solidFill>
                  <a:srgbClr val="1F3634"/>
                </a:solidFill>
                <a:latin typeface="Lexend"/>
                <a:ea typeface="Lexend"/>
                <a:cs typeface="Lexend"/>
              </a:rPr>
              <a:t>U.S. 8-year-olds identified as autistic</a:t>
            </a:r>
            <a:endParaRPr lang="en-US" sz="2200" dirty="0"/>
          </a:p>
        </p:txBody>
      </p:sp>
      <p:sp>
        <p:nvSpPr>
          <p:cNvPr id="11" name="stat-card-15"/>
          <p:cNvSpPr/>
          <p:nvPr/>
        </p:nvSpPr>
        <p:spPr>
          <a:xfrm>
            <a:off x="6261100" y="1790700"/>
            <a:ext cx="5156200" cy="3530600"/>
          </a:xfrm>
          <a:prstGeom prst="roundRect">
            <a:avLst>
              <a:gd name="adj" fmla="val 6295"/>
            </a:avLst>
          </a:prstGeom>
          <a:solidFill>
            <a:srgbClr val="FFFFFF"/>
          </a:solidFill>
          <a:ln w="12700">
            <a:solidFill>
              <a:srgbClr val="E7E0D4"/>
            </a:solidFill>
          </a:ln>
        </p:spPr>
      </p:sp>
      <p:sp>
        <p:nvSpPr>
          <p:cNvPr id="12" name="stat-num-16"/>
          <p:cNvSpPr txBox="1"/>
          <p:nvPr/>
        </p:nvSpPr>
        <p:spPr>
          <a:xfrm>
            <a:off x="6654800" y="2070862"/>
            <a:ext cx="4972050" cy="919988"/>
          </a:xfrm>
          <a:prstGeom prst="rect">
            <a:avLst/>
          </a:prstGeom>
          <a:noFill/>
        </p:spPr>
        <p:txBody>
          <a:bodyPr wrap="square" lIns="0" tIns="0" rIns="0" bIns="0" rtlCol="0" anchor="t">
            <a:noAutofit/>
          </a:bodyPr>
          <a:lstStyle/>
          <a:p>
            <a:pPr algn="l">
              <a:lnSpc>
                <a:spcPts val="9514"/>
              </a:lnSpc>
              <a:buNone/>
            </a:pPr>
            <a:r>
              <a:rPr lang="en-US" sz="9500" b="1" dirty="0">
                <a:solidFill>
                  <a:srgbClr val="23615A"/>
                </a:solidFill>
                <a:latin typeface="Fraunces"/>
                <a:ea typeface="Fraunces"/>
                <a:cs typeface="Fraunces"/>
              </a:rPr>
              <a:t>11.4%</a:t>
            </a:r>
            <a:endParaRPr lang="en-US" sz="9500" dirty="0"/>
          </a:p>
        </p:txBody>
      </p:sp>
      <p:sp>
        <p:nvSpPr>
          <p:cNvPr id="13" name="stat-rule-17"/>
          <p:cNvSpPr/>
          <p:nvPr/>
        </p:nvSpPr>
        <p:spPr>
          <a:xfrm>
            <a:off x="6654800" y="3619500"/>
            <a:ext cx="609600" cy="50800"/>
          </a:xfrm>
          <a:prstGeom prst="roundRect">
            <a:avLst>
              <a:gd name="adj" fmla="val 50000"/>
            </a:avLst>
          </a:prstGeom>
          <a:solidFill>
            <a:srgbClr val="2F7A72"/>
          </a:solidFill>
          <a:ln>
            <a:noFill/>
          </a:ln>
        </p:spPr>
      </p:sp>
      <p:sp>
        <p:nvSpPr>
          <p:cNvPr id="14" name="stat-label-18"/>
          <p:cNvSpPr txBox="1"/>
          <p:nvPr/>
        </p:nvSpPr>
        <p:spPr>
          <a:xfrm>
            <a:off x="6654800" y="3866515"/>
            <a:ext cx="4368800" cy="1099185"/>
          </a:xfrm>
          <a:prstGeom prst="rect">
            <a:avLst/>
          </a:prstGeom>
          <a:noFill/>
        </p:spPr>
        <p:txBody>
          <a:bodyPr wrap="square" lIns="0" tIns="0" rIns="0" bIns="0" rtlCol="0" anchor="t">
            <a:noAutofit/>
          </a:bodyPr>
          <a:lstStyle/>
          <a:p>
            <a:pPr algn="l">
              <a:lnSpc>
                <a:spcPts val="2860"/>
              </a:lnSpc>
              <a:spcBef>
                <a:spcPts val="0"/>
              </a:spcBef>
              <a:spcAft>
                <a:spcPts val="0"/>
              </a:spcAft>
              <a:buNone/>
            </a:pPr>
            <a:r>
              <a:rPr lang="en-US" sz="2200" dirty="0">
                <a:solidFill>
                  <a:srgbClr val="1F3634"/>
                </a:solidFill>
                <a:latin typeface="Lexend"/>
                <a:ea typeface="Lexend"/>
                <a:cs typeface="Lexend"/>
              </a:rPr>
              <a:t>of U.S. children aged 3–17 have ever been diagnosed with ADHD</a:t>
            </a:r>
            <a:endParaRPr lang="en-US" sz="2200" dirty="0"/>
          </a:p>
        </p:txBody>
      </p:sp>
      <p:sp>
        <p:nvSpPr>
          <p:cNvPr id="15" name="source"/>
          <p:cNvSpPr txBox="1"/>
          <p:nvPr/>
        </p:nvSpPr>
        <p:spPr>
          <a:xfrm>
            <a:off x="762000" y="5584190"/>
            <a:ext cx="10668000" cy="403860"/>
          </a:xfrm>
          <a:prstGeom prst="rect">
            <a:avLst/>
          </a:prstGeom>
          <a:noFill/>
        </p:spPr>
        <p:txBody>
          <a:bodyPr wrap="square" lIns="0" tIns="0" rIns="0" bIns="0" rtlCol="0" anchor="t">
            <a:noAutofit/>
          </a:bodyPr>
          <a:lstStyle/>
          <a:p>
            <a:pPr algn="l">
              <a:lnSpc>
                <a:spcPts val="1560"/>
              </a:lnSpc>
              <a:spcBef>
                <a:spcPts val="0"/>
              </a:spcBef>
              <a:spcAft>
                <a:spcPts val="0"/>
              </a:spcAft>
              <a:buNone/>
            </a:pPr>
            <a:r>
              <a:rPr lang="en-US" sz="1200" dirty="0">
                <a:solidFill>
                  <a:srgbClr val="4F605D"/>
                </a:solidFill>
                <a:latin typeface="Lexend"/>
                <a:ea typeface="Lexend"/>
                <a:cs typeface="Lexend"/>
              </a:rPr>
              <a:t>Sources: CDC Autism and Developmental Disabilities Monitoring Network (2022 data, published 2025); CDC analysis of the 2022 National Survey of Children's Health.</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03-idea">
    <p:bg>
      <p:bgPr>
        <a:solidFill>
          <a:srgbClr val="2F7A72"/>
        </a:solidFill>
        <a:effectLst/>
      </p:bgPr>
    </p:bg>
    <p:spTree>
      <p:nvGrpSpPr>
        <p:cNvPr id="1" name=""/>
        <p:cNvGrpSpPr/>
        <p:nvPr/>
      </p:nvGrpSpPr>
      <p:grpSpPr>
        <a:xfrm>
          <a:off x="0" y="0"/>
          <a:ext cx="0" cy="0"/>
          <a:chOff x="0" y="0"/>
          <a:chExt cx="0" cy="0"/>
        </a:xfrm>
      </p:grpSpPr>
      <p:sp>
        <p:nvSpPr>
          <p:cNvPr id="2" name="idea-disc"/>
          <p:cNvSpPr/>
          <p:nvPr/>
        </p:nvSpPr>
        <p:spPr>
          <a:xfrm>
            <a:off x="-1397000" y="3937000"/>
            <a:ext cx="4064000" cy="4064000"/>
          </a:xfrm>
          <a:prstGeom prst="ellipse">
            <a:avLst/>
          </a:prstGeom>
          <a:solidFill>
            <a:srgbClr val="FFFFFF">
              <a:alpha val="8000"/>
            </a:srgbClr>
          </a:solidFill>
          <a:ln>
            <a:noFill/>
          </a:ln>
        </p:spPr>
      </p:sp>
      <p:sp>
        <p:nvSpPr>
          <p:cNvPr id="3" name="idea-disc-2"/>
          <p:cNvSpPr/>
          <p:nvPr/>
        </p:nvSpPr>
        <p:spPr>
          <a:xfrm>
            <a:off x="9906000" y="-1016000"/>
            <a:ext cx="3302000" cy="3302000"/>
          </a:xfrm>
          <a:prstGeom prst="ellipse">
            <a:avLst/>
          </a:prstGeom>
          <a:solidFill>
            <a:srgbClr val="FFFFFF">
              <a:alpha val="8000"/>
            </a:srgbClr>
          </a:solidFill>
          <a:ln>
            <a:noFill/>
          </a:ln>
        </p:spPr>
      </p:sp>
      <p:sp>
        <p:nvSpPr>
          <p:cNvPr id="4" name="icon-bg-19"/>
          <p:cNvSpPr/>
          <p:nvPr/>
        </p:nvSpPr>
        <p:spPr>
          <a:xfrm>
            <a:off x="5715000" y="1206500"/>
            <a:ext cx="762000" cy="762000"/>
          </a:xfrm>
          <a:prstGeom prst="ellipse">
            <a:avLst/>
          </a:prstGeom>
          <a:solidFill>
            <a:srgbClr val="E4F2EF"/>
          </a:solidFill>
          <a:ln>
            <a:noFill/>
          </a:ln>
        </p:spPr>
      </p:sp>
      <p:pic>
        <p:nvPicPr>
          <p:cNvPr id="5" name="icon-20" descr="icon-20"/>
          <p:cNvPicPr>
            <a:picLocks noChangeAspect="1"/>
          </p:cNvPicPr>
          <p:nvPr/>
        </p:nvPicPr>
        <p:blipFill>
          <a:blip r:embed="rId3"/>
          <a:stretch>
            <a:fillRect/>
          </a:stretch>
        </p:blipFill>
        <p:spPr>
          <a:xfrm>
            <a:off x="5797550" y="1289050"/>
            <a:ext cx="596900" cy="596900"/>
          </a:xfrm>
          <a:prstGeom prst="rect">
            <a:avLst/>
          </a:prstGeom>
        </p:spPr>
      </p:pic>
      <p:sp>
        <p:nvSpPr>
          <p:cNvPr id="6" name="kicker"/>
          <p:cNvSpPr txBox="1"/>
          <p:nvPr/>
        </p:nvSpPr>
        <p:spPr>
          <a:xfrm>
            <a:off x="5524500" y="2192020"/>
            <a:ext cx="1485900" cy="259080"/>
          </a:xfrm>
          <a:prstGeom prst="rect">
            <a:avLst/>
          </a:prstGeom>
          <a:noFill/>
        </p:spPr>
        <p:txBody>
          <a:bodyPr wrap="square" lIns="0" tIns="0" rIns="0" bIns="0" rtlCol="0" anchor="t">
            <a:noAutofit/>
          </a:bodyPr>
          <a:lstStyle/>
          <a:p>
            <a:pPr algn="l">
              <a:lnSpc>
                <a:spcPts val="2450"/>
              </a:lnSpc>
              <a:buNone/>
            </a:pPr>
            <a:r>
              <a:rPr lang="en-US" sz="1800" b="1" dirty="0">
                <a:solidFill>
                  <a:srgbClr val="FFFFFF"/>
                </a:solidFill>
                <a:latin typeface="Lexend"/>
                <a:ea typeface="Lexend"/>
                <a:cs typeface="Lexend"/>
              </a:rPr>
              <a:t>KEY IDEA</a:t>
            </a:r>
            <a:endParaRPr lang="en-US" sz="1800" dirty="0"/>
          </a:p>
        </p:txBody>
      </p:sp>
      <p:grpSp>
        <p:nvGrpSpPr>
          <p:cNvPr id="9" name="block-21"/>
          <p:cNvGrpSpPr/>
          <p:nvPr/>
        </p:nvGrpSpPr>
        <p:grpSpPr>
          <a:xfrm>
            <a:off x="1333500" y="2794000"/>
            <a:ext cx="9525000" cy="1022350"/>
            <a:chOff x="0" y="0"/>
            <a:chExt cx="9525000" cy="1022350"/>
          </a:xfrm>
        </p:grpSpPr>
        <p:sp>
          <p:nvSpPr>
            <p:cNvPr id="7" name="statement"/>
            <p:cNvSpPr txBox="1"/>
            <p:nvPr/>
          </p:nvSpPr>
          <p:spPr>
            <a:xfrm>
              <a:off x="0" y="48793"/>
              <a:ext cx="9525000" cy="973557"/>
            </a:xfrm>
            <a:prstGeom prst="rect">
              <a:avLst/>
            </a:prstGeom>
            <a:noFill/>
          </p:spPr>
          <p:txBody>
            <a:bodyPr wrap="square" lIns="0" tIns="0" rIns="0" bIns="0" rtlCol="0" anchor="t">
              <a:noAutofit/>
            </a:bodyPr>
            <a:lstStyle/>
            <a:p>
              <a:pPr algn="ctr">
                <a:lnSpc>
                  <a:spcPts val="3808"/>
                </a:lnSpc>
                <a:spcBef>
                  <a:spcPts val="0"/>
                </a:spcBef>
                <a:spcAft>
                  <a:spcPts val="0"/>
                </a:spcAft>
                <a:buNone/>
              </a:pPr>
              <a:r>
                <a:rPr lang="en-US" sz="3400" b="1" dirty="0">
                  <a:solidFill>
                    <a:srgbClr val="FFFFFF"/>
                  </a:solidFill>
                  <a:latin typeface="Fraunces"/>
                  <a:ea typeface="Fraunces"/>
                  <a:cs typeface="Fraunces"/>
                </a:rPr>
                <a:t>Autism and ADHD are differences in how a brain is wired, not problems to erase.</a:t>
              </a:r>
              <a:endParaRPr lang="en-US" sz="3400" dirty="0"/>
            </a:p>
          </p:txBody>
        </p:sp>
        <p:sp>
          <p:nvSpPr>
            <p:cNvPr id="8" name="subtitle"/>
            <p:cNvSpPr txBox="1"/>
            <p:nvPr/>
          </p:nvSpPr>
          <p:spPr>
            <a:xfrm>
              <a:off x="0" y="1264920"/>
              <a:ext cx="9525000" cy="633730"/>
            </a:xfrm>
            <a:prstGeom prst="rect">
              <a:avLst/>
            </a:prstGeom>
            <a:noFill/>
          </p:spPr>
          <p:txBody>
            <a:bodyPr wrap="square" lIns="0" tIns="0" rIns="0" bIns="0" rtlCol="0" anchor="t">
              <a:noAutofit/>
            </a:bodyPr>
            <a:lstStyle/>
            <a:p>
              <a:pPr algn="ctr">
                <a:lnSpc>
                  <a:spcPts val="2430"/>
                </a:lnSpc>
                <a:spcBef>
                  <a:spcPts val="0"/>
                </a:spcBef>
                <a:spcAft>
                  <a:spcPts val="0"/>
                </a:spcAft>
                <a:buNone/>
              </a:pPr>
              <a:r>
                <a:rPr lang="en-US" sz="1800" dirty="0">
                  <a:solidFill>
                    <a:srgbClr val="FFFFFF"/>
                  </a:solidFill>
                  <a:latin typeface="Lexend"/>
                  <a:ea typeface="Lexend"/>
                  <a:cs typeface="Lexend"/>
                </a:rPr>
                <a:t>The best therapy builds skills, comfort and independence while respecting who the person is.</a:t>
              </a:r>
              <a:endParaRPr lang="en-US" sz="1800" dirty="0"/>
            </a:p>
          </p:txBody>
        </p:sp>
      </p:grpSp>
      <p:sp>
        <p:nvSpPr>
          <p:cNvPr id="10" name="footer"/>
          <p:cNvSpPr txBox="1"/>
          <p:nvPr/>
        </p:nvSpPr>
        <p:spPr>
          <a:xfrm>
            <a:off x="762000" y="6283350"/>
            <a:ext cx="4024312" cy="219050"/>
          </a:xfrm>
          <a:prstGeom prst="rect">
            <a:avLst/>
          </a:prstGeom>
          <a:noFill/>
        </p:spPr>
        <p:txBody>
          <a:bodyPr wrap="square" lIns="0" tIns="0" rIns="0" bIns="0" rtlCol="0" anchor="t">
            <a:noAutofit/>
          </a:bodyPr>
          <a:lstStyle/>
          <a:p>
            <a:pPr algn="l">
              <a:lnSpc>
                <a:spcPts val="1750"/>
              </a:lnSpc>
              <a:buNone/>
            </a:pPr>
            <a:r>
              <a:rPr lang="en-US" sz="1200" dirty="0">
                <a:solidFill>
                  <a:srgbClr val="FFFFFF"/>
                </a:solidFill>
                <a:latin typeface="Lexend"/>
                <a:ea typeface="Lexend"/>
                <a:cs typeface="Lexend"/>
              </a:rPr>
              <a:t>Who Helps? The Autism &amp; ADHD Care Team</a:t>
            </a:r>
            <a:endParaRPr lang="en-US" sz="1200" dirty="0"/>
          </a:p>
        </p:txBody>
      </p:sp>
      <p:sp>
        <p:nvSpPr>
          <p:cNvPr id="11" name="page-number"/>
          <p:cNvSpPr txBox="1"/>
          <p:nvPr/>
        </p:nvSpPr>
        <p:spPr>
          <a:xfrm>
            <a:off x="10858500" y="6272530"/>
            <a:ext cx="571500" cy="204470"/>
          </a:xfrm>
          <a:prstGeom prst="rect">
            <a:avLst/>
          </a:prstGeom>
          <a:noFill/>
        </p:spPr>
        <p:txBody>
          <a:bodyPr wrap="square" lIns="0" tIns="0" rIns="0" bIns="0" rtlCol="0" anchor="t">
            <a:noAutofit/>
          </a:bodyPr>
          <a:lstStyle/>
          <a:p>
            <a:pPr algn="l">
              <a:lnSpc>
                <a:spcPts val="1750"/>
              </a:lnSpc>
              <a:buNone/>
            </a:pPr>
            <a:r>
              <a:rPr lang="en-US" sz="1200" dirty="0">
                <a:solidFill>
                  <a:srgbClr val="FFFFFF"/>
                </a:solidFill>
                <a:latin typeface="Lexend"/>
                <a:ea typeface="Lexend"/>
                <a:cs typeface="Lexend"/>
              </a:rPr>
              <a:t>3 / 8</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04-cards">
    <p:bg>
      <p:bgPr>
        <a:solidFill>
          <a:srgbClr val="F7F3EC"/>
        </a:solidFill>
        <a:effectLst/>
      </p:bgPr>
    </p:bg>
    <p:spTree>
      <p:nvGrpSpPr>
        <p:cNvPr id="1" name=""/>
        <p:cNvGrpSpPr/>
        <p:nvPr/>
      </p:nvGrpSpPr>
      <p:grpSpPr>
        <a:xfrm>
          <a:off x="0" y="0"/>
          <a:ext cx="0" cy="0"/>
          <a:chOff x="0" y="0"/>
          <a:chExt cx="0" cy="0"/>
        </a:xfrm>
      </p:grpSpPr>
      <p:sp>
        <p:nvSpPr>
          <p:cNvPr id="2" name="corner-dot"/>
          <p:cNvSpPr/>
          <p:nvPr/>
        </p:nvSpPr>
        <p:spPr>
          <a:xfrm>
            <a:off x="11239500" y="533400"/>
            <a:ext cx="292100" cy="292100"/>
          </a:xfrm>
          <a:prstGeom prst="ellipse">
            <a:avLst/>
          </a:prstGeom>
          <a:solidFill>
            <a:srgbClr val="D6EBE6"/>
          </a:solidFill>
          <a:ln>
            <a:noFill/>
          </a:ln>
        </p:spPr>
      </p:sp>
      <p:sp>
        <p:nvSpPr>
          <p:cNvPr id="3" name="footer"/>
          <p:cNvSpPr txBox="1"/>
          <p:nvPr/>
        </p:nvSpPr>
        <p:spPr>
          <a:xfrm>
            <a:off x="762000" y="6283350"/>
            <a:ext cx="4024312" cy="219050"/>
          </a:xfrm>
          <a:prstGeom prst="rect">
            <a:avLst/>
          </a:prstGeom>
          <a:noFill/>
        </p:spPr>
        <p:txBody>
          <a:bodyPr wrap="square" lIns="0" tIns="0" rIns="0" bIns="0" rtlCol="0" anchor="t">
            <a:noAutofit/>
          </a:bodyPr>
          <a:lstStyle/>
          <a:p>
            <a:pPr algn="l">
              <a:lnSpc>
                <a:spcPts val="1750"/>
              </a:lnSpc>
              <a:buNone/>
            </a:pPr>
            <a:r>
              <a:rPr lang="en-US" sz="1200" dirty="0">
                <a:solidFill>
                  <a:srgbClr val="4F605D"/>
                </a:solidFill>
                <a:latin typeface="Lexend"/>
                <a:ea typeface="Lexend"/>
                <a:cs typeface="Lexend"/>
              </a:rPr>
              <a:t>Who Helps? The Autism &amp; ADHD Care Team</a:t>
            </a:r>
            <a:endParaRPr lang="en-US" sz="1200" dirty="0"/>
          </a:p>
        </p:txBody>
      </p:sp>
      <p:sp>
        <p:nvSpPr>
          <p:cNvPr id="4" name="page-number"/>
          <p:cNvSpPr txBox="1"/>
          <p:nvPr/>
        </p:nvSpPr>
        <p:spPr>
          <a:xfrm>
            <a:off x="10858500" y="6272530"/>
            <a:ext cx="584200" cy="204470"/>
          </a:xfrm>
          <a:prstGeom prst="rect">
            <a:avLst/>
          </a:prstGeom>
          <a:noFill/>
        </p:spPr>
        <p:txBody>
          <a:bodyPr wrap="square" lIns="0" tIns="0" rIns="0" bIns="0" rtlCol="0" anchor="t">
            <a:noAutofit/>
          </a:bodyPr>
          <a:lstStyle/>
          <a:p>
            <a:pPr algn="l">
              <a:lnSpc>
                <a:spcPts val="1750"/>
              </a:lnSpc>
              <a:buNone/>
            </a:pPr>
            <a:r>
              <a:rPr lang="en-US" sz="1200" dirty="0">
                <a:solidFill>
                  <a:srgbClr val="4F605D"/>
                </a:solidFill>
                <a:latin typeface="Lexend"/>
                <a:ea typeface="Lexend"/>
                <a:cs typeface="Lexend"/>
              </a:rPr>
              <a:t>4 / 8</a:t>
            </a:r>
            <a:endParaRPr lang="en-US" sz="1200" dirty="0"/>
          </a:p>
        </p:txBody>
      </p:sp>
      <p:sp>
        <p:nvSpPr>
          <p:cNvPr id="5" name="title-bar-22"/>
          <p:cNvSpPr/>
          <p:nvPr/>
        </p:nvSpPr>
        <p:spPr>
          <a:xfrm>
            <a:off x="762000" y="584200"/>
            <a:ext cx="457200" cy="63500"/>
          </a:xfrm>
          <a:prstGeom prst="roundRect">
            <a:avLst>
              <a:gd name="adj" fmla="val 50000"/>
            </a:avLst>
          </a:prstGeom>
          <a:solidFill>
            <a:srgbClr val="2F7A72"/>
          </a:solidFill>
          <a:ln>
            <a:noFill/>
          </a:ln>
        </p:spPr>
      </p:sp>
      <p:sp>
        <p:nvSpPr>
          <p:cNvPr id="6" name="title"/>
          <p:cNvSpPr>
            <a:spLocks noGrp="1"/>
          </p:cNvSpPr>
          <p:nvPr>
            <p:ph type="title"/>
          </p:nvPr>
        </p:nvSpPr>
        <p:spPr>
          <a:xfrm>
            <a:off x="762000" y="730593"/>
            <a:ext cx="5881688" cy="469557"/>
          </a:xfrm>
          <a:prstGeom prst="rect">
            <a:avLst/>
          </a:prstGeom>
          <a:noFill/>
        </p:spPr>
        <p:txBody>
          <a:bodyPr wrap="square" lIns="0" tIns="0" rIns="0" bIns="0" rtlCol="0" anchor="t">
            <a:noAutofit/>
          </a:bodyPr>
          <a:lstStyle/>
          <a:p>
            <a:pPr algn="l">
              <a:lnSpc>
                <a:spcPts val="3742"/>
              </a:lnSpc>
              <a:buNone/>
            </a:pPr>
            <a:r>
              <a:rPr lang="en-US" sz="3400" b="1" dirty="0">
                <a:solidFill>
                  <a:srgbClr val="1F3634"/>
                </a:solidFill>
                <a:latin typeface="Fraunces"/>
                <a:ea typeface="Fraunces"/>
                <a:cs typeface="Fraunces"/>
              </a:rPr>
              <a:t>The core therapy team</a:t>
            </a:r>
            <a:endParaRPr lang="en-US" sz="3400" dirty="0"/>
          </a:p>
        </p:txBody>
      </p:sp>
      <p:sp>
        <p:nvSpPr>
          <p:cNvPr id="7" name="card-23"/>
          <p:cNvSpPr/>
          <p:nvPr/>
        </p:nvSpPr>
        <p:spPr>
          <a:xfrm>
            <a:off x="774700" y="1714500"/>
            <a:ext cx="5156200" cy="2006600"/>
          </a:xfrm>
          <a:prstGeom prst="roundRect">
            <a:avLst>
              <a:gd name="adj" fmla="val 9810"/>
            </a:avLst>
          </a:prstGeom>
          <a:solidFill>
            <a:srgbClr val="FFFFFF"/>
          </a:solidFill>
          <a:ln w="12700">
            <a:solidFill>
              <a:srgbClr val="E7E0D4"/>
            </a:solidFill>
          </a:ln>
        </p:spPr>
      </p:sp>
      <p:sp>
        <p:nvSpPr>
          <p:cNvPr id="8" name="icon-bg-24"/>
          <p:cNvSpPr/>
          <p:nvPr/>
        </p:nvSpPr>
        <p:spPr>
          <a:xfrm>
            <a:off x="1016000" y="1981200"/>
            <a:ext cx="762000" cy="762000"/>
          </a:xfrm>
          <a:prstGeom prst="ellipse">
            <a:avLst/>
          </a:prstGeom>
          <a:solidFill>
            <a:srgbClr val="D6EBE6"/>
          </a:solidFill>
          <a:ln>
            <a:noFill/>
          </a:ln>
        </p:spPr>
      </p:sp>
      <p:pic>
        <p:nvPicPr>
          <p:cNvPr id="9" name="icon-25" descr="icon-25"/>
          <p:cNvPicPr>
            <a:picLocks noChangeAspect="1"/>
          </p:cNvPicPr>
          <p:nvPr/>
        </p:nvPicPr>
        <p:blipFill>
          <a:blip r:embed="rId3"/>
          <a:stretch>
            <a:fillRect/>
          </a:stretch>
        </p:blipFill>
        <p:spPr>
          <a:xfrm>
            <a:off x="1098550" y="2063750"/>
            <a:ext cx="596900" cy="596900"/>
          </a:xfrm>
          <a:prstGeom prst="rect">
            <a:avLst/>
          </a:prstGeom>
        </p:spPr>
      </p:pic>
      <p:grpSp>
        <p:nvGrpSpPr>
          <p:cNvPr id="12" name="block-28"/>
          <p:cNvGrpSpPr/>
          <p:nvPr/>
        </p:nvGrpSpPr>
        <p:grpSpPr>
          <a:xfrm>
            <a:off x="1968500" y="1993900"/>
            <a:ext cx="3721100" cy="660400"/>
            <a:chOff x="0" y="0"/>
            <a:chExt cx="3721100" cy="660400"/>
          </a:xfrm>
        </p:grpSpPr>
        <p:sp>
          <p:nvSpPr>
            <p:cNvPr id="10" name="head-26"/>
            <p:cNvSpPr txBox="1"/>
            <p:nvPr/>
          </p:nvSpPr>
          <p:spPr>
            <a:xfrm>
              <a:off x="0" y="31572"/>
              <a:ext cx="3721100" cy="628828"/>
            </a:xfrm>
            <a:prstGeom prst="rect">
              <a:avLst/>
            </a:prstGeom>
            <a:noFill/>
          </p:spPr>
          <p:txBody>
            <a:bodyPr wrap="square" lIns="0" tIns="0" rIns="0" bIns="0" rtlCol="0" anchor="t">
              <a:noAutofit/>
            </a:bodyPr>
            <a:lstStyle/>
            <a:p>
              <a:pPr algn="l">
                <a:lnSpc>
                  <a:spcPts val="2464"/>
                </a:lnSpc>
                <a:spcBef>
                  <a:spcPts val="0"/>
                </a:spcBef>
                <a:spcAft>
                  <a:spcPts val="0"/>
                </a:spcAft>
                <a:buNone/>
              </a:pPr>
              <a:r>
                <a:rPr lang="en-US" sz="2200" b="1" dirty="0">
                  <a:solidFill>
                    <a:srgbClr val="1F3634"/>
                  </a:solidFill>
                  <a:latin typeface="Fraunces"/>
                  <a:ea typeface="Fraunces"/>
                  <a:cs typeface="Fraunces"/>
                </a:rPr>
                <a:t>Occupational therapist (OT)</a:t>
              </a:r>
              <a:endParaRPr lang="en-US" sz="2200" dirty="0"/>
            </a:p>
          </p:txBody>
        </p:sp>
        <p:sp>
          <p:nvSpPr>
            <p:cNvPr id="11" name="body-27"/>
            <p:cNvSpPr txBox="1"/>
            <p:nvPr/>
          </p:nvSpPr>
          <p:spPr>
            <a:xfrm>
              <a:off x="0" y="750570"/>
              <a:ext cx="3721100" cy="633730"/>
            </a:xfrm>
            <a:prstGeom prst="rect">
              <a:avLst/>
            </a:prstGeom>
            <a:noFill/>
          </p:spPr>
          <p:txBody>
            <a:bodyPr wrap="square" lIns="0" tIns="0" rIns="0" bIns="0" rtlCol="0" anchor="t">
              <a:noAutofit/>
            </a:bodyPr>
            <a:lstStyle/>
            <a:p>
              <a:pPr algn="l">
                <a:lnSpc>
                  <a:spcPts val="2430"/>
                </a:lnSpc>
                <a:spcBef>
                  <a:spcPts val="0"/>
                </a:spcBef>
                <a:spcAft>
                  <a:spcPts val="0"/>
                </a:spcAft>
                <a:buNone/>
              </a:pPr>
              <a:r>
                <a:rPr lang="en-US" sz="1800" dirty="0">
                  <a:solidFill>
                    <a:srgbClr val="4F605D"/>
                  </a:solidFill>
                  <a:latin typeface="Lexend"/>
                  <a:ea typeface="Lexend"/>
                  <a:cs typeface="Lexend"/>
                </a:rPr>
                <a:t>Sensory regulation, motor skills, routines and self-care.</a:t>
              </a:r>
              <a:endParaRPr lang="en-US" sz="1800" dirty="0"/>
            </a:p>
          </p:txBody>
        </p:sp>
      </p:grpSp>
      <p:sp>
        <p:nvSpPr>
          <p:cNvPr id="13" name="card-29"/>
          <p:cNvSpPr/>
          <p:nvPr/>
        </p:nvSpPr>
        <p:spPr>
          <a:xfrm>
            <a:off x="6261100" y="1714500"/>
            <a:ext cx="5156200" cy="2006600"/>
          </a:xfrm>
          <a:prstGeom prst="roundRect">
            <a:avLst>
              <a:gd name="adj" fmla="val 9810"/>
            </a:avLst>
          </a:prstGeom>
          <a:solidFill>
            <a:srgbClr val="FFFFFF"/>
          </a:solidFill>
          <a:ln w="12700">
            <a:solidFill>
              <a:srgbClr val="E7E0D4"/>
            </a:solidFill>
          </a:ln>
        </p:spPr>
      </p:sp>
      <p:sp>
        <p:nvSpPr>
          <p:cNvPr id="14" name="icon-bg-30"/>
          <p:cNvSpPr/>
          <p:nvPr/>
        </p:nvSpPr>
        <p:spPr>
          <a:xfrm>
            <a:off x="6502400" y="1981200"/>
            <a:ext cx="762000" cy="762000"/>
          </a:xfrm>
          <a:prstGeom prst="ellipse">
            <a:avLst/>
          </a:prstGeom>
          <a:solidFill>
            <a:srgbClr val="D6EBE6"/>
          </a:solidFill>
          <a:ln>
            <a:noFill/>
          </a:ln>
        </p:spPr>
      </p:sp>
      <p:pic>
        <p:nvPicPr>
          <p:cNvPr id="15" name="icon-31" descr="icon-31"/>
          <p:cNvPicPr>
            <a:picLocks noChangeAspect="1"/>
          </p:cNvPicPr>
          <p:nvPr/>
        </p:nvPicPr>
        <p:blipFill>
          <a:blip r:embed="rId4"/>
          <a:stretch>
            <a:fillRect/>
          </a:stretch>
        </p:blipFill>
        <p:spPr>
          <a:xfrm>
            <a:off x="6584950" y="2063750"/>
            <a:ext cx="596900" cy="596900"/>
          </a:xfrm>
          <a:prstGeom prst="rect">
            <a:avLst/>
          </a:prstGeom>
        </p:spPr>
      </p:pic>
      <p:grpSp>
        <p:nvGrpSpPr>
          <p:cNvPr id="18" name="block-34"/>
          <p:cNvGrpSpPr/>
          <p:nvPr/>
        </p:nvGrpSpPr>
        <p:grpSpPr>
          <a:xfrm>
            <a:off x="7454900" y="1993900"/>
            <a:ext cx="3721100" cy="660400"/>
            <a:chOff x="0" y="0"/>
            <a:chExt cx="3721100" cy="660400"/>
          </a:xfrm>
        </p:grpSpPr>
        <p:sp>
          <p:nvSpPr>
            <p:cNvPr id="16" name="head-32"/>
            <p:cNvSpPr txBox="1"/>
            <p:nvPr/>
          </p:nvSpPr>
          <p:spPr>
            <a:xfrm>
              <a:off x="0" y="31572"/>
              <a:ext cx="3721100" cy="628828"/>
            </a:xfrm>
            <a:prstGeom prst="rect">
              <a:avLst/>
            </a:prstGeom>
            <a:noFill/>
          </p:spPr>
          <p:txBody>
            <a:bodyPr wrap="square" lIns="0" tIns="0" rIns="0" bIns="0" rtlCol="0" anchor="t">
              <a:noAutofit/>
            </a:bodyPr>
            <a:lstStyle/>
            <a:p>
              <a:pPr algn="l">
                <a:lnSpc>
                  <a:spcPts val="2464"/>
                </a:lnSpc>
                <a:spcBef>
                  <a:spcPts val="0"/>
                </a:spcBef>
                <a:spcAft>
                  <a:spcPts val="0"/>
                </a:spcAft>
                <a:buNone/>
              </a:pPr>
              <a:r>
                <a:rPr lang="en-US" sz="2200" b="1" dirty="0">
                  <a:solidFill>
                    <a:srgbClr val="1F3634"/>
                  </a:solidFill>
                  <a:latin typeface="Fraunces"/>
                  <a:ea typeface="Fraunces"/>
                  <a:cs typeface="Fraunces"/>
                </a:rPr>
                <a:t>Speech-language pathologist</a:t>
              </a:r>
              <a:endParaRPr lang="en-US" sz="2200" dirty="0"/>
            </a:p>
          </p:txBody>
        </p:sp>
        <p:sp>
          <p:nvSpPr>
            <p:cNvPr id="17" name="body-33"/>
            <p:cNvSpPr txBox="1"/>
            <p:nvPr/>
          </p:nvSpPr>
          <p:spPr>
            <a:xfrm>
              <a:off x="0" y="750570"/>
              <a:ext cx="3721100" cy="633730"/>
            </a:xfrm>
            <a:prstGeom prst="rect">
              <a:avLst/>
            </a:prstGeom>
            <a:noFill/>
          </p:spPr>
          <p:txBody>
            <a:bodyPr wrap="square" lIns="0" tIns="0" rIns="0" bIns="0" rtlCol="0" anchor="t">
              <a:noAutofit/>
            </a:bodyPr>
            <a:lstStyle/>
            <a:p>
              <a:pPr algn="l">
                <a:lnSpc>
                  <a:spcPts val="2430"/>
                </a:lnSpc>
                <a:spcBef>
                  <a:spcPts val="0"/>
                </a:spcBef>
                <a:spcAft>
                  <a:spcPts val="0"/>
                </a:spcAft>
                <a:buNone/>
              </a:pPr>
              <a:r>
                <a:rPr lang="en-US" sz="1800" dirty="0">
                  <a:solidFill>
                    <a:srgbClr val="4F605D"/>
                  </a:solidFill>
                  <a:latin typeface="Lexend"/>
                  <a:ea typeface="Lexend"/>
                  <a:cs typeface="Lexend"/>
                </a:rPr>
                <a:t>Understanding, expression, social communication and AAC.</a:t>
              </a:r>
              <a:endParaRPr lang="en-US" sz="1800" dirty="0"/>
            </a:p>
          </p:txBody>
        </p:sp>
      </p:grpSp>
      <p:sp>
        <p:nvSpPr>
          <p:cNvPr id="19" name="card-35"/>
          <p:cNvSpPr/>
          <p:nvPr/>
        </p:nvSpPr>
        <p:spPr>
          <a:xfrm>
            <a:off x="774700" y="4051300"/>
            <a:ext cx="5156200" cy="2006600"/>
          </a:xfrm>
          <a:prstGeom prst="roundRect">
            <a:avLst>
              <a:gd name="adj" fmla="val 9810"/>
            </a:avLst>
          </a:prstGeom>
          <a:solidFill>
            <a:srgbClr val="FFFFFF"/>
          </a:solidFill>
          <a:ln w="12700">
            <a:solidFill>
              <a:srgbClr val="E7E0D4"/>
            </a:solidFill>
          </a:ln>
        </p:spPr>
      </p:sp>
      <p:sp>
        <p:nvSpPr>
          <p:cNvPr id="20" name="icon-bg-36"/>
          <p:cNvSpPr/>
          <p:nvPr/>
        </p:nvSpPr>
        <p:spPr>
          <a:xfrm>
            <a:off x="1016000" y="4318000"/>
            <a:ext cx="762000" cy="762000"/>
          </a:xfrm>
          <a:prstGeom prst="ellipse">
            <a:avLst/>
          </a:prstGeom>
          <a:solidFill>
            <a:srgbClr val="D6EBE6"/>
          </a:solidFill>
          <a:ln>
            <a:noFill/>
          </a:ln>
        </p:spPr>
      </p:sp>
      <p:pic>
        <p:nvPicPr>
          <p:cNvPr id="21" name="icon-37" descr="icon-37"/>
          <p:cNvPicPr>
            <a:picLocks noChangeAspect="1"/>
          </p:cNvPicPr>
          <p:nvPr/>
        </p:nvPicPr>
        <p:blipFill>
          <a:blip r:embed="rId5"/>
          <a:stretch>
            <a:fillRect/>
          </a:stretch>
        </p:blipFill>
        <p:spPr>
          <a:xfrm>
            <a:off x="1098550" y="4400550"/>
            <a:ext cx="596900" cy="596900"/>
          </a:xfrm>
          <a:prstGeom prst="rect">
            <a:avLst/>
          </a:prstGeom>
        </p:spPr>
      </p:pic>
      <p:grpSp>
        <p:nvGrpSpPr>
          <p:cNvPr id="24" name="block-40"/>
          <p:cNvGrpSpPr/>
          <p:nvPr/>
        </p:nvGrpSpPr>
        <p:grpSpPr>
          <a:xfrm>
            <a:off x="1968500" y="4330700"/>
            <a:ext cx="3721100" cy="927100"/>
            <a:chOff x="0" y="0"/>
            <a:chExt cx="3721100" cy="927100"/>
          </a:xfrm>
        </p:grpSpPr>
        <p:sp>
          <p:nvSpPr>
            <p:cNvPr id="22" name="head-38"/>
            <p:cNvSpPr txBox="1"/>
            <p:nvPr/>
          </p:nvSpPr>
          <p:spPr>
            <a:xfrm>
              <a:off x="0" y="31572"/>
              <a:ext cx="3721100" cy="317678"/>
            </a:xfrm>
            <a:prstGeom prst="rect">
              <a:avLst/>
            </a:prstGeom>
            <a:noFill/>
          </p:spPr>
          <p:txBody>
            <a:bodyPr wrap="square" lIns="0" tIns="0" rIns="0" bIns="0" rtlCol="0" anchor="t">
              <a:noAutofit/>
            </a:bodyPr>
            <a:lstStyle/>
            <a:p>
              <a:pPr algn="l">
                <a:lnSpc>
                  <a:spcPts val="2464"/>
                </a:lnSpc>
                <a:spcBef>
                  <a:spcPts val="0"/>
                </a:spcBef>
                <a:spcAft>
                  <a:spcPts val="0"/>
                </a:spcAft>
                <a:buNone/>
              </a:pPr>
              <a:r>
                <a:rPr lang="en-US" sz="2200" b="1" dirty="0">
                  <a:solidFill>
                    <a:srgbClr val="1F3634"/>
                  </a:solidFill>
                  <a:latin typeface="Fraunces"/>
                  <a:ea typeface="Fraunces"/>
                  <a:cs typeface="Fraunces"/>
                </a:rPr>
                <a:t>Psychologist</a:t>
              </a:r>
              <a:endParaRPr lang="en-US" sz="2200" dirty="0"/>
            </a:p>
          </p:txBody>
        </p:sp>
        <p:sp>
          <p:nvSpPr>
            <p:cNvPr id="23" name="body-39"/>
            <p:cNvSpPr txBox="1"/>
            <p:nvPr/>
          </p:nvSpPr>
          <p:spPr>
            <a:xfrm>
              <a:off x="0" y="439420"/>
              <a:ext cx="3721100" cy="938530"/>
            </a:xfrm>
            <a:prstGeom prst="rect">
              <a:avLst/>
            </a:prstGeom>
            <a:noFill/>
          </p:spPr>
          <p:txBody>
            <a:bodyPr wrap="square" lIns="0" tIns="0" rIns="0" bIns="0" rtlCol="0" anchor="t">
              <a:noAutofit/>
            </a:bodyPr>
            <a:lstStyle/>
            <a:p>
              <a:pPr algn="l">
                <a:lnSpc>
                  <a:spcPts val="2430"/>
                </a:lnSpc>
                <a:spcBef>
                  <a:spcPts val="0"/>
                </a:spcBef>
                <a:spcAft>
                  <a:spcPts val="0"/>
                </a:spcAft>
                <a:buNone/>
              </a:pPr>
              <a:r>
                <a:rPr lang="en-US" sz="1800" dirty="0">
                  <a:solidFill>
                    <a:srgbClr val="4F605D"/>
                  </a:solidFill>
                  <a:latin typeface="Lexend"/>
                  <a:ea typeface="Lexend"/>
                  <a:cs typeface="Lexend"/>
                </a:rPr>
                <a:t>Diagnostic assessment, therapy for anxiety and mood, parent coaching.</a:t>
              </a:r>
              <a:endParaRPr lang="en-US" sz="1800" dirty="0"/>
            </a:p>
          </p:txBody>
        </p:sp>
      </p:grpSp>
      <p:sp>
        <p:nvSpPr>
          <p:cNvPr id="25" name="card-41"/>
          <p:cNvSpPr/>
          <p:nvPr/>
        </p:nvSpPr>
        <p:spPr>
          <a:xfrm>
            <a:off x="6261100" y="4051300"/>
            <a:ext cx="5156200" cy="2006600"/>
          </a:xfrm>
          <a:prstGeom prst="roundRect">
            <a:avLst>
              <a:gd name="adj" fmla="val 9810"/>
            </a:avLst>
          </a:prstGeom>
          <a:solidFill>
            <a:srgbClr val="FFFFFF"/>
          </a:solidFill>
          <a:ln w="12700">
            <a:solidFill>
              <a:srgbClr val="E7E0D4"/>
            </a:solidFill>
          </a:ln>
        </p:spPr>
      </p:sp>
      <p:sp>
        <p:nvSpPr>
          <p:cNvPr id="26" name="icon-bg-42"/>
          <p:cNvSpPr/>
          <p:nvPr/>
        </p:nvSpPr>
        <p:spPr>
          <a:xfrm>
            <a:off x="6502400" y="4318000"/>
            <a:ext cx="762000" cy="762000"/>
          </a:xfrm>
          <a:prstGeom prst="ellipse">
            <a:avLst/>
          </a:prstGeom>
          <a:solidFill>
            <a:srgbClr val="D6EBE6"/>
          </a:solidFill>
          <a:ln>
            <a:noFill/>
          </a:ln>
        </p:spPr>
      </p:sp>
      <p:pic>
        <p:nvPicPr>
          <p:cNvPr id="27" name="icon-43" descr="icon-43"/>
          <p:cNvPicPr>
            <a:picLocks noChangeAspect="1"/>
          </p:cNvPicPr>
          <p:nvPr/>
        </p:nvPicPr>
        <p:blipFill>
          <a:blip r:embed="rId6"/>
          <a:stretch>
            <a:fillRect/>
          </a:stretch>
        </p:blipFill>
        <p:spPr>
          <a:xfrm>
            <a:off x="6584950" y="4400550"/>
            <a:ext cx="596900" cy="596900"/>
          </a:xfrm>
          <a:prstGeom prst="rect">
            <a:avLst/>
          </a:prstGeom>
        </p:spPr>
      </p:pic>
      <p:grpSp>
        <p:nvGrpSpPr>
          <p:cNvPr id="30" name="block-46"/>
          <p:cNvGrpSpPr/>
          <p:nvPr/>
        </p:nvGrpSpPr>
        <p:grpSpPr>
          <a:xfrm>
            <a:off x="7454900" y="4330700"/>
            <a:ext cx="3721100" cy="927100"/>
            <a:chOff x="0" y="0"/>
            <a:chExt cx="3721100" cy="927100"/>
          </a:xfrm>
        </p:grpSpPr>
        <p:sp>
          <p:nvSpPr>
            <p:cNvPr id="28" name="head-44"/>
            <p:cNvSpPr txBox="1"/>
            <p:nvPr/>
          </p:nvSpPr>
          <p:spPr>
            <a:xfrm>
              <a:off x="0" y="31572"/>
              <a:ext cx="3721100" cy="317678"/>
            </a:xfrm>
            <a:prstGeom prst="rect">
              <a:avLst/>
            </a:prstGeom>
            <a:noFill/>
          </p:spPr>
          <p:txBody>
            <a:bodyPr wrap="square" lIns="0" tIns="0" rIns="0" bIns="0" rtlCol="0" anchor="t">
              <a:noAutofit/>
            </a:bodyPr>
            <a:lstStyle/>
            <a:p>
              <a:pPr algn="l">
                <a:lnSpc>
                  <a:spcPts val="2464"/>
                </a:lnSpc>
                <a:spcBef>
                  <a:spcPts val="0"/>
                </a:spcBef>
                <a:spcAft>
                  <a:spcPts val="0"/>
                </a:spcAft>
                <a:buNone/>
              </a:pPr>
              <a:r>
                <a:rPr lang="en-US" sz="2200" b="1" dirty="0">
                  <a:solidFill>
                    <a:srgbClr val="1F3634"/>
                  </a:solidFill>
                  <a:latin typeface="Fraunces"/>
                  <a:ea typeface="Fraunces"/>
                  <a:cs typeface="Fraunces"/>
                </a:rPr>
                <a:t>Behavior analyst (BCBA)</a:t>
              </a:r>
              <a:endParaRPr lang="en-US" sz="2200" dirty="0"/>
            </a:p>
          </p:txBody>
        </p:sp>
        <p:sp>
          <p:nvSpPr>
            <p:cNvPr id="29" name="body-45"/>
            <p:cNvSpPr txBox="1"/>
            <p:nvPr/>
          </p:nvSpPr>
          <p:spPr>
            <a:xfrm>
              <a:off x="0" y="439420"/>
              <a:ext cx="3721100" cy="938530"/>
            </a:xfrm>
            <a:prstGeom prst="rect">
              <a:avLst/>
            </a:prstGeom>
            <a:noFill/>
          </p:spPr>
          <p:txBody>
            <a:bodyPr wrap="square" lIns="0" tIns="0" rIns="0" bIns="0" rtlCol="0" anchor="t">
              <a:noAutofit/>
            </a:bodyPr>
            <a:lstStyle/>
            <a:p>
              <a:pPr algn="l">
                <a:lnSpc>
                  <a:spcPts val="2430"/>
                </a:lnSpc>
                <a:spcBef>
                  <a:spcPts val="0"/>
                </a:spcBef>
                <a:spcAft>
                  <a:spcPts val="0"/>
                </a:spcAft>
                <a:buNone/>
              </a:pPr>
              <a:r>
                <a:rPr lang="en-US" sz="1800" dirty="0">
                  <a:solidFill>
                    <a:srgbClr val="4F605D"/>
                  </a:solidFill>
                  <a:latin typeface="Lexend"/>
                  <a:ea typeface="Lexend"/>
                  <a:cs typeface="Lexend"/>
                </a:rPr>
                <a:t>Skill-building plans; choose providers who are play-based and consent-led.</a:t>
              </a:r>
              <a:endParaRPr lang="en-US" sz="1800" dirty="0"/>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05-cards">
    <p:bg>
      <p:bgPr>
        <a:solidFill>
          <a:srgbClr val="F7F3EC"/>
        </a:solidFill>
        <a:effectLst/>
      </p:bgPr>
    </p:bg>
    <p:spTree>
      <p:nvGrpSpPr>
        <p:cNvPr id="1" name=""/>
        <p:cNvGrpSpPr/>
        <p:nvPr/>
      </p:nvGrpSpPr>
      <p:grpSpPr>
        <a:xfrm>
          <a:off x="0" y="0"/>
          <a:ext cx="0" cy="0"/>
          <a:chOff x="0" y="0"/>
          <a:chExt cx="0" cy="0"/>
        </a:xfrm>
      </p:grpSpPr>
      <p:sp>
        <p:nvSpPr>
          <p:cNvPr id="2" name="corner-dot"/>
          <p:cNvSpPr/>
          <p:nvPr/>
        </p:nvSpPr>
        <p:spPr>
          <a:xfrm>
            <a:off x="11239500" y="533400"/>
            <a:ext cx="292100" cy="292100"/>
          </a:xfrm>
          <a:prstGeom prst="ellipse">
            <a:avLst/>
          </a:prstGeom>
          <a:solidFill>
            <a:srgbClr val="D6EBE6"/>
          </a:solidFill>
          <a:ln>
            <a:noFill/>
          </a:ln>
        </p:spPr>
      </p:sp>
      <p:sp>
        <p:nvSpPr>
          <p:cNvPr id="3" name="footer"/>
          <p:cNvSpPr txBox="1"/>
          <p:nvPr/>
        </p:nvSpPr>
        <p:spPr>
          <a:xfrm>
            <a:off x="762000" y="6283350"/>
            <a:ext cx="4024312" cy="219050"/>
          </a:xfrm>
          <a:prstGeom prst="rect">
            <a:avLst/>
          </a:prstGeom>
          <a:noFill/>
        </p:spPr>
        <p:txBody>
          <a:bodyPr wrap="square" lIns="0" tIns="0" rIns="0" bIns="0" rtlCol="0" anchor="t">
            <a:noAutofit/>
          </a:bodyPr>
          <a:lstStyle/>
          <a:p>
            <a:pPr algn="l">
              <a:lnSpc>
                <a:spcPts val="1750"/>
              </a:lnSpc>
              <a:buNone/>
            </a:pPr>
            <a:r>
              <a:rPr lang="en-US" sz="1200" dirty="0">
                <a:solidFill>
                  <a:srgbClr val="4F605D"/>
                </a:solidFill>
                <a:latin typeface="Lexend"/>
                <a:ea typeface="Lexend"/>
                <a:cs typeface="Lexend"/>
              </a:rPr>
              <a:t>Who Helps? The Autism &amp; ADHD Care Team</a:t>
            </a:r>
            <a:endParaRPr lang="en-US" sz="1200" dirty="0"/>
          </a:p>
        </p:txBody>
      </p:sp>
      <p:sp>
        <p:nvSpPr>
          <p:cNvPr id="4" name="page-number"/>
          <p:cNvSpPr txBox="1"/>
          <p:nvPr/>
        </p:nvSpPr>
        <p:spPr>
          <a:xfrm>
            <a:off x="10858500" y="6272530"/>
            <a:ext cx="577850" cy="204470"/>
          </a:xfrm>
          <a:prstGeom prst="rect">
            <a:avLst/>
          </a:prstGeom>
          <a:noFill/>
        </p:spPr>
        <p:txBody>
          <a:bodyPr wrap="square" lIns="0" tIns="0" rIns="0" bIns="0" rtlCol="0" anchor="t">
            <a:noAutofit/>
          </a:bodyPr>
          <a:lstStyle/>
          <a:p>
            <a:pPr algn="l">
              <a:lnSpc>
                <a:spcPts val="1750"/>
              </a:lnSpc>
              <a:buNone/>
            </a:pPr>
            <a:r>
              <a:rPr lang="en-US" sz="1200" dirty="0">
                <a:solidFill>
                  <a:srgbClr val="4F605D"/>
                </a:solidFill>
                <a:latin typeface="Lexend"/>
                <a:ea typeface="Lexend"/>
                <a:cs typeface="Lexend"/>
              </a:rPr>
              <a:t>5 / 8</a:t>
            </a:r>
            <a:endParaRPr lang="en-US" sz="1200" dirty="0"/>
          </a:p>
        </p:txBody>
      </p:sp>
      <p:sp>
        <p:nvSpPr>
          <p:cNvPr id="5" name="title-bar-47"/>
          <p:cNvSpPr/>
          <p:nvPr/>
        </p:nvSpPr>
        <p:spPr>
          <a:xfrm>
            <a:off x="762000" y="584200"/>
            <a:ext cx="457200" cy="63500"/>
          </a:xfrm>
          <a:prstGeom prst="roundRect">
            <a:avLst>
              <a:gd name="adj" fmla="val 50000"/>
            </a:avLst>
          </a:prstGeom>
          <a:solidFill>
            <a:srgbClr val="2F7A72"/>
          </a:solidFill>
          <a:ln>
            <a:noFill/>
          </a:ln>
        </p:spPr>
      </p:sp>
      <p:sp>
        <p:nvSpPr>
          <p:cNvPr id="6" name="title"/>
          <p:cNvSpPr>
            <a:spLocks noGrp="1"/>
          </p:cNvSpPr>
          <p:nvPr>
            <p:ph type="title"/>
          </p:nvPr>
        </p:nvSpPr>
        <p:spPr>
          <a:xfrm>
            <a:off x="762000" y="730593"/>
            <a:ext cx="5794375" cy="469557"/>
          </a:xfrm>
          <a:prstGeom prst="rect">
            <a:avLst/>
          </a:prstGeom>
          <a:noFill/>
        </p:spPr>
        <p:txBody>
          <a:bodyPr wrap="square" lIns="0" tIns="0" rIns="0" bIns="0" rtlCol="0" anchor="t">
            <a:noAutofit/>
          </a:bodyPr>
          <a:lstStyle/>
          <a:p>
            <a:pPr algn="l">
              <a:lnSpc>
                <a:spcPts val="3742"/>
              </a:lnSpc>
              <a:buNone/>
            </a:pPr>
            <a:r>
              <a:rPr lang="en-US" sz="3400" b="1" dirty="0">
                <a:solidFill>
                  <a:srgbClr val="1F3634"/>
                </a:solidFill>
                <a:latin typeface="Fraunces"/>
                <a:ea typeface="Fraunces"/>
                <a:cs typeface="Fraunces"/>
              </a:rPr>
              <a:t>Others who often help</a:t>
            </a:r>
            <a:endParaRPr lang="en-US" sz="3400" dirty="0"/>
          </a:p>
        </p:txBody>
      </p:sp>
      <p:sp>
        <p:nvSpPr>
          <p:cNvPr id="7" name="card-48"/>
          <p:cNvSpPr/>
          <p:nvPr/>
        </p:nvSpPr>
        <p:spPr>
          <a:xfrm>
            <a:off x="774700" y="1714500"/>
            <a:ext cx="5156200" cy="2006600"/>
          </a:xfrm>
          <a:prstGeom prst="roundRect">
            <a:avLst>
              <a:gd name="adj" fmla="val 9810"/>
            </a:avLst>
          </a:prstGeom>
          <a:solidFill>
            <a:srgbClr val="FFFFFF"/>
          </a:solidFill>
          <a:ln w="12700">
            <a:solidFill>
              <a:srgbClr val="E7E0D4"/>
            </a:solidFill>
          </a:ln>
        </p:spPr>
      </p:sp>
      <p:sp>
        <p:nvSpPr>
          <p:cNvPr id="8" name="icon-bg-49"/>
          <p:cNvSpPr/>
          <p:nvPr/>
        </p:nvSpPr>
        <p:spPr>
          <a:xfrm>
            <a:off x="1016000" y="1981200"/>
            <a:ext cx="762000" cy="762000"/>
          </a:xfrm>
          <a:prstGeom prst="ellipse">
            <a:avLst/>
          </a:prstGeom>
          <a:solidFill>
            <a:srgbClr val="D6EBE6"/>
          </a:solidFill>
          <a:ln>
            <a:noFill/>
          </a:ln>
        </p:spPr>
      </p:sp>
      <p:pic>
        <p:nvPicPr>
          <p:cNvPr id="9" name="icon-50" descr="icon-50"/>
          <p:cNvPicPr>
            <a:picLocks noChangeAspect="1"/>
          </p:cNvPicPr>
          <p:nvPr/>
        </p:nvPicPr>
        <p:blipFill>
          <a:blip r:embed="rId3"/>
          <a:stretch>
            <a:fillRect/>
          </a:stretch>
        </p:blipFill>
        <p:spPr>
          <a:xfrm>
            <a:off x="1098550" y="2063750"/>
            <a:ext cx="596900" cy="596900"/>
          </a:xfrm>
          <a:prstGeom prst="rect">
            <a:avLst/>
          </a:prstGeom>
        </p:spPr>
      </p:pic>
      <p:grpSp>
        <p:nvGrpSpPr>
          <p:cNvPr id="12" name="block-53"/>
          <p:cNvGrpSpPr/>
          <p:nvPr/>
        </p:nvGrpSpPr>
        <p:grpSpPr>
          <a:xfrm>
            <a:off x="1968500" y="1993900"/>
            <a:ext cx="3721100" cy="660400"/>
            <a:chOff x="0" y="0"/>
            <a:chExt cx="3721100" cy="660400"/>
          </a:xfrm>
        </p:grpSpPr>
        <p:sp>
          <p:nvSpPr>
            <p:cNvPr id="10" name="head-51"/>
            <p:cNvSpPr txBox="1"/>
            <p:nvPr/>
          </p:nvSpPr>
          <p:spPr>
            <a:xfrm>
              <a:off x="0" y="31572"/>
              <a:ext cx="3721100" cy="628828"/>
            </a:xfrm>
            <a:prstGeom prst="rect">
              <a:avLst/>
            </a:prstGeom>
            <a:noFill/>
          </p:spPr>
          <p:txBody>
            <a:bodyPr wrap="square" lIns="0" tIns="0" rIns="0" bIns="0" rtlCol="0" anchor="t">
              <a:noAutofit/>
            </a:bodyPr>
            <a:lstStyle/>
            <a:p>
              <a:pPr algn="l">
                <a:lnSpc>
                  <a:spcPts val="2464"/>
                </a:lnSpc>
                <a:spcBef>
                  <a:spcPts val="0"/>
                </a:spcBef>
                <a:spcAft>
                  <a:spcPts val="0"/>
                </a:spcAft>
                <a:buNone/>
              </a:pPr>
              <a:r>
                <a:rPr lang="en-US" sz="2200" b="1" dirty="0">
                  <a:solidFill>
                    <a:srgbClr val="1F3634"/>
                  </a:solidFill>
                  <a:latin typeface="Fraunces"/>
                  <a:ea typeface="Fraunces"/>
                  <a:cs typeface="Fraunces"/>
                </a:rPr>
                <a:t>Developmental pediatrician or psychiatrist</a:t>
              </a:r>
              <a:endParaRPr lang="en-US" sz="2200" dirty="0"/>
            </a:p>
          </p:txBody>
        </p:sp>
        <p:sp>
          <p:nvSpPr>
            <p:cNvPr id="11" name="body-52"/>
            <p:cNvSpPr txBox="1"/>
            <p:nvPr/>
          </p:nvSpPr>
          <p:spPr>
            <a:xfrm>
              <a:off x="0" y="750570"/>
              <a:ext cx="3721100" cy="633730"/>
            </a:xfrm>
            <a:prstGeom prst="rect">
              <a:avLst/>
            </a:prstGeom>
            <a:noFill/>
          </p:spPr>
          <p:txBody>
            <a:bodyPr wrap="square" lIns="0" tIns="0" rIns="0" bIns="0" rtlCol="0" anchor="t">
              <a:noAutofit/>
            </a:bodyPr>
            <a:lstStyle/>
            <a:p>
              <a:pPr algn="l">
                <a:lnSpc>
                  <a:spcPts val="2430"/>
                </a:lnSpc>
                <a:spcBef>
                  <a:spcPts val="0"/>
                </a:spcBef>
                <a:spcAft>
                  <a:spcPts val="0"/>
                </a:spcAft>
                <a:buNone/>
              </a:pPr>
              <a:r>
                <a:rPr lang="en-US" sz="1800" dirty="0">
                  <a:solidFill>
                    <a:srgbClr val="4F605D"/>
                  </a:solidFill>
                  <a:latin typeface="Lexend"/>
                  <a:ea typeface="Lexend"/>
                  <a:cs typeface="Lexend"/>
                </a:rPr>
                <a:t>Diagnosis, medical care and medication for ADHD or anxiety.</a:t>
              </a:r>
              <a:endParaRPr lang="en-US" sz="1800" dirty="0"/>
            </a:p>
          </p:txBody>
        </p:sp>
      </p:grpSp>
      <p:sp>
        <p:nvSpPr>
          <p:cNvPr id="13" name="card-54"/>
          <p:cNvSpPr/>
          <p:nvPr/>
        </p:nvSpPr>
        <p:spPr>
          <a:xfrm>
            <a:off x="6261100" y="1714500"/>
            <a:ext cx="5156200" cy="2006600"/>
          </a:xfrm>
          <a:prstGeom prst="roundRect">
            <a:avLst>
              <a:gd name="adj" fmla="val 9810"/>
            </a:avLst>
          </a:prstGeom>
          <a:solidFill>
            <a:srgbClr val="FFFFFF"/>
          </a:solidFill>
          <a:ln w="12700">
            <a:solidFill>
              <a:srgbClr val="E7E0D4"/>
            </a:solidFill>
          </a:ln>
        </p:spPr>
      </p:sp>
      <p:sp>
        <p:nvSpPr>
          <p:cNvPr id="14" name="icon-bg-55"/>
          <p:cNvSpPr/>
          <p:nvPr/>
        </p:nvSpPr>
        <p:spPr>
          <a:xfrm>
            <a:off x="6502400" y="1981200"/>
            <a:ext cx="762000" cy="762000"/>
          </a:xfrm>
          <a:prstGeom prst="ellipse">
            <a:avLst/>
          </a:prstGeom>
          <a:solidFill>
            <a:srgbClr val="D6EBE6"/>
          </a:solidFill>
          <a:ln>
            <a:noFill/>
          </a:ln>
        </p:spPr>
      </p:sp>
      <p:pic>
        <p:nvPicPr>
          <p:cNvPr id="15" name="icon-56" descr="icon-56"/>
          <p:cNvPicPr>
            <a:picLocks noChangeAspect="1"/>
          </p:cNvPicPr>
          <p:nvPr/>
        </p:nvPicPr>
        <p:blipFill>
          <a:blip r:embed="rId4"/>
          <a:stretch>
            <a:fillRect/>
          </a:stretch>
        </p:blipFill>
        <p:spPr>
          <a:xfrm>
            <a:off x="6584950" y="2063750"/>
            <a:ext cx="596900" cy="596900"/>
          </a:xfrm>
          <a:prstGeom prst="rect">
            <a:avLst/>
          </a:prstGeom>
        </p:spPr>
      </p:pic>
      <p:grpSp>
        <p:nvGrpSpPr>
          <p:cNvPr id="18" name="block-59"/>
          <p:cNvGrpSpPr/>
          <p:nvPr/>
        </p:nvGrpSpPr>
        <p:grpSpPr>
          <a:xfrm>
            <a:off x="7454900" y="1993900"/>
            <a:ext cx="3721100" cy="622300"/>
            <a:chOff x="0" y="0"/>
            <a:chExt cx="3721100" cy="622300"/>
          </a:xfrm>
        </p:grpSpPr>
        <p:sp>
          <p:nvSpPr>
            <p:cNvPr id="16" name="head-57"/>
            <p:cNvSpPr txBox="1"/>
            <p:nvPr/>
          </p:nvSpPr>
          <p:spPr>
            <a:xfrm>
              <a:off x="0" y="31572"/>
              <a:ext cx="3721100" cy="317678"/>
            </a:xfrm>
            <a:prstGeom prst="rect">
              <a:avLst/>
            </a:prstGeom>
            <a:noFill/>
          </p:spPr>
          <p:txBody>
            <a:bodyPr wrap="square" lIns="0" tIns="0" rIns="0" bIns="0" rtlCol="0" anchor="t">
              <a:noAutofit/>
            </a:bodyPr>
            <a:lstStyle/>
            <a:p>
              <a:pPr algn="l">
                <a:lnSpc>
                  <a:spcPts val="2464"/>
                </a:lnSpc>
                <a:spcBef>
                  <a:spcPts val="0"/>
                </a:spcBef>
                <a:spcAft>
                  <a:spcPts val="0"/>
                </a:spcAft>
                <a:buNone/>
              </a:pPr>
              <a:r>
                <a:rPr lang="en-US" sz="2200" b="1" dirty="0">
                  <a:solidFill>
                    <a:srgbClr val="1F3634"/>
                  </a:solidFill>
                  <a:latin typeface="Fraunces"/>
                  <a:ea typeface="Fraunces"/>
                  <a:cs typeface="Fraunces"/>
                </a:rPr>
                <a:t>Counselor or social worker</a:t>
              </a:r>
              <a:endParaRPr lang="en-US" sz="2200" dirty="0"/>
            </a:p>
          </p:txBody>
        </p:sp>
        <p:sp>
          <p:nvSpPr>
            <p:cNvPr id="17" name="body-58"/>
            <p:cNvSpPr txBox="1"/>
            <p:nvPr/>
          </p:nvSpPr>
          <p:spPr>
            <a:xfrm>
              <a:off x="0" y="439420"/>
              <a:ext cx="3721100" cy="633730"/>
            </a:xfrm>
            <a:prstGeom prst="rect">
              <a:avLst/>
            </a:prstGeom>
            <a:noFill/>
          </p:spPr>
          <p:txBody>
            <a:bodyPr wrap="square" lIns="0" tIns="0" rIns="0" bIns="0" rtlCol="0" anchor="t">
              <a:noAutofit/>
            </a:bodyPr>
            <a:lstStyle/>
            <a:p>
              <a:pPr algn="l">
                <a:lnSpc>
                  <a:spcPts val="2430"/>
                </a:lnSpc>
                <a:spcBef>
                  <a:spcPts val="0"/>
                </a:spcBef>
                <a:spcAft>
                  <a:spcPts val="0"/>
                </a:spcAft>
                <a:buNone/>
              </a:pPr>
              <a:r>
                <a:rPr lang="en-US" sz="1800" dirty="0">
                  <a:solidFill>
                    <a:srgbClr val="4F605D"/>
                  </a:solidFill>
                  <a:latin typeface="Lexend"/>
                  <a:ea typeface="Lexend"/>
                  <a:cs typeface="Lexend"/>
                </a:rPr>
                <a:t>Talk therapy, family support and help finding services.</a:t>
              </a:r>
              <a:endParaRPr lang="en-US" sz="1800" dirty="0"/>
            </a:p>
          </p:txBody>
        </p:sp>
      </p:grpSp>
      <p:sp>
        <p:nvSpPr>
          <p:cNvPr id="19" name="card-60"/>
          <p:cNvSpPr/>
          <p:nvPr/>
        </p:nvSpPr>
        <p:spPr>
          <a:xfrm>
            <a:off x="774700" y="4051300"/>
            <a:ext cx="5156200" cy="2006600"/>
          </a:xfrm>
          <a:prstGeom prst="roundRect">
            <a:avLst>
              <a:gd name="adj" fmla="val 9810"/>
            </a:avLst>
          </a:prstGeom>
          <a:solidFill>
            <a:srgbClr val="FFFFFF"/>
          </a:solidFill>
          <a:ln w="12700">
            <a:solidFill>
              <a:srgbClr val="E7E0D4"/>
            </a:solidFill>
          </a:ln>
        </p:spPr>
      </p:sp>
      <p:sp>
        <p:nvSpPr>
          <p:cNvPr id="20" name="icon-bg-61"/>
          <p:cNvSpPr/>
          <p:nvPr/>
        </p:nvSpPr>
        <p:spPr>
          <a:xfrm>
            <a:off x="1016000" y="4318000"/>
            <a:ext cx="762000" cy="762000"/>
          </a:xfrm>
          <a:prstGeom prst="ellipse">
            <a:avLst/>
          </a:prstGeom>
          <a:solidFill>
            <a:srgbClr val="D6EBE6"/>
          </a:solidFill>
          <a:ln>
            <a:noFill/>
          </a:ln>
        </p:spPr>
      </p:sp>
      <p:pic>
        <p:nvPicPr>
          <p:cNvPr id="21" name="icon-62" descr="icon-62"/>
          <p:cNvPicPr>
            <a:picLocks noChangeAspect="1"/>
          </p:cNvPicPr>
          <p:nvPr/>
        </p:nvPicPr>
        <p:blipFill>
          <a:blip r:embed="rId5"/>
          <a:stretch>
            <a:fillRect/>
          </a:stretch>
        </p:blipFill>
        <p:spPr>
          <a:xfrm>
            <a:off x="1098550" y="4400550"/>
            <a:ext cx="596900" cy="596900"/>
          </a:xfrm>
          <a:prstGeom prst="rect">
            <a:avLst/>
          </a:prstGeom>
        </p:spPr>
      </p:pic>
      <p:grpSp>
        <p:nvGrpSpPr>
          <p:cNvPr id="24" name="block-65"/>
          <p:cNvGrpSpPr/>
          <p:nvPr/>
        </p:nvGrpSpPr>
        <p:grpSpPr>
          <a:xfrm>
            <a:off x="1968500" y="4330700"/>
            <a:ext cx="3721100" cy="660400"/>
            <a:chOff x="0" y="0"/>
            <a:chExt cx="3721100" cy="660400"/>
          </a:xfrm>
        </p:grpSpPr>
        <p:sp>
          <p:nvSpPr>
            <p:cNvPr id="22" name="head-63"/>
            <p:cNvSpPr txBox="1"/>
            <p:nvPr/>
          </p:nvSpPr>
          <p:spPr>
            <a:xfrm>
              <a:off x="0" y="31572"/>
              <a:ext cx="3721100" cy="628828"/>
            </a:xfrm>
            <a:prstGeom prst="rect">
              <a:avLst/>
            </a:prstGeom>
            <a:noFill/>
          </p:spPr>
          <p:txBody>
            <a:bodyPr wrap="square" lIns="0" tIns="0" rIns="0" bIns="0" rtlCol="0" anchor="t">
              <a:noAutofit/>
            </a:bodyPr>
            <a:lstStyle/>
            <a:p>
              <a:pPr algn="l">
                <a:lnSpc>
                  <a:spcPts val="2464"/>
                </a:lnSpc>
                <a:spcBef>
                  <a:spcPts val="0"/>
                </a:spcBef>
                <a:spcAft>
                  <a:spcPts val="0"/>
                </a:spcAft>
                <a:buNone/>
              </a:pPr>
              <a:r>
                <a:rPr lang="en-US" sz="2200" b="1" dirty="0">
                  <a:solidFill>
                    <a:srgbClr val="1F3634"/>
                  </a:solidFill>
                  <a:latin typeface="Fraunces"/>
                  <a:ea typeface="Fraunces"/>
                  <a:cs typeface="Fraunces"/>
                </a:rPr>
                <a:t>ADHD or executive-function coach</a:t>
              </a:r>
              <a:endParaRPr lang="en-US" sz="2200" dirty="0"/>
            </a:p>
          </p:txBody>
        </p:sp>
        <p:sp>
          <p:nvSpPr>
            <p:cNvPr id="23" name="body-64"/>
            <p:cNvSpPr txBox="1"/>
            <p:nvPr/>
          </p:nvSpPr>
          <p:spPr>
            <a:xfrm>
              <a:off x="0" y="750570"/>
              <a:ext cx="3721100" cy="633730"/>
            </a:xfrm>
            <a:prstGeom prst="rect">
              <a:avLst/>
            </a:prstGeom>
            <a:noFill/>
          </p:spPr>
          <p:txBody>
            <a:bodyPr wrap="square" lIns="0" tIns="0" rIns="0" bIns="0" rtlCol="0" anchor="t">
              <a:noAutofit/>
            </a:bodyPr>
            <a:lstStyle/>
            <a:p>
              <a:pPr algn="l">
                <a:lnSpc>
                  <a:spcPts val="2430"/>
                </a:lnSpc>
                <a:spcBef>
                  <a:spcPts val="0"/>
                </a:spcBef>
                <a:spcAft>
                  <a:spcPts val="0"/>
                </a:spcAft>
                <a:buNone/>
              </a:pPr>
              <a:r>
                <a:rPr lang="en-US" sz="1800" dirty="0">
                  <a:solidFill>
                    <a:srgbClr val="4F605D"/>
                  </a:solidFill>
                  <a:latin typeface="Lexend"/>
                  <a:ea typeface="Lexend"/>
                  <a:cs typeface="Lexend"/>
                </a:rPr>
                <a:t>Planning, time and organization skills for teens and adults.</a:t>
              </a:r>
              <a:endParaRPr lang="en-US" sz="1800" dirty="0"/>
            </a:p>
          </p:txBody>
        </p:sp>
      </p:grpSp>
      <p:sp>
        <p:nvSpPr>
          <p:cNvPr id="25" name="card-66"/>
          <p:cNvSpPr/>
          <p:nvPr/>
        </p:nvSpPr>
        <p:spPr>
          <a:xfrm>
            <a:off x="6261100" y="4051300"/>
            <a:ext cx="5156200" cy="2006600"/>
          </a:xfrm>
          <a:prstGeom prst="roundRect">
            <a:avLst>
              <a:gd name="adj" fmla="val 9810"/>
            </a:avLst>
          </a:prstGeom>
          <a:solidFill>
            <a:srgbClr val="FFFFFF"/>
          </a:solidFill>
          <a:ln w="12700">
            <a:solidFill>
              <a:srgbClr val="E7E0D4"/>
            </a:solidFill>
          </a:ln>
        </p:spPr>
      </p:sp>
      <p:sp>
        <p:nvSpPr>
          <p:cNvPr id="26" name="icon-bg-67"/>
          <p:cNvSpPr/>
          <p:nvPr/>
        </p:nvSpPr>
        <p:spPr>
          <a:xfrm>
            <a:off x="6502400" y="4318000"/>
            <a:ext cx="762000" cy="762000"/>
          </a:xfrm>
          <a:prstGeom prst="ellipse">
            <a:avLst/>
          </a:prstGeom>
          <a:solidFill>
            <a:srgbClr val="D6EBE6"/>
          </a:solidFill>
          <a:ln>
            <a:noFill/>
          </a:ln>
        </p:spPr>
      </p:sp>
      <p:pic>
        <p:nvPicPr>
          <p:cNvPr id="27" name="icon-68" descr="icon-68"/>
          <p:cNvPicPr>
            <a:picLocks noChangeAspect="1"/>
          </p:cNvPicPr>
          <p:nvPr/>
        </p:nvPicPr>
        <p:blipFill>
          <a:blip r:embed="rId6"/>
          <a:stretch>
            <a:fillRect/>
          </a:stretch>
        </p:blipFill>
        <p:spPr>
          <a:xfrm>
            <a:off x="6584950" y="4400550"/>
            <a:ext cx="596900" cy="596900"/>
          </a:xfrm>
          <a:prstGeom prst="rect">
            <a:avLst/>
          </a:prstGeom>
        </p:spPr>
      </p:pic>
      <p:grpSp>
        <p:nvGrpSpPr>
          <p:cNvPr id="30" name="block-71"/>
          <p:cNvGrpSpPr/>
          <p:nvPr/>
        </p:nvGrpSpPr>
        <p:grpSpPr>
          <a:xfrm>
            <a:off x="7454900" y="4330700"/>
            <a:ext cx="3721100" cy="927100"/>
            <a:chOff x="0" y="0"/>
            <a:chExt cx="3721100" cy="927100"/>
          </a:xfrm>
        </p:grpSpPr>
        <p:sp>
          <p:nvSpPr>
            <p:cNvPr id="28" name="head-69"/>
            <p:cNvSpPr txBox="1"/>
            <p:nvPr/>
          </p:nvSpPr>
          <p:spPr>
            <a:xfrm>
              <a:off x="0" y="31572"/>
              <a:ext cx="3721100" cy="317678"/>
            </a:xfrm>
            <a:prstGeom prst="rect">
              <a:avLst/>
            </a:prstGeom>
            <a:noFill/>
          </p:spPr>
          <p:txBody>
            <a:bodyPr wrap="square" lIns="0" tIns="0" rIns="0" bIns="0" rtlCol="0" anchor="t">
              <a:noAutofit/>
            </a:bodyPr>
            <a:lstStyle/>
            <a:p>
              <a:pPr algn="l">
                <a:lnSpc>
                  <a:spcPts val="2464"/>
                </a:lnSpc>
                <a:spcBef>
                  <a:spcPts val="0"/>
                </a:spcBef>
                <a:spcAft>
                  <a:spcPts val="0"/>
                </a:spcAft>
                <a:buNone/>
              </a:pPr>
              <a:r>
                <a:rPr lang="en-US" sz="2200" b="1" dirty="0">
                  <a:solidFill>
                    <a:srgbClr val="1F3634"/>
                  </a:solidFill>
                  <a:latin typeface="Fraunces"/>
                  <a:ea typeface="Fraunces"/>
                  <a:cs typeface="Fraunces"/>
                </a:rPr>
                <a:t>Physical therapist</a:t>
              </a:r>
              <a:endParaRPr lang="en-US" sz="2200" dirty="0"/>
            </a:p>
          </p:txBody>
        </p:sp>
        <p:sp>
          <p:nvSpPr>
            <p:cNvPr id="29" name="body-70"/>
            <p:cNvSpPr txBox="1"/>
            <p:nvPr/>
          </p:nvSpPr>
          <p:spPr>
            <a:xfrm>
              <a:off x="0" y="439420"/>
              <a:ext cx="3721100" cy="938530"/>
            </a:xfrm>
            <a:prstGeom prst="rect">
              <a:avLst/>
            </a:prstGeom>
            <a:noFill/>
          </p:spPr>
          <p:txBody>
            <a:bodyPr wrap="square" lIns="0" tIns="0" rIns="0" bIns="0" rtlCol="0" anchor="t">
              <a:noAutofit/>
            </a:bodyPr>
            <a:lstStyle/>
            <a:p>
              <a:pPr algn="l">
                <a:lnSpc>
                  <a:spcPts val="2430"/>
                </a:lnSpc>
                <a:spcBef>
                  <a:spcPts val="0"/>
                </a:spcBef>
                <a:spcAft>
                  <a:spcPts val="0"/>
                </a:spcAft>
                <a:buNone/>
              </a:pPr>
              <a:r>
                <a:rPr lang="en-US" sz="1800" dirty="0">
                  <a:solidFill>
                    <a:srgbClr val="4F605D"/>
                  </a:solidFill>
                  <a:latin typeface="Lexend"/>
                  <a:ea typeface="Lexend"/>
                  <a:cs typeface="Lexend"/>
                </a:rPr>
                <a:t>Strength, balance and coordination when motor skills are a challenge.</a:t>
              </a:r>
              <a:endParaRPr lang="en-US" sz="1800" dirty="0"/>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06-steps">
    <p:bg>
      <p:bgPr>
        <a:solidFill>
          <a:srgbClr val="F7F3EC"/>
        </a:solidFill>
        <a:effectLst/>
      </p:bgPr>
    </p:bg>
    <p:spTree>
      <p:nvGrpSpPr>
        <p:cNvPr id="1" name=""/>
        <p:cNvGrpSpPr/>
        <p:nvPr/>
      </p:nvGrpSpPr>
      <p:grpSpPr>
        <a:xfrm>
          <a:off x="0" y="0"/>
          <a:ext cx="0" cy="0"/>
          <a:chOff x="0" y="0"/>
          <a:chExt cx="0" cy="0"/>
        </a:xfrm>
      </p:grpSpPr>
      <p:sp>
        <p:nvSpPr>
          <p:cNvPr id="2" name="corner-dot"/>
          <p:cNvSpPr/>
          <p:nvPr/>
        </p:nvSpPr>
        <p:spPr>
          <a:xfrm>
            <a:off x="11239500" y="533400"/>
            <a:ext cx="292100" cy="292100"/>
          </a:xfrm>
          <a:prstGeom prst="ellipse">
            <a:avLst/>
          </a:prstGeom>
          <a:solidFill>
            <a:srgbClr val="D6EBE6"/>
          </a:solidFill>
          <a:ln>
            <a:noFill/>
          </a:ln>
        </p:spPr>
      </p:sp>
      <p:sp>
        <p:nvSpPr>
          <p:cNvPr id="3" name="footer"/>
          <p:cNvSpPr txBox="1"/>
          <p:nvPr/>
        </p:nvSpPr>
        <p:spPr>
          <a:xfrm>
            <a:off x="762000" y="6283350"/>
            <a:ext cx="4024312" cy="219050"/>
          </a:xfrm>
          <a:prstGeom prst="rect">
            <a:avLst/>
          </a:prstGeom>
          <a:noFill/>
        </p:spPr>
        <p:txBody>
          <a:bodyPr wrap="square" lIns="0" tIns="0" rIns="0" bIns="0" rtlCol="0" anchor="t">
            <a:noAutofit/>
          </a:bodyPr>
          <a:lstStyle/>
          <a:p>
            <a:pPr algn="l">
              <a:lnSpc>
                <a:spcPts val="1750"/>
              </a:lnSpc>
              <a:buNone/>
            </a:pPr>
            <a:r>
              <a:rPr lang="en-US" sz="1200" dirty="0">
                <a:solidFill>
                  <a:srgbClr val="4F605D"/>
                </a:solidFill>
                <a:latin typeface="Lexend"/>
                <a:ea typeface="Lexend"/>
                <a:cs typeface="Lexend"/>
              </a:rPr>
              <a:t>Who Helps? The Autism &amp; ADHD Care Team</a:t>
            </a:r>
            <a:endParaRPr lang="en-US" sz="1200" dirty="0"/>
          </a:p>
        </p:txBody>
      </p:sp>
      <p:sp>
        <p:nvSpPr>
          <p:cNvPr id="4" name="page-number"/>
          <p:cNvSpPr txBox="1"/>
          <p:nvPr/>
        </p:nvSpPr>
        <p:spPr>
          <a:xfrm>
            <a:off x="10858500" y="6274359"/>
            <a:ext cx="577850" cy="208991"/>
          </a:xfrm>
          <a:prstGeom prst="rect">
            <a:avLst/>
          </a:prstGeom>
          <a:noFill/>
        </p:spPr>
        <p:txBody>
          <a:bodyPr wrap="square" lIns="0" tIns="0" rIns="0" bIns="0" rtlCol="0" anchor="t">
            <a:noAutofit/>
          </a:bodyPr>
          <a:lstStyle/>
          <a:p>
            <a:pPr algn="l">
              <a:lnSpc>
                <a:spcPts val="1750"/>
              </a:lnSpc>
              <a:buNone/>
            </a:pPr>
            <a:r>
              <a:rPr lang="en-US" sz="1200" dirty="0">
                <a:solidFill>
                  <a:srgbClr val="4F605D"/>
                </a:solidFill>
                <a:latin typeface="Lexend"/>
                <a:ea typeface="Lexend"/>
                <a:cs typeface="Lexend"/>
              </a:rPr>
              <a:t>6 / 8</a:t>
            </a:r>
            <a:endParaRPr lang="en-US" sz="1200" dirty="0"/>
          </a:p>
        </p:txBody>
      </p:sp>
      <p:sp>
        <p:nvSpPr>
          <p:cNvPr id="5" name="title-bar-72"/>
          <p:cNvSpPr/>
          <p:nvPr/>
        </p:nvSpPr>
        <p:spPr>
          <a:xfrm>
            <a:off x="762000" y="584200"/>
            <a:ext cx="457200" cy="63500"/>
          </a:xfrm>
          <a:prstGeom prst="roundRect">
            <a:avLst>
              <a:gd name="adj" fmla="val 50000"/>
            </a:avLst>
          </a:prstGeom>
          <a:solidFill>
            <a:srgbClr val="2F7A72"/>
          </a:solidFill>
          <a:ln>
            <a:noFill/>
          </a:ln>
        </p:spPr>
      </p:sp>
      <p:sp>
        <p:nvSpPr>
          <p:cNvPr id="6" name="title"/>
          <p:cNvSpPr>
            <a:spLocks noGrp="1"/>
          </p:cNvSpPr>
          <p:nvPr>
            <p:ph type="title"/>
          </p:nvPr>
        </p:nvSpPr>
        <p:spPr>
          <a:xfrm>
            <a:off x="762000" y="730593"/>
            <a:ext cx="6604000" cy="469557"/>
          </a:xfrm>
          <a:prstGeom prst="rect">
            <a:avLst/>
          </a:prstGeom>
          <a:noFill/>
        </p:spPr>
        <p:txBody>
          <a:bodyPr wrap="square" lIns="0" tIns="0" rIns="0" bIns="0" rtlCol="0" anchor="t">
            <a:noAutofit/>
          </a:bodyPr>
          <a:lstStyle/>
          <a:p>
            <a:pPr algn="l">
              <a:lnSpc>
                <a:spcPts val="3742"/>
              </a:lnSpc>
              <a:buNone/>
            </a:pPr>
            <a:r>
              <a:rPr lang="en-US" sz="3400" b="1" dirty="0">
                <a:solidFill>
                  <a:srgbClr val="1F3634"/>
                </a:solidFill>
                <a:latin typeface="Fraunces"/>
                <a:ea typeface="Fraunces"/>
                <a:cs typeface="Fraunces"/>
              </a:rPr>
              <a:t>How care usually unfolds</a:t>
            </a:r>
            <a:endParaRPr lang="en-US" sz="3400" dirty="0"/>
          </a:p>
        </p:txBody>
      </p:sp>
      <p:sp>
        <p:nvSpPr>
          <p:cNvPr id="7" name="steps-line"/>
          <p:cNvSpPr/>
          <p:nvPr/>
        </p:nvSpPr>
        <p:spPr>
          <a:xfrm>
            <a:off x="1828800" y="2489200"/>
            <a:ext cx="8534400" cy="50800"/>
          </a:xfrm>
          <a:prstGeom prst="roundRect">
            <a:avLst>
              <a:gd name="adj" fmla="val 50000"/>
            </a:avLst>
          </a:prstGeom>
          <a:solidFill>
            <a:srgbClr val="D6EBE6"/>
          </a:solidFill>
          <a:ln>
            <a:noFill/>
          </a:ln>
        </p:spPr>
      </p:sp>
      <p:sp>
        <p:nvSpPr>
          <p:cNvPr id="8" name="step-dot-73"/>
          <p:cNvSpPr/>
          <p:nvPr/>
        </p:nvSpPr>
        <p:spPr>
          <a:xfrm>
            <a:off x="1409700" y="2095500"/>
            <a:ext cx="838200" cy="838200"/>
          </a:xfrm>
          <a:prstGeom prst="ellipse">
            <a:avLst/>
          </a:prstGeom>
          <a:solidFill>
            <a:srgbClr val="2F7A72"/>
          </a:solidFill>
          <a:ln>
            <a:noFill/>
          </a:ln>
        </p:spPr>
      </p:sp>
      <p:sp>
        <p:nvSpPr>
          <p:cNvPr id="9" name="step-num-74"/>
          <p:cNvSpPr txBox="1"/>
          <p:nvPr/>
        </p:nvSpPr>
        <p:spPr>
          <a:xfrm>
            <a:off x="1743075" y="2336241"/>
            <a:ext cx="704850" cy="308534"/>
          </a:xfrm>
          <a:prstGeom prst="rect">
            <a:avLst/>
          </a:prstGeom>
          <a:noFill/>
        </p:spPr>
        <p:txBody>
          <a:bodyPr wrap="square" lIns="0" tIns="0" rIns="0" bIns="0" rtlCol="0" anchor="t">
            <a:noAutofit/>
          </a:bodyPr>
          <a:lstStyle/>
          <a:p>
            <a:pPr algn="l">
              <a:lnSpc>
                <a:spcPts val="3102"/>
              </a:lnSpc>
              <a:buNone/>
            </a:pPr>
            <a:r>
              <a:rPr lang="en-US" sz="2800" b="1" dirty="0">
                <a:solidFill>
                  <a:srgbClr val="FFFFFF"/>
                </a:solidFill>
                <a:latin typeface="Fraunces"/>
                <a:ea typeface="Fraunces"/>
                <a:cs typeface="Fraunces"/>
              </a:rPr>
              <a:t>1</a:t>
            </a:r>
            <a:endParaRPr lang="en-US" sz="2800" dirty="0"/>
          </a:p>
        </p:txBody>
      </p:sp>
      <p:grpSp>
        <p:nvGrpSpPr>
          <p:cNvPr id="12" name="block-77"/>
          <p:cNvGrpSpPr/>
          <p:nvPr/>
        </p:nvGrpSpPr>
        <p:grpSpPr>
          <a:xfrm>
            <a:off x="876300" y="3213100"/>
            <a:ext cx="1905000" cy="1238250"/>
            <a:chOff x="0" y="0"/>
            <a:chExt cx="1905000" cy="1238250"/>
          </a:xfrm>
        </p:grpSpPr>
        <p:sp>
          <p:nvSpPr>
            <p:cNvPr id="10" name="head-75"/>
            <p:cNvSpPr txBox="1"/>
            <p:nvPr/>
          </p:nvSpPr>
          <p:spPr>
            <a:xfrm>
              <a:off x="0" y="31572"/>
              <a:ext cx="1905000" cy="317678"/>
            </a:xfrm>
            <a:prstGeom prst="rect">
              <a:avLst/>
            </a:prstGeom>
            <a:noFill/>
          </p:spPr>
          <p:txBody>
            <a:bodyPr wrap="square" lIns="0" tIns="0" rIns="0" bIns="0" rtlCol="0" anchor="t">
              <a:noAutofit/>
            </a:bodyPr>
            <a:lstStyle/>
            <a:p>
              <a:pPr algn="ctr">
                <a:lnSpc>
                  <a:spcPts val="2464"/>
                </a:lnSpc>
                <a:spcBef>
                  <a:spcPts val="0"/>
                </a:spcBef>
                <a:spcAft>
                  <a:spcPts val="0"/>
                </a:spcAft>
                <a:buNone/>
              </a:pPr>
              <a:r>
                <a:rPr lang="en-US" sz="2200" b="1" dirty="0">
                  <a:solidFill>
                    <a:srgbClr val="1F3634"/>
                  </a:solidFill>
                  <a:latin typeface="Fraunces"/>
                  <a:ea typeface="Fraunces"/>
                  <a:cs typeface="Fraunces"/>
                </a:rPr>
                <a:t>Notice</a:t>
              </a:r>
              <a:endParaRPr lang="en-US" sz="2200" dirty="0"/>
            </a:p>
          </p:txBody>
        </p:sp>
        <p:sp>
          <p:nvSpPr>
            <p:cNvPr id="11" name="body-76"/>
            <p:cNvSpPr txBox="1"/>
            <p:nvPr/>
          </p:nvSpPr>
          <p:spPr>
            <a:xfrm>
              <a:off x="0" y="452120"/>
              <a:ext cx="1905000" cy="1249680"/>
            </a:xfrm>
            <a:prstGeom prst="rect">
              <a:avLst/>
            </a:prstGeom>
            <a:noFill/>
          </p:spPr>
          <p:txBody>
            <a:bodyPr wrap="square" lIns="0" tIns="0" rIns="0" bIns="0" rtlCol="0" anchor="t">
              <a:noAutofit/>
            </a:bodyPr>
            <a:lstStyle/>
            <a:p>
              <a:pPr algn="ctr">
                <a:lnSpc>
                  <a:spcPts val="2430"/>
                </a:lnSpc>
                <a:spcBef>
                  <a:spcPts val="0"/>
                </a:spcBef>
                <a:spcAft>
                  <a:spcPts val="0"/>
                </a:spcAft>
                <a:buNone/>
              </a:pPr>
              <a:r>
                <a:rPr lang="en-US" sz="1800" dirty="0">
                  <a:solidFill>
                    <a:srgbClr val="4F605D"/>
                  </a:solidFill>
                  <a:latin typeface="Lexend"/>
                  <a:ea typeface="Lexend"/>
                  <a:cs typeface="Lexend"/>
                </a:rPr>
                <a:t>Parents, teachers or the person spot differences.</a:t>
              </a:r>
              <a:endParaRPr lang="en-US" sz="1800" dirty="0"/>
            </a:p>
          </p:txBody>
        </p:sp>
      </p:grpSp>
      <p:sp>
        <p:nvSpPr>
          <p:cNvPr id="13" name="step-dot-78"/>
          <p:cNvSpPr/>
          <p:nvPr/>
        </p:nvSpPr>
        <p:spPr>
          <a:xfrm>
            <a:off x="3543300" y="2095500"/>
            <a:ext cx="838200" cy="838200"/>
          </a:xfrm>
          <a:prstGeom prst="ellipse">
            <a:avLst/>
          </a:prstGeom>
          <a:solidFill>
            <a:srgbClr val="2F7A72"/>
          </a:solidFill>
          <a:ln>
            <a:noFill/>
          </a:ln>
        </p:spPr>
      </p:sp>
      <p:sp>
        <p:nvSpPr>
          <p:cNvPr id="14" name="step-num-79"/>
          <p:cNvSpPr txBox="1"/>
          <p:nvPr/>
        </p:nvSpPr>
        <p:spPr>
          <a:xfrm>
            <a:off x="3851275" y="2335530"/>
            <a:ext cx="755650" cy="309245"/>
          </a:xfrm>
          <a:prstGeom prst="rect">
            <a:avLst/>
          </a:prstGeom>
          <a:noFill/>
        </p:spPr>
        <p:txBody>
          <a:bodyPr wrap="square" lIns="0" tIns="0" rIns="0" bIns="0" rtlCol="0" anchor="t">
            <a:noAutofit/>
          </a:bodyPr>
          <a:lstStyle/>
          <a:p>
            <a:pPr algn="l">
              <a:lnSpc>
                <a:spcPts val="3102"/>
              </a:lnSpc>
              <a:buNone/>
            </a:pPr>
            <a:r>
              <a:rPr lang="en-US" sz="2800" b="1" dirty="0">
                <a:solidFill>
                  <a:srgbClr val="FFFFFF"/>
                </a:solidFill>
                <a:latin typeface="Fraunces"/>
                <a:ea typeface="Fraunces"/>
                <a:cs typeface="Fraunces"/>
              </a:rPr>
              <a:t>2</a:t>
            </a:r>
            <a:endParaRPr lang="en-US" sz="2800" dirty="0"/>
          </a:p>
        </p:txBody>
      </p:sp>
      <p:grpSp>
        <p:nvGrpSpPr>
          <p:cNvPr id="17" name="block-82"/>
          <p:cNvGrpSpPr/>
          <p:nvPr/>
        </p:nvGrpSpPr>
        <p:grpSpPr>
          <a:xfrm>
            <a:off x="3009900" y="3213100"/>
            <a:ext cx="1905000" cy="927100"/>
            <a:chOff x="0" y="0"/>
            <a:chExt cx="1905000" cy="927100"/>
          </a:xfrm>
        </p:grpSpPr>
        <p:sp>
          <p:nvSpPr>
            <p:cNvPr id="15" name="head-80"/>
            <p:cNvSpPr txBox="1"/>
            <p:nvPr/>
          </p:nvSpPr>
          <p:spPr>
            <a:xfrm>
              <a:off x="0" y="31572"/>
              <a:ext cx="1905000" cy="317678"/>
            </a:xfrm>
            <a:prstGeom prst="rect">
              <a:avLst/>
            </a:prstGeom>
            <a:noFill/>
          </p:spPr>
          <p:txBody>
            <a:bodyPr wrap="square" lIns="0" tIns="0" rIns="0" bIns="0" rtlCol="0" anchor="t">
              <a:noAutofit/>
            </a:bodyPr>
            <a:lstStyle/>
            <a:p>
              <a:pPr algn="ctr">
                <a:lnSpc>
                  <a:spcPts val="2464"/>
                </a:lnSpc>
                <a:spcBef>
                  <a:spcPts val="0"/>
                </a:spcBef>
                <a:spcAft>
                  <a:spcPts val="0"/>
                </a:spcAft>
                <a:buNone/>
              </a:pPr>
              <a:r>
                <a:rPr lang="en-US" sz="2200" b="1" dirty="0">
                  <a:solidFill>
                    <a:srgbClr val="1F3634"/>
                  </a:solidFill>
                  <a:latin typeface="Fraunces"/>
                  <a:ea typeface="Fraunces"/>
                  <a:cs typeface="Fraunces"/>
                </a:rPr>
                <a:t>Screen</a:t>
              </a:r>
              <a:endParaRPr lang="en-US" sz="2200" dirty="0"/>
            </a:p>
          </p:txBody>
        </p:sp>
        <p:sp>
          <p:nvSpPr>
            <p:cNvPr id="16" name="body-81"/>
            <p:cNvSpPr txBox="1"/>
            <p:nvPr/>
          </p:nvSpPr>
          <p:spPr>
            <a:xfrm>
              <a:off x="0" y="452120"/>
              <a:ext cx="1905000" cy="938530"/>
            </a:xfrm>
            <a:prstGeom prst="rect">
              <a:avLst/>
            </a:prstGeom>
            <a:noFill/>
          </p:spPr>
          <p:txBody>
            <a:bodyPr wrap="square" lIns="0" tIns="0" rIns="0" bIns="0" rtlCol="0" anchor="t">
              <a:noAutofit/>
            </a:bodyPr>
            <a:lstStyle/>
            <a:p>
              <a:pPr algn="ctr">
                <a:lnSpc>
                  <a:spcPts val="2430"/>
                </a:lnSpc>
                <a:spcBef>
                  <a:spcPts val="0"/>
                </a:spcBef>
                <a:spcAft>
                  <a:spcPts val="0"/>
                </a:spcAft>
                <a:buNone/>
              </a:pPr>
              <a:r>
                <a:rPr lang="en-US" sz="1800" dirty="0">
                  <a:solidFill>
                    <a:srgbClr val="4F605D"/>
                  </a:solidFill>
                  <a:latin typeface="Lexend"/>
                  <a:ea typeface="Lexend"/>
                  <a:cs typeface="Lexend"/>
                </a:rPr>
                <a:t>A pediatrician or school does a quick check.</a:t>
              </a:r>
              <a:endParaRPr lang="en-US" sz="1800" dirty="0"/>
            </a:p>
          </p:txBody>
        </p:sp>
      </p:grpSp>
      <p:sp>
        <p:nvSpPr>
          <p:cNvPr id="18" name="step-dot-83"/>
          <p:cNvSpPr/>
          <p:nvPr/>
        </p:nvSpPr>
        <p:spPr>
          <a:xfrm>
            <a:off x="5676900" y="2095500"/>
            <a:ext cx="838200" cy="838200"/>
          </a:xfrm>
          <a:prstGeom prst="ellipse">
            <a:avLst/>
          </a:prstGeom>
          <a:solidFill>
            <a:srgbClr val="2F7A72"/>
          </a:solidFill>
          <a:ln>
            <a:noFill/>
          </a:ln>
        </p:spPr>
      </p:sp>
      <p:sp>
        <p:nvSpPr>
          <p:cNvPr id="19" name="step-num-84"/>
          <p:cNvSpPr txBox="1"/>
          <p:nvPr/>
        </p:nvSpPr>
        <p:spPr>
          <a:xfrm>
            <a:off x="5994400" y="2330018"/>
            <a:ext cx="736600" cy="314757"/>
          </a:xfrm>
          <a:prstGeom prst="rect">
            <a:avLst/>
          </a:prstGeom>
          <a:noFill/>
        </p:spPr>
        <p:txBody>
          <a:bodyPr wrap="square" lIns="0" tIns="0" rIns="0" bIns="0" rtlCol="0" anchor="t">
            <a:noAutofit/>
          </a:bodyPr>
          <a:lstStyle/>
          <a:p>
            <a:pPr algn="l">
              <a:lnSpc>
                <a:spcPts val="3102"/>
              </a:lnSpc>
              <a:buNone/>
            </a:pPr>
            <a:r>
              <a:rPr lang="en-US" sz="2800" b="1" dirty="0">
                <a:solidFill>
                  <a:srgbClr val="FFFFFF"/>
                </a:solidFill>
                <a:latin typeface="Fraunces"/>
                <a:ea typeface="Fraunces"/>
                <a:cs typeface="Fraunces"/>
              </a:rPr>
              <a:t>3</a:t>
            </a:r>
            <a:endParaRPr lang="en-US" sz="2800" dirty="0"/>
          </a:p>
        </p:txBody>
      </p:sp>
      <p:grpSp>
        <p:nvGrpSpPr>
          <p:cNvPr id="22" name="block-87"/>
          <p:cNvGrpSpPr/>
          <p:nvPr/>
        </p:nvGrpSpPr>
        <p:grpSpPr>
          <a:xfrm>
            <a:off x="5143500" y="3213100"/>
            <a:ext cx="1905000" cy="927100"/>
            <a:chOff x="0" y="0"/>
            <a:chExt cx="1905000" cy="927100"/>
          </a:xfrm>
        </p:grpSpPr>
        <p:sp>
          <p:nvSpPr>
            <p:cNvPr id="20" name="head-85"/>
            <p:cNvSpPr txBox="1"/>
            <p:nvPr/>
          </p:nvSpPr>
          <p:spPr>
            <a:xfrm>
              <a:off x="0" y="31572"/>
              <a:ext cx="1905000" cy="317678"/>
            </a:xfrm>
            <a:prstGeom prst="rect">
              <a:avLst/>
            </a:prstGeom>
            <a:noFill/>
          </p:spPr>
          <p:txBody>
            <a:bodyPr wrap="square" lIns="0" tIns="0" rIns="0" bIns="0" rtlCol="0" anchor="t">
              <a:noAutofit/>
            </a:bodyPr>
            <a:lstStyle/>
            <a:p>
              <a:pPr algn="ctr">
                <a:lnSpc>
                  <a:spcPts val="2464"/>
                </a:lnSpc>
                <a:spcBef>
                  <a:spcPts val="0"/>
                </a:spcBef>
                <a:spcAft>
                  <a:spcPts val="0"/>
                </a:spcAft>
                <a:buNone/>
              </a:pPr>
              <a:r>
                <a:rPr lang="en-US" sz="2200" b="1" dirty="0">
                  <a:solidFill>
                    <a:srgbClr val="1F3634"/>
                  </a:solidFill>
                  <a:latin typeface="Fraunces"/>
                  <a:ea typeface="Fraunces"/>
                  <a:cs typeface="Fraunces"/>
                </a:rPr>
                <a:t>Evaluate</a:t>
              </a:r>
              <a:endParaRPr lang="en-US" sz="2200" dirty="0"/>
            </a:p>
          </p:txBody>
        </p:sp>
        <p:sp>
          <p:nvSpPr>
            <p:cNvPr id="21" name="body-86"/>
            <p:cNvSpPr txBox="1"/>
            <p:nvPr/>
          </p:nvSpPr>
          <p:spPr>
            <a:xfrm>
              <a:off x="0" y="452120"/>
              <a:ext cx="1905000" cy="938530"/>
            </a:xfrm>
            <a:prstGeom prst="rect">
              <a:avLst/>
            </a:prstGeom>
            <a:noFill/>
          </p:spPr>
          <p:txBody>
            <a:bodyPr wrap="square" lIns="0" tIns="0" rIns="0" bIns="0" rtlCol="0" anchor="t">
              <a:noAutofit/>
            </a:bodyPr>
            <a:lstStyle/>
            <a:p>
              <a:pPr algn="ctr">
                <a:lnSpc>
                  <a:spcPts val="2430"/>
                </a:lnSpc>
                <a:spcBef>
                  <a:spcPts val="0"/>
                </a:spcBef>
                <a:spcAft>
                  <a:spcPts val="0"/>
                </a:spcAft>
                <a:buNone/>
              </a:pPr>
              <a:r>
                <a:rPr lang="en-US" sz="1800" dirty="0">
                  <a:solidFill>
                    <a:srgbClr val="4F605D"/>
                  </a:solidFill>
                  <a:latin typeface="Lexend"/>
                  <a:ea typeface="Lexend"/>
                  <a:cs typeface="Lexend"/>
                </a:rPr>
                <a:t>Specialists assess strengths and needs.</a:t>
              </a:r>
              <a:endParaRPr lang="en-US" sz="1800" dirty="0"/>
            </a:p>
          </p:txBody>
        </p:sp>
      </p:grpSp>
      <p:sp>
        <p:nvSpPr>
          <p:cNvPr id="23" name="step-dot-88"/>
          <p:cNvSpPr/>
          <p:nvPr/>
        </p:nvSpPr>
        <p:spPr>
          <a:xfrm>
            <a:off x="7810500" y="2095500"/>
            <a:ext cx="838200" cy="838200"/>
          </a:xfrm>
          <a:prstGeom prst="ellipse">
            <a:avLst/>
          </a:prstGeom>
          <a:solidFill>
            <a:srgbClr val="2F7A72"/>
          </a:solidFill>
          <a:ln>
            <a:noFill/>
          </a:ln>
        </p:spPr>
      </p:sp>
      <p:sp>
        <p:nvSpPr>
          <p:cNvPr id="24" name="step-num-89"/>
          <p:cNvSpPr txBox="1"/>
          <p:nvPr/>
        </p:nvSpPr>
        <p:spPr>
          <a:xfrm>
            <a:off x="8115300" y="2339264"/>
            <a:ext cx="762000" cy="305511"/>
          </a:xfrm>
          <a:prstGeom prst="rect">
            <a:avLst/>
          </a:prstGeom>
          <a:noFill/>
        </p:spPr>
        <p:txBody>
          <a:bodyPr wrap="square" lIns="0" tIns="0" rIns="0" bIns="0" rtlCol="0" anchor="t">
            <a:noAutofit/>
          </a:bodyPr>
          <a:lstStyle/>
          <a:p>
            <a:pPr algn="l">
              <a:lnSpc>
                <a:spcPts val="3102"/>
              </a:lnSpc>
              <a:buNone/>
            </a:pPr>
            <a:r>
              <a:rPr lang="en-US" sz="2800" b="1" dirty="0">
                <a:solidFill>
                  <a:srgbClr val="FFFFFF"/>
                </a:solidFill>
                <a:latin typeface="Fraunces"/>
                <a:ea typeface="Fraunces"/>
                <a:cs typeface="Fraunces"/>
              </a:rPr>
              <a:t>4</a:t>
            </a:r>
            <a:endParaRPr lang="en-US" sz="2800" dirty="0"/>
          </a:p>
        </p:txBody>
      </p:sp>
      <p:grpSp>
        <p:nvGrpSpPr>
          <p:cNvPr id="27" name="block-92"/>
          <p:cNvGrpSpPr/>
          <p:nvPr/>
        </p:nvGrpSpPr>
        <p:grpSpPr>
          <a:xfrm>
            <a:off x="7277100" y="3213100"/>
            <a:ext cx="1905000" cy="927100"/>
            <a:chOff x="0" y="0"/>
            <a:chExt cx="1905000" cy="927100"/>
          </a:xfrm>
        </p:grpSpPr>
        <p:sp>
          <p:nvSpPr>
            <p:cNvPr id="25" name="head-90"/>
            <p:cNvSpPr txBox="1"/>
            <p:nvPr/>
          </p:nvSpPr>
          <p:spPr>
            <a:xfrm>
              <a:off x="0" y="31572"/>
              <a:ext cx="1905000" cy="317678"/>
            </a:xfrm>
            <a:prstGeom prst="rect">
              <a:avLst/>
            </a:prstGeom>
            <a:noFill/>
          </p:spPr>
          <p:txBody>
            <a:bodyPr wrap="square" lIns="0" tIns="0" rIns="0" bIns="0" rtlCol="0" anchor="t">
              <a:noAutofit/>
            </a:bodyPr>
            <a:lstStyle/>
            <a:p>
              <a:pPr algn="ctr">
                <a:lnSpc>
                  <a:spcPts val="2464"/>
                </a:lnSpc>
                <a:spcBef>
                  <a:spcPts val="0"/>
                </a:spcBef>
                <a:spcAft>
                  <a:spcPts val="0"/>
                </a:spcAft>
                <a:buNone/>
              </a:pPr>
              <a:r>
                <a:rPr lang="en-US" sz="2200" b="1" dirty="0">
                  <a:solidFill>
                    <a:srgbClr val="1F3634"/>
                  </a:solidFill>
                  <a:latin typeface="Fraunces"/>
                  <a:ea typeface="Fraunces"/>
                  <a:cs typeface="Fraunces"/>
                </a:rPr>
                <a:t>Plan</a:t>
              </a:r>
              <a:endParaRPr lang="en-US" sz="2200" dirty="0"/>
            </a:p>
          </p:txBody>
        </p:sp>
        <p:sp>
          <p:nvSpPr>
            <p:cNvPr id="26" name="body-91"/>
            <p:cNvSpPr txBox="1"/>
            <p:nvPr/>
          </p:nvSpPr>
          <p:spPr>
            <a:xfrm>
              <a:off x="0" y="452120"/>
              <a:ext cx="1905000" cy="938530"/>
            </a:xfrm>
            <a:prstGeom prst="rect">
              <a:avLst/>
            </a:prstGeom>
            <a:noFill/>
          </p:spPr>
          <p:txBody>
            <a:bodyPr wrap="square" lIns="0" tIns="0" rIns="0" bIns="0" rtlCol="0" anchor="t">
              <a:noAutofit/>
            </a:bodyPr>
            <a:lstStyle/>
            <a:p>
              <a:pPr algn="ctr">
                <a:lnSpc>
                  <a:spcPts val="2430"/>
                </a:lnSpc>
                <a:spcBef>
                  <a:spcPts val="0"/>
                </a:spcBef>
                <a:spcAft>
                  <a:spcPts val="0"/>
                </a:spcAft>
                <a:buNone/>
              </a:pPr>
              <a:r>
                <a:rPr lang="en-US" sz="1800" dirty="0">
                  <a:solidFill>
                    <a:srgbClr val="4F605D"/>
                  </a:solidFill>
                  <a:latin typeface="Lexend"/>
                  <a:ea typeface="Lexend"/>
                  <a:cs typeface="Lexend"/>
                </a:rPr>
                <a:t>Goals are set together with the family.</a:t>
              </a:r>
              <a:endParaRPr lang="en-US" sz="1800" dirty="0"/>
            </a:p>
          </p:txBody>
        </p:sp>
      </p:grpSp>
      <p:sp>
        <p:nvSpPr>
          <p:cNvPr id="28" name="step-dot-93"/>
          <p:cNvSpPr/>
          <p:nvPr/>
        </p:nvSpPr>
        <p:spPr>
          <a:xfrm>
            <a:off x="9944100" y="2095500"/>
            <a:ext cx="838200" cy="838200"/>
          </a:xfrm>
          <a:prstGeom prst="ellipse">
            <a:avLst/>
          </a:prstGeom>
          <a:solidFill>
            <a:srgbClr val="2F7A72"/>
          </a:solidFill>
          <a:ln>
            <a:noFill/>
          </a:ln>
        </p:spPr>
      </p:sp>
      <p:sp>
        <p:nvSpPr>
          <p:cNvPr id="29" name="step-num-94"/>
          <p:cNvSpPr txBox="1"/>
          <p:nvPr/>
        </p:nvSpPr>
        <p:spPr>
          <a:xfrm>
            <a:off x="10258425" y="2335338"/>
            <a:ext cx="742950" cy="312612"/>
          </a:xfrm>
          <a:prstGeom prst="rect">
            <a:avLst/>
          </a:prstGeom>
          <a:noFill/>
        </p:spPr>
        <p:txBody>
          <a:bodyPr wrap="square" lIns="0" tIns="0" rIns="0" bIns="0" rtlCol="0" anchor="t">
            <a:noAutofit/>
          </a:bodyPr>
          <a:lstStyle/>
          <a:p>
            <a:pPr algn="l">
              <a:lnSpc>
                <a:spcPts val="3102"/>
              </a:lnSpc>
              <a:buNone/>
            </a:pPr>
            <a:r>
              <a:rPr lang="en-US" sz="2800" b="1" dirty="0">
                <a:solidFill>
                  <a:srgbClr val="FFFFFF"/>
                </a:solidFill>
                <a:latin typeface="Fraunces"/>
                <a:ea typeface="Fraunces"/>
                <a:cs typeface="Fraunces"/>
              </a:rPr>
              <a:t>5</a:t>
            </a:r>
            <a:endParaRPr lang="en-US" sz="2800" dirty="0"/>
          </a:p>
        </p:txBody>
      </p:sp>
      <p:grpSp>
        <p:nvGrpSpPr>
          <p:cNvPr id="32" name="block-97"/>
          <p:cNvGrpSpPr/>
          <p:nvPr/>
        </p:nvGrpSpPr>
        <p:grpSpPr>
          <a:xfrm>
            <a:off x="9410700" y="3213100"/>
            <a:ext cx="1905000" cy="1238250"/>
            <a:chOff x="0" y="0"/>
            <a:chExt cx="1905000" cy="1238250"/>
          </a:xfrm>
        </p:grpSpPr>
        <p:sp>
          <p:nvSpPr>
            <p:cNvPr id="30" name="head-95"/>
            <p:cNvSpPr txBox="1"/>
            <p:nvPr/>
          </p:nvSpPr>
          <p:spPr>
            <a:xfrm>
              <a:off x="0" y="31572"/>
              <a:ext cx="1905000" cy="628828"/>
            </a:xfrm>
            <a:prstGeom prst="rect">
              <a:avLst/>
            </a:prstGeom>
            <a:noFill/>
          </p:spPr>
          <p:txBody>
            <a:bodyPr wrap="square" lIns="0" tIns="0" rIns="0" bIns="0" rtlCol="0" anchor="t">
              <a:noAutofit/>
            </a:bodyPr>
            <a:lstStyle/>
            <a:p>
              <a:pPr algn="ctr">
                <a:lnSpc>
                  <a:spcPts val="2464"/>
                </a:lnSpc>
                <a:spcBef>
                  <a:spcPts val="0"/>
                </a:spcBef>
                <a:spcAft>
                  <a:spcPts val="0"/>
                </a:spcAft>
                <a:buNone/>
              </a:pPr>
              <a:r>
                <a:rPr lang="en-US" sz="2200" b="1" dirty="0">
                  <a:solidFill>
                    <a:srgbClr val="1F3634"/>
                  </a:solidFill>
                  <a:latin typeface="Fraunces"/>
                  <a:ea typeface="Fraunces"/>
                  <a:cs typeface="Fraunces"/>
                </a:rPr>
                <a:t>Support &amp; review</a:t>
              </a:r>
              <a:endParaRPr lang="en-US" sz="2200" dirty="0"/>
            </a:p>
          </p:txBody>
        </p:sp>
        <p:sp>
          <p:nvSpPr>
            <p:cNvPr id="31" name="body-96"/>
            <p:cNvSpPr txBox="1"/>
            <p:nvPr/>
          </p:nvSpPr>
          <p:spPr>
            <a:xfrm>
              <a:off x="0" y="763270"/>
              <a:ext cx="1905000" cy="1249680"/>
            </a:xfrm>
            <a:prstGeom prst="rect">
              <a:avLst/>
            </a:prstGeom>
            <a:noFill/>
          </p:spPr>
          <p:txBody>
            <a:bodyPr wrap="square" lIns="0" tIns="0" rIns="0" bIns="0" rtlCol="0" anchor="t">
              <a:noAutofit/>
            </a:bodyPr>
            <a:lstStyle/>
            <a:p>
              <a:pPr algn="ctr">
                <a:lnSpc>
                  <a:spcPts val="2430"/>
                </a:lnSpc>
                <a:spcBef>
                  <a:spcPts val="0"/>
                </a:spcBef>
                <a:spcAft>
                  <a:spcPts val="0"/>
                </a:spcAft>
                <a:buNone/>
              </a:pPr>
              <a:r>
                <a:rPr lang="en-US" sz="1800" dirty="0">
                  <a:solidFill>
                    <a:srgbClr val="4F605D"/>
                  </a:solidFill>
                  <a:latin typeface="Lexend"/>
                  <a:ea typeface="Lexend"/>
                  <a:cs typeface="Lexend"/>
                </a:rPr>
                <a:t>Therapy runs, progress is checked, goals update.</a:t>
              </a:r>
              <a:endParaRPr lang="en-US" sz="1800" dirty="0"/>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07-compare">
    <p:bg>
      <p:bgPr>
        <a:solidFill>
          <a:srgbClr val="F7F3EC"/>
        </a:solidFill>
        <a:effectLst/>
      </p:bgPr>
    </p:bg>
    <p:spTree>
      <p:nvGrpSpPr>
        <p:cNvPr id="1" name=""/>
        <p:cNvGrpSpPr/>
        <p:nvPr/>
      </p:nvGrpSpPr>
      <p:grpSpPr>
        <a:xfrm>
          <a:off x="0" y="0"/>
          <a:ext cx="0" cy="0"/>
          <a:chOff x="0" y="0"/>
          <a:chExt cx="0" cy="0"/>
        </a:xfrm>
      </p:grpSpPr>
      <p:sp>
        <p:nvSpPr>
          <p:cNvPr id="2" name="corner-dot"/>
          <p:cNvSpPr/>
          <p:nvPr/>
        </p:nvSpPr>
        <p:spPr>
          <a:xfrm>
            <a:off x="11239500" y="533400"/>
            <a:ext cx="292100" cy="292100"/>
          </a:xfrm>
          <a:prstGeom prst="ellipse">
            <a:avLst/>
          </a:prstGeom>
          <a:solidFill>
            <a:srgbClr val="D6EBE6"/>
          </a:solidFill>
          <a:ln>
            <a:noFill/>
          </a:ln>
        </p:spPr>
      </p:sp>
      <p:sp>
        <p:nvSpPr>
          <p:cNvPr id="3" name="footer"/>
          <p:cNvSpPr txBox="1"/>
          <p:nvPr/>
        </p:nvSpPr>
        <p:spPr>
          <a:xfrm>
            <a:off x="762000" y="6283350"/>
            <a:ext cx="4024312" cy="219050"/>
          </a:xfrm>
          <a:prstGeom prst="rect">
            <a:avLst/>
          </a:prstGeom>
          <a:noFill/>
        </p:spPr>
        <p:txBody>
          <a:bodyPr wrap="square" lIns="0" tIns="0" rIns="0" bIns="0" rtlCol="0" anchor="t">
            <a:noAutofit/>
          </a:bodyPr>
          <a:lstStyle/>
          <a:p>
            <a:pPr algn="l">
              <a:lnSpc>
                <a:spcPts val="1750"/>
              </a:lnSpc>
              <a:buNone/>
            </a:pPr>
            <a:r>
              <a:rPr lang="en-US" sz="1200" dirty="0">
                <a:solidFill>
                  <a:srgbClr val="4F605D"/>
                </a:solidFill>
                <a:latin typeface="Lexend"/>
                <a:ea typeface="Lexend"/>
                <a:cs typeface="Lexend"/>
              </a:rPr>
              <a:t>Who Helps? The Autism &amp; ADHD Care Team</a:t>
            </a:r>
            <a:endParaRPr lang="en-US" sz="1200" dirty="0"/>
          </a:p>
        </p:txBody>
      </p:sp>
      <p:sp>
        <p:nvSpPr>
          <p:cNvPr id="4" name="page-number"/>
          <p:cNvSpPr txBox="1"/>
          <p:nvPr/>
        </p:nvSpPr>
        <p:spPr>
          <a:xfrm>
            <a:off x="10858500" y="6272530"/>
            <a:ext cx="571500" cy="204470"/>
          </a:xfrm>
          <a:prstGeom prst="rect">
            <a:avLst/>
          </a:prstGeom>
          <a:noFill/>
        </p:spPr>
        <p:txBody>
          <a:bodyPr wrap="square" lIns="0" tIns="0" rIns="0" bIns="0" rtlCol="0" anchor="t">
            <a:noAutofit/>
          </a:bodyPr>
          <a:lstStyle/>
          <a:p>
            <a:pPr algn="l">
              <a:lnSpc>
                <a:spcPts val="1750"/>
              </a:lnSpc>
              <a:buNone/>
            </a:pPr>
            <a:r>
              <a:rPr lang="en-US" sz="1200" dirty="0">
                <a:solidFill>
                  <a:srgbClr val="4F605D"/>
                </a:solidFill>
                <a:latin typeface="Lexend"/>
                <a:ea typeface="Lexend"/>
                <a:cs typeface="Lexend"/>
              </a:rPr>
              <a:t>7 / 8</a:t>
            </a:r>
            <a:endParaRPr lang="en-US" sz="1200" dirty="0"/>
          </a:p>
        </p:txBody>
      </p:sp>
      <p:sp>
        <p:nvSpPr>
          <p:cNvPr id="5" name="title-bar-98"/>
          <p:cNvSpPr/>
          <p:nvPr/>
        </p:nvSpPr>
        <p:spPr>
          <a:xfrm>
            <a:off x="762000" y="584200"/>
            <a:ext cx="457200" cy="63500"/>
          </a:xfrm>
          <a:prstGeom prst="roundRect">
            <a:avLst>
              <a:gd name="adj" fmla="val 50000"/>
            </a:avLst>
          </a:prstGeom>
          <a:solidFill>
            <a:srgbClr val="2F7A72"/>
          </a:solidFill>
          <a:ln>
            <a:noFill/>
          </a:ln>
        </p:spPr>
      </p:sp>
      <p:sp>
        <p:nvSpPr>
          <p:cNvPr id="6" name="title"/>
          <p:cNvSpPr>
            <a:spLocks noGrp="1"/>
          </p:cNvSpPr>
          <p:nvPr>
            <p:ph type="title"/>
          </p:nvPr>
        </p:nvSpPr>
        <p:spPr>
          <a:xfrm>
            <a:off x="762000" y="730593"/>
            <a:ext cx="6699250" cy="475907"/>
          </a:xfrm>
          <a:prstGeom prst="rect">
            <a:avLst/>
          </a:prstGeom>
          <a:noFill/>
        </p:spPr>
        <p:txBody>
          <a:bodyPr wrap="square" lIns="0" tIns="0" rIns="0" bIns="0" rtlCol="0" anchor="t">
            <a:noAutofit/>
          </a:bodyPr>
          <a:lstStyle/>
          <a:p>
            <a:pPr algn="l">
              <a:lnSpc>
                <a:spcPts val="3742"/>
              </a:lnSpc>
              <a:buNone/>
            </a:pPr>
            <a:r>
              <a:rPr lang="en-US" sz="3400" b="1" dirty="0">
                <a:solidFill>
                  <a:srgbClr val="1F3634"/>
                </a:solidFill>
                <a:latin typeface="Fraunces"/>
                <a:ea typeface="Fraunces"/>
                <a:cs typeface="Fraunces"/>
              </a:rPr>
              <a:t>What good care looks like</a:t>
            </a:r>
            <a:endParaRPr lang="en-US" sz="3400" dirty="0"/>
          </a:p>
        </p:txBody>
      </p:sp>
      <p:sp>
        <p:nvSpPr>
          <p:cNvPr id="7" name="col-99"/>
          <p:cNvSpPr/>
          <p:nvPr/>
        </p:nvSpPr>
        <p:spPr>
          <a:xfrm>
            <a:off x="774700" y="1739900"/>
            <a:ext cx="5156200" cy="4165600"/>
          </a:xfrm>
          <a:prstGeom prst="roundRect">
            <a:avLst>
              <a:gd name="adj" fmla="val 5335"/>
            </a:avLst>
          </a:prstGeom>
          <a:solidFill>
            <a:srgbClr val="FFFFFF"/>
          </a:solidFill>
          <a:ln w="12700">
            <a:solidFill>
              <a:srgbClr val="E7E0D4"/>
            </a:solidFill>
          </a:ln>
        </p:spPr>
      </p:sp>
      <p:sp>
        <p:nvSpPr>
          <p:cNvPr id="8" name="col-band-100"/>
          <p:cNvSpPr/>
          <p:nvPr/>
        </p:nvSpPr>
        <p:spPr>
          <a:xfrm>
            <a:off x="762000" y="1727200"/>
            <a:ext cx="5181600" cy="952500"/>
          </a:xfrm>
          <a:prstGeom prst="roundRect">
            <a:avLst>
              <a:gd name="adj" fmla="val 24000"/>
            </a:avLst>
          </a:prstGeom>
          <a:solidFill>
            <a:srgbClr val="2F7A72"/>
          </a:solidFill>
          <a:ln>
            <a:noFill/>
          </a:ln>
        </p:spPr>
      </p:sp>
      <p:sp>
        <p:nvSpPr>
          <p:cNvPr id="9" name="col-band-fix-101"/>
          <p:cNvSpPr/>
          <p:nvPr/>
        </p:nvSpPr>
        <p:spPr>
          <a:xfrm>
            <a:off x="762000" y="2425700"/>
            <a:ext cx="5181600" cy="254000"/>
          </a:xfrm>
          <a:prstGeom prst="rect">
            <a:avLst/>
          </a:prstGeom>
          <a:solidFill>
            <a:srgbClr val="2F7A72"/>
          </a:solidFill>
          <a:ln>
            <a:noFill/>
          </a:ln>
        </p:spPr>
      </p:sp>
      <p:sp>
        <p:nvSpPr>
          <p:cNvPr id="10" name="icon-bg-102"/>
          <p:cNvSpPr/>
          <p:nvPr/>
        </p:nvSpPr>
        <p:spPr>
          <a:xfrm>
            <a:off x="1016000" y="1885950"/>
            <a:ext cx="635000" cy="635000"/>
          </a:xfrm>
          <a:prstGeom prst="ellipse">
            <a:avLst/>
          </a:prstGeom>
          <a:solidFill>
            <a:srgbClr val="FFFFFF"/>
          </a:solidFill>
          <a:ln>
            <a:noFill/>
          </a:ln>
        </p:spPr>
      </p:sp>
      <p:pic>
        <p:nvPicPr>
          <p:cNvPr id="11" name="icon-103" descr="icon-103"/>
          <p:cNvPicPr>
            <a:picLocks noChangeAspect="1"/>
          </p:cNvPicPr>
          <p:nvPr/>
        </p:nvPicPr>
        <p:blipFill>
          <a:blip r:embed="rId3"/>
          <a:stretch>
            <a:fillRect/>
          </a:stretch>
        </p:blipFill>
        <p:spPr>
          <a:xfrm>
            <a:off x="1085850" y="1955800"/>
            <a:ext cx="495300" cy="495300"/>
          </a:xfrm>
          <a:prstGeom prst="rect">
            <a:avLst/>
          </a:prstGeom>
        </p:spPr>
      </p:pic>
      <p:sp>
        <p:nvSpPr>
          <p:cNvPr id="12" name="col-head-104"/>
          <p:cNvSpPr txBox="1"/>
          <p:nvPr/>
        </p:nvSpPr>
        <p:spPr>
          <a:xfrm>
            <a:off x="1841500" y="1954962"/>
            <a:ext cx="2000250" cy="311988"/>
          </a:xfrm>
          <a:prstGeom prst="rect">
            <a:avLst/>
          </a:prstGeom>
          <a:noFill/>
        </p:spPr>
        <p:txBody>
          <a:bodyPr wrap="square" lIns="0" tIns="0" rIns="0" bIns="0" rtlCol="0" anchor="t">
            <a:noAutofit/>
          </a:bodyPr>
          <a:lstStyle/>
          <a:p>
            <a:pPr algn="l">
              <a:lnSpc>
                <a:spcPts val="3102"/>
              </a:lnSpc>
              <a:buNone/>
            </a:pPr>
            <a:r>
              <a:rPr lang="en-US" sz="2800" b="1" dirty="0">
                <a:solidFill>
                  <a:srgbClr val="FFFFFF"/>
                </a:solidFill>
                <a:latin typeface="Fraunces"/>
                <a:ea typeface="Fraunces"/>
                <a:cs typeface="Fraunces"/>
              </a:rPr>
              <a:t>Look for</a:t>
            </a:r>
            <a:endParaRPr lang="en-US" sz="2800" dirty="0"/>
          </a:p>
        </p:txBody>
      </p:sp>
      <p:sp>
        <p:nvSpPr>
          <p:cNvPr id="13" name="col-body-105"/>
          <p:cNvSpPr txBox="1"/>
          <p:nvPr/>
        </p:nvSpPr>
        <p:spPr>
          <a:xfrm>
            <a:off x="1066800" y="2991485"/>
            <a:ext cx="4572000" cy="2259965"/>
          </a:xfrm>
          <a:prstGeom prst="rect">
            <a:avLst/>
          </a:prstGeom>
          <a:noFill/>
        </p:spPr>
        <p:txBody>
          <a:bodyPr wrap="square" lIns="0" tIns="0" rIns="0" bIns="0" rtlCol="0" anchor="t">
            <a:noAutofit/>
          </a:bodyPr>
          <a:lstStyle/>
          <a:p>
            <a:pPr algn="l" marL="320040" indent="-320040" lvl="0">
              <a:lnSpc>
                <a:spcPts val="2340"/>
              </a:lnSpc>
              <a:spcBef>
                <a:spcPts val="0"/>
              </a:spcBef>
              <a:spcAft>
                <a:spcPts val="1500"/>
              </a:spcAft>
              <a:buFont typeface="Arial"/>
              <a:buChar char="•"/>
            </a:pPr>
            <a:r>
              <a:rPr lang="en-US" sz="1800" dirty="0">
                <a:solidFill>
                  <a:srgbClr val="1F3634"/>
                </a:solidFill>
                <a:latin typeface="Lexend"/>
                <a:ea typeface="Lexend"/>
                <a:cs typeface="Lexend"/>
              </a:rPr>
              <a:t>Builds on strengths and interests</a:t>
            </a:r>
            <a:endParaRPr lang="en-US" sz="1800" dirty="0"/>
          </a:p>
          <a:p>
            <a:pPr algn="l" marL="320040" indent="-320040" lvl="0">
              <a:lnSpc>
                <a:spcPts val="2340"/>
              </a:lnSpc>
              <a:spcBef>
                <a:spcPts val="0"/>
              </a:spcBef>
              <a:spcAft>
                <a:spcPts val="1500"/>
              </a:spcAft>
              <a:buFont typeface="Arial"/>
              <a:buChar char="•"/>
            </a:pPr>
            <a:r>
              <a:rPr lang="en-US" sz="1800" dirty="0">
                <a:solidFill>
                  <a:srgbClr val="1F3634"/>
                </a:solidFill>
                <a:latin typeface="Lexend"/>
                <a:ea typeface="Lexend"/>
                <a:cs typeface="Lexend"/>
              </a:rPr>
              <a:t>Respects every way of communicating</a:t>
            </a:r>
            <a:endParaRPr lang="en-US" sz="1800" dirty="0"/>
          </a:p>
          <a:p>
            <a:pPr algn="l" marL="320040" indent="-320040" lvl="0">
              <a:lnSpc>
                <a:spcPts val="2340"/>
              </a:lnSpc>
              <a:spcBef>
                <a:spcPts val="0"/>
              </a:spcBef>
              <a:spcAft>
                <a:spcPts val="1500"/>
              </a:spcAft>
              <a:buFont typeface="Arial"/>
              <a:buChar char="•"/>
            </a:pPr>
            <a:r>
              <a:rPr lang="en-US" sz="1800" dirty="0">
                <a:solidFill>
                  <a:srgbClr val="1F3634"/>
                </a:solidFill>
                <a:latin typeface="Lexend"/>
                <a:ea typeface="Lexend"/>
                <a:cs typeface="Lexend"/>
              </a:rPr>
              <a:t>Asks for assent and reads distress</a:t>
            </a:r>
            <a:endParaRPr lang="en-US" sz="1800" dirty="0"/>
          </a:p>
          <a:p>
            <a:pPr algn="l" marL="320040" indent="-320040" lvl="0">
              <a:lnSpc>
                <a:spcPts val="2340"/>
              </a:lnSpc>
              <a:spcBef>
                <a:spcPts val="0"/>
              </a:spcBef>
              <a:spcAft>
                <a:spcPts val="1500"/>
              </a:spcAft>
              <a:buFont typeface="Arial"/>
              <a:buChar char="•"/>
            </a:pPr>
            <a:r>
              <a:rPr lang="en-US" sz="1800" dirty="0">
                <a:solidFill>
                  <a:srgbClr val="1F3634"/>
                </a:solidFill>
                <a:latin typeface="Lexend"/>
                <a:ea typeface="Lexend"/>
                <a:cs typeface="Lexend"/>
              </a:rPr>
              <a:t>Treats the family as partners</a:t>
            </a:r>
            <a:endParaRPr lang="en-US" sz="1800" dirty="0"/>
          </a:p>
        </p:txBody>
      </p:sp>
      <p:sp>
        <p:nvSpPr>
          <p:cNvPr id="14" name="col-106"/>
          <p:cNvSpPr/>
          <p:nvPr/>
        </p:nvSpPr>
        <p:spPr>
          <a:xfrm>
            <a:off x="6261100" y="1739900"/>
            <a:ext cx="5156200" cy="4165600"/>
          </a:xfrm>
          <a:prstGeom prst="roundRect">
            <a:avLst>
              <a:gd name="adj" fmla="val 5335"/>
            </a:avLst>
          </a:prstGeom>
          <a:solidFill>
            <a:srgbClr val="FFFFFF"/>
          </a:solidFill>
          <a:ln w="12700">
            <a:solidFill>
              <a:srgbClr val="E7E0D4"/>
            </a:solidFill>
          </a:ln>
        </p:spPr>
      </p:sp>
      <p:sp>
        <p:nvSpPr>
          <p:cNvPr id="15" name="col-band-107"/>
          <p:cNvSpPr/>
          <p:nvPr/>
        </p:nvSpPr>
        <p:spPr>
          <a:xfrm>
            <a:off x="6248400" y="1727200"/>
            <a:ext cx="5181600" cy="952500"/>
          </a:xfrm>
          <a:prstGeom prst="roundRect">
            <a:avLst>
              <a:gd name="adj" fmla="val 24000"/>
            </a:avLst>
          </a:prstGeom>
          <a:solidFill>
            <a:srgbClr val="B5543C"/>
          </a:solidFill>
          <a:ln>
            <a:noFill/>
          </a:ln>
        </p:spPr>
      </p:sp>
      <p:sp>
        <p:nvSpPr>
          <p:cNvPr id="16" name="col-band-fix-108"/>
          <p:cNvSpPr/>
          <p:nvPr/>
        </p:nvSpPr>
        <p:spPr>
          <a:xfrm>
            <a:off x="6248400" y="2425700"/>
            <a:ext cx="5181600" cy="254000"/>
          </a:xfrm>
          <a:prstGeom prst="rect">
            <a:avLst/>
          </a:prstGeom>
          <a:solidFill>
            <a:srgbClr val="B5543C"/>
          </a:solidFill>
          <a:ln>
            <a:noFill/>
          </a:ln>
        </p:spPr>
      </p:sp>
      <p:sp>
        <p:nvSpPr>
          <p:cNvPr id="17" name="icon-bg-109"/>
          <p:cNvSpPr/>
          <p:nvPr/>
        </p:nvSpPr>
        <p:spPr>
          <a:xfrm>
            <a:off x="6502400" y="1885950"/>
            <a:ext cx="635000" cy="635000"/>
          </a:xfrm>
          <a:prstGeom prst="ellipse">
            <a:avLst/>
          </a:prstGeom>
          <a:solidFill>
            <a:srgbClr val="FFFFFF"/>
          </a:solidFill>
          <a:ln>
            <a:noFill/>
          </a:ln>
        </p:spPr>
      </p:sp>
      <p:pic>
        <p:nvPicPr>
          <p:cNvPr id="18" name="icon-110" descr="icon-110"/>
          <p:cNvPicPr>
            <a:picLocks noChangeAspect="1"/>
          </p:cNvPicPr>
          <p:nvPr/>
        </p:nvPicPr>
        <p:blipFill>
          <a:blip r:embed="rId4"/>
          <a:stretch>
            <a:fillRect/>
          </a:stretch>
        </p:blipFill>
        <p:spPr>
          <a:xfrm>
            <a:off x="6572250" y="1955800"/>
            <a:ext cx="495300" cy="495300"/>
          </a:xfrm>
          <a:prstGeom prst="rect">
            <a:avLst/>
          </a:prstGeom>
        </p:spPr>
      </p:pic>
      <p:sp>
        <p:nvSpPr>
          <p:cNvPr id="19" name="col-head-111"/>
          <p:cNvSpPr txBox="1"/>
          <p:nvPr/>
        </p:nvSpPr>
        <p:spPr>
          <a:xfrm>
            <a:off x="7327900" y="1949628"/>
            <a:ext cx="3024188" cy="310972"/>
          </a:xfrm>
          <a:prstGeom prst="rect">
            <a:avLst/>
          </a:prstGeom>
          <a:noFill/>
        </p:spPr>
        <p:txBody>
          <a:bodyPr wrap="square" lIns="0" tIns="0" rIns="0" bIns="0" rtlCol="0" anchor="t">
            <a:noAutofit/>
          </a:bodyPr>
          <a:lstStyle/>
          <a:p>
            <a:pPr algn="l">
              <a:lnSpc>
                <a:spcPts val="3102"/>
              </a:lnSpc>
              <a:buNone/>
            </a:pPr>
            <a:r>
              <a:rPr lang="en-US" sz="2800" b="1" dirty="0">
                <a:solidFill>
                  <a:srgbClr val="FFFFFF"/>
                </a:solidFill>
                <a:latin typeface="Fraunces"/>
                <a:ea typeface="Fraunces"/>
                <a:cs typeface="Fraunces"/>
              </a:rPr>
              <a:t>Be cautious of</a:t>
            </a:r>
            <a:endParaRPr lang="en-US" sz="2800" dirty="0"/>
          </a:p>
        </p:txBody>
      </p:sp>
      <p:sp>
        <p:nvSpPr>
          <p:cNvPr id="20" name="col-body-112"/>
          <p:cNvSpPr txBox="1"/>
          <p:nvPr/>
        </p:nvSpPr>
        <p:spPr>
          <a:xfrm>
            <a:off x="6553200" y="2991485"/>
            <a:ext cx="4572000" cy="1961515"/>
          </a:xfrm>
          <a:prstGeom prst="rect">
            <a:avLst/>
          </a:prstGeom>
          <a:noFill/>
        </p:spPr>
        <p:txBody>
          <a:bodyPr wrap="square" lIns="0" tIns="0" rIns="0" bIns="0" rtlCol="0" anchor="t">
            <a:noAutofit/>
          </a:bodyPr>
          <a:lstStyle/>
          <a:p>
            <a:pPr algn="l" marL="320040" indent="-320040" lvl="0">
              <a:lnSpc>
                <a:spcPts val="2340"/>
              </a:lnSpc>
              <a:spcBef>
                <a:spcPts val="0"/>
              </a:spcBef>
              <a:spcAft>
                <a:spcPts val="1500"/>
              </a:spcAft>
              <a:buFont typeface="Arial"/>
              <a:buChar char="•"/>
            </a:pPr>
            <a:r>
              <a:rPr lang="en-US" sz="1800" dirty="0">
                <a:solidFill>
                  <a:srgbClr val="1F3634"/>
                </a:solidFill>
                <a:latin typeface="Lexend"/>
                <a:ea typeface="Lexend"/>
                <a:cs typeface="Lexend"/>
              </a:rPr>
              <a:t>Promises of a cure or recovery</a:t>
            </a:r>
            <a:endParaRPr lang="en-US" sz="1800" dirty="0"/>
          </a:p>
          <a:p>
            <a:pPr algn="l" marL="320040" indent="-320040" lvl="0">
              <a:lnSpc>
                <a:spcPts val="2340"/>
              </a:lnSpc>
              <a:spcBef>
                <a:spcPts val="0"/>
              </a:spcBef>
              <a:spcAft>
                <a:spcPts val="1500"/>
              </a:spcAft>
              <a:buFont typeface="Arial"/>
              <a:buChar char="•"/>
            </a:pPr>
            <a:r>
              <a:rPr lang="en-US" sz="1800" dirty="0">
                <a:solidFill>
                  <a:srgbClr val="1F3634"/>
                </a:solidFill>
                <a:latin typeface="Lexend"/>
                <a:ea typeface="Lexend"/>
                <a:cs typeface="Lexend"/>
              </a:rPr>
              <a:t>Ignoring signs of distress</a:t>
            </a:r>
            <a:endParaRPr lang="en-US" sz="1800" dirty="0"/>
          </a:p>
          <a:p>
            <a:pPr algn="l" marL="320040" indent="-320040" lvl="0">
              <a:lnSpc>
                <a:spcPts val="2340"/>
              </a:lnSpc>
              <a:spcBef>
                <a:spcPts val="0"/>
              </a:spcBef>
              <a:spcAft>
                <a:spcPts val="1500"/>
              </a:spcAft>
              <a:buFont typeface="Arial"/>
              <a:buChar char="•"/>
            </a:pPr>
            <a:r>
              <a:rPr lang="en-US" sz="1800" dirty="0">
                <a:solidFill>
                  <a:srgbClr val="1F3634"/>
                </a:solidFill>
                <a:latin typeface="Lexend"/>
                <a:ea typeface="Lexend"/>
                <a:cs typeface="Lexend"/>
              </a:rPr>
              <a:t>One program for every child</a:t>
            </a:r>
            <a:endParaRPr lang="en-US" sz="1800" dirty="0"/>
          </a:p>
          <a:p>
            <a:pPr algn="l" marL="320040" indent="-320040" lvl="0">
              <a:lnSpc>
                <a:spcPts val="2340"/>
              </a:lnSpc>
              <a:spcBef>
                <a:spcPts val="0"/>
              </a:spcBef>
              <a:spcAft>
                <a:spcPts val="1500"/>
              </a:spcAft>
              <a:buFont typeface="Arial"/>
              <a:buChar char="•"/>
            </a:pPr>
            <a:r>
              <a:rPr lang="en-US" sz="1800" dirty="0">
                <a:solidFill>
                  <a:srgbClr val="1F3634"/>
                </a:solidFill>
                <a:latin typeface="Lexend"/>
                <a:ea typeface="Lexend"/>
                <a:cs typeface="Lexend"/>
              </a:rPr>
              <a:t>No clear goals or progress data</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08-closing">
    <p:bg>
      <p:bgPr>
        <a:solidFill>
          <a:srgbClr val="1F3634"/>
        </a:solidFill>
        <a:effectLst/>
      </p:bgPr>
    </p:bg>
    <p:spTree>
      <p:nvGrpSpPr>
        <p:cNvPr id="1" name=""/>
        <p:cNvGrpSpPr/>
        <p:nvPr/>
      </p:nvGrpSpPr>
      <p:grpSpPr>
        <a:xfrm>
          <a:off x="0" y="0"/>
          <a:ext cx="0" cy="0"/>
          <a:chOff x="0" y="0"/>
          <a:chExt cx="0" cy="0"/>
        </a:xfrm>
      </p:grpSpPr>
      <p:sp>
        <p:nvSpPr>
          <p:cNvPr id="2" name="close-disc"/>
          <p:cNvSpPr/>
          <p:nvPr/>
        </p:nvSpPr>
        <p:spPr>
          <a:xfrm>
            <a:off x="8890000" y="3048000"/>
            <a:ext cx="5461000" cy="5461000"/>
          </a:xfrm>
          <a:prstGeom prst="ellipse">
            <a:avLst/>
          </a:prstGeom>
          <a:solidFill>
            <a:srgbClr val="2F7A72">
              <a:alpha val="22000"/>
            </a:srgbClr>
          </a:solidFill>
          <a:ln>
            <a:noFill/>
          </a:ln>
        </p:spPr>
      </p:sp>
      <p:sp>
        <p:nvSpPr>
          <p:cNvPr id="3" name="close-bar"/>
          <p:cNvSpPr/>
          <p:nvPr/>
        </p:nvSpPr>
        <p:spPr>
          <a:xfrm>
            <a:off x="762000" y="584200"/>
            <a:ext cx="457200" cy="63500"/>
          </a:xfrm>
          <a:prstGeom prst="roundRect">
            <a:avLst>
              <a:gd name="adj" fmla="val 50000"/>
            </a:avLst>
          </a:prstGeom>
          <a:solidFill>
            <a:srgbClr val="2F7A72"/>
          </a:solidFill>
          <a:ln>
            <a:noFill/>
          </a:ln>
        </p:spPr>
      </p:sp>
      <p:sp>
        <p:nvSpPr>
          <p:cNvPr id="4" name="title"/>
          <p:cNvSpPr>
            <a:spLocks noGrp="1"/>
          </p:cNvSpPr>
          <p:nvPr>
            <p:ph type="title"/>
          </p:nvPr>
        </p:nvSpPr>
        <p:spPr>
          <a:xfrm>
            <a:off x="762000" y="730593"/>
            <a:ext cx="3889375" cy="469557"/>
          </a:xfrm>
          <a:prstGeom prst="rect">
            <a:avLst/>
          </a:prstGeom>
          <a:noFill/>
        </p:spPr>
        <p:txBody>
          <a:bodyPr wrap="square" lIns="0" tIns="0" rIns="0" bIns="0" rtlCol="0" anchor="t">
            <a:noAutofit/>
          </a:bodyPr>
          <a:lstStyle/>
          <a:p>
            <a:pPr algn="l">
              <a:lnSpc>
                <a:spcPts val="3742"/>
              </a:lnSpc>
              <a:buNone/>
            </a:pPr>
            <a:r>
              <a:rPr lang="en-US" sz="3400" b="1" dirty="0">
                <a:solidFill>
                  <a:srgbClr val="F7F3EC"/>
                </a:solidFill>
                <a:latin typeface="Fraunces"/>
                <a:ea typeface="Fraunces"/>
                <a:cs typeface="Fraunces"/>
              </a:rPr>
              <a:t>Key takeaways</a:t>
            </a:r>
            <a:endParaRPr lang="en-US" sz="3400" dirty="0"/>
          </a:p>
        </p:txBody>
      </p:sp>
      <p:sp>
        <p:nvSpPr>
          <p:cNvPr id="5" name="close-num-113"/>
          <p:cNvSpPr/>
          <p:nvPr/>
        </p:nvSpPr>
        <p:spPr>
          <a:xfrm>
            <a:off x="762000" y="1841500"/>
            <a:ext cx="558800" cy="558800"/>
          </a:xfrm>
          <a:prstGeom prst="ellipse">
            <a:avLst/>
          </a:prstGeom>
          <a:solidFill>
            <a:srgbClr val="2F7A72"/>
          </a:solidFill>
          <a:ln>
            <a:noFill/>
          </a:ln>
        </p:spPr>
      </p:sp>
      <p:sp>
        <p:nvSpPr>
          <p:cNvPr id="6" name="close-n-114"/>
          <p:cNvSpPr txBox="1"/>
          <p:nvPr/>
        </p:nvSpPr>
        <p:spPr>
          <a:xfrm>
            <a:off x="974725" y="1914766"/>
            <a:ext cx="552450" cy="307734"/>
          </a:xfrm>
          <a:prstGeom prst="rect">
            <a:avLst/>
          </a:prstGeom>
          <a:noFill/>
        </p:spPr>
        <p:txBody>
          <a:bodyPr wrap="square" lIns="0" tIns="0" rIns="0" bIns="0" rtlCol="0" anchor="t">
            <a:noAutofit/>
          </a:bodyPr>
          <a:lstStyle/>
          <a:p>
            <a:pPr algn="l">
              <a:lnSpc>
                <a:spcPts val="2963"/>
              </a:lnSpc>
              <a:buNone/>
            </a:pPr>
            <a:r>
              <a:rPr lang="en-US" sz="2200" b="1" dirty="0">
                <a:solidFill>
                  <a:srgbClr val="FFFFFF"/>
                </a:solidFill>
                <a:latin typeface="Fraunces"/>
                <a:ea typeface="Fraunces"/>
                <a:cs typeface="Fraunces"/>
              </a:rPr>
              <a:t>1</a:t>
            </a:r>
            <a:endParaRPr lang="en-US" sz="2200" dirty="0"/>
          </a:p>
        </p:txBody>
      </p:sp>
      <p:sp>
        <p:nvSpPr>
          <p:cNvPr id="7" name="close-item-115"/>
          <p:cNvSpPr txBox="1"/>
          <p:nvPr/>
        </p:nvSpPr>
        <p:spPr>
          <a:xfrm>
            <a:off x="1574800" y="1923415"/>
            <a:ext cx="9525000" cy="375285"/>
          </a:xfrm>
          <a:prstGeom prst="rect">
            <a:avLst/>
          </a:prstGeom>
          <a:noFill/>
        </p:spPr>
        <p:txBody>
          <a:bodyPr wrap="square" lIns="0" tIns="0" rIns="0" bIns="0" rtlCol="0" anchor="t">
            <a:noAutofit/>
          </a:bodyPr>
          <a:lstStyle/>
          <a:p>
            <a:pPr algn="l">
              <a:lnSpc>
                <a:spcPts val="2860"/>
              </a:lnSpc>
              <a:spcBef>
                <a:spcPts val="0"/>
              </a:spcBef>
              <a:spcAft>
                <a:spcPts val="0"/>
              </a:spcAft>
              <a:buNone/>
            </a:pPr>
            <a:r>
              <a:rPr lang="en-US" sz="2200" dirty="0">
                <a:solidFill>
                  <a:srgbClr val="F7F3EC"/>
                </a:solidFill>
                <a:latin typeface="Lexend"/>
                <a:ea typeface="Lexend"/>
                <a:cs typeface="Lexend"/>
              </a:rPr>
              <a:t>Support is a team effort: each discipline covers different needs.</a:t>
            </a:r>
            <a:endParaRPr lang="en-US" sz="2200" dirty="0"/>
          </a:p>
        </p:txBody>
      </p:sp>
      <p:sp>
        <p:nvSpPr>
          <p:cNvPr id="8" name="close-num-116"/>
          <p:cNvSpPr/>
          <p:nvPr/>
        </p:nvSpPr>
        <p:spPr>
          <a:xfrm>
            <a:off x="762000" y="2692400"/>
            <a:ext cx="558800" cy="558800"/>
          </a:xfrm>
          <a:prstGeom prst="ellipse">
            <a:avLst/>
          </a:prstGeom>
          <a:solidFill>
            <a:srgbClr val="2F7A72"/>
          </a:solidFill>
          <a:ln>
            <a:noFill/>
          </a:ln>
        </p:spPr>
      </p:sp>
      <p:sp>
        <p:nvSpPr>
          <p:cNvPr id="9" name="close-n-117"/>
          <p:cNvSpPr txBox="1"/>
          <p:nvPr/>
        </p:nvSpPr>
        <p:spPr>
          <a:xfrm>
            <a:off x="952500" y="2761933"/>
            <a:ext cx="596900" cy="314642"/>
          </a:xfrm>
          <a:prstGeom prst="rect">
            <a:avLst/>
          </a:prstGeom>
          <a:noFill/>
        </p:spPr>
        <p:txBody>
          <a:bodyPr wrap="square" lIns="0" tIns="0" rIns="0" bIns="0" rtlCol="0" anchor="t">
            <a:noAutofit/>
          </a:bodyPr>
          <a:lstStyle/>
          <a:p>
            <a:pPr algn="l">
              <a:lnSpc>
                <a:spcPts val="2963"/>
              </a:lnSpc>
              <a:buNone/>
            </a:pPr>
            <a:r>
              <a:rPr lang="en-US" sz="2200" b="1" dirty="0">
                <a:solidFill>
                  <a:srgbClr val="FFFFFF"/>
                </a:solidFill>
                <a:latin typeface="Fraunces"/>
                <a:ea typeface="Fraunces"/>
                <a:cs typeface="Fraunces"/>
              </a:rPr>
              <a:t>2</a:t>
            </a:r>
            <a:endParaRPr lang="en-US" sz="2200" dirty="0"/>
          </a:p>
        </p:txBody>
      </p:sp>
      <p:sp>
        <p:nvSpPr>
          <p:cNvPr id="10" name="close-item-118"/>
          <p:cNvSpPr txBox="1"/>
          <p:nvPr/>
        </p:nvSpPr>
        <p:spPr>
          <a:xfrm>
            <a:off x="1574800" y="2774315"/>
            <a:ext cx="9525000" cy="375285"/>
          </a:xfrm>
          <a:prstGeom prst="rect">
            <a:avLst/>
          </a:prstGeom>
          <a:noFill/>
        </p:spPr>
        <p:txBody>
          <a:bodyPr wrap="square" lIns="0" tIns="0" rIns="0" bIns="0" rtlCol="0" anchor="t">
            <a:noAutofit/>
          </a:bodyPr>
          <a:lstStyle/>
          <a:p>
            <a:pPr algn="l">
              <a:lnSpc>
                <a:spcPts val="2860"/>
              </a:lnSpc>
              <a:spcBef>
                <a:spcPts val="0"/>
              </a:spcBef>
              <a:spcAft>
                <a:spcPts val="0"/>
              </a:spcAft>
              <a:buNone/>
            </a:pPr>
            <a:r>
              <a:rPr lang="en-US" sz="2200" dirty="0">
                <a:solidFill>
                  <a:srgbClr val="F7F3EC"/>
                </a:solidFill>
                <a:latin typeface="Lexend"/>
                <a:ea typeface="Lexend"/>
                <a:cs typeface="Lexend"/>
              </a:rPr>
              <a:t>Start with a screening or evaluation, then set shared goals.</a:t>
            </a:r>
            <a:endParaRPr lang="en-US" sz="2200" dirty="0"/>
          </a:p>
        </p:txBody>
      </p:sp>
      <p:sp>
        <p:nvSpPr>
          <p:cNvPr id="11" name="close-num-119"/>
          <p:cNvSpPr/>
          <p:nvPr/>
        </p:nvSpPr>
        <p:spPr>
          <a:xfrm>
            <a:off x="762000" y="3543300"/>
            <a:ext cx="558800" cy="558800"/>
          </a:xfrm>
          <a:prstGeom prst="ellipse">
            <a:avLst/>
          </a:prstGeom>
          <a:solidFill>
            <a:srgbClr val="2F7A72"/>
          </a:solidFill>
          <a:ln>
            <a:noFill/>
          </a:ln>
        </p:spPr>
      </p:sp>
      <p:sp>
        <p:nvSpPr>
          <p:cNvPr id="12" name="close-n-120"/>
          <p:cNvSpPr txBox="1"/>
          <p:nvPr/>
        </p:nvSpPr>
        <p:spPr>
          <a:xfrm>
            <a:off x="962025" y="3611677"/>
            <a:ext cx="577850" cy="312623"/>
          </a:xfrm>
          <a:prstGeom prst="rect">
            <a:avLst/>
          </a:prstGeom>
          <a:noFill/>
        </p:spPr>
        <p:txBody>
          <a:bodyPr wrap="square" lIns="0" tIns="0" rIns="0" bIns="0" rtlCol="0" anchor="t">
            <a:noAutofit/>
          </a:bodyPr>
          <a:lstStyle/>
          <a:p>
            <a:pPr algn="l">
              <a:lnSpc>
                <a:spcPts val="2963"/>
              </a:lnSpc>
              <a:buNone/>
            </a:pPr>
            <a:r>
              <a:rPr lang="en-US" sz="2200" b="1" dirty="0">
                <a:solidFill>
                  <a:srgbClr val="FFFFFF"/>
                </a:solidFill>
                <a:latin typeface="Fraunces"/>
                <a:ea typeface="Fraunces"/>
                <a:cs typeface="Fraunces"/>
              </a:rPr>
              <a:t>3</a:t>
            </a:r>
            <a:endParaRPr lang="en-US" sz="2200" dirty="0"/>
          </a:p>
        </p:txBody>
      </p:sp>
      <p:sp>
        <p:nvSpPr>
          <p:cNvPr id="13" name="close-item-121"/>
          <p:cNvSpPr txBox="1"/>
          <p:nvPr/>
        </p:nvSpPr>
        <p:spPr>
          <a:xfrm>
            <a:off x="1574800" y="3625215"/>
            <a:ext cx="9525000" cy="375285"/>
          </a:xfrm>
          <a:prstGeom prst="rect">
            <a:avLst/>
          </a:prstGeom>
          <a:noFill/>
        </p:spPr>
        <p:txBody>
          <a:bodyPr wrap="square" lIns="0" tIns="0" rIns="0" bIns="0" rtlCol="0" anchor="t">
            <a:noAutofit/>
          </a:bodyPr>
          <a:lstStyle/>
          <a:p>
            <a:pPr algn="l">
              <a:lnSpc>
                <a:spcPts val="2860"/>
              </a:lnSpc>
              <a:spcBef>
                <a:spcPts val="0"/>
              </a:spcBef>
              <a:spcAft>
                <a:spcPts val="0"/>
              </a:spcAft>
              <a:buNone/>
            </a:pPr>
            <a:r>
              <a:rPr lang="en-US" sz="2200" dirty="0">
                <a:solidFill>
                  <a:srgbClr val="F7F3EC"/>
                </a:solidFill>
                <a:latin typeface="Lexend"/>
                <a:ea typeface="Lexend"/>
                <a:cs typeface="Lexend"/>
              </a:rPr>
              <a:t>Choose affirming providers who respect the person and the family.</a:t>
            </a:r>
            <a:endParaRPr lang="en-US" sz="2200" dirty="0"/>
          </a:p>
        </p:txBody>
      </p:sp>
      <p:sp>
        <p:nvSpPr>
          <p:cNvPr id="14" name="credit"/>
          <p:cNvSpPr txBox="1"/>
          <p:nvPr/>
        </p:nvSpPr>
        <p:spPr>
          <a:xfrm>
            <a:off x="762000" y="5711190"/>
            <a:ext cx="9525000" cy="207010"/>
          </a:xfrm>
          <a:prstGeom prst="rect">
            <a:avLst/>
          </a:prstGeom>
          <a:noFill/>
        </p:spPr>
        <p:txBody>
          <a:bodyPr wrap="square" lIns="0" tIns="0" rIns="0" bIns="0" rtlCol="0" anchor="t">
            <a:noAutofit/>
          </a:bodyPr>
          <a:lstStyle/>
          <a:p>
            <a:pPr algn="l">
              <a:lnSpc>
                <a:spcPts val="1560"/>
              </a:lnSpc>
              <a:spcBef>
                <a:spcPts val="0"/>
              </a:spcBef>
              <a:spcAft>
                <a:spcPts val="0"/>
              </a:spcAft>
              <a:buNone/>
            </a:pPr>
            <a:r>
              <a:rPr lang="en-US" sz="1200" dirty="0">
                <a:solidFill>
                  <a:srgbClr val="D6EBE6"/>
                </a:solidFill>
                <a:latin typeface="Lexend"/>
                <a:ea typeface="Lexend"/>
                <a:cs typeface="Lexend"/>
              </a:rPr>
              <a:t>This overview is educational and does not replace advice from a qualified clinician.</a:t>
            </a:r>
            <a:endParaRPr lang="en-US" sz="1200" dirty="0"/>
          </a:p>
        </p:txBody>
      </p:sp>
      <p:sp>
        <p:nvSpPr>
          <p:cNvPr id="15" name="footer"/>
          <p:cNvSpPr txBox="1"/>
          <p:nvPr/>
        </p:nvSpPr>
        <p:spPr>
          <a:xfrm>
            <a:off x="762000" y="6283350"/>
            <a:ext cx="4024312" cy="219050"/>
          </a:xfrm>
          <a:prstGeom prst="rect">
            <a:avLst/>
          </a:prstGeom>
          <a:noFill/>
        </p:spPr>
        <p:txBody>
          <a:bodyPr wrap="square" lIns="0" tIns="0" rIns="0" bIns="0" rtlCol="0" anchor="t">
            <a:noAutofit/>
          </a:bodyPr>
          <a:lstStyle/>
          <a:p>
            <a:pPr algn="l">
              <a:lnSpc>
                <a:spcPts val="1750"/>
              </a:lnSpc>
              <a:buNone/>
            </a:pPr>
            <a:r>
              <a:rPr lang="en-US" sz="1200" dirty="0">
                <a:solidFill>
                  <a:srgbClr val="D6EBE6"/>
                </a:solidFill>
                <a:latin typeface="Lexend"/>
                <a:ea typeface="Lexend"/>
                <a:cs typeface="Lexend"/>
              </a:rPr>
              <a:t>Who Helps? The Autism &amp; ADHD Care Team</a:t>
            </a:r>
            <a:endParaRPr lang="en-US" sz="1200" dirty="0"/>
          </a:p>
        </p:txBody>
      </p:sp>
      <p:sp>
        <p:nvSpPr>
          <p:cNvPr id="16" name="page-number"/>
          <p:cNvSpPr txBox="1"/>
          <p:nvPr/>
        </p:nvSpPr>
        <p:spPr>
          <a:xfrm>
            <a:off x="10858500" y="6272530"/>
            <a:ext cx="577850" cy="204470"/>
          </a:xfrm>
          <a:prstGeom prst="rect">
            <a:avLst/>
          </a:prstGeom>
          <a:noFill/>
        </p:spPr>
        <p:txBody>
          <a:bodyPr wrap="square" lIns="0" tIns="0" rIns="0" bIns="0" rtlCol="0" anchor="t">
            <a:noAutofit/>
          </a:bodyPr>
          <a:lstStyle/>
          <a:p>
            <a:pPr algn="l">
              <a:lnSpc>
                <a:spcPts val="1750"/>
              </a:lnSpc>
              <a:buNone/>
            </a:pPr>
            <a:r>
              <a:rPr lang="en-US" sz="1200" dirty="0">
                <a:solidFill>
                  <a:srgbClr val="D6EBE6"/>
                </a:solidFill>
                <a:latin typeface="Lexend"/>
                <a:ea typeface="Lexend"/>
                <a:cs typeface="Lexend"/>
              </a:rPr>
              <a:t>8 / 8</a:t>
            </a:r>
            <a:endParaRPr lang="en-US" sz="1200" dirty="0"/>
          </a:p>
        </p:txBody>
      </p:sp>
    </p:spTree>
  </p:cSld>
  <p:clrMapOvr>
    <a:masterClrMapping/>
  </p:clrMapOvr>
</p:sld>
</file>

<file path=ppt/theme/theme1.xml><?xml version="1.0" encoding="utf-8"?>
<a:theme xmlns:a="http://schemas.openxmlformats.org/drawingml/2006/main" name="Vixl">
  <a:themeElements>
    <a:clrScheme name="Vixl">
      <a:dk1>
        <a:srgbClr val="000000"/>
      </a:dk1>
      <a:lt1>
        <a:srgbClr val="FFFFFF"/>
      </a:lt1>
      <a:dk2>
        <a:srgbClr val="1F2937"/>
      </a:dk2>
      <a:lt2>
        <a:srgbClr val="F3F4F6"/>
      </a:lt2>
      <a:accent1>
        <a:srgbClr val="2563EB"/>
      </a:accent1>
      <a:accent2>
        <a:srgbClr val="DB2777"/>
      </a:accent2>
      <a:accent3>
        <a:srgbClr val="059669"/>
      </a:accent3>
      <a:accent4>
        <a:srgbClr val="D97706"/>
      </a:accent4>
      <a:accent5>
        <a:srgbClr val="7C3AED"/>
      </a:accent5>
      <a:accent6>
        <a:srgbClr val="0891B2"/>
      </a:accent6>
      <a:hlink>
        <a:srgbClr val="2563EB"/>
      </a:hlink>
      <a:folHlink>
        <a:srgbClr val="7C3AED"/>
      </a:folHlink>
    </a:clrScheme>
    <a:fontScheme name="Vixl">
      <a:majorFont>
        <a:latin typeface="Calibri Light"/>
        <a:ea typeface=""/>
        <a:cs typeface=""/>
      </a:majorFont>
      <a:minorFont>
        <a:latin typeface="Calibri"/>
        <a:ea typeface=""/>
        <a:cs typeface=""/>
      </a:minorFont>
    </a:fontScheme>
    <a:fmtScheme name="Vixl">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Vixl">
  <a:themeElements>
    <a:clrScheme name="Vixl">
      <a:dk1>
        <a:srgbClr val="000000"/>
      </a:dk1>
      <a:lt1>
        <a:srgbClr val="FFFFFF"/>
      </a:lt1>
      <a:dk2>
        <a:srgbClr val="1F2937"/>
      </a:dk2>
      <a:lt2>
        <a:srgbClr val="F3F4F6"/>
      </a:lt2>
      <a:accent1>
        <a:srgbClr val="2563EB"/>
      </a:accent1>
      <a:accent2>
        <a:srgbClr val="DB2777"/>
      </a:accent2>
      <a:accent3>
        <a:srgbClr val="059669"/>
      </a:accent3>
      <a:accent4>
        <a:srgbClr val="D97706"/>
      </a:accent4>
      <a:accent5>
        <a:srgbClr val="7C3AED"/>
      </a:accent5>
      <a:accent6>
        <a:srgbClr val="0891B2"/>
      </a:accent6>
      <a:hlink>
        <a:srgbClr val="2563EB"/>
      </a:hlink>
      <a:folHlink>
        <a:srgbClr val="7C3AED"/>
      </a:folHlink>
    </a:clrScheme>
    <a:fontScheme name="Vixl">
      <a:majorFont>
        <a:latin typeface="Calibri Light"/>
        <a:ea typeface=""/>
        <a:cs typeface=""/>
      </a:majorFont>
      <a:minorFont>
        <a:latin typeface="Calibri"/>
        <a:ea typeface=""/>
        <a:cs typeface=""/>
      </a:minorFont>
    </a:fontScheme>
    <a:fmtScheme name="Vixl">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Vixl</Application>
  <Slides>8</Slides>
  <Notes>8</Notes>
</Properties>
</file>

<file path=docProps/core.xml><?xml version="1.0" encoding="utf-8"?>
<cp:coreProperties xmlns:cp="http://schemas.openxmlformats.org/package/2006/metadata/core-properties" xmlns:dc="http://purl.org/dc/elements/1.1/" xmlns:dcterms="http://purl.org/dc/terms/" xmlns:xsi="http://www.w3.org/2001/XMLSchema-instance">
  <dc:title>Key takeaways</dc:title>
  <dc:creator>Vixl</dc:creator>
</cp:coreProperties>
</file>