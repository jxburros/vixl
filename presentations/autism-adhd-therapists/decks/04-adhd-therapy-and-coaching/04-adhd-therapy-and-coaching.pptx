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381000" y="685800"/>
            <a:ext cx="6096000" cy="3429000"/>
          </a:xfrm>
          <a:prstGeom prst="rect">
            <a:avLst/>
          </a:prstGeom>
        </p:spPr>
        <p:txBody>
          <a:bodyPr/>
          <a:lstStyle/>
          <a:p>
            <a:endParaRPr lang="en-US"/>
          </a:p>
        </p:txBody>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marL="0" algn="l">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ADHD affects attention, activity level and impulse control, and especially executive functions like planning and time management. This deck covers the therapies and coaching approaches that help, and how they fit alongside medication.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ADHD is not just a childhood condition. About 7.1 million U.S. children have ever been diagnosed, and a 2024 CDC study estimated 15.5 million adults currently have ADHD, about half of whom were diagnosed in adulthood. Support needs change with age, from parent training for young children to coaching and therapy for adults.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 training in behavior management teaches caregivers positive, consistent strategies and is recommended by the CDC and AAP as the first treatment for children under 6. CBT adapted for ADHD has good evidence for adults and teens. Coaching is practical and goal-focused. Schools can provide accommodations through a 504 plan or special education services through an IEP.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American Academy of Pediatrics guidance recommends that school-age children receive both FDA-approved medication and behavioral therapy, together with classroom supports. For preschoolers, parent training in behavior management comes first. Decisions about medication belong to the family and their prescriber; therapy remains valuable either way.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ADHD makes it hard to hold plans in mind and feel future deadlines. Therapists and coaches teach people to move information outside their head, define the very next action, make time concrete, add near-term rewards, and hold a weekly review. These are skills anyone can start using today.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common misconceptions. ADHD is strongly heritable and linked to differences in brain development. Many people continue to have symptoms in adulthood. Hyperfocus on interesting tasks is common, which is why 'but they can play video games for hours' does not rule out ADHD.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emphasizing hope and practicality: ADHD support works best as a layered, personalized plan. Encourage people to talk with their clinician about which mix fits.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28625"/>
            <a:ext cx="10668000" cy="1143000"/>
          </a:xfrm>
          <a:prstGeom prst="rect">
            <a:avLst/>
          </a:prstGeom>
        </p:spPr>
        <p:txBody>
          <a:bodyPr/>
          <a:lstStyle/>
          <a:p>
            <a:endParaRPr lang="en-US"/>
          </a:p>
        </p:txBody>
      </p:sp>
      <p:sp>
        <p:nvSpPr>
          <p:cNvPr id="3" name="Text Placeholder 2"/>
          <p:cNvSpPr>
            <a:spLocks noGrp="1"/>
          </p:cNvSpPr>
          <p:nvPr>
            <p:ph type="body" idx="1"/>
          </p:nvPr>
        </p:nvSpPr>
        <p:spPr>
          <a:xfrm>
            <a:off x="762000" y="1714500"/>
            <a:ext cx="10668000" cy="3429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kern="1200">
          <a:solidFill>
            <a:schemeClr val="tx1"/>
          </a:solidFill>
          <a:latin typeface="+mj-lt"/>
        </a:defRPr>
      </a:lvl1pPr>
    </p:titleStyle>
    <p:bodyStyle>
      <a:lvl1pPr marL="228600" indent="-228600">
        <a:defRPr sz="2800" kern="12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01-cover">
    <p:bg>
      <p:bgPr>
        <a:solidFill>
          <a:srgbClr val="F8F4F8"/>
        </a:solidFill>
        <a:effectLst/>
      </p:bgPr>
    </p:bg>
    <p:spTree>
      <p:nvGrpSpPr>
        <p:cNvPr id="1" name=""/>
        <p:cNvGrpSpPr/>
        <p:nvPr/>
      </p:nvGrpSpPr>
      <p:grpSpPr>
        <a:xfrm>
          <a:off x="0" y="0"/>
          <a:ext cx="0" cy="0"/>
          <a:chOff x="0" y="0"/>
          <a:chExt cx="0" cy="0"/>
        </a:xfrm>
      </p:grpSpPr>
      <p:sp>
        <p:nvSpPr>
          <p:cNvPr id="2" name="art-disc"/>
          <p:cNvSpPr/>
          <p:nvPr/>
        </p:nvSpPr>
        <p:spPr>
          <a:xfrm>
            <a:off x="6858000" y="825500"/>
            <a:ext cx="5207000" cy="5207000"/>
          </a:xfrm>
          <a:prstGeom prst="ellipse">
            <a:avLst/>
          </a:prstGeom>
          <a:solidFill>
            <a:srgbClr val="E8D9EF"/>
          </a:solidFill>
          <a:ln>
            <a:noFill/>
          </a:ln>
        </p:spPr>
      </p:sp>
      <p:sp>
        <p:nvSpPr>
          <p:cNvPr id="3" name="art-ring"/>
          <p:cNvSpPr/>
          <p:nvPr/>
        </p:nvSpPr>
        <p:spPr>
          <a:xfrm>
            <a:off x="9525000" y="4064000"/>
            <a:ext cx="2286000" cy="2286000"/>
          </a:xfrm>
          <a:prstGeom prst="ellipse">
            <a:avLst/>
          </a:prstGeom>
          <a:solidFill>
            <a:srgbClr val="FCE7C4"/>
          </a:solidFill>
          <a:ln>
            <a:noFill/>
          </a:ln>
        </p:spPr>
      </p:sp>
      <p:sp>
        <p:nvSpPr>
          <p:cNvPr id="4" name="icon-bg-1"/>
          <p:cNvSpPr/>
          <p:nvPr/>
        </p:nvSpPr>
        <p:spPr>
          <a:xfrm>
            <a:off x="7620000" y="1397000"/>
            <a:ext cx="1270000" cy="1270000"/>
          </a:xfrm>
          <a:prstGeom prst="ellipse">
            <a:avLst/>
          </a:prstGeom>
          <a:solidFill>
            <a:srgbClr val="FFFFFF"/>
          </a:solidFill>
          <a:ln>
            <a:noFill/>
          </a:ln>
        </p:spPr>
      </p:sp>
      <p:pic>
        <p:nvPicPr>
          <p:cNvPr id="5" name="icon-2" descr="icon-2"/>
          <p:cNvPicPr>
            <a:picLocks noChangeAspect="1"/>
          </p:cNvPicPr>
          <p:nvPr/>
        </p:nvPicPr>
        <p:blipFill>
          <a:blip r:embed="rId3"/>
          <a:stretch>
            <a:fillRect/>
          </a:stretch>
        </p:blipFill>
        <p:spPr>
          <a:xfrm>
            <a:off x="7759700" y="1536700"/>
            <a:ext cx="990600" cy="990600"/>
          </a:xfrm>
          <a:prstGeom prst="rect">
            <a:avLst/>
          </a:prstGeom>
        </p:spPr>
      </p:pic>
      <p:sp>
        <p:nvSpPr>
          <p:cNvPr id="6" name="icon-bg-3"/>
          <p:cNvSpPr/>
          <p:nvPr/>
        </p:nvSpPr>
        <p:spPr>
          <a:xfrm>
            <a:off x="9969500" y="1905000"/>
            <a:ext cx="762000" cy="762000"/>
          </a:xfrm>
          <a:prstGeom prst="ellipse">
            <a:avLst/>
          </a:prstGeom>
          <a:solidFill>
            <a:srgbClr val="FFFFFF"/>
          </a:solidFill>
          <a:ln>
            <a:noFill/>
          </a:ln>
        </p:spPr>
      </p:sp>
      <p:pic>
        <p:nvPicPr>
          <p:cNvPr id="7" name="icon-4" descr="icon-4"/>
          <p:cNvPicPr>
            <a:picLocks noChangeAspect="1"/>
          </p:cNvPicPr>
          <p:nvPr/>
        </p:nvPicPr>
        <p:blipFill>
          <a:blip r:embed="rId4"/>
          <a:stretch>
            <a:fillRect/>
          </a:stretch>
        </p:blipFill>
        <p:spPr>
          <a:xfrm>
            <a:off x="10052050" y="1987550"/>
            <a:ext cx="596900" cy="596900"/>
          </a:xfrm>
          <a:prstGeom prst="rect">
            <a:avLst/>
          </a:prstGeom>
        </p:spPr>
      </p:pic>
      <p:sp>
        <p:nvSpPr>
          <p:cNvPr id="8" name="icon-bg-5"/>
          <p:cNvSpPr/>
          <p:nvPr/>
        </p:nvSpPr>
        <p:spPr>
          <a:xfrm>
            <a:off x="8191500" y="3556000"/>
            <a:ext cx="1270000" cy="1270000"/>
          </a:xfrm>
          <a:prstGeom prst="ellipse">
            <a:avLst/>
          </a:prstGeom>
          <a:solidFill>
            <a:srgbClr val="FFFFFF"/>
          </a:solidFill>
          <a:ln>
            <a:noFill/>
          </a:ln>
        </p:spPr>
      </p:sp>
      <p:pic>
        <p:nvPicPr>
          <p:cNvPr id="9" name="icon-6" descr="icon-6"/>
          <p:cNvPicPr>
            <a:picLocks noChangeAspect="1"/>
          </p:cNvPicPr>
          <p:nvPr/>
        </p:nvPicPr>
        <p:blipFill>
          <a:blip r:embed="rId5"/>
          <a:stretch>
            <a:fillRect/>
          </a:stretch>
        </p:blipFill>
        <p:spPr>
          <a:xfrm>
            <a:off x="8331200" y="3695700"/>
            <a:ext cx="990600" cy="990600"/>
          </a:xfrm>
          <a:prstGeom prst="rect">
            <a:avLst/>
          </a:prstGeom>
        </p:spPr>
      </p:pic>
      <p:sp>
        <p:nvSpPr>
          <p:cNvPr id="10" name="icon-bg-7"/>
          <p:cNvSpPr/>
          <p:nvPr/>
        </p:nvSpPr>
        <p:spPr>
          <a:xfrm>
            <a:off x="10223500" y="4127500"/>
            <a:ext cx="762000" cy="762000"/>
          </a:xfrm>
          <a:prstGeom prst="ellipse">
            <a:avLst/>
          </a:prstGeom>
          <a:solidFill>
            <a:srgbClr val="FFFFFF"/>
          </a:solidFill>
          <a:ln>
            <a:noFill/>
          </a:ln>
        </p:spPr>
      </p:sp>
      <p:pic>
        <p:nvPicPr>
          <p:cNvPr id="11" name="icon-8" descr="icon-8"/>
          <p:cNvPicPr>
            <a:picLocks noChangeAspect="1"/>
          </p:cNvPicPr>
          <p:nvPr/>
        </p:nvPicPr>
        <p:blipFill>
          <a:blip r:embed="rId6"/>
          <a:stretch>
            <a:fillRect/>
          </a:stretch>
        </p:blipFill>
        <p:spPr>
          <a:xfrm>
            <a:off x="10306050" y="4210050"/>
            <a:ext cx="596900" cy="596900"/>
          </a:xfrm>
          <a:prstGeom prst="rect">
            <a:avLst/>
          </a:prstGeom>
        </p:spPr>
      </p:pic>
      <p:sp>
        <p:nvSpPr>
          <p:cNvPr id="12" name="kicker"/>
          <p:cNvSpPr txBox="1"/>
          <p:nvPr/>
        </p:nvSpPr>
        <p:spPr>
          <a:xfrm>
            <a:off x="762000" y="1407820"/>
            <a:ext cx="3484562" cy="262230"/>
          </a:xfrm>
          <a:prstGeom prst="rect">
            <a:avLst/>
          </a:prstGeom>
          <a:noFill/>
        </p:spPr>
        <p:txBody>
          <a:bodyPr wrap="square" lIns="0" tIns="0" rIns="0" bIns="0" rtlCol="0" anchor="t">
            <a:noAutofit/>
          </a:bodyPr>
          <a:lstStyle/>
          <a:p>
            <a:pPr algn="l">
              <a:lnSpc>
                <a:spcPts val="2450"/>
              </a:lnSpc>
              <a:buNone/>
            </a:pPr>
            <a:r>
              <a:rPr lang="en-US" sz="1800" b="1" dirty="0">
                <a:solidFill>
                  <a:srgbClr val="673B78"/>
                </a:solidFill>
                <a:latin typeface="Lexend"/>
                <a:ea typeface="Lexend"/>
                <a:cs typeface="Lexend"/>
              </a:rPr>
              <a:t>THERAPIST SPOTLIGHT</a:t>
            </a:r>
            <a:endParaRPr lang="en-US" sz="1800" dirty="0"/>
          </a:p>
        </p:txBody>
      </p:sp>
      <p:grpSp>
        <p:nvGrpSpPr>
          <p:cNvPr id="15" name="block-9"/>
          <p:cNvGrpSpPr/>
          <p:nvPr/>
        </p:nvGrpSpPr>
        <p:grpSpPr>
          <a:xfrm>
            <a:off x="762000" y="1968500"/>
            <a:ext cx="6096000" cy="2298700"/>
            <a:chOff x="0" y="0"/>
            <a:chExt cx="6096000" cy="2298700"/>
          </a:xfrm>
        </p:grpSpPr>
        <p:sp>
          <p:nvSpPr>
            <p:cNvPr id="13" name="title"/>
            <p:cNvSpPr>
              <a:spLocks noGrp="1"/>
            </p:cNvSpPr>
            <p:nvPr>
              <p:ph type="title"/>
            </p:nvPr>
          </p:nvSpPr>
          <p:spPr>
            <a:xfrm>
              <a:off x="0" y="74625"/>
              <a:ext cx="6096000" cy="2224075"/>
            </a:xfrm>
            <a:prstGeom prst="rect">
              <a:avLst/>
            </a:prstGeom>
            <a:noFill/>
          </p:spPr>
          <p:txBody>
            <a:bodyPr wrap="square" lIns="0" tIns="0" rIns="0" bIns="0" rtlCol="0" anchor="t">
              <a:noAutofit/>
            </a:bodyPr>
            <a:lstStyle/>
            <a:p>
              <a:pPr algn="l">
                <a:lnSpc>
                  <a:spcPts val="5824"/>
                </a:lnSpc>
                <a:spcBef>
                  <a:spcPts val="0"/>
                </a:spcBef>
                <a:spcAft>
                  <a:spcPts val="0"/>
                </a:spcAft>
                <a:buNone/>
              </a:pPr>
              <a:r>
                <a:rPr lang="en-US" sz="5200" b="1" dirty="0">
                  <a:solidFill>
                    <a:srgbClr val="2E2135"/>
                  </a:solidFill>
                  <a:latin typeface="Fraunces"/>
                  <a:ea typeface="Fraunces"/>
                  <a:cs typeface="Fraunces"/>
                </a:rPr>
                <a:t>ADHD: Therapy, Coaching &amp; Skill-Building</a:t>
              </a:r>
              <a:endParaRPr lang="en-US" sz="5200" dirty="0"/>
            </a:p>
          </p:txBody>
        </p:sp>
        <p:sp>
          <p:nvSpPr>
            <p:cNvPr id="14" name="subtitle"/>
            <p:cNvSpPr txBox="1"/>
            <p:nvPr/>
          </p:nvSpPr>
          <p:spPr>
            <a:xfrm>
              <a:off x="0" y="2545715"/>
              <a:ext cx="6096000" cy="73723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5B4C63"/>
                  </a:solidFill>
                  <a:latin typeface="Lexend"/>
                  <a:ea typeface="Lexend"/>
                  <a:cs typeface="Lexend"/>
                </a:rPr>
                <a:t>The evidence-based supports that help children, teens and adults with ADHD thrive.</a:t>
              </a:r>
              <a:endParaRPr lang="en-US" sz="2200" dirty="0"/>
            </a:p>
          </p:txBody>
        </p:sp>
      </p:grpSp>
      <p:sp>
        <p:nvSpPr>
          <p:cNvPr id="16" name="cover-rule"/>
          <p:cNvSpPr/>
          <p:nvPr/>
        </p:nvSpPr>
        <p:spPr>
          <a:xfrm>
            <a:off x="762000" y="5905500"/>
            <a:ext cx="762000" cy="38100"/>
          </a:xfrm>
          <a:prstGeom prst="roundRect">
            <a:avLst>
              <a:gd name="adj" fmla="val 50000"/>
            </a:avLst>
          </a:prstGeom>
          <a:solidFill>
            <a:srgbClr val="7B4A8F"/>
          </a:solidFill>
          <a:ln>
            <a:noFill/>
          </a:ln>
        </p:spPr>
      </p:sp>
      <p:sp>
        <p:nvSpPr>
          <p:cNvPr id="17" name="footer"/>
          <p:cNvSpPr txBox="1"/>
          <p:nvPr/>
        </p:nvSpPr>
        <p:spPr>
          <a:xfrm>
            <a:off x="762000" y="6042050"/>
            <a:ext cx="1754188" cy="18730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Presentation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02-stats">
    <p:bg>
      <p:bgPr>
        <a:solidFill>
          <a:srgbClr val="F8F4F8"/>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E8D9EF"/>
          </a:solidFill>
          <a:ln>
            <a:noFill/>
          </a:ln>
        </p:spPr>
      </p:sp>
      <p:sp>
        <p:nvSpPr>
          <p:cNvPr id="3" name="footer"/>
          <p:cNvSpPr txBox="1"/>
          <p:nvPr/>
        </p:nvSpPr>
        <p:spPr>
          <a:xfrm>
            <a:off x="762000" y="6283350"/>
            <a:ext cx="3111500" cy="22540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ADHD: Therapy, Coaching &amp; Skills</a:t>
            </a:r>
            <a:endParaRPr lang="en-US" sz="1200" dirty="0"/>
          </a:p>
        </p:txBody>
      </p:sp>
      <p:sp>
        <p:nvSpPr>
          <p:cNvPr id="4" name="page-number"/>
          <p:cNvSpPr txBox="1"/>
          <p:nvPr/>
        </p:nvSpPr>
        <p:spPr>
          <a:xfrm>
            <a:off x="10858500" y="6274054"/>
            <a:ext cx="565150" cy="209296"/>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2 / 7</a:t>
            </a:r>
            <a:endParaRPr lang="en-US" sz="1200" dirty="0"/>
          </a:p>
        </p:txBody>
      </p:sp>
      <p:sp>
        <p:nvSpPr>
          <p:cNvPr id="5" name="title-bar-10"/>
          <p:cNvSpPr/>
          <p:nvPr/>
        </p:nvSpPr>
        <p:spPr>
          <a:xfrm>
            <a:off x="762000" y="584200"/>
            <a:ext cx="457200" cy="63500"/>
          </a:xfrm>
          <a:prstGeom prst="roundRect">
            <a:avLst>
              <a:gd name="adj" fmla="val 50000"/>
            </a:avLst>
          </a:prstGeom>
          <a:solidFill>
            <a:srgbClr val="7B4A8F"/>
          </a:solidFill>
          <a:ln>
            <a:noFill/>
          </a:ln>
        </p:spPr>
      </p:sp>
      <p:sp>
        <p:nvSpPr>
          <p:cNvPr id="6" name="title"/>
          <p:cNvSpPr>
            <a:spLocks noGrp="1"/>
          </p:cNvSpPr>
          <p:nvPr>
            <p:ph type="title"/>
          </p:nvPr>
        </p:nvSpPr>
        <p:spPr>
          <a:xfrm>
            <a:off x="762000" y="730593"/>
            <a:ext cx="6707188" cy="469557"/>
          </a:xfrm>
          <a:prstGeom prst="rect">
            <a:avLst/>
          </a:prstGeom>
          <a:noFill/>
        </p:spPr>
        <p:txBody>
          <a:bodyPr wrap="square" lIns="0" tIns="0" rIns="0" bIns="0" rtlCol="0" anchor="t">
            <a:noAutofit/>
          </a:bodyPr>
          <a:lstStyle/>
          <a:p>
            <a:pPr algn="l">
              <a:lnSpc>
                <a:spcPts val="3742"/>
              </a:lnSpc>
              <a:buNone/>
            </a:pPr>
            <a:r>
              <a:rPr lang="en-US" sz="3400" b="1" dirty="0">
                <a:solidFill>
                  <a:srgbClr val="2E2135"/>
                </a:solidFill>
                <a:latin typeface="Fraunces"/>
                <a:ea typeface="Fraunces"/>
                <a:cs typeface="Fraunces"/>
              </a:rPr>
              <a:t>ADHD across the lifespan</a:t>
            </a:r>
            <a:endParaRPr lang="en-US" sz="3400" dirty="0"/>
          </a:p>
        </p:txBody>
      </p:sp>
      <p:sp>
        <p:nvSpPr>
          <p:cNvPr id="7" name="stat-card-11"/>
          <p:cNvSpPr/>
          <p:nvPr/>
        </p:nvSpPr>
        <p:spPr>
          <a:xfrm>
            <a:off x="774700" y="1790700"/>
            <a:ext cx="5156200" cy="3530600"/>
          </a:xfrm>
          <a:prstGeom prst="roundRect">
            <a:avLst>
              <a:gd name="adj" fmla="val 6295"/>
            </a:avLst>
          </a:prstGeom>
          <a:solidFill>
            <a:srgbClr val="FFFFFF"/>
          </a:solidFill>
          <a:ln w="12700">
            <a:solidFill>
              <a:srgbClr val="E8DFEB"/>
            </a:solidFill>
          </a:ln>
        </p:spPr>
      </p:sp>
      <p:sp>
        <p:nvSpPr>
          <p:cNvPr id="8" name="stat-num-12"/>
          <p:cNvSpPr txBox="1"/>
          <p:nvPr/>
        </p:nvSpPr>
        <p:spPr>
          <a:xfrm>
            <a:off x="1168400" y="2070862"/>
            <a:ext cx="4972050" cy="919988"/>
          </a:xfrm>
          <a:prstGeom prst="rect">
            <a:avLst/>
          </a:prstGeom>
          <a:noFill/>
        </p:spPr>
        <p:txBody>
          <a:bodyPr wrap="square" lIns="0" tIns="0" rIns="0" bIns="0" rtlCol="0" anchor="t">
            <a:noAutofit/>
          </a:bodyPr>
          <a:lstStyle/>
          <a:p>
            <a:pPr algn="l">
              <a:lnSpc>
                <a:spcPts val="9514"/>
              </a:lnSpc>
              <a:buNone/>
            </a:pPr>
            <a:r>
              <a:rPr lang="en-US" sz="9500" b="1" dirty="0">
                <a:solidFill>
                  <a:srgbClr val="673B78"/>
                </a:solidFill>
                <a:latin typeface="Fraunces"/>
                <a:ea typeface="Fraunces"/>
                <a:cs typeface="Fraunces"/>
              </a:rPr>
              <a:t>11.4%</a:t>
            </a:r>
            <a:endParaRPr lang="en-US" sz="9500" dirty="0"/>
          </a:p>
        </p:txBody>
      </p:sp>
      <p:sp>
        <p:nvSpPr>
          <p:cNvPr id="9" name="stat-rule-13"/>
          <p:cNvSpPr/>
          <p:nvPr/>
        </p:nvSpPr>
        <p:spPr>
          <a:xfrm>
            <a:off x="1168400" y="3619500"/>
            <a:ext cx="609600" cy="50800"/>
          </a:xfrm>
          <a:prstGeom prst="roundRect">
            <a:avLst>
              <a:gd name="adj" fmla="val 50000"/>
            </a:avLst>
          </a:prstGeom>
          <a:solidFill>
            <a:srgbClr val="7B4A8F"/>
          </a:solidFill>
          <a:ln>
            <a:noFill/>
          </a:ln>
        </p:spPr>
      </p:sp>
      <p:sp>
        <p:nvSpPr>
          <p:cNvPr id="10" name="stat-label-14"/>
          <p:cNvSpPr txBox="1"/>
          <p:nvPr/>
        </p:nvSpPr>
        <p:spPr>
          <a:xfrm>
            <a:off x="1168400" y="3866515"/>
            <a:ext cx="4368800" cy="10991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2E2135"/>
                </a:solidFill>
                <a:latin typeface="Lexend"/>
                <a:ea typeface="Lexend"/>
                <a:cs typeface="Lexend"/>
              </a:rPr>
              <a:t>of U.S. children aged 3–17 have ever been diagnosed with ADHD</a:t>
            </a:r>
            <a:endParaRPr lang="en-US" sz="2200" dirty="0"/>
          </a:p>
        </p:txBody>
      </p:sp>
      <p:sp>
        <p:nvSpPr>
          <p:cNvPr id="11" name="stat-card-15"/>
          <p:cNvSpPr/>
          <p:nvPr/>
        </p:nvSpPr>
        <p:spPr>
          <a:xfrm>
            <a:off x="6261100" y="1790700"/>
            <a:ext cx="5156200" cy="3530600"/>
          </a:xfrm>
          <a:prstGeom prst="roundRect">
            <a:avLst>
              <a:gd name="adj" fmla="val 6295"/>
            </a:avLst>
          </a:prstGeom>
          <a:solidFill>
            <a:srgbClr val="FFFFFF"/>
          </a:solidFill>
          <a:ln w="12700">
            <a:solidFill>
              <a:srgbClr val="E8DFEB"/>
            </a:solidFill>
          </a:ln>
        </p:spPr>
      </p:sp>
      <p:sp>
        <p:nvSpPr>
          <p:cNvPr id="12" name="stat-num-16"/>
          <p:cNvSpPr txBox="1"/>
          <p:nvPr/>
        </p:nvSpPr>
        <p:spPr>
          <a:xfrm>
            <a:off x="6654800" y="2068315"/>
            <a:ext cx="5238750" cy="922535"/>
          </a:xfrm>
          <a:prstGeom prst="rect">
            <a:avLst/>
          </a:prstGeom>
          <a:noFill/>
        </p:spPr>
        <p:txBody>
          <a:bodyPr wrap="square" lIns="0" tIns="0" rIns="0" bIns="0" rtlCol="0" anchor="t">
            <a:noAutofit/>
          </a:bodyPr>
          <a:lstStyle/>
          <a:p>
            <a:pPr algn="l">
              <a:lnSpc>
                <a:spcPts val="9514"/>
              </a:lnSpc>
              <a:buNone/>
            </a:pPr>
            <a:r>
              <a:rPr lang="en-US" sz="9500" b="1" dirty="0">
                <a:solidFill>
                  <a:srgbClr val="673B78"/>
                </a:solidFill>
                <a:latin typeface="Fraunces"/>
                <a:ea typeface="Fraunces"/>
                <a:cs typeface="Fraunces"/>
              </a:rPr>
              <a:t>15.5M</a:t>
            </a:r>
            <a:endParaRPr lang="en-US" sz="9500" dirty="0"/>
          </a:p>
        </p:txBody>
      </p:sp>
      <p:sp>
        <p:nvSpPr>
          <p:cNvPr id="13" name="stat-rule-17"/>
          <p:cNvSpPr/>
          <p:nvPr/>
        </p:nvSpPr>
        <p:spPr>
          <a:xfrm>
            <a:off x="6654800" y="3619500"/>
            <a:ext cx="609600" cy="50800"/>
          </a:xfrm>
          <a:prstGeom prst="roundRect">
            <a:avLst>
              <a:gd name="adj" fmla="val 50000"/>
            </a:avLst>
          </a:prstGeom>
          <a:solidFill>
            <a:srgbClr val="7B4A8F"/>
          </a:solidFill>
          <a:ln>
            <a:noFill/>
          </a:ln>
        </p:spPr>
      </p:sp>
      <p:sp>
        <p:nvSpPr>
          <p:cNvPr id="14" name="stat-label-18"/>
          <p:cNvSpPr txBox="1"/>
          <p:nvPr/>
        </p:nvSpPr>
        <p:spPr>
          <a:xfrm>
            <a:off x="6654800" y="3866515"/>
            <a:ext cx="4368800" cy="73723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2E2135"/>
                </a:solidFill>
                <a:latin typeface="Lexend"/>
                <a:ea typeface="Lexend"/>
                <a:cs typeface="Lexend"/>
              </a:rPr>
              <a:t>U.S. adults currently have ADHD, about 1 in 16</a:t>
            </a:r>
            <a:endParaRPr lang="en-US" sz="2200" dirty="0"/>
          </a:p>
        </p:txBody>
      </p:sp>
      <p:sp>
        <p:nvSpPr>
          <p:cNvPr id="15" name="source"/>
          <p:cNvSpPr txBox="1"/>
          <p:nvPr/>
        </p:nvSpPr>
        <p:spPr>
          <a:xfrm>
            <a:off x="762000" y="5584190"/>
            <a:ext cx="10668000" cy="207010"/>
          </a:xfrm>
          <a:prstGeom prst="rect">
            <a:avLst/>
          </a:prstGeom>
          <a:noFill/>
        </p:spPr>
        <p:txBody>
          <a:bodyPr wrap="square" lIns="0" tIns="0" rIns="0" bIns="0" rtlCol="0" anchor="t">
            <a:noAutofit/>
          </a:bodyPr>
          <a:lstStyle/>
          <a:p>
            <a:pPr algn="l">
              <a:lnSpc>
                <a:spcPts val="1560"/>
              </a:lnSpc>
              <a:spcBef>
                <a:spcPts val="0"/>
              </a:spcBef>
              <a:spcAft>
                <a:spcPts val="0"/>
              </a:spcAft>
              <a:buNone/>
            </a:pPr>
            <a:r>
              <a:rPr lang="en-US" sz="1200" dirty="0">
                <a:solidFill>
                  <a:srgbClr val="5B4C63"/>
                </a:solidFill>
                <a:latin typeface="Lexend"/>
                <a:ea typeface="Lexend"/>
                <a:cs typeface="Lexend"/>
              </a:rPr>
              <a:t>Sources: CDC analysis of the 2022 National Survey of Children's Health (2024); CDC adult ADHD survey, MMWR (2024).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03-cards">
    <p:bg>
      <p:bgPr>
        <a:solidFill>
          <a:srgbClr val="F8F4F8"/>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E8D9EF"/>
          </a:solidFill>
          <a:ln>
            <a:noFill/>
          </a:ln>
        </p:spPr>
      </p:sp>
      <p:sp>
        <p:nvSpPr>
          <p:cNvPr id="3" name="footer"/>
          <p:cNvSpPr txBox="1"/>
          <p:nvPr/>
        </p:nvSpPr>
        <p:spPr>
          <a:xfrm>
            <a:off x="762000" y="6283350"/>
            <a:ext cx="3111500" cy="22540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ADHD: Therapy, Coaching &amp; Skills</a:t>
            </a:r>
            <a:endParaRPr lang="en-US" sz="1200" dirty="0"/>
          </a:p>
        </p:txBody>
      </p:sp>
      <p:sp>
        <p:nvSpPr>
          <p:cNvPr id="4" name="page-number"/>
          <p:cNvSpPr txBox="1"/>
          <p:nvPr/>
        </p:nvSpPr>
        <p:spPr>
          <a:xfrm>
            <a:off x="10858500" y="6272530"/>
            <a:ext cx="565150" cy="20447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3 / 7</a:t>
            </a:r>
            <a:endParaRPr lang="en-US" sz="1200" dirty="0"/>
          </a:p>
        </p:txBody>
      </p:sp>
      <p:sp>
        <p:nvSpPr>
          <p:cNvPr id="5" name="title-bar-19"/>
          <p:cNvSpPr/>
          <p:nvPr/>
        </p:nvSpPr>
        <p:spPr>
          <a:xfrm>
            <a:off x="762000" y="584200"/>
            <a:ext cx="457200" cy="63500"/>
          </a:xfrm>
          <a:prstGeom prst="roundRect">
            <a:avLst>
              <a:gd name="adj" fmla="val 50000"/>
            </a:avLst>
          </a:prstGeom>
          <a:solidFill>
            <a:srgbClr val="7B4A8F"/>
          </a:solidFill>
          <a:ln>
            <a:noFill/>
          </a:ln>
        </p:spPr>
      </p:sp>
      <p:sp>
        <p:nvSpPr>
          <p:cNvPr id="6" name="title"/>
          <p:cNvSpPr>
            <a:spLocks noGrp="1"/>
          </p:cNvSpPr>
          <p:nvPr>
            <p:ph type="title"/>
          </p:nvPr>
        </p:nvSpPr>
        <p:spPr>
          <a:xfrm>
            <a:off x="762000" y="730593"/>
            <a:ext cx="5080000" cy="469557"/>
          </a:xfrm>
          <a:prstGeom prst="rect">
            <a:avLst/>
          </a:prstGeom>
          <a:noFill/>
        </p:spPr>
        <p:txBody>
          <a:bodyPr wrap="square" lIns="0" tIns="0" rIns="0" bIns="0" rtlCol="0" anchor="t">
            <a:noAutofit/>
          </a:bodyPr>
          <a:lstStyle/>
          <a:p>
            <a:pPr algn="l">
              <a:lnSpc>
                <a:spcPts val="3742"/>
              </a:lnSpc>
              <a:buNone/>
            </a:pPr>
            <a:r>
              <a:rPr lang="en-US" sz="3400" b="1" dirty="0">
                <a:solidFill>
                  <a:srgbClr val="2E2135"/>
                </a:solidFill>
                <a:latin typeface="Fraunces"/>
                <a:ea typeface="Fraunces"/>
                <a:cs typeface="Fraunces"/>
              </a:rPr>
              <a:t>Therapies that help</a:t>
            </a:r>
            <a:endParaRPr lang="en-US" sz="3400" dirty="0"/>
          </a:p>
        </p:txBody>
      </p:sp>
      <p:sp>
        <p:nvSpPr>
          <p:cNvPr id="7" name="card-20"/>
          <p:cNvSpPr/>
          <p:nvPr/>
        </p:nvSpPr>
        <p:spPr>
          <a:xfrm>
            <a:off x="774700" y="1714500"/>
            <a:ext cx="5156200" cy="2006600"/>
          </a:xfrm>
          <a:prstGeom prst="roundRect">
            <a:avLst>
              <a:gd name="adj" fmla="val 9810"/>
            </a:avLst>
          </a:prstGeom>
          <a:solidFill>
            <a:srgbClr val="FFFFFF"/>
          </a:solidFill>
          <a:ln w="12700">
            <a:solidFill>
              <a:srgbClr val="E8DFEB"/>
            </a:solidFill>
          </a:ln>
        </p:spPr>
      </p:sp>
      <p:sp>
        <p:nvSpPr>
          <p:cNvPr id="8" name="icon-bg-21"/>
          <p:cNvSpPr/>
          <p:nvPr/>
        </p:nvSpPr>
        <p:spPr>
          <a:xfrm>
            <a:off x="1016000" y="1981200"/>
            <a:ext cx="762000" cy="762000"/>
          </a:xfrm>
          <a:prstGeom prst="ellipse">
            <a:avLst/>
          </a:prstGeom>
          <a:solidFill>
            <a:srgbClr val="E8D9EF"/>
          </a:solidFill>
          <a:ln>
            <a:noFill/>
          </a:ln>
        </p:spPr>
      </p:sp>
      <p:pic>
        <p:nvPicPr>
          <p:cNvPr id="9" name="icon-22" descr="icon-22"/>
          <p:cNvPicPr>
            <a:picLocks noChangeAspect="1"/>
          </p:cNvPicPr>
          <p:nvPr/>
        </p:nvPicPr>
        <p:blipFill>
          <a:blip r:embed="rId3"/>
          <a:stretch>
            <a:fillRect/>
          </a:stretch>
        </p:blipFill>
        <p:spPr>
          <a:xfrm>
            <a:off x="1098550" y="2063750"/>
            <a:ext cx="596900" cy="596900"/>
          </a:xfrm>
          <a:prstGeom prst="rect">
            <a:avLst/>
          </a:prstGeom>
        </p:spPr>
      </p:pic>
      <p:grpSp>
        <p:nvGrpSpPr>
          <p:cNvPr id="12" name="block-25"/>
          <p:cNvGrpSpPr/>
          <p:nvPr/>
        </p:nvGrpSpPr>
        <p:grpSpPr>
          <a:xfrm>
            <a:off x="1968500" y="1993900"/>
            <a:ext cx="3721100" cy="660400"/>
            <a:chOff x="0" y="0"/>
            <a:chExt cx="3721100" cy="660400"/>
          </a:xfrm>
        </p:grpSpPr>
        <p:sp>
          <p:nvSpPr>
            <p:cNvPr id="10" name="head-23"/>
            <p:cNvSpPr txBox="1"/>
            <p:nvPr/>
          </p:nvSpPr>
          <p:spPr>
            <a:xfrm>
              <a:off x="0" y="31572"/>
              <a:ext cx="3721100" cy="62882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2E2135"/>
                  </a:solidFill>
                  <a:latin typeface="Fraunces"/>
                  <a:ea typeface="Fraunces"/>
                  <a:cs typeface="Fraunces"/>
                </a:rPr>
                <a:t>Parent training in behavior management</a:t>
              </a:r>
              <a:endParaRPr lang="en-US" sz="2200" dirty="0"/>
            </a:p>
          </p:txBody>
        </p:sp>
        <p:sp>
          <p:nvSpPr>
            <p:cNvPr id="11" name="body-24"/>
            <p:cNvSpPr txBox="1"/>
            <p:nvPr/>
          </p:nvSpPr>
          <p:spPr>
            <a:xfrm>
              <a:off x="0" y="75057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B4C63"/>
                  </a:solidFill>
                  <a:latin typeface="Lexend"/>
                  <a:ea typeface="Lexend"/>
                  <a:cs typeface="Lexend"/>
                </a:rPr>
                <a:t>Recommended first for children under 6.</a:t>
              </a:r>
              <a:endParaRPr lang="en-US" sz="1800" dirty="0"/>
            </a:p>
          </p:txBody>
        </p:sp>
      </p:grpSp>
      <p:sp>
        <p:nvSpPr>
          <p:cNvPr id="13" name="card-26"/>
          <p:cNvSpPr/>
          <p:nvPr/>
        </p:nvSpPr>
        <p:spPr>
          <a:xfrm>
            <a:off x="6261100" y="1714500"/>
            <a:ext cx="5156200" cy="2006600"/>
          </a:xfrm>
          <a:prstGeom prst="roundRect">
            <a:avLst>
              <a:gd name="adj" fmla="val 9810"/>
            </a:avLst>
          </a:prstGeom>
          <a:solidFill>
            <a:srgbClr val="FFFFFF"/>
          </a:solidFill>
          <a:ln w="12700">
            <a:solidFill>
              <a:srgbClr val="E8DFEB"/>
            </a:solidFill>
          </a:ln>
        </p:spPr>
      </p:sp>
      <p:sp>
        <p:nvSpPr>
          <p:cNvPr id="14" name="icon-bg-27"/>
          <p:cNvSpPr/>
          <p:nvPr/>
        </p:nvSpPr>
        <p:spPr>
          <a:xfrm>
            <a:off x="6502400" y="1981200"/>
            <a:ext cx="762000" cy="762000"/>
          </a:xfrm>
          <a:prstGeom prst="ellipse">
            <a:avLst/>
          </a:prstGeom>
          <a:solidFill>
            <a:srgbClr val="E8D9EF"/>
          </a:solidFill>
          <a:ln>
            <a:noFill/>
          </a:ln>
        </p:spPr>
      </p:sp>
      <p:pic>
        <p:nvPicPr>
          <p:cNvPr id="15" name="icon-28" descr="icon-28"/>
          <p:cNvPicPr>
            <a:picLocks noChangeAspect="1"/>
          </p:cNvPicPr>
          <p:nvPr/>
        </p:nvPicPr>
        <p:blipFill>
          <a:blip r:embed="rId4"/>
          <a:stretch>
            <a:fillRect/>
          </a:stretch>
        </p:blipFill>
        <p:spPr>
          <a:xfrm>
            <a:off x="6584950" y="2063750"/>
            <a:ext cx="596900" cy="596900"/>
          </a:xfrm>
          <a:prstGeom prst="rect">
            <a:avLst/>
          </a:prstGeom>
        </p:spPr>
      </p:pic>
      <p:grpSp>
        <p:nvGrpSpPr>
          <p:cNvPr id="18" name="block-31"/>
          <p:cNvGrpSpPr/>
          <p:nvPr/>
        </p:nvGrpSpPr>
        <p:grpSpPr>
          <a:xfrm>
            <a:off x="7454900" y="1993900"/>
            <a:ext cx="3721100" cy="660400"/>
            <a:chOff x="0" y="0"/>
            <a:chExt cx="3721100" cy="660400"/>
          </a:xfrm>
        </p:grpSpPr>
        <p:sp>
          <p:nvSpPr>
            <p:cNvPr id="16" name="head-29"/>
            <p:cNvSpPr txBox="1"/>
            <p:nvPr/>
          </p:nvSpPr>
          <p:spPr>
            <a:xfrm>
              <a:off x="0" y="31572"/>
              <a:ext cx="3721100" cy="62882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2E2135"/>
                  </a:solidFill>
                  <a:latin typeface="Fraunces"/>
                  <a:ea typeface="Fraunces"/>
                  <a:cs typeface="Fraunces"/>
                </a:rPr>
                <a:t>Cognitive behavioral therapy</a:t>
              </a:r>
              <a:endParaRPr lang="en-US" sz="2200" dirty="0"/>
            </a:p>
          </p:txBody>
        </p:sp>
        <p:sp>
          <p:nvSpPr>
            <p:cNvPr id="17" name="body-30"/>
            <p:cNvSpPr txBox="1"/>
            <p:nvPr/>
          </p:nvSpPr>
          <p:spPr>
            <a:xfrm>
              <a:off x="0" y="75057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B4C63"/>
                  </a:solidFill>
                  <a:latin typeface="Lexend"/>
                  <a:ea typeface="Lexend"/>
                  <a:cs typeface="Lexend"/>
                </a:rPr>
                <a:t>Adapted CBT for habits, planning and stress.</a:t>
              </a:r>
              <a:endParaRPr lang="en-US" sz="1800" dirty="0"/>
            </a:p>
          </p:txBody>
        </p:sp>
      </p:grpSp>
      <p:sp>
        <p:nvSpPr>
          <p:cNvPr id="19" name="card-32"/>
          <p:cNvSpPr/>
          <p:nvPr/>
        </p:nvSpPr>
        <p:spPr>
          <a:xfrm>
            <a:off x="774700" y="4051300"/>
            <a:ext cx="5156200" cy="2006600"/>
          </a:xfrm>
          <a:prstGeom prst="roundRect">
            <a:avLst>
              <a:gd name="adj" fmla="val 9810"/>
            </a:avLst>
          </a:prstGeom>
          <a:solidFill>
            <a:srgbClr val="FFFFFF"/>
          </a:solidFill>
          <a:ln w="12700">
            <a:solidFill>
              <a:srgbClr val="E8DFEB"/>
            </a:solidFill>
          </a:ln>
        </p:spPr>
      </p:sp>
      <p:sp>
        <p:nvSpPr>
          <p:cNvPr id="20" name="icon-bg-33"/>
          <p:cNvSpPr/>
          <p:nvPr/>
        </p:nvSpPr>
        <p:spPr>
          <a:xfrm>
            <a:off x="1016000" y="4318000"/>
            <a:ext cx="762000" cy="762000"/>
          </a:xfrm>
          <a:prstGeom prst="ellipse">
            <a:avLst/>
          </a:prstGeom>
          <a:solidFill>
            <a:srgbClr val="E8D9EF"/>
          </a:solidFill>
          <a:ln>
            <a:noFill/>
          </a:ln>
        </p:spPr>
      </p:sp>
      <p:pic>
        <p:nvPicPr>
          <p:cNvPr id="21" name="icon-34" descr="icon-34"/>
          <p:cNvPicPr>
            <a:picLocks noChangeAspect="1"/>
          </p:cNvPicPr>
          <p:nvPr/>
        </p:nvPicPr>
        <p:blipFill>
          <a:blip r:embed="rId5"/>
          <a:stretch>
            <a:fillRect/>
          </a:stretch>
        </p:blipFill>
        <p:spPr>
          <a:xfrm>
            <a:off x="1098550" y="4400550"/>
            <a:ext cx="596900" cy="596900"/>
          </a:xfrm>
          <a:prstGeom prst="rect">
            <a:avLst/>
          </a:prstGeom>
        </p:spPr>
      </p:pic>
      <p:grpSp>
        <p:nvGrpSpPr>
          <p:cNvPr id="24" name="block-37"/>
          <p:cNvGrpSpPr/>
          <p:nvPr/>
        </p:nvGrpSpPr>
        <p:grpSpPr>
          <a:xfrm>
            <a:off x="1968500" y="4330700"/>
            <a:ext cx="3721100" cy="622300"/>
            <a:chOff x="0" y="0"/>
            <a:chExt cx="3721100" cy="622300"/>
          </a:xfrm>
        </p:grpSpPr>
        <p:sp>
          <p:nvSpPr>
            <p:cNvPr id="22" name="head-35"/>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2E2135"/>
                  </a:solidFill>
                  <a:latin typeface="Fraunces"/>
                  <a:ea typeface="Fraunces"/>
                  <a:cs typeface="Fraunces"/>
                </a:rPr>
                <a:t>ADHD coaching</a:t>
              </a:r>
              <a:endParaRPr lang="en-US" sz="2200" dirty="0"/>
            </a:p>
          </p:txBody>
        </p:sp>
        <p:sp>
          <p:nvSpPr>
            <p:cNvPr id="23" name="body-36"/>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B4C63"/>
                  </a:solidFill>
                  <a:latin typeface="Lexend"/>
                  <a:ea typeface="Lexend"/>
                  <a:cs typeface="Lexend"/>
                </a:rPr>
                <a:t>Goal-setting and accountability for planning and follow-through.</a:t>
              </a:r>
              <a:endParaRPr lang="en-US" sz="1800" dirty="0"/>
            </a:p>
          </p:txBody>
        </p:sp>
      </p:grpSp>
      <p:sp>
        <p:nvSpPr>
          <p:cNvPr id="25" name="card-38"/>
          <p:cNvSpPr/>
          <p:nvPr/>
        </p:nvSpPr>
        <p:spPr>
          <a:xfrm>
            <a:off x="6261100" y="4051300"/>
            <a:ext cx="5156200" cy="2006600"/>
          </a:xfrm>
          <a:prstGeom prst="roundRect">
            <a:avLst>
              <a:gd name="adj" fmla="val 9810"/>
            </a:avLst>
          </a:prstGeom>
          <a:solidFill>
            <a:srgbClr val="FFFFFF"/>
          </a:solidFill>
          <a:ln w="12700">
            <a:solidFill>
              <a:srgbClr val="E8DFEB"/>
            </a:solidFill>
          </a:ln>
        </p:spPr>
      </p:sp>
      <p:sp>
        <p:nvSpPr>
          <p:cNvPr id="26" name="icon-bg-39"/>
          <p:cNvSpPr/>
          <p:nvPr/>
        </p:nvSpPr>
        <p:spPr>
          <a:xfrm>
            <a:off x="6502400" y="4318000"/>
            <a:ext cx="762000" cy="762000"/>
          </a:xfrm>
          <a:prstGeom prst="ellipse">
            <a:avLst/>
          </a:prstGeom>
          <a:solidFill>
            <a:srgbClr val="E8D9EF"/>
          </a:solidFill>
          <a:ln>
            <a:noFill/>
          </a:ln>
        </p:spPr>
      </p:sp>
      <p:pic>
        <p:nvPicPr>
          <p:cNvPr id="27" name="icon-40" descr="icon-40"/>
          <p:cNvPicPr>
            <a:picLocks noChangeAspect="1"/>
          </p:cNvPicPr>
          <p:nvPr/>
        </p:nvPicPr>
        <p:blipFill>
          <a:blip r:embed="rId6"/>
          <a:stretch>
            <a:fillRect/>
          </a:stretch>
        </p:blipFill>
        <p:spPr>
          <a:xfrm>
            <a:off x="6584950" y="4400550"/>
            <a:ext cx="596900" cy="596900"/>
          </a:xfrm>
          <a:prstGeom prst="rect">
            <a:avLst/>
          </a:prstGeom>
        </p:spPr>
      </p:pic>
      <p:grpSp>
        <p:nvGrpSpPr>
          <p:cNvPr id="30" name="block-43"/>
          <p:cNvGrpSpPr/>
          <p:nvPr/>
        </p:nvGrpSpPr>
        <p:grpSpPr>
          <a:xfrm>
            <a:off x="7454900" y="4330700"/>
            <a:ext cx="3721100" cy="622300"/>
            <a:chOff x="0" y="0"/>
            <a:chExt cx="3721100" cy="622300"/>
          </a:xfrm>
        </p:grpSpPr>
        <p:sp>
          <p:nvSpPr>
            <p:cNvPr id="28" name="head-41"/>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2E2135"/>
                  </a:solidFill>
                  <a:latin typeface="Fraunces"/>
                  <a:ea typeface="Fraunces"/>
                  <a:cs typeface="Fraunces"/>
                </a:rPr>
                <a:t>School supports</a:t>
              </a:r>
              <a:endParaRPr lang="en-US" sz="2200" dirty="0"/>
            </a:p>
          </p:txBody>
        </p:sp>
        <p:sp>
          <p:nvSpPr>
            <p:cNvPr id="29" name="body-42"/>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B4C63"/>
                  </a:solidFill>
                  <a:latin typeface="Lexend"/>
                  <a:ea typeface="Lexend"/>
                  <a:cs typeface="Lexend"/>
                </a:rPr>
                <a:t>Classroom strategies, 504 plans or IEPs.</a:t>
              </a:r>
              <a:endParaRPr lang="en-US" sz="180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04-split">
    <p:bg>
      <p:bgPr>
        <a:solidFill>
          <a:srgbClr val="F8F4F8"/>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E8D9EF"/>
          </a:solidFill>
          <a:ln>
            <a:noFill/>
          </a:ln>
        </p:spPr>
      </p:sp>
      <p:sp>
        <p:nvSpPr>
          <p:cNvPr id="3" name="footer"/>
          <p:cNvSpPr txBox="1"/>
          <p:nvPr/>
        </p:nvSpPr>
        <p:spPr>
          <a:xfrm>
            <a:off x="762000" y="6283350"/>
            <a:ext cx="3111500" cy="22540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ADHD: Therapy, Coaching &amp; Skills</a:t>
            </a:r>
            <a:endParaRPr lang="en-US" sz="1200" dirty="0"/>
          </a:p>
        </p:txBody>
      </p:sp>
      <p:sp>
        <p:nvSpPr>
          <p:cNvPr id="4" name="page-number"/>
          <p:cNvSpPr txBox="1"/>
          <p:nvPr/>
        </p:nvSpPr>
        <p:spPr>
          <a:xfrm>
            <a:off x="10858500" y="6272530"/>
            <a:ext cx="577850" cy="20447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4 / 7</a:t>
            </a:r>
            <a:endParaRPr lang="en-US" sz="1200" dirty="0"/>
          </a:p>
        </p:txBody>
      </p:sp>
      <p:sp>
        <p:nvSpPr>
          <p:cNvPr id="5" name="title-bar-44"/>
          <p:cNvSpPr/>
          <p:nvPr/>
        </p:nvSpPr>
        <p:spPr>
          <a:xfrm>
            <a:off x="762000" y="584200"/>
            <a:ext cx="457200" cy="63500"/>
          </a:xfrm>
          <a:prstGeom prst="roundRect">
            <a:avLst>
              <a:gd name="adj" fmla="val 50000"/>
            </a:avLst>
          </a:prstGeom>
          <a:solidFill>
            <a:srgbClr val="7B4A8F"/>
          </a:solidFill>
          <a:ln>
            <a:noFill/>
          </a:ln>
        </p:spPr>
      </p:sp>
      <p:sp>
        <p:nvSpPr>
          <p:cNvPr id="6" name="title"/>
          <p:cNvSpPr>
            <a:spLocks noGrp="1"/>
          </p:cNvSpPr>
          <p:nvPr>
            <p:ph type="title"/>
          </p:nvPr>
        </p:nvSpPr>
        <p:spPr>
          <a:xfrm>
            <a:off x="762000" y="730593"/>
            <a:ext cx="8445500" cy="374307"/>
          </a:xfrm>
          <a:prstGeom prst="rect">
            <a:avLst/>
          </a:prstGeom>
          <a:noFill/>
        </p:spPr>
        <p:txBody>
          <a:bodyPr wrap="square" lIns="0" tIns="0" rIns="0" bIns="0" rtlCol="0" anchor="t">
            <a:noAutofit/>
          </a:bodyPr>
          <a:lstStyle/>
          <a:p>
            <a:pPr algn="l">
              <a:lnSpc>
                <a:spcPts val="3742"/>
              </a:lnSpc>
              <a:buNone/>
            </a:pPr>
            <a:r>
              <a:rPr lang="en-US" sz="3400" b="1" dirty="0">
                <a:solidFill>
                  <a:srgbClr val="2E2135"/>
                </a:solidFill>
                <a:latin typeface="Fraunces"/>
                <a:ea typeface="Fraunces"/>
                <a:cs typeface="Fraunces"/>
              </a:rPr>
              <a:t>Treatment works best combined</a:t>
            </a:r>
            <a:endParaRPr lang="en-US" sz="3400" dirty="0"/>
          </a:p>
        </p:txBody>
      </p:sp>
      <p:sp>
        <p:nvSpPr>
          <p:cNvPr id="7" name="body"/>
          <p:cNvSpPr txBox="1"/>
          <p:nvPr/>
        </p:nvSpPr>
        <p:spPr>
          <a:xfrm>
            <a:off x="762000" y="1898015"/>
            <a:ext cx="5588000" cy="3264535"/>
          </a:xfrm>
          <a:prstGeom prst="rect">
            <a:avLst/>
          </a:prstGeom>
          <a:noFill/>
        </p:spPr>
        <p:txBody>
          <a:bodyPr wrap="square" lIns="0" tIns="0" rIns="0" bIns="0" rtlCol="0" anchor="t">
            <a:noAutofit/>
          </a:bodyPr>
          <a:lstStyle/>
          <a:p>
            <a:pPr algn="l" marL="391160" indent="-391160" lvl="0">
              <a:lnSpc>
                <a:spcPts val="2860"/>
              </a:lnSpc>
              <a:spcBef>
                <a:spcPts val="0"/>
              </a:spcBef>
              <a:spcAft>
                <a:spcPts val="1400"/>
              </a:spcAft>
              <a:buFont typeface="Arial"/>
              <a:buChar char="•"/>
            </a:pPr>
            <a:r>
              <a:rPr lang="en-US" sz="2200" dirty="0">
                <a:solidFill>
                  <a:srgbClr val="2E2135"/>
                </a:solidFill>
                <a:latin typeface="Lexend"/>
                <a:ea typeface="Lexend"/>
                <a:cs typeface="Lexend"/>
              </a:rPr>
              <a:t>Ages 6+: medication plus behavior therapy</a:t>
            </a:r>
            <a:endParaRPr lang="en-US" sz="2200" dirty="0"/>
          </a:p>
          <a:p>
            <a:pPr algn="l" marL="391160" indent="-391160" lvl="0">
              <a:lnSpc>
                <a:spcPts val="2860"/>
              </a:lnSpc>
              <a:spcBef>
                <a:spcPts val="0"/>
              </a:spcBef>
              <a:spcAft>
                <a:spcPts val="1400"/>
              </a:spcAft>
              <a:buFont typeface="Arial"/>
              <a:buChar char="•"/>
            </a:pPr>
            <a:r>
              <a:rPr lang="en-US" sz="2200" dirty="0">
                <a:solidFill>
                  <a:srgbClr val="2E2135"/>
                </a:solidFill>
                <a:latin typeface="Lexend"/>
                <a:ea typeface="Lexend"/>
                <a:cs typeface="Lexend"/>
              </a:rPr>
              <a:t>Teens: add organization and study skills</a:t>
            </a:r>
            <a:endParaRPr lang="en-US" sz="2200" dirty="0"/>
          </a:p>
          <a:p>
            <a:pPr algn="l" marL="391160" indent="-391160" lvl="0">
              <a:lnSpc>
                <a:spcPts val="2860"/>
              </a:lnSpc>
              <a:spcBef>
                <a:spcPts val="0"/>
              </a:spcBef>
              <a:spcAft>
                <a:spcPts val="1400"/>
              </a:spcAft>
              <a:buFont typeface="Arial"/>
              <a:buChar char="•"/>
            </a:pPr>
            <a:r>
              <a:rPr lang="en-US" sz="2200" dirty="0">
                <a:solidFill>
                  <a:srgbClr val="2E2135"/>
                </a:solidFill>
                <a:latin typeface="Lexend"/>
                <a:ea typeface="Lexend"/>
                <a:cs typeface="Lexend"/>
              </a:rPr>
              <a:t>Adults: CBT, coaching and workplace supports</a:t>
            </a:r>
            <a:endParaRPr lang="en-US" sz="2200" dirty="0"/>
          </a:p>
          <a:p>
            <a:pPr algn="l" marL="391160" indent="-391160" lvl="0">
              <a:lnSpc>
                <a:spcPts val="2860"/>
              </a:lnSpc>
              <a:spcBef>
                <a:spcPts val="0"/>
              </a:spcBef>
              <a:spcAft>
                <a:spcPts val="1400"/>
              </a:spcAft>
              <a:buFont typeface="Arial"/>
              <a:buChar char="•"/>
            </a:pPr>
            <a:r>
              <a:rPr lang="en-US" sz="2200" dirty="0">
                <a:solidFill>
                  <a:srgbClr val="2E2135"/>
                </a:solidFill>
                <a:latin typeface="Lexend"/>
                <a:ea typeface="Lexend"/>
                <a:cs typeface="Lexend"/>
              </a:rPr>
              <a:t>Review the plan as needs change</a:t>
            </a:r>
            <a:endParaRPr lang="en-US" sz="2200" dirty="0"/>
          </a:p>
        </p:txBody>
      </p:sp>
      <p:sp>
        <p:nvSpPr>
          <p:cNvPr id="8" name="panel"/>
          <p:cNvSpPr/>
          <p:nvPr/>
        </p:nvSpPr>
        <p:spPr>
          <a:xfrm>
            <a:off x="7048500" y="1701800"/>
            <a:ext cx="4381500" cy="4381500"/>
          </a:xfrm>
          <a:prstGeom prst="roundRect">
            <a:avLst>
              <a:gd name="adj" fmla="val 5797"/>
            </a:avLst>
          </a:prstGeom>
          <a:solidFill>
            <a:srgbClr val="7B4A8F"/>
          </a:solidFill>
          <a:ln>
            <a:noFill/>
          </a:ln>
        </p:spPr>
      </p:sp>
      <p:sp>
        <p:nvSpPr>
          <p:cNvPr id="9" name="icon-bg-45"/>
          <p:cNvSpPr/>
          <p:nvPr/>
        </p:nvSpPr>
        <p:spPr>
          <a:xfrm>
            <a:off x="7404100" y="2057400"/>
            <a:ext cx="762000" cy="762000"/>
          </a:xfrm>
          <a:prstGeom prst="ellipse">
            <a:avLst/>
          </a:prstGeom>
          <a:solidFill>
            <a:srgbClr val="F2E8F6"/>
          </a:solidFill>
          <a:ln>
            <a:noFill/>
          </a:ln>
        </p:spPr>
      </p:sp>
      <p:pic>
        <p:nvPicPr>
          <p:cNvPr id="10" name="icon-46" descr="icon-46"/>
          <p:cNvPicPr>
            <a:picLocks noChangeAspect="1"/>
          </p:cNvPicPr>
          <p:nvPr/>
        </p:nvPicPr>
        <p:blipFill>
          <a:blip r:embed="rId3"/>
          <a:stretch>
            <a:fillRect/>
          </a:stretch>
        </p:blipFill>
        <p:spPr>
          <a:xfrm>
            <a:off x="7486650" y="2139950"/>
            <a:ext cx="596900" cy="596900"/>
          </a:xfrm>
          <a:prstGeom prst="rect">
            <a:avLst/>
          </a:prstGeom>
        </p:spPr>
      </p:pic>
      <p:grpSp>
        <p:nvGrpSpPr>
          <p:cNvPr id="13" name="block-47"/>
          <p:cNvGrpSpPr/>
          <p:nvPr/>
        </p:nvGrpSpPr>
        <p:grpSpPr>
          <a:xfrm>
            <a:off x="7404100" y="3098800"/>
            <a:ext cx="3670300" cy="1282700"/>
            <a:chOff x="0" y="0"/>
            <a:chExt cx="3670300" cy="1282700"/>
          </a:xfrm>
        </p:grpSpPr>
        <p:sp>
          <p:nvSpPr>
            <p:cNvPr id="11" name="panel-head"/>
            <p:cNvSpPr txBox="1"/>
            <p:nvPr/>
          </p:nvSpPr>
          <p:spPr>
            <a:xfrm>
              <a:off x="0" y="40183"/>
              <a:ext cx="3670300" cy="798017"/>
            </a:xfrm>
            <a:prstGeom prst="rect">
              <a:avLst/>
            </a:prstGeom>
            <a:noFill/>
          </p:spPr>
          <p:txBody>
            <a:bodyPr wrap="square" lIns="0" tIns="0" rIns="0" bIns="0" rtlCol="0" anchor="t">
              <a:noAutofit/>
            </a:bodyPr>
            <a:lstStyle/>
            <a:p>
              <a:pPr algn="l">
                <a:lnSpc>
                  <a:spcPts val="3136"/>
                </a:lnSpc>
                <a:spcBef>
                  <a:spcPts val="0"/>
                </a:spcBef>
                <a:spcAft>
                  <a:spcPts val="0"/>
                </a:spcAft>
                <a:buNone/>
              </a:pPr>
              <a:r>
                <a:rPr lang="en-US" sz="2800" b="1" dirty="0">
                  <a:solidFill>
                    <a:srgbClr val="FFFFFF"/>
                  </a:solidFill>
                  <a:latin typeface="Fraunces"/>
                  <a:ea typeface="Fraunces"/>
                  <a:cs typeface="Fraunces"/>
                </a:rPr>
                <a:t>Under 6? Start with parent training</a:t>
              </a:r>
              <a:endParaRPr lang="en-US" sz="2800" dirty="0"/>
            </a:p>
          </p:txBody>
        </p:sp>
        <p:sp>
          <p:nvSpPr>
            <p:cNvPr id="12" name="panel-body"/>
            <p:cNvSpPr txBox="1"/>
            <p:nvPr/>
          </p:nvSpPr>
          <p:spPr>
            <a:xfrm>
              <a:off x="0" y="973455"/>
              <a:ext cx="3670300" cy="1299845"/>
            </a:xfrm>
            <a:prstGeom prst="rect">
              <a:avLst/>
            </a:prstGeom>
            <a:noFill/>
          </p:spPr>
          <p:txBody>
            <a:bodyPr wrap="square" lIns="0" tIns="0" rIns="0" bIns="0" rtlCol="0" anchor="t">
              <a:noAutofit/>
            </a:bodyPr>
            <a:lstStyle/>
            <a:p>
              <a:pPr algn="l">
                <a:lnSpc>
                  <a:spcPts val="2520"/>
                </a:lnSpc>
                <a:spcBef>
                  <a:spcPts val="0"/>
                </a:spcBef>
                <a:spcAft>
                  <a:spcPts val="0"/>
                </a:spcAft>
                <a:buNone/>
              </a:pPr>
              <a:r>
                <a:rPr lang="en-US" sz="1800" dirty="0">
                  <a:solidFill>
                    <a:srgbClr val="FFFFFF"/>
                  </a:solidFill>
                  <a:latin typeface="Lexend"/>
                  <a:ea typeface="Lexend"/>
                  <a:cs typeface="Lexend"/>
                </a:rPr>
                <a:t>For young children, guidelines recommend behavior therapy delivered through parents before trying medication.</a:t>
              </a:r>
              <a:endParaRPr lang="en-US" sz="18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05-steps">
    <p:bg>
      <p:bgPr>
        <a:solidFill>
          <a:srgbClr val="F8F4F8"/>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E8D9EF"/>
          </a:solidFill>
          <a:ln>
            <a:noFill/>
          </a:ln>
        </p:spPr>
      </p:sp>
      <p:sp>
        <p:nvSpPr>
          <p:cNvPr id="3" name="footer"/>
          <p:cNvSpPr txBox="1"/>
          <p:nvPr/>
        </p:nvSpPr>
        <p:spPr>
          <a:xfrm>
            <a:off x="762000" y="6283350"/>
            <a:ext cx="3111500" cy="22540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ADHD: Therapy, Coaching &amp; Skills</a:t>
            </a:r>
            <a:endParaRPr lang="en-US" sz="1200" dirty="0"/>
          </a:p>
        </p:txBody>
      </p:sp>
      <p:sp>
        <p:nvSpPr>
          <p:cNvPr id="4" name="page-number"/>
          <p:cNvSpPr txBox="1"/>
          <p:nvPr/>
        </p:nvSpPr>
        <p:spPr>
          <a:xfrm>
            <a:off x="10858500" y="6272530"/>
            <a:ext cx="571500" cy="20447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5 / 7</a:t>
            </a:r>
            <a:endParaRPr lang="en-US" sz="1200" dirty="0"/>
          </a:p>
        </p:txBody>
      </p:sp>
      <p:sp>
        <p:nvSpPr>
          <p:cNvPr id="5" name="title-bar-48"/>
          <p:cNvSpPr/>
          <p:nvPr/>
        </p:nvSpPr>
        <p:spPr>
          <a:xfrm>
            <a:off x="762000" y="584200"/>
            <a:ext cx="457200" cy="63500"/>
          </a:xfrm>
          <a:prstGeom prst="roundRect">
            <a:avLst>
              <a:gd name="adj" fmla="val 50000"/>
            </a:avLst>
          </a:prstGeom>
          <a:solidFill>
            <a:srgbClr val="7B4A8F"/>
          </a:solidFill>
          <a:ln>
            <a:noFill/>
          </a:ln>
        </p:spPr>
      </p:sp>
      <p:sp>
        <p:nvSpPr>
          <p:cNvPr id="6" name="title"/>
          <p:cNvSpPr>
            <a:spLocks noGrp="1"/>
          </p:cNvSpPr>
          <p:nvPr>
            <p:ph type="title"/>
          </p:nvPr>
        </p:nvSpPr>
        <p:spPr>
          <a:xfrm>
            <a:off x="762000" y="730593"/>
            <a:ext cx="9255125" cy="374307"/>
          </a:xfrm>
          <a:prstGeom prst="rect">
            <a:avLst/>
          </a:prstGeom>
          <a:noFill/>
        </p:spPr>
        <p:txBody>
          <a:bodyPr wrap="square" lIns="0" tIns="0" rIns="0" bIns="0" rtlCol="0" anchor="t">
            <a:noAutofit/>
          </a:bodyPr>
          <a:lstStyle/>
          <a:p>
            <a:pPr algn="l">
              <a:lnSpc>
                <a:spcPts val="3742"/>
              </a:lnSpc>
              <a:buNone/>
            </a:pPr>
            <a:r>
              <a:rPr lang="en-US" sz="3400" b="1" dirty="0">
                <a:solidFill>
                  <a:srgbClr val="2E2135"/>
                </a:solidFill>
                <a:latin typeface="Fraunces"/>
                <a:ea typeface="Fraunces"/>
                <a:cs typeface="Fraunces"/>
              </a:rPr>
              <a:t>Build an executive-function routine</a:t>
            </a:r>
            <a:endParaRPr lang="en-US" sz="3400" dirty="0"/>
          </a:p>
        </p:txBody>
      </p:sp>
      <p:sp>
        <p:nvSpPr>
          <p:cNvPr id="7" name="steps-line"/>
          <p:cNvSpPr/>
          <p:nvPr/>
        </p:nvSpPr>
        <p:spPr>
          <a:xfrm>
            <a:off x="1828800" y="2489200"/>
            <a:ext cx="8534400" cy="50800"/>
          </a:xfrm>
          <a:prstGeom prst="roundRect">
            <a:avLst>
              <a:gd name="adj" fmla="val 50000"/>
            </a:avLst>
          </a:prstGeom>
          <a:solidFill>
            <a:srgbClr val="E8D9EF"/>
          </a:solidFill>
          <a:ln>
            <a:noFill/>
          </a:ln>
        </p:spPr>
      </p:sp>
      <p:sp>
        <p:nvSpPr>
          <p:cNvPr id="8" name="step-dot-49"/>
          <p:cNvSpPr/>
          <p:nvPr/>
        </p:nvSpPr>
        <p:spPr>
          <a:xfrm>
            <a:off x="1409700" y="2095500"/>
            <a:ext cx="838200" cy="838200"/>
          </a:xfrm>
          <a:prstGeom prst="ellipse">
            <a:avLst/>
          </a:prstGeom>
          <a:solidFill>
            <a:srgbClr val="7B4A8F"/>
          </a:solidFill>
          <a:ln>
            <a:noFill/>
          </a:ln>
        </p:spPr>
      </p:sp>
      <p:sp>
        <p:nvSpPr>
          <p:cNvPr id="9" name="step-num-50"/>
          <p:cNvSpPr txBox="1"/>
          <p:nvPr/>
        </p:nvSpPr>
        <p:spPr>
          <a:xfrm>
            <a:off x="1743075" y="2336241"/>
            <a:ext cx="704850" cy="308534"/>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1</a:t>
            </a:r>
            <a:endParaRPr lang="en-US" sz="2800" dirty="0"/>
          </a:p>
        </p:txBody>
      </p:sp>
      <p:grpSp>
        <p:nvGrpSpPr>
          <p:cNvPr id="12" name="block-53"/>
          <p:cNvGrpSpPr/>
          <p:nvPr/>
        </p:nvGrpSpPr>
        <p:grpSpPr>
          <a:xfrm>
            <a:off x="876300" y="3213100"/>
            <a:ext cx="1905000" cy="622300"/>
            <a:chOff x="0" y="0"/>
            <a:chExt cx="1905000" cy="622300"/>
          </a:xfrm>
        </p:grpSpPr>
        <p:sp>
          <p:nvSpPr>
            <p:cNvPr id="10" name="head-51"/>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2E2135"/>
                  </a:solidFill>
                  <a:latin typeface="Fraunces"/>
                  <a:ea typeface="Fraunces"/>
                  <a:cs typeface="Fraunces"/>
                </a:rPr>
                <a:t>Externalize</a:t>
              </a:r>
              <a:endParaRPr lang="en-US" sz="2200" dirty="0"/>
            </a:p>
          </p:txBody>
        </p:sp>
        <p:sp>
          <p:nvSpPr>
            <p:cNvPr id="11" name="body-52"/>
            <p:cNvSpPr txBox="1"/>
            <p:nvPr/>
          </p:nvSpPr>
          <p:spPr>
            <a:xfrm>
              <a:off x="0" y="452120"/>
              <a:ext cx="19050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B4C63"/>
                  </a:solidFill>
                  <a:latin typeface="Lexend"/>
                  <a:ea typeface="Lexend"/>
                  <a:cs typeface="Lexend"/>
                </a:rPr>
                <a:t>Write it down, out of your head.</a:t>
              </a:r>
              <a:endParaRPr lang="en-US" sz="1800" dirty="0"/>
            </a:p>
          </p:txBody>
        </p:sp>
      </p:grpSp>
      <p:sp>
        <p:nvSpPr>
          <p:cNvPr id="13" name="step-dot-54"/>
          <p:cNvSpPr/>
          <p:nvPr/>
        </p:nvSpPr>
        <p:spPr>
          <a:xfrm>
            <a:off x="3543300" y="2095500"/>
            <a:ext cx="838200" cy="838200"/>
          </a:xfrm>
          <a:prstGeom prst="ellipse">
            <a:avLst/>
          </a:prstGeom>
          <a:solidFill>
            <a:srgbClr val="7B4A8F"/>
          </a:solidFill>
          <a:ln>
            <a:noFill/>
          </a:ln>
        </p:spPr>
      </p:sp>
      <p:sp>
        <p:nvSpPr>
          <p:cNvPr id="14" name="step-num-55"/>
          <p:cNvSpPr txBox="1"/>
          <p:nvPr/>
        </p:nvSpPr>
        <p:spPr>
          <a:xfrm>
            <a:off x="3851275" y="2335530"/>
            <a:ext cx="755650" cy="309245"/>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2</a:t>
            </a:r>
            <a:endParaRPr lang="en-US" sz="2800" dirty="0"/>
          </a:p>
        </p:txBody>
      </p:sp>
      <p:grpSp>
        <p:nvGrpSpPr>
          <p:cNvPr id="17" name="block-58"/>
          <p:cNvGrpSpPr/>
          <p:nvPr/>
        </p:nvGrpSpPr>
        <p:grpSpPr>
          <a:xfrm>
            <a:off x="3009900" y="3213100"/>
            <a:ext cx="1905000" cy="927100"/>
            <a:chOff x="0" y="0"/>
            <a:chExt cx="1905000" cy="927100"/>
          </a:xfrm>
        </p:grpSpPr>
        <p:sp>
          <p:nvSpPr>
            <p:cNvPr id="15" name="head-56"/>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2E2135"/>
                  </a:solidFill>
                  <a:latin typeface="Fraunces"/>
                  <a:ea typeface="Fraunces"/>
                  <a:cs typeface="Fraunces"/>
                </a:rPr>
                <a:t>Break it down</a:t>
              </a:r>
              <a:endParaRPr lang="en-US" sz="2200" dirty="0"/>
            </a:p>
          </p:txBody>
        </p:sp>
        <p:sp>
          <p:nvSpPr>
            <p:cNvPr id="16" name="body-57"/>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B4C63"/>
                  </a:solidFill>
                  <a:latin typeface="Lexend"/>
                  <a:ea typeface="Lexend"/>
                  <a:cs typeface="Lexend"/>
                </a:rPr>
                <a:t>Next small step, not the whole task.</a:t>
              </a:r>
              <a:endParaRPr lang="en-US" sz="1800" dirty="0"/>
            </a:p>
          </p:txBody>
        </p:sp>
      </p:grpSp>
      <p:sp>
        <p:nvSpPr>
          <p:cNvPr id="18" name="step-dot-59"/>
          <p:cNvSpPr/>
          <p:nvPr/>
        </p:nvSpPr>
        <p:spPr>
          <a:xfrm>
            <a:off x="5676900" y="2095500"/>
            <a:ext cx="838200" cy="838200"/>
          </a:xfrm>
          <a:prstGeom prst="ellipse">
            <a:avLst/>
          </a:prstGeom>
          <a:solidFill>
            <a:srgbClr val="7B4A8F"/>
          </a:solidFill>
          <a:ln>
            <a:noFill/>
          </a:ln>
        </p:spPr>
      </p:sp>
      <p:sp>
        <p:nvSpPr>
          <p:cNvPr id="19" name="step-num-60"/>
          <p:cNvSpPr txBox="1"/>
          <p:nvPr/>
        </p:nvSpPr>
        <p:spPr>
          <a:xfrm>
            <a:off x="5994400" y="2330018"/>
            <a:ext cx="736600" cy="314757"/>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3</a:t>
            </a:r>
            <a:endParaRPr lang="en-US" sz="2800" dirty="0"/>
          </a:p>
        </p:txBody>
      </p:sp>
      <p:grpSp>
        <p:nvGrpSpPr>
          <p:cNvPr id="22" name="block-63"/>
          <p:cNvGrpSpPr/>
          <p:nvPr/>
        </p:nvGrpSpPr>
        <p:grpSpPr>
          <a:xfrm>
            <a:off x="5143500" y="3213100"/>
            <a:ext cx="1905000" cy="660400"/>
            <a:chOff x="0" y="0"/>
            <a:chExt cx="1905000" cy="660400"/>
          </a:xfrm>
        </p:grpSpPr>
        <p:sp>
          <p:nvSpPr>
            <p:cNvPr id="20" name="head-61"/>
            <p:cNvSpPr txBox="1"/>
            <p:nvPr/>
          </p:nvSpPr>
          <p:spPr>
            <a:xfrm>
              <a:off x="0" y="31572"/>
              <a:ext cx="1905000" cy="62882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2E2135"/>
                  </a:solidFill>
                  <a:latin typeface="Fraunces"/>
                  <a:ea typeface="Fraunces"/>
                  <a:cs typeface="Fraunces"/>
                </a:rPr>
                <a:t>Make time visible</a:t>
              </a:r>
              <a:endParaRPr lang="en-US" sz="2200" dirty="0"/>
            </a:p>
          </p:txBody>
        </p:sp>
        <p:sp>
          <p:nvSpPr>
            <p:cNvPr id="21" name="body-62"/>
            <p:cNvSpPr txBox="1"/>
            <p:nvPr/>
          </p:nvSpPr>
          <p:spPr>
            <a:xfrm>
              <a:off x="0" y="763270"/>
              <a:ext cx="19050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B4C63"/>
                  </a:solidFill>
                  <a:latin typeface="Lexend"/>
                  <a:ea typeface="Lexend"/>
                  <a:cs typeface="Lexend"/>
                </a:rPr>
                <a:t>Timers, alarms and clocks.</a:t>
              </a:r>
              <a:endParaRPr lang="en-US" sz="1800" dirty="0"/>
            </a:p>
          </p:txBody>
        </p:sp>
      </p:grpSp>
      <p:sp>
        <p:nvSpPr>
          <p:cNvPr id="23" name="step-dot-64"/>
          <p:cNvSpPr/>
          <p:nvPr/>
        </p:nvSpPr>
        <p:spPr>
          <a:xfrm>
            <a:off x="7810500" y="2095500"/>
            <a:ext cx="838200" cy="838200"/>
          </a:xfrm>
          <a:prstGeom prst="ellipse">
            <a:avLst/>
          </a:prstGeom>
          <a:solidFill>
            <a:srgbClr val="7B4A8F"/>
          </a:solidFill>
          <a:ln>
            <a:noFill/>
          </a:ln>
        </p:spPr>
      </p:sp>
      <p:sp>
        <p:nvSpPr>
          <p:cNvPr id="24" name="step-num-65"/>
          <p:cNvSpPr txBox="1"/>
          <p:nvPr/>
        </p:nvSpPr>
        <p:spPr>
          <a:xfrm>
            <a:off x="8115300" y="2339264"/>
            <a:ext cx="762000" cy="305511"/>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4</a:t>
            </a:r>
            <a:endParaRPr lang="en-US" sz="2800" dirty="0"/>
          </a:p>
        </p:txBody>
      </p:sp>
      <p:grpSp>
        <p:nvGrpSpPr>
          <p:cNvPr id="27" name="block-68"/>
          <p:cNvGrpSpPr/>
          <p:nvPr/>
        </p:nvGrpSpPr>
        <p:grpSpPr>
          <a:xfrm>
            <a:off x="7277100" y="3213100"/>
            <a:ext cx="1905000" cy="927100"/>
            <a:chOff x="0" y="0"/>
            <a:chExt cx="1905000" cy="927100"/>
          </a:xfrm>
        </p:grpSpPr>
        <p:sp>
          <p:nvSpPr>
            <p:cNvPr id="25" name="head-66"/>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2E2135"/>
                  </a:solidFill>
                  <a:latin typeface="Fraunces"/>
                  <a:ea typeface="Fraunces"/>
                  <a:cs typeface="Fraunces"/>
                </a:rPr>
                <a:t>Reward</a:t>
              </a:r>
              <a:endParaRPr lang="en-US" sz="2200" dirty="0"/>
            </a:p>
          </p:txBody>
        </p:sp>
        <p:sp>
          <p:nvSpPr>
            <p:cNvPr id="26" name="body-67"/>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B4C63"/>
                  </a:solidFill>
                  <a:latin typeface="Lexend"/>
                  <a:ea typeface="Lexend"/>
                  <a:cs typeface="Lexend"/>
                </a:rPr>
                <a:t>Quick wins keep motivation going.</a:t>
              </a:r>
              <a:endParaRPr lang="en-US" sz="1800" dirty="0"/>
            </a:p>
          </p:txBody>
        </p:sp>
      </p:grpSp>
      <p:sp>
        <p:nvSpPr>
          <p:cNvPr id="28" name="step-dot-69"/>
          <p:cNvSpPr/>
          <p:nvPr/>
        </p:nvSpPr>
        <p:spPr>
          <a:xfrm>
            <a:off x="9944100" y="2095500"/>
            <a:ext cx="838200" cy="838200"/>
          </a:xfrm>
          <a:prstGeom prst="ellipse">
            <a:avLst/>
          </a:prstGeom>
          <a:solidFill>
            <a:srgbClr val="7B4A8F"/>
          </a:solidFill>
          <a:ln>
            <a:noFill/>
          </a:ln>
        </p:spPr>
      </p:sp>
      <p:sp>
        <p:nvSpPr>
          <p:cNvPr id="29" name="step-num-70"/>
          <p:cNvSpPr txBox="1"/>
          <p:nvPr/>
        </p:nvSpPr>
        <p:spPr>
          <a:xfrm>
            <a:off x="10258425" y="2335338"/>
            <a:ext cx="742950" cy="312612"/>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5</a:t>
            </a:r>
            <a:endParaRPr lang="en-US" sz="2800" dirty="0"/>
          </a:p>
        </p:txBody>
      </p:sp>
      <p:grpSp>
        <p:nvGrpSpPr>
          <p:cNvPr id="32" name="block-73"/>
          <p:cNvGrpSpPr/>
          <p:nvPr/>
        </p:nvGrpSpPr>
        <p:grpSpPr>
          <a:xfrm>
            <a:off x="9410700" y="3213100"/>
            <a:ext cx="1905000" cy="622300"/>
            <a:chOff x="0" y="0"/>
            <a:chExt cx="1905000" cy="622300"/>
          </a:xfrm>
        </p:grpSpPr>
        <p:sp>
          <p:nvSpPr>
            <p:cNvPr id="30" name="head-71"/>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2E2135"/>
                  </a:solidFill>
                  <a:latin typeface="Fraunces"/>
                  <a:ea typeface="Fraunces"/>
                  <a:cs typeface="Fraunces"/>
                </a:rPr>
                <a:t>Review</a:t>
              </a:r>
              <a:endParaRPr lang="en-US" sz="2200" dirty="0"/>
            </a:p>
          </p:txBody>
        </p:sp>
        <p:sp>
          <p:nvSpPr>
            <p:cNvPr id="31" name="body-72"/>
            <p:cNvSpPr txBox="1"/>
            <p:nvPr/>
          </p:nvSpPr>
          <p:spPr>
            <a:xfrm>
              <a:off x="0" y="452120"/>
              <a:ext cx="19050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B4C63"/>
                  </a:solidFill>
                  <a:latin typeface="Lexend"/>
                  <a:ea typeface="Lexend"/>
                  <a:cs typeface="Lexend"/>
                </a:rPr>
                <a:t>Weekly reset: what worked?</a:t>
              </a:r>
              <a:endParaRPr lang="en-US" sz="18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06-compare">
    <p:bg>
      <p:bgPr>
        <a:solidFill>
          <a:srgbClr val="F8F4F8"/>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E8D9EF"/>
          </a:solidFill>
          <a:ln>
            <a:noFill/>
          </a:ln>
        </p:spPr>
      </p:sp>
      <p:sp>
        <p:nvSpPr>
          <p:cNvPr id="3" name="footer"/>
          <p:cNvSpPr txBox="1"/>
          <p:nvPr/>
        </p:nvSpPr>
        <p:spPr>
          <a:xfrm>
            <a:off x="762000" y="6283350"/>
            <a:ext cx="3111500" cy="225400"/>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ADHD: Therapy, Coaching &amp; Skills</a:t>
            </a:r>
            <a:endParaRPr lang="en-US" sz="1200" dirty="0"/>
          </a:p>
        </p:txBody>
      </p:sp>
      <p:sp>
        <p:nvSpPr>
          <p:cNvPr id="4" name="page-number"/>
          <p:cNvSpPr txBox="1"/>
          <p:nvPr/>
        </p:nvSpPr>
        <p:spPr>
          <a:xfrm>
            <a:off x="10858500" y="6274359"/>
            <a:ext cx="571500" cy="208991"/>
          </a:xfrm>
          <a:prstGeom prst="rect">
            <a:avLst/>
          </a:prstGeom>
          <a:noFill/>
        </p:spPr>
        <p:txBody>
          <a:bodyPr wrap="square" lIns="0" tIns="0" rIns="0" bIns="0" rtlCol="0" anchor="t">
            <a:noAutofit/>
          </a:bodyPr>
          <a:lstStyle/>
          <a:p>
            <a:pPr algn="l">
              <a:lnSpc>
                <a:spcPts val="1750"/>
              </a:lnSpc>
              <a:buNone/>
            </a:pPr>
            <a:r>
              <a:rPr lang="en-US" sz="1200" dirty="0">
                <a:solidFill>
                  <a:srgbClr val="5B4C63"/>
                </a:solidFill>
                <a:latin typeface="Lexend"/>
                <a:ea typeface="Lexend"/>
                <a:cs typeface="Lexend"/>
              </a:rPr>
              <a:t>6 / 7</a:t>
            </a:r>
            <a:endParaRPr lang="en-US" sz="1200" dirty="0"/>
          </a:p>
        </p:txBody>
      </p:sp>
      <p:sp>
        <p:nvSpPr>
          <p:cNvPr id="5" name="title-bar-74"/>
          <p:cNvSpPr/>
          <p:nvPr/>
        </p:nvSpPr>
        <p:spPr>
          <a:xfrm>
            <a:off x="762000" y="584200"/>
            <a:ext cx="457200" cy="63500"/>
          </a:xfrm>
          <a:prstGeom prst="roundRect">
            <a:avLst>
              <a:gd name="adj" fmla="val 50000"/>
            </a:avLst>
          </a:prstGeom>
          <a:solidFill>
            <a:srgbClr val="7B4A8F"/>
          </a:solidFill>
          <a:ln>
            <a:noFill/>
          </a:ln>
        </p:spPr>
      </p:sp>
      <p:sp>
        <p:nvSpPr>
          <p:cNvPr id="6" name="title"/>
          <p:cNvSpPr>
            <a:spLocks noGrp="1"/>
          </p:cNvSpPr>
          <p:nvPr>
            <p:ph type="title"/>
          </p:nvPr>
        </p:nvSpPr>
        <p:spPr>
          <a:xfrm>
            <a:off x="762000" y="730593"/>
            <a:ext cx="4119562" cy="469557"/>
          </a:xfrm>
          <a:prstGeom prst="rect">
            <a:avLst/>
          </a:prstGeom>
          <a:noFill/>
        </p:spPr>
        <p:txBody>
          <a:bodyPr wrap="square" lIns="0" tIns="0" rIns="0" bIns="0" rtlCol="0" anchor="t">
            <a:noAutofit/>
          </a:bodyPr>
          <a:lstStyle/>
          <a:p>
            <a:pPr algn="l">
              <a:lnSpc>
                <a:spcPts val="3742"/>
              </a:lnSpc>
              <a:buNone/>
            </a:pPr>
            <a:r>
              <a:rPr lang="en-US" sz="3400" b="1" dirty="0">
                <a:solidFill>
                  <a:srgbClr val="2E2135"/>
                </a:solidFill>
                <a:latin typeface="Fraunces"/>
                <a:ea typeface="Fraunces"/>
                <a:cs typeface="Fraunces"/>
              </a:rPr>
              <a:t>Myths and facts</a:t>
            </a:r>
            <a:endParaRPr lang="en-US" sz="3400" dirty="0"/>
          </a:p>
        </p:txBody>
      </p:sp>
      <p:sp>
        <p:nvSpPr>
          <p:cNvPr id="7" name="col-75"/>
          <p:cNvSpPr/>
          <p:nvPr/>
        </p:nvSpPr>
        <p:spPr>
          <a:xfrm>
            <a:off x="774700" y="1739900"/>
            <a:ext cx="5156200" cy="4165600"/>
          </a:xfrm>
          <a:prstGeom prst="roundRect">
            <a:avLst>
              <a:gd name="adj" fmla="val 5335"/>
            </a:avLst>
          </a:prstGeom>
          <a:solidFill>
            <a:srgbClr val="FFFFFF"/>
          </a:solidFill>
          <a:ln w="12700">
            <a:solidFill>
              <a:srgbClr val="E8DFEB"/>
            </a:solidFill>
          </a:ln>
        </p:spPr>
      </p:sp>
      <p:sp>
        <p:nvSpPr>
          <p:cNvPr id="8" name="col-band-76"/>
          <p:cNvSpPr/>
          <p:nvPr/>
        </p:nvSpPr>
        <p:spPr>
          <a:xfrm>
            <a:off x="762000" y="1727200"/>
            <a:ext cx="5181600" cy="952500"/>
          </a:xfrm>
          <a:prstGeom prst="roundRect">
            <a:avLst>
              <a:gd name="adj" fmla="val 24000"/>
            </a:avLst>
          </a:prstGeom>
          <a:solidFill>
            <a:srgbClr val="7B4A8F"/>
          </a:solidFill>
          <a:ln>
            <a:noFill/>
          </a:ln>
        </p:spPr>
      </p:sp>
      <p:sp>
        <p:nvSpPr>
          <p:cNvPr id="9" name="col-band-fix-77"/>
          <p:cNvSpPr/>
          <p:nvPr/>
        </p:nvSpPr>
        <p:spPr>
          <a:xfrm>
            <a:off x="762000" y="2425700"/>
            <a:ext cx="5181600" cy="254000"/>
          </a:xfrm>
          <a:prstGeom prst="rect">
            <a:avLst/>
          </a:prstGeom>
          <a:solidFill>
            <a:srgbClr val="7B4A8F"/>
          </a:solidFill>
          <a:ln>
            <a:noFill/>
          </a:ln>
        </p:spPr>
      </p:sp>
      <p:sp>
        <p:nvSpPr>
          <p:cNvPr id="10" name="icon-bg-78"/>
          <p:cNvSpPr/>
          <p:nvPr/>
        </p:nvSpPr>
        <p:spPr>
          <a:xfrm>
            <a:off x="1016000" y="1885950"/>
            <a:ext cx="635000" cy="635000"/>
          </a:xfrm>
          <a:prstGeom prst="ellipse">
            <a:avLst/>
          </a:prstGeom>
          <a:solidFill>
            <a:srgbClr val="FFFFFF"/>
          </a:solidFill>
          <a:ln>
            <a:noFill/>
          </a:ln>
        </p:spPr>
      </p:sp>
      <p:pic>
        <p:nvPicPr>
          <p:cNvPr id="11" name="icon-79" descr="icon-79"/>
          <p:cNvPicPr>
            <a:picLocks noChangeAspect="1"/>
          </p:cNvPicPr>
          <p:nvPr/>
        </p:nvPicPr>
        <p:blipFill>
          <a:blip r:embed="rId3"/>
          <a:stretch>
            <a:fillRect/>
          </a:stretch>
        </p:blipFill>
        <p:spPr>
          <a:xfrm>
            <a:off x="1085850" y="1955800"/>
            <a:ext cx="495300" cy="495300"/>
          </a:xfrm>
          <a:prstGeom prst="rect">
            <a:avLst/>
          </a:prstGeom>
        </p:spPr>
      </p:pic>
      <p:sp>
        <p:nvSpPr>
          <p:cNvPr id="12" name="col-head-80"/>
          <p:cNvSpPr txBox="1"/>
          <p:nvPr/>
        </p:nvSpPr>
        <p:spPr>
          <a:xfrm>
            <a:off x="1841500" y="1946072"/>
            <a:ext cx="1441450" cy="308178"/>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Facts</a:t>
            </a:r>
            <a:endParaRPr lang="en-US" sz="2800" dirty="0"/>
          </a:p>
        </p:txBody>
      </p:sp>
      <p:sp>
        <p:nvSpPr>
          <p:cNvPr id="13" name="col-body-81"/>
          <p:cNvSpPr txBox="1"/>
          <p:nvPr/>
        </p:nvSpPr>
        <p:spPr>
          <a:xfrm>
            <a:off x="1066800" y="2991485"/>
            <a:ext cx="4572000" cy="2850515"/>
          </a:xfrm>
          <a:prstGeom prst="rect">
            <a:avLst/>
          </a:prstGeom>
          <a:noFill/>
        </p:spPr>
        <p:txBody>
          <a:bodyPr wrap="square" lIns="0" tIns="0" rIns="0" bIns="0" rtlCol="0" anchor="t">
            <a:noAutofit/>
          </a:bodyPr>
          <a:lstStyle/>
          <a:p>
            <a:pPr algn="l" marL="320040" indent="-320040" lvl="0">
              <a:lnSpc>
                <a:spcPts val="2340"/>
              </a:lnSpc>
              <a:spcBef>
                <a:spcPts val="0"/>
              </a:spcBef>
              <a:spcAft>
                <a:spcPts val="1500"/>
              </a:spcAft>
              <a:buFont typeface="Arial"/>
              <a:buChar char="•"/>
            </a:pPr>
            <a:r>
              <a:rPr lang="en-US" sz="1800" dirty="0">
                <a:solidFill>
                  <a:srgbClr val="2E2135"/>
                </a:solidFill>
                <a:latin typeface="Lexend"/>
                <a:ea typeface="Lexend"/>
                <a:cs typeface="Lexend"/>
              </a:rPr>
              <a:t>ADHD is a neurodevelopmental difference</a:t>
            </a:r>
            <a:endParaRPr lang="en-US" sz="1800" dirty="0"/>
          </a:p>
          <a:p>
            <a:pPr algn="l" marL="320040" indent="-320040" lvl="0">
              <a:lnSpc>
                <a:spcPts val="2340"/>
              </a:lnSpc>
              <a:spcBef>
                <a:spcPts val="0"/>
              </a:spcBef>
              <a:spcAft>
                <a:spcPts val="1500"/>
              </a:spcAft>
              <a:buFont typeface="Arial"/>
              <a:buChar char="•"/>
            </a:pPr>
            <a:r>
              <a:rPr lang="en-US" sz="1800" dirty="0">
                <a:solidFill>
                  <a:srgbClr val="2E2135"/>
                </a:solidFill>
                <a:latin typeface="Lexend"/>
                <a:ea typeface="Lexend"/>
                <a:cs typeface="Lexend"/>
              </a:rPr>
              <a:t>It often continues into adulthood</a:t>
            </a:r>
            <a:endParaRPr lang="en-US" sz="1800" dirty="0"/>
          </a:p>
          <a:p>
            <a:pPr algn="l" marL="320040" indent="-320040" lvl="0">
              <a:lnSpc>
                <a:spcPts val="2340"/>
              </a:lnSpc>
              <a:spcBef>
                <a:spcPts val="0"/>
              </a:spcBef>
              <a:spcAft>
                <a:spcPts val="1500"/>
              </a:spcAft>
              <a:buFont typeface="Arial"/>
              <a:buChar char="•"/>
            </a:pPr>
            <a:r>
              <a:rPr lang="en-US" sz="1800" dirty="0">
                <a:solidFill>
                  <a:srgbClr val="2E2135"/>
                </a:solidFill>
                <a:latin typeface="Lexend"/>
                <a:ea typeface="Lexend"/>
                <a:cs typeface="Lexend"/>
              </a:rPr>
              <a:t>Therapy and medication can work together</a:t>
            </a:r>
            <a:endParaRPr lang="en-US" sz="1800" dirty="0"/>
          </a:p>
          <a:p>
            <a:pPr algn="l" marL="320040" indent="-320040" lvl="0">
              <a:lnSpc>
                <a:spcPts val="2340"/>
              </a:lnSpc>
              <a:spcBef>
                <a:spcPts val="0"/>
              </a:spcBef>
              <a:spcAft>
                <a:spcPts val="1500"/>
              </a:spcAft>
              <a:buFont typeface="Arial"/>
              <a:buChar char="•"/>
            </a:pPr>
            <a:r>
              <a:rPr lang="en-US" sz="1800" dirty="0">
                <a:solidFill>
                  <a:srgbClr val="2E2135"/>
                </a:solidFill>
                <a:latin typeface="Lexend"/>
                <a:ea typeface="Lexend"/>
                <a:cs typeface="Lexend"/>
              </a:rPr>
              <a:t>People with ADHD can focus deeply on interests</a:t>
            </a:r>
            <a:endParaRPr lang="en-US" sz="1800" dirty="0"/>
          </a:p>
        </p:txBody>
      </p:sp>
      <p:sp>
        <p:nvSpPr>
          <p:cNvPr id="14" name="col-82"/>
          <p:cNvSpPr/>
          <p:nvPr/>
        </p:nvSpPr>
        <p:spPr>
          <a:xfrm>
            <a:off x="6261100" y="1739900"/>
            <a:ext cx="5156200" cy="4165600"/>
          </a:xfrm>
          <a:prstGeom prst="roundRect">
            <a:avLst>
              <a:gd name="adj" fmla="val 5335"/>
            </a:avLst>
          </a:prstGeom>
          <a:solidFill>
            <a:srgbClr val="FFFFFF"/>
          </a:solidFill>
          <a:ln w="12700">
            <a:solidFill>
              <a:srgbClr val="E8DFEB"/>
            </a:solidFill>
          </a:ln>
        </p:spPr>
      </p:sp>
      <p:sp>
        <p:nvSpPr>
          <p:cNvPr id="15" name="col-band-83"/>
          <p:cNvSpPr/>
          <p:nvPr/>
        </p:nvSpPr>
        <p:spPr>
          <a:xfrm>
            <a:off x="6248400" y="1727200"/>
            <a:ext cx="5181600" cy="952500"/>
          </a:xfrm>
          <a:prstGeom prst="roundRect">
            <a:avLst>
              <a:gd name="adj" fmla="val 24000"/>
            </a:avLst>
          </a:prstGeom>
          <a:solidFill>
            <a:srgbClr val="B5543C"/>
          </a:solidFill>
          <a:ln>
            <a:noFill/>
          </a:ln>
        </p:spPr>
      </p:sp>
      <p:sp>
        <p:nvSpPr>
          <p:cNvPr id="16" name="col-band-fix-84"/>
          <p:cNvSpPr/>
          <p:nvPr/>
        </p:nvSpPr>
        <p:spPr>
          <a:xfrm>
            <a:off x="6248400" y="2425700"/>
            <a:ext cx="5181600" cy="254000"/>
          </a:xfrm>
          <a:prstGeom prst="rect">
            <a:avLst/>
          </a:prstGeom>
          <a:solidFill>
            <a:srgbClr val="B5543C"/>
          </a:solidFill>
          <a:ln>
            <a:noFill/>
          </a:ln>
        </p:spPr>
      </p:sp>
      <p:sp>
        <p:nvSpPr>
          <p:cNvPr id="17" name="icon-bg-85"/>
          <p:cNvSpPr/>
          <p:nvPr/>
        </p:nvSpPr>
        <p:spPr>
          <a:xfrm>
            <a:off x="6502400" y="1885950"/>
            <a:ext cx="635000" cy="635000"/>
          </a:xfrm>
          <a:prstGeom prst="ellipse">
            <a:avLst/>
          </a:prstGeom>
          <a:solidFill>
            <a:srgbClr val="FFFFFF"/>
          </a:solidFill>
          <a:ln>
            <a:noFill/>
          </a:ln>
        </p:spPr>
      </p:sp>
      <p:pic>
        <p:nvPicPr>
          <p:cNvPr id="18" name="icon-86" descr="icon-86"/>
          <p:cNvPicPr>
            <a:picLocks noChangeAspect="1"/>
          </p:cNvPicPr>
          <p:nvPr/>
        </p:nvPicPr>
        <p:blipFill>
          <a:blip r:embed="rId4"/>
          <a:stretch>
            <a:fillRect/>
          </a:stretch>
        </p:blipFill>
        <p:spPr>
          <a:xfrm>
            <a:off x="6572250" y="1955800"/>
            <a:ext cx="495300" cy="495300"/>
          </a:xfrm>
          <a:prstGeom prst="rect">
            <a:avLst/>
          </a:prstGeom>
        </p:spPr>
      </p:pic>
      <p:sp>
        <p:nvSpPr>
          <p:cNvPr id="19" name="col-head-87"/>
          <p:cNvSpPr txBox="1"/>
          <p:nvPr/>
        </p:nvSpPr>
        <p:spPr>
          <a:xfrm>
            <a:off x="7327900" y="1954962"/>
            <a:ext cx="1606550" cy="388188"/>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Myths</a:t>
            </a:r>
            <a:endParaRPr lang="en-US" sz="2800" dirty="0"/>
          </a:p>
        </p:txBody>
      </p:sp>
      <p:sp>
        <p:nvSpPr>
          <p:cNvPr id="20" name="col-body-88"/>
          <p:cNvSpPr txBox="1"/>
          <p:nvPr/>
        </p:nvSpPr>
        <p:spPr>
          <a:xfrm>
            <a:off x="6553200" y="2991485"/>
            <a:ext cx="4572000" cy="2259965"/>
          </a:xfrm>
          <a:prstGeom prst="rect">
            <a:avLst/>
          </a:prstGeom>
          <a:noFill/>
        </p:spPr>
        <p:txBody>
          <a:bodyPr wrap="square" lIns="0" tIns="0" rIns="0" bIns="0" rtlCol="0" anchor="t">
            <a:noAutofit/>
          </a:bodyPr>
          <a:lstStyle/>
          <a:p>
            <a:pPr algn="l" marL="320040" indent="-320040" lvl="0">
              <a:lnSpc>
                <a:spcPts val="2340"/>
              </a:lnSpc>
              <a:spcBef>
                <a:spcPts val="0"/>
              </a:spcBef>
              <a:spcAft>
                <a:spcPts val="1500"/>
              </a:spcAft>
              <a:buFont typeface="Arial"/>
              <a:buChar char="•"/>
            </a:pPr>
            <a:r>
              <a:rPr lang="en-US" sz="1800" dirty="0">
                <a:solidFill>
                  <a:srgbClr val="2E2135"/>
                </a:solidFill>
                <a:latin typeface="Lexend"/>
                <a:ea typeface="Lexend"/>
                <a:cs typeface="Lexend"/>
              </a:rPr>
              <a:t>It's just bad behavior or laziness</a:t>
            </a:r>
            <a:endParaRPr lang="en-US" sz="1800" dirty="0"/>
          </a:p>
          <a:p>
            <a:pPr algn="l" marL="320040" indent="-320040" lvl="0">
              <a:lnSpc>
                <a:spcPts val="2340"/>
              </a:lnSpc>
              <a:spcBef>
                <a:spcPts val="0"/>
              </a:spcBef>
              <a:spcAft>
                <a:spcPts val="1500"/>
              </a:spcAft>
              <a:buFont typeface="Arial"/>
              <a:buChar char="•"/>
            </a:pPr>
            <a:r>
              <a:rPr lang="en-US" sz="1800" dirty="0">
                <a:solidFill>
                  <a:srgbClr val="2E2135"/>
                </a:solidFill>
                <a:latin typeface="Lexend"/>
                <a:ea typeface="Lexend"/>
                <a:cs typeface="Lexend"/>
              </a:rPr>
              <a:t>Kids always grow out of it</a:t>
            </a:r>
            <a:endParaRPr lang="en-US" sz="1800" dirty="0"/>
          </a:p>
          <a:p>
            <a:pPr algn="l" marL="320040" indent="-320040" lvl="0">
              <a:lnSpc>
                <a:spcPts val="2340"/>
              </a:lnSpc>
              <a:spcBef>
                <a:spcPts val="0"/>
              </a:spcBef>
              <a:spcAft>
                <a:spcPts val="1500"/>
              </a:spcAft>
              <a:buFont typeface="Arial"/>
              <a:buChar char="•"/>
            </a:pPr>
            <a:r>
              <a:rPr lang="en-US" sz="1800" dirty="0">
                <a:solidFill>
                  <a:srgbClr val="2E2135"/>
                </a:solidFill>
                <a:latin typeface="Lexend"/>
                <a:ea typeface="Lexend"/>
                <a:cs typeface="Lexend"/>
              </a:rPr>
              <a:t>Therapy means no medication</a:t>
            </a:r>
            <a:endParaRPr lang="en-US" sz="1800" dirty="0"/>
          </a:p>
          <a:p>
            <a:pPr algn="l" marL="320040" indent="-320040" lvl="0">
              <a:lnSpc>
                <a:spcPts val="2340"/>
              </a:lnSpc>
              <a:spcBef>
                <a:spcPts val="0"/>
              </a:spcBef>
              <a:spcAft>
                <a:spcPts val="1500"/>
              </a:spcAft>
              <a:buFont typeface="Arial"/>
              <a:buChar char="•"/>
            </a:pPr>
            <a:r>
              <a:rPr lang="en-US" sz="1800" dirty="0">
                <a:solidFill>
                  <a:srgbClr val="2E2135"/>
                </a:solidFill>
                <a:latin typeface="Lexend"/>
                <a:ea typeface="Lexend"/>
                <a:cs typeface="Lexend"/>
              </a:rPr>
              <a:t>If you can focus sometimes, it isn't ADHD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07-closing">
    <p:bg>
      <p:bgPr>
        <a:solidFill>
          <a:srgbClr val="2E2135"/>
        </a:solidFill>
        <a:effectLst/>
      </p:bgPr>
    </p:bg>
    <p:spTree>
      <p:nvGrpSpPr>
        <p:cNvPr id="1" name=""/>
        <p:cNvGrpSpPr/>
        <p:nvPr/>
      </p:nvGrpSpPr>
      <p:grpSpPr>
        <a:xfrm>
          <a:off x="0" y="0"/>
          <a:ext cx="0" cy="0"/>
          <a:chOff x="0" y="0"/>
          <a:chExt cx="0" cy="0"/>
        </a:xfrm>
      </p:grpSpPr>
      <p:sp>
        <p:nvSpPr>
          <p:cNvPr id="2" name="close-disc"/>
          <p:cNvSpPr/>
          <p:nvPr/>
        </p:nvSpPr>
        <p:spPr>
          <a:xfrm>
            <a:off x="8890000" y="3048000"/>
            <a:ext cx="5461000" cy="5461000"/>
          </a:xfrm>
          <a:prstGeom prst="ellipse">
            <a:avLst/>
          </a:prstGeom>
          <a:solidFill>
            <a:srgbClr val="7B4A8F">
              <a:alpha val="22000"/>
            </a:srgbClr>
          </a:solidFill>
          <a:ln>
            <a:noFill/>
          </a:ln>
        </p:spPr>
      </p:sp>
      <p:sp>
        <p:nvSpPr>
          <p:cNvPr id="3" name="close-bar"/>
          <p:cNvSpPr/>
          <p:nvPr/>
        </p:nvSpPr>
        <p:spPr>
          <a:xfrm>
            <a:off x="762000" y="584200"/>
            <a:ext cx="457200" cy="63500"/>
          </a:xfrm>
          <a:prstGeom prst="roundRect">
            <a:avLst>
              <a:gd name="adj" fmla="val 50000"/>
            </a:avLst>
          </a:prstGeom>
          <a:solidFill>
            <a:srgbClr val="7B4A8F"/>
          </a:solidFill>
          <a:ln>
            <a:noFill/>
          </a:ln>
        </p:spPr>
      </p:sp>
      <p:sp>
        <p:nvSpPr>
          <p:cNvPr id="4" name="title"/>
          <p:cNvSpPr>
            <a:spLocks noGrp="1"/>
          </p:cNvSpPr>
          <p:nvPr>
            <p:ph type="title"/>
          </p:nvPr>
        </p:nvSpPr>
        <p:spPr>
          <a:xfrm>
            <a:off x="762000" y="730593"/>
            <a:ext cx="3889375" cy="469557"/>
          </a:xfrm>
          <a:prstGeom prst="rect">
            <a:avLst/>
          </a:prstGeom>
          <a:noFill/>
        </p:spPr>
        <p:txBody>
          <a:bodyPr wrap="square" lIns="0" tIns="0" rIns="0" bIns="0" rtlCol="0" anchor="t">
            <a:noAutofit/>
          </a:bodyPr>
          <a:lstStyle/>
          <a:p>
            <a:pPr algn="l">
              <a:lnSpc>
                <a:spcPts val="3742"/>
              </a:lnSpc>
              <a:buNone/>
            </a:pPr>
            <a:r>
              <a:rPr lang="en-US" sz="3400" b="1" dirty="0">
                <a:solidFill>
                  <a:srgbClr val="F8F4F8"/>
                </a:solidFill>
                <a:latin typeface="Fraunces"/>
                <a:ea typeface="Fraunces"/>
                <a:cs typeface="Fraunces"/>
              </a:rPr>
              <a:t>Key takeaways</a:t>
            </a:r>
            <a:endParaRPr lang="en-US" sz="3400" dirty="0"/>
          </a:p>
        </p:txBody>
      </p:sp>
      <p:sp>
        <p:nvSpPr>
          <p:cNvPr id="5" name="close-num-89"/>
          <p:cNvSpPr/>
          <p:nvPr/>
        </p:nvSpPr>
        <p:spPr>
          <a:xfrm>
            <a:off x="762000" y="1841500"/>
            <a:ext cx="558800" cy="558800"/>
          </a:xfrm>
          <a:prstGeom prst="ellipse">
            <a:avLst/>
          </a:prstGeom>
          <a:solidFill>
            <a:srgbClr val="7B4A8F"/>
          </a:solidFill>
          <a:ln>
            <a:noFill/>
          </a:ln>
        </p:spPr>
      </p:sp>
      <p:sp>
        <p:nvSpPr>
          <p:cNvPr id="6" name="close-n-90"/>
          <p:cNvSpPr txBox="1"/>
          <p:nvPr/>
        </p:nvSpPr>
        <p:spPr>
          <a:xfrm>
            <a:off x="974725" y="1914766"/>
            <a:ext cx="552450" cy="307734"/>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1</a:t>
            </a:r>
            <a:endParaRPr lang="en-US" sz="2200" dirty="0"/>
          </a:p>
        </p:txBody>
      </p:sp>
      <p:sp>
        <p:nvSpPr>
          <p:cNvPr id="7" name="close-item-91"/>
          <p:cNvSpPr txBox="1"/>
          <p:nvPr/>
        </p:nvSpPr>
        <p:spPr>
          <a:xfrm>
            <a:off x="1574800" y="1923415"/>
            <a:ext cx="9525000" cy="73723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8F4F8"/>
                </a:solidFill>
                <a:latin typeface="Lexend"/>
                <a:ea typeface="Lexend"/>
                <a:cs typeface="Lexend"/>
              </a:rPr>
              <a:t>ADHD support spans parent training, therapy, coaching and school plans.</a:t>
            </a:r>
            <a:endParaRPr lang="en-US" sz="2200" dirty="0"/>
          </a:p>
        </p:txBody>
      </p:sp>
      <p:sp>
        <p:nvSpPr>
          <p:cNvPr id="8" name="close-num-92"/>
          <p:cNvSpPr/>
          <p:nvPr/>
        </p:nvSpPr>
        <p:spPr>
          <a:xfrm>
            <a:off x="762000" y="3060700"/>
            <a:ext cx="558800" cy="558800"/>
          </a:xfrm>
          <a:prstGeom prst="ellipse">
            <a:avLst/>
          </a:prstGeom>
          <a:solidFill>
            <a:srgbClr val="7B4A8F"/>
          </a:solidFill>
          <a:ln>
            <a:noFill/>
          </a:ln>
        </p:spPr>
      </p:sp>
      <p:sp>
        <p:nvSpPr>
          <p:cNvPr id="9" name="close-n-93"/>
          <p:cNvSpPr txBox="1"/>
          <p:nvPr/>
        </p:nvSpPr>
        <p:spPr>
          <a:xfrm>
            <a:off x="952500" y="3130233"/>
            <a:ext cx="596900" cy="314642"/>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2</a:t>
            </a:r>
            <a:endParaRPr lang="en-US" sz="2200" dirty="0"/>
          </a:p>
        </p:txBody>
      </p:sp>
      <p:sp>
        <p:nvSpPr>
          <p:cNvPr id="10" name="close-item-94"/>
          <p:cNvSpPr txBox="1"/>
          <p:nvPr/>
        </p:nvSpPr>
        <p:spPr>
          <a:xfrm>
            <a:off x="1574800" y="31426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8F4F8"/>
                </a:solidFill>
                <a:latin typeface="Lexend"/>
                <a:ea typeface="Lexend"/>
                <a:cs typeface="Lexend"/>
              </a:rPr>
              <a:t>Combine approaches, and revisit the plan as life changes.</a:t>
            </a:r>
            <a:endParaRPr lang="en-US" sz="2200" dirty="0"/>
          </a:p>
        </p:txBody>
      </p:sp>
      <p:sp>
        <p:nvSpPr>
          <p:cNvPr id="11" name="close-num-95"/>
          <p:cNvSpPr/>
          <p:nvPr/>
        </p:nvSpPr>
        <p:spPr>
          <a:xfrm>
            <a:off x="762000" y="3911600"/>
            <a:ext cx="558800" cy="558800"/>
          </a:xfrm>
          <a:prstGeom prst="ellipse">
            <a:avLst/>
          </a:prstGeom>
          <a:solidFill>
            <a:srgbClr val="7B4A8F"/>
          </a:solidFill>
          <a:ln>
            <a:noFill/>
          </a:ln>
        </p:spPr>
      </p:sp>
      <p:sp>
        <p:nvSpPr>
          <p:cNvPr id="12" name="close-n-96"/>
          <p:cNvSpPr txBox="1"/>
          <p:nvPr/>
        </p:nvSpPr>
        <p:spPr>
          <a:xfrm>
            <a:off x="962025" y="3979977"/>
            <a:ext cx="577850" cy="312623"/>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3</a:t>
            </a:r>
            <a:endParaRPr lang="en-US" sz="2200" dirty="0"/>
          </a:p>
        </p:txBody>
      </p:sp>
      <p:sp>
        <p:nvSpPr>
          <p:cNvPr id="13" name="close-item-97"/>
          <p:cNvSpPr txBox="1"/>
          <p:nvPr/>
        </p:nvSpPr>
        <p:spPr>
          <a:xfrm>
            <a:off x="1574800" y="39935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8F4F8"/>
                </a:solidFill>
                <a:latin typeface="Lexend"/>
                <a:ea typeface="Lexend"/>
                <a:cs typeface="Lexend"/>
              </a:rPr>
              <a:t>Executive-function skills can be learned at any age.</a:t>
            </a:r>
            <a:endParaRPr lang="en-US" sz="2200" dirty="0"/>
          </a:p>
        </p:txBody>
      </p:sp>
      <p:sp>
        <p:nvSpPr>
          <p:cNvPr id="14" name="credit"/>
          <p:cNvSpPr txBox="1"/>
          <p:nvPr/>
        </p:nvSpPr>
        <p:spPr>
          <a:xfrm>
            <a:off x="762000" y="5711190"/>
            <a:ext cx="9525000" cy="207010"/>
          </a:xfrm>
          <a:prstGeom prst="rect">
            <a:avLst/>
          </a:prstGeom>
          <a:noFill/>
        </p:spPr>
        <p:txBody>
          <a:bodyPr wrap="square" lIns="0" tIns="0" rIns="0" bIns="0" rtlCol="0" anchor="t">
            <a:noAutofit/>
          </a:bodyPr>
          <a:lstStyle/>
          <a:p>
            <a:pPr algn="l">
              <a:lnSpc>
                <a:spcPts val="1560"/>
              </a:lnSpc>
              <a:spcBef>
                <a:spcPts val="0"/>
              </a:spcBef>
              <a:spcAft>
                <a:spcPts val="0"/>
              </a:spcAft>
              <a:buNone/>
            </a:pPr>
            <a:r>
              <a:rPr lang="en-US" sz="1200" dirty="0">
                <a:solidFill>
                  <a:srgbClr val="E8D9EF"/>
                </a:solidFill>
                <a:latin typeface="Lexend"/>
                <a:ea typeface="Lexend"/>
                <a:cs typeface="Lexend"/>
              </a:rPr>
              <a:t>This overview is educational and does not replace advice from a qualified clinician.</a:t>
            </a:r>
            <a:endParaRPr lang="en-US" sz="1200" dirty="0"/>
          </a:p>
        </p:txBody>
      </p:sp>
      <p:sp>
        <p:nvSpPr>
          <p:cNvPr id="15" name="footer"/>
          <p:cNvSpPr txBox="1"/>
          <p:nvPr/>
        </p:nvSpPr>
        <p:spPr>
          <a:xfrm>
            <a:off x="762000" y="6283350"/>
            <a:ext cx="3111500" cy="225400"/>
          </a:xfrm>
          <a:prstGeom prst="rect">
            <a:avLst/>
          </a:prstGeom>
          <a:noFill/>
        </p:spPr>
        <p:txBody>
          <a:bodyPr wrap="square" lIns="0" tIns="0" rIns="0" bIns="0" rtlCol="0" anchor="t">
            <a:noAutofit/>
          </a:bodyPr>
          <a:lstStyle/>
          <a:p>
            <a:pPr algn="l">
              <a:lnSpc>
                <a:spcPts val="1750"/>
              </a:lnSpc>
              <a:buNone/>
            </a:pPr>
            <a:r>
              <a:rPr lang="en-US" sz="1200" dirty="0">
                <a:solidFill>
                  <a:srgbClr val="E8D9EF"/>
                </a:solidFill>
                <a:latin typeface="Lexend"/>
                <a:ea typeface="Lexend"/>
                <a:cs typeface="Lexend"/>
              </a:rPr>
              <a:t>ADHD: Therapy, Coaching &amp; Skills</a:t>
            </a:r>
            <a:endParaRPr lang="en-US" sz="1200" dirty="0"/>
          </a:p>
        </p:txBody>
      </p:sp>
      <p:sp>
        <p:nvSpPr>
          <p:cNvPr id="16" name="page-number"/>
          <p:cNvSpPr txBox="1"/>
          <p:nvPr/>
        </p:nvSpPr>
        <p:spPr>
          <a:xfrm>
            <a:off x="10858500" y="6272530"/>
            <a:ext cx="565150" cy="204470"/>
          </a:xfrm>
          <a:prstGeom prst="rect">
            <a:avLst/>
          </a:prstGeom>
          <a:noFill/>
        </p:spPr>
        <p:txBody>
          <a:bodyPr wrap="square" lIns="0" tIns="0" rIns="0" bIns="0" rtlCol="0" anchor="t">
            <a:noAutofit/>
          </a:bodyPr>
          <a:lstStyle/>
          <a:p>
            <a:pPr algn="l">
              <a:lnSpc>
                <a:spcPts val="1750"/>
              </a:lnSpc>
              <a:buNone/>
            </a:pPr>
            <a:r>
              <a:rPr lang="en-US" sz="1200" dirty="0">
                <a:solidFill>
                  <a:srgbClr val="E8D9EF"/>
                </a:solidFill>
                <a:latin typeface="Lexend"/>
                <a:ea typeface="Lexend"/>
                <a:cs typeface="Lexend"/>
              </a:rPr>
              <a:t>7 / 7</a:t>
            </a:r>
            <a:endParaRPr lang="en-US" sz="1200" dirty="0"/>
          </a:p>
        </p:txBody>
      </p:sp>
    </p:spTree>
  </p:cSld>
  <p:clrMapOvr>
    <a:masterClrMapping/>
  </p:clrMapOvr>
</p:sld>
</file>

<file path=ppt/theme/theme1.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Vixl</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Key takeaways</dc:title>
  <dc:creator>Vixl</dc:creator>
</cp:coreProperties>
</file>