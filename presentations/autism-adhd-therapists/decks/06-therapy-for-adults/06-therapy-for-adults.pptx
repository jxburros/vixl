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381000" y="685800"/>
            <a:ext cx="6096000" cy="3429000"/>
          </a:xfrm>
          <a:prstGeom prst="rect">
            <a:avLst/>
          </a:prstGeom>
        </p:spPr>
        <p:txBody>
          <a:bodyPr/>
          <a:lstStyle/>
          <a:p>
            <a:endParaRPr lang="en-US"/>
          </a:p>
        </p:txBody>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marL="0" algn="l">
      <a:defRPr sz="1200" kern="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adults than ever are being identified as autistic or as having ADHD, often after a child's diagnosis or a period of burnout. This deck covers therapy and support options built for adults.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adults describe a late diagnosis as making sense of their whole life. It can unlock accommodations at work and school, connection with community, and therapy that finally fits. Self-identification is valid too, though a formal diagnosis may be needed for some accommodations or medication.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for therapists who explicitly work with neurodivergent adults. Standard therapy can miss the mark if it assumes neurotypical communication or treats traits as symptoms to fix. CBT adapted for autism and ADHD is more concrete and visual. Adult OT is underused but valuable for sensory and routine challenges.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Autistic burnout is a state of deep exhaustion and reduced coping, often after long periods of masking and sensory overload. Anxiety and depression are common in both autistic and ADHD adults. Therapy can help people find sustainable routines, set boundaries, and advocate for what they need.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Adult assessments are usually done by psychologists or psychiatrists experienced with adults; ask specifically about that experience. Bring examples from childhood if you can. In the U.S., the Americans with Disabilities Act lets employees request reasonable accommodations such as flexible hours, quieter workspaces or written instructions.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validating adults who are exploring diagnosis and support. Encourage connecting with neurodivergent-led communities alongside professional help.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28625"/>
            <a:ext cx="10668000" cy="1143000"/>
          </a:xfrm>
          <a:prstGeom prst="rect">
            <a:avLst/>
          </a:prstGeom>
        </p:spPr>
        <p:txBody>
          <a:bodyPr/>
          <a:lstStyle/>
          <a:p>
            <a:endParaRPr lang="en-US"/>
          </a:p>
        </p:txBody>
      </p:sp>
      <p:sp>
        <p:nvSpPr>
          <p:cNvPr id="3" name="Text Placeholder 2"/>
          <p:cNvSpPr>
            <a:spLocks noGrp="1"/>
          </p:cNvSpPr>
          <p:nvPr>
            <p:ph type="body" idx="1"/>
          </p:nvPr>
        </p:nvSpPr>
        <p:spPr>
          <a:xfrm>
            <a:off x="762000" y="1714500"/>
            <a:ext cx="10668000" cy="3429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4400" kern="1200">
          <a:solidFill>
            <a:schemeClr val="tx1"/>
          </a:solidFill>
          <a:latin typeface="+mj-lt"/>
        </a:defRPr>
      </a:lvl1pPr>
    </p:titleStyle>
    <p:bodyStyle>
      <a:lvl1pPr marL="228600" indent="-228600">
        <a:defRPr sz="2800" kern="1200">
          <a:solidFill>
            <a:schemeClr val="tx1"/>
          </a:solidFill>
          <a:latin typeface="+mn-lt"/>
        </a:defRPr>
      </a:lvl1pPr>
    </p:bodyStyle>
    <p:otherStyle>
      <a:defPPr>
        <a:defRPr lang="en-US"/>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01-cover">
    <p:bg>
      <p:bgPr>
        <a:solidFill>
          <a:srgbClr val="F6F4F1"/>
        </a:solidFill>
        <a:effectLst/>
      </p:bgPr>
    </p:bg>
    <p:spTree>
      <p:nvGrpSpPr>
        <p:cNvPr id="1" name=""/>
        <p:cNvGrpSpPr/>
        <p:nvPr/>
      </p:nvGrpSpPr>
      <p:grpSpPr>
        <a:xfrm>
          <a:off x="0" y="0"/>
          <a:ext cx="0" cy="0"/>
          <a:chOff x="0" y="0"/>
          <a:chExt cx="0" cy="0"/>
        </a:xfrm>
      </p:grpSpPr>
      <p:sp>
        <p:nvSpPr>
          <p:cNvPr id="2" name="art-disc"/>
          <p:cNvSpPr/>
          <p:nvPr/>
        </p:nvSpPr>
        <p:spPr>
          <a:xfrm>
            <a:off x="6858000" y="825500"/>
            <a:ext cx="5207000" cy="5207000"/>
          </a:xfrm>
          <a:prstGeom prst="ellipse">
            <a:avLst/>
          </a:prstGeom>
          <a:solidFill>
            <a:srgbClr val="F6D8CF"/>
          </a:solidFill>
          <a:ln>
            <a:noFill/>
          </a:ln>
        </p:spPr>
      </p:sp>
      <p:sp>
        <p:nvSpPr>
          <p:cNvPr id="3" name="art-ring"/>
          <p:cNvSpPr/>
          <p:nvPr/>
        </p:nvSpPr>
        <p:spPr>
          <a:xfrm>
            <a:off x="9525000" y="4064000"/>
            <a:ext cx="2286000" cy="2286000"/>
          </a:xfrm>
          <a:prstGeom prst="ellipse">
            <a:avLst/>
          </a:prstGeom>
          <a:solidFill>
            <a:srgbClr val="D8E0F0"/>
          </a:solidFill>
          <a:ln>
            <a:noFill/>
          </a:ln>
        </p:spPr>
      </p:sp>
      <p:sp>
        <p:nvSpPr>
          <p:cNvPr id="4" name="icon-bg-1"/>
          <p:cNvSpPr/>
          <p:nvPr/>
        </p:nvSpPr>
        <p:spPr>
          <a:xfrm>
            <a:off x="7620000" y="1397000"/>
            <a:ext cx="1270000" cy="1270000"/>
          </a:xfrm>
          <a:prstGeom prst="ellipse">
            <a:avLst/>
          </a:prstGeom>
          <a:solidFill>
            <a:srgbClr val="FFFFFF"/>
          </a:solidFill>
          <a:ln>
            <a:noFill/>
          </a:ln>
        </p:spPr>
      </p:sp>
      <p:pic>
        <p:nvPicPr>
          <p:cNvPr id="5" name="icon-2" descr="icon-2"/>
          <p:cNvPicPr>
            <a:picLocks noChangeAspect="1"/>
          </p:cNvPicPr>
          <p:nvPr/>
        </p:nvPicPr>
        <p:blipFill>
          <a:blip r:embed="rId3"/>
          <a:stretch>
            <a:fillRect/>
          </a:stretch>
        </p:blipFill>
        <p:spPr>
          <a:xfrm>
            <a:off x="7759700" y="1536700"/>
            <a:ext cx="990600" cy="990600"/>
          </a:xfrm>
          <a:prstGeom prst="rect">
            <a:avLst/>
          </a:prstGeom>
        </p:spPr>
      </p:pic>
      <p:sp>
        <p:nvSpPr>
          <p:cNvPr id="6" name="icon-bg-3"/>
          <p:cNvSpPr/>
          <p:nvPr/>
        </p:nvSpPr>
        <p:spPr>
          <a:xfrm>
            <a:off x="9969500" y="1905000"/>
            <a:ext cx="762000" cy="762000"/>
          </a:xfrm>
          <a:prstGeom prst="ellipse">
            <a:avLst/>
          </a:prstGeom>
          <a:solidFill>
            <a:srgbClr val="FFFFFF"/>
          </a:solidFill>
          <a:ln>
            <a:noFill/>
          </a:ln>
        </p:spPr>
      </p:sp>
      <p:pic>
        <p:nvPicPr>
          <p:cNvPr id="7" name="icon-4" descr="icon-4"/>
          <p:cNvPicPr>
            <a:picLocks noChangeAspect="1"/>
          </p:cNvPicPr>
          <p:nvPr/>
        </p:nvPicPr>
        <p:blipFill>
          <a:blip r:embed="rId4"/>
          <a:stretch>
            <a:fillRect/>
          </a:stretch>
        </p:blipFill>
        <p:spPr>
          <a:xfrm>
            <a:off x="10052050" y="1987550"/>
            <a:ext cx="596900" cy="596900"/>
          </a:xfrm>
          <a:prstGeom prst="rect">
            <a:avLst/>
          </a:prstGeom>
        </p:spPr>
      </p:pic>
      <p:sp>
        <p:nvSpPr>
          <p:cNvPr id="8" name="icon-bg-5"/>
          <p:cNvSpPr/>
          <p:nvPr/>
        </p:nvSpPr>
        <p:spPr>
          <a:xfrm>
            <a:off x="8191500" y="3556000"/>
            <a:ext cx="1270000" cy="1270000"/>
          </a:xfrm>
          <a:prstGeom prst="ellipse">
            <a:avLst/>
          </a:prstGeom>
          <a:solidFill>
            <a:srgbClr val="FFFFFF"/>
          </a:solidFill>
          <a:ln>
            <a:noFill/>
          </a:ln>
        </p:spPr>
      </p:sp>
      <p:pic>
        <p:nvPicPr>
          <p:cNvPr id="9" name="icon-6" descr="icon-6"/>
          <p:cNvPicPr>
            <a:picLocks noChangeAspect="1"/>
          </p:cNvPicPr>
          <p:nvPr/>
        </p:nvPicPr>
        <p:blipFill>
          <a:blip r:embed="rId5"/>
          <a:stretch>
            <a:fillRect/>
          </a:stretch>
        </p:blipFill>
        <p:spPr>
          <a:xfrm>
            <a:off x="8331200" y="3695700"/>
            <a:ext cx="990600" cy="990600"/>
          </a:xfrm>
          <a:prstGeom prst="rect">
            <a:avLst/>
          </a:prstGeom>
        </p:spPr>
      </p:pic>
      <p:sp>
        <p:nvSpPr>
          <p:cNvPr id="10" name="icon-bg-7"/>
          <p:cNvSpPr/>
          <p:nvPr/>
        </p:nvSpPr>
        <p:spPr>
          <a:xfrm>
            <a:off x="10223500" y="4127500"/>
            <a:ext cx="762000" cy="762000"/>
          </a:xfrm>
          <a:prstGeom prst="ellipse">
            <a:avLst/>
          </a:prstGeom>
          <a:solidFill>
            <a:srgbClr val="FFFFFF"/>
          </a:solidFill>
          <a:ln>
            <a:noFill/>
          </a:ln>
        </p:spPr>
      </p:sp>
      <p:pic>
        <p:nvPicPr>
          <p:cNvPr id="11" name="icon-8" descr="icon-8"/>
          <p:cNvPicPr>
            <a:picLocks noChangeAspect="1"/>
          </p:cNvPicPr>
          <p:nvPr/>
        </p:nvPicPr>
        <p:blipFill>
          <a:blip r:embed="rId6"/>
          <a:stretch>
            <a:fillRect/>
          </a:stretch>
        </p:blipFill>
        <p:spPr>
          <a:xfrm>
            <a:off x="10306050" y="4210050"/>
            <a:ext cx="596900" cy="596900"/>
          </a:xfrm>
          <a:prstGeom prst="rect">
            <a:avLst/>
          </a:prstGeom>
        </p:spPr>
      </p:pic>
      <p:sp>
        <p:nvSpPr>
          <p:cNvPr id="12" name="kicker"/>
          <p:cNvSpPr txBox="1"/>
          <p:nvPr/>
        </p:nvSpPr>
        <p:spPr>
          <a:xfrm>
            <a:off x="762000" y="1407820"/>
            <a:ext cx="4651375" cy="262230"/>
          </a:xfrm>
          <a:prstGeom prst="rect">
            <a:avLst/>
          </a:prstGeom>
          <a:noFill/>
        </p:spPr>
        <p:txBody>
          <a:bodyPr wrap="square" lIns="0" tIns="0" rIns="0" bIns="0" rtlCol="0" anchor="t">
            <a:noAutofit/>
          </a:bodyPr>
          <a:lstStyle/>
          <a:p>
            <a:pPr algn="l">
              <a:lnSpc>
                <a:spcPts val="2450"/>
              </a:lnSpc>
              <a:buNone/>
            </a:pPr>
            <a:r>
              <a:rPr lang="en-US" sz="1800" b="1" dirty="0">
                <a:solidFill>
                  <a:srgbClr val="A4412E"/>
                </a:solidFill>
                <a:latin typeface="Lexend"/>
                <a:ea typeface="Lexend"/>
                <a:cs typeface="Lexend"/>
              </a:rPr>
              <a:t>SUPPORT BEYOND CHILDHOOD</a:t>
            </a:r>
            <a:endParaRPr lang="en-US" sz="1800" dirty="0"/>
          </a:p>
        </p:txBody>
      </p:sp>
      <p:grpSp>
        <p:nvGrpSpPr>
          <p:cNvPr id="15" name="block-9"/>
          <p:cNvGrpSpPr/>
          <p:nvPr/>
        </p:nvGrpSpPr>
        <p:grpSpPr>
          <a:xfrm>
            <a:off x="762000" y="1968500"/>
            <a:ext cx="6096000" cy="2298700"/>
            <a:chOff x="0" y="0"/>
            <a:chExt cx="6096000" cy="2298700"/>
          </a:xfrm>
        </p:grpSpPr>
        <p:sp>
          <p:nvSpPr>
            <p:cNvPr id="13" name="title"/>
            <p:cNvSpPr>
              <a:spLocks noGrp="1"/>
            </p:cNvSpPr>
            <p:nvPr>
              <p:ph type="title"/>
            </p:nvPr>
          </p:nvSpPr>
          <p:spPr>
            <a:xfrm>
              <a:off x="0" y="74625"/>
              <a:ext cx="6096000" cy="2224075"/>
            </a:xfrm>
            <a:prstGeom prst="rect">
              <a:avLst/>
            </a:prstGeom>
            <a:noFill/>
          </p:spPr>
          <p:txBody>
            <a:bodyPr wrap="square" lIns="0" tIns="0" rIns="0" bIns="0" rtlCol="0" anchor="t">
              <a:noAutofit/>
            </a:bodyPr>
            <a:lstStyle/>
            <a:p>
              <a:pPr algn="l">
                <a:lnSpc>
                  <a:spcPts val="5824"/>
                </a:lnSpc>
                <a:spcBef>
                  <a:spcPts val="0"/>
                </a:spcBef>
                <a:spcAft>
                  <a:spcPts val="0"/>
                </a:spcAft>
                <a:buNone/>
              </a:pPr>
              <a:r>
                <a:rPr lang="en-US" sz="5200" b="1" dirty="0">
                  <a:solidFill>
                    <a:srgbClr val="1A2238"/>
                  </a:solidFill>
                  <a:latin typeface="Fraunces"/>
                  <a:ea typeface="Fraunces"/>
                  <a:cs typeface="Fraunces"/>
                </a:rPr>
                <a:t>Therapy for Autistic &amp; ADHD Adults</a:t>
              </a:r>
              <a:endParaRPr lang="en-US" sz="5200" dirty="0"/>
            </a:p>
          </p:txBody>
        </p:sp>
        <p:sp>
          <p:nvSpPr>
            <p:cNvPr id="14" name="subtitle"/>
            <p:cNvSpPr txBox="1"/>
            <p:nvPr/>
          </p:nvSpPr>
          <p:spPr>
            <a:xfrm>
              <a:off x="0" y="2545715"/>
              <a:ext cx="6096000" cy="10991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4B5268"/>
                  </a:solidFill>
                  <a:latin typeface="Lexend"/>
                  <a:ea typeface="Lexend"/>
                  <a:cs typeface="Lexend"/>
                </a:rPr>
                <a:t>Late diagnosis, burnout, work and relationships: the support that helps grown-ups thrive.</a:t>
              </a:r>
              <a:endParaRPr lang="en-US" sz="2200" dirty="0"/>
            </a:p>
          </p:txBody>
        </p:sp>
      </p:grpSp>
      <p:sp>
        <p:nvSpPr>
          <p:cNvPr id="16" name="cover-rule"/>
          <p:cNvSpPr/>
          <p:nvPr/>
        </p:nvSpPr>
        <p:spPr>
          <a:xfrm>
            <a:off x="762000" y="5905500"/>
            <a:ext cx="762000" cy="38100"/>
          </a:xfrm>
          <a:prstGeom prst="roundRect">
            <a:avLst>
              <a:gd name="adj" fmla="val 50000"/>
            </a:avLst>
          </a:prstGeom>
          <a:solidFill>
            <a:srgbClr val="C4553F"/>
          </a:solidFill>
          <a:ln>
            <a:noFill/>
          </a:ln>
        </p:spPr>
      </p:sp>
      <p:sp>
        <p:nvSpPr>
          <p:cNvPr id="17" name="footer"/>
          <p:cNvSpPr txBox="1"/>
          <p:nvPr/>
        </p:nvSpPr>
        <p:spPr>
          <a:xfrm>
            <a:off x="762000" y="6042050"/>
            <a:ext cx="1754188" cy="187300"/>
          </a:xfrm>
          <a:prstGeom prst="rect">
            <a:avLst/>
          </a:prstGeom>
          <a:noFill/>
        </p:spPr>
        <p:txBody>
          <a:bodyPr wrap="square" lIns="0" tIns="0" rIns="0" bIns="0" rtlCol="0" anchor="t">
            <a:noAutofit/>
          </a:bodyPr>
          <a:lstStyle/>
          <a:p>
            <a:pPr algn="l">
              <a:lnSpc>
                <a:spcPts val="1750"/>
              </a:lnSpc>
              <a:buNone/>
            </a:pPr>
            <a:r>
              <a:rPr lang="en-US" sz="1200" dirty="0">
                <a:solidFill>
                  <a:srgbClr val="4B5268"/>
                </a:solidFill>
                <a:latin typeface="Lexend"/>
                <a:ea typeface="Lexend"/>
                <a:cs typeface="Lexend"/>
              </a:rPr>
              <a:t>Presentation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02-idea">
    <p:bg>
      <p:bgPr>
        <a:solidFill>
          <a:srgbClr val="C4553F"/>
        </a:solidFill>
        <a:effectLst/>
      </p:bgPr>
    </p:bg>
    <p:spTree>
      <p:nvGrpSpPr>
        <p:cNvPr id="1" name=""/>
        <p:cNvGrpSpPr/>
        <p:nvPr/>
      </p:nvGrpSpPr>
      <p:grpSpPr>
        <a:xfrm>
          <a:off x="0" y="0"/>
          <a:ext cx="0" cy="0"/>
          <a:chOff x="0" y="0"/>
          <a:chExt cx="0" cy="0"/>
        </a:xfrm>
      </p:grpSpPr>
      <p:sp>
        <p:nvSpPr>
          <p:cNvPr id="2" name="idea-disc"/>
          <p:cNvSpPr/>
          <p:nvPr/>
        </p:nvSpPr>
        <p:spPr>
          <a:xfrm>
            <a:off x="-1397000" y="3937000"/>
            <a:ext cx="4064000" cy="4064000"/>
          </a:xfrm>
          <a:prstGeom prst="ellipse">
            <a:avLst/>
          </a:prstGeom>
          <a:solidFill>
            <a:srgbClr val="FFFFFF">
              <a:alpha val="8000"/>
            </a:srgbClr>
          </a:solidFill>
          <a:ln>
            <a:noFill/>
          </a:ln>
        </p:spPr>
      </p:sp>
      <p:sp>
        <p:nvSpPr>
          <p:cNvPr id="3" name="idea-disc-2"/>
          <p:cNvSpPr/>
          <p:nvPr/>
        </p:nvSpPr>
        <p:spPr>
          <a:xfrm>
            <a:off x="9906000" y="-1016000"/>
            <a:ext cx="3302000" cy="3302000"/>
          </a:xfrm>
          <a:prstGeom prst="ellipse">
            <a:avLst/>
          </a:prstGeom>
          <a:solidFill>
            <a:srgbClr val="FFFFFF">
              <a:alpha val="8000"/>
            </a:srgbClr>
          </a:solidFill>
          <a:ln>
            <a:noFill/>
          </a:ln>
        </p:spPr>
      </p:sp>
      <p:sp>
        <p:nvSpPr>
          <p:cNvPr id="4" name="icon-bg-10"/>
          <p:cNvSpPr/>
          <p:nvPr/>
        </p:nvSpPr>
        <p:spPr>
          <a:xfrm>
            <a:off x="5715000" y="1206500"/>
            <a:ext cx="762000" cy="762000"/>
          </a:xfrm>
          <a:prstGeom prst="ellipse">
            <a:avLst/>
          </a:prstGeom>
          <a:solidFill>
            <a:srgbClr val="FBE8E3"/>
          </a:solidFill>
          <a:ln>
            <a:noFill/>
          </a:ln>
        </p:spPr>
      </p:sp>
      <p:pic>
        <p:nvPicPr>
          <p:cNvPr id="5" name="icon-11" descr="icon-11"/>
          <p:cNvPicPr>
            <a:picLocks noChangeAspect="1"/>
          </p:cNvPicPr>
          <p:nvPr/>
        </p:nvPicPr>
        <p:blipFill>
          <a:blip r:embed="rId3"/>
          <a:stretch>
            <a:fillRect/>
          </a:stretch>
        </p:blipFill>
        <p:spPr>
          <a:xfrm>
            <a:off x="5797550" y="1289050"/>
            <a:ext cx="596900" cy="596900"/>
          </a:xfrm>
          <a:prstGeom prst="rect">
            <a:avLst/>
          </a:prstGeom>
        </p:spPr>
      </p:pic>
      <p:sp>
        <p:nvSpPr>
          <p:cNvPr id="6" name="kicker"/>
          <p:cNvSpPr txBox="1"/>
          <p:nvPr/>
        </p:nvSpPr>
        <p:spPr>
          <a:xfrm>
            <a:off x="5524500" y="2192020"/>
            <a:ext cx="1485900" cy="259080"/>
          </a:xfrm>
          <a:prstGeom prst="rect">
            <a:avLst/>
          </a:prstGeom>
          <a:noFill/>
        </p:spPr>
        <p:txBody>
          <a:bodyPr wrap="square" lIns="0" tIns="0" rIns="0" bIns="0" rtlCol="0" anchor="t">
            <a:noAutofit/>
          </a:bodyPr>
          <a:lstStyle/>
          <a:p>
            <a:pPr algn="l">
              <a:lnSpc>
                <a:spcPts val="2450"/>
              </a:lnSpc>
              <a:buNone/>
            </a:pPr>
            <a:r>
              <a:rPr lang="en-US" sz="1800" b="1" dirty="0">
                <a:solidFill>
                  <a:srgbClr val="FFFFFF"/>
                </a:solidFill>
                <a:latin typeface="Lexend"/>
                <a:ea typeface="Lexend"/>
                <a:cs typeface="Lexend"/>
              </a:rPr>
              <a:t>KEY IDEA</a:t>
            </a:r>
            <a:endParaRPr lang="en-US" sz="1800" dirty="0"/>
          </a:p>
        </p:txBody>
      </p:sp>
      <p:grpSp>
        <p:nvGrpSpPr>
          <p:cNvPr id="9" name="block-12"/>
          <p:cNvGrpSpPr/>
          <p:nvPr/>
        </p:nvGrpSpPr>
        <p:grpSpPr>
          <a:xfrm>
            <a:off x="1333500" y="2794000"/>
            <a:ext cx="9525000" cy="1022350"/>
            <a:chOff x="0" y="0"/>
            <a:chExt cx="9525000" cy="1022350"/>
          </a:xfrm>
        </p:grpSpPr>
        <p:sp>
          <p:nvSpPr>
            <p:cNvPr id="7" name="statement"/>
            <p:cNvSpPr txBox="1"/>
            <p:nvPr/>
          </p:nvSpPr>
          <p:spPr>
            <a:xfrm>
              <a:off x="0" y="48793"/>
              <a:ext cx="9525000" cy="973557"/>
            </a:xfrm>
            <a:prstGeom prst="rect">
              <a:avLst/>
            </a:prstGeom>
            <a:noFill/>
          </p:spPr>
          <p:txBody>
            <a:bodyPr wrap="square" lIns="0" tIns="0" rIns="0" bIns="0" rtlCol="0" anchor="t">
              <a:noAutofit/>
            </a:bodyPr>
            <a:lstStyle/>
            <a:p>
              <a:pPr algn="ctr">
                <a:lnSpc>
                  <a:spcPts val="3808"/>
                </a:lnSpc>
                <a:spcBef>
                  <a:spcPts val="0"/>
                </a:spcBef>
                <a:spcAft>
                  <a:spcPts val="0"/>
                </a:spcAft>
                <a:buNone/>
              </a:pPr>
              <a:r>
                <a:rPr lang="en-US" sz="3400" b="1" dirty="0">
                  <a:solidFill>
                    <a:srgbClr val="FFFFFF"/>
                  </a:solidFill>
                  <a:latin typeface="Fraunces"/>
                  <a:ea typeface="Fraunces"/>
                  <a:cs typeface="Fraunces"/>
                </a:rPr>
                <a:t>It's never too late to understand how your brain works.</a:t>
              </a:r>
              <a:endParaRPr lang="en-US" sz="3400" dirty="0"/>
            </a:p>
          </p:txBody>
        </p:sp>
        <p:sp>
          <p:nvSpPr>
            <p:cNvPr id="8" name="subtitle"/>
            <p:cNvSpPr txBox="1"/>
            <p:nvPr/>
          </p:nvSpPr>
          <p:spPr>
            <a:xfrm>
              <a:off x="0" y="1264920"/>
              <a:ext cx="9525000" cy="32258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FFFFFF"/>
                  </a:solidFill>
                  <a:latin typeface="Lexend"/>
                  <a:ea typeface="Lexend"/>
                  <a:cs typeface="Lexend"/>
                </a:rPr>
                <a:t>A diagnosis in adulthood can bring relief, self-compassion and better support.</a:t>
              </a:r>
              <a:endParaRPr lang="en-US" sz="1800" dirty="0"/>
            </a:p>
          </p:txBody>
        </p:sp>
      </p:grpSp>
      <p:sp>
        <p:nvSpPr>
          <p:cNvPr id="10" name="footer"/>
          <p:cNvSpPr txBox="1"/>
          <p:nvPr/>
        </p:nvSpPr>
        <p:spPr>
          <a:xfrm>
            <a:off x="762000" y="6283350"/>
            <a:ext cx="3270250" cy="225400"/>
          </a:xfrm>
          <a:prstGeom prst="rect">
            <a:avLst/>
          </a:prstGeom>
          <a:noFill/>
        </p:spPr>
        <p:txBody>
          <a:bodyPr wrap="square" lIns="0" tIns="0" rIns="0" bIns="0" rtlCol="0" anchor="t">
            <a:noAutofit/>
          </a:bodyPr>
          <a:lstStyle/>
          <a:p>
            <a:pPr algn="l">
              <a:lnSpc>
                <a:spcPts val="1750"/>
              </a:lnSpc>
              <a:buNone/>
            </a:pPr>
            <a:r>
              <a:rPr lang="en-US" sz="1200" dirty="0">
                <a:solidFill>
                  <a:srgbClr val="FFFFFF"/>
                </a:solidFill>
                <a:latin typeface="Lexend"/>
                <a:ea typeface="Lexend"/>
                <a:cs typeface="Lexend"/>
              </a:rPr>
              <a:t>Therapy for Autistic &amp; ADHD Adults</a:t>
            </a:r>
            <a:endParaRPr lang="en-US" sz="1200" dirty="0"/>
          </a:p>
        </p:txBody>
      </p:sp>
      <p:sp>
        <p:nvSpPr>
          <p:cNvPr id="11" name="page-number"/>
          <p:cNvSpPr txBox="1"/>
          <p:nvPr/>
        </p:nvSpPr>
        <p:spPr>
          <a:xfrm>
            <a:off x="10858500" y="6274359"/>
            <a:ext cx="571500" cy="208991"/>
          </a:xfrm>
          <a:prstGeom prst="rect">
            <a:avLst/>
          </a:prstGeom>
          <a:noFill/>
        </p:spPr>
        <p:txBody>
          <a:bodyPr wrap="square" lIns="0" tIns="0" rIns="0" bIns="0" rtlCol="0" anchor="t">
            <a:noAutofit/>
          </a:bodyPr>
          <a:lstStyle/>
          <a:p>
            <a:pPr algn="l">
              <a:lnSpc>
                <a:spcPts val="1750"/>
              </a:lnSpc>
              <a:buNone/>
            </a:pPr>
            <a:r>
              <a:rPr lang="en-US" sz="1200" dirty="0">
                <a:solidFill>
                  <a:srgbClr val="FFFFFF"/>
                </a:solidFill>
                <a:latin typeface="Lexend"/>
                <a:ea typeface="Lexend"/>
                <a:cs typeface="Lexend"/>
              </a:rPr>
              <a:t>2 / 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03-cards">
    <p:bg>
      <p:bgPr>
        <a:solidFill>
          <a:srgbClr val="F6F4F1"/>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F6D8CF"/>
          </a:solidFill>
          <a:ln>
            <a:noFill/>
          </a:ln>
        </p:spPr>
      </p:sp>
      <p:sp>
        <p:nvSpPr>
          <p:cNvPr id="3" name="footer"/>
          <p:cNvSpPr txBox="1"/>
          <p:nvPr/>
        </p:nvSpPr>
        <p:spPr>
          <a:xfrm>
            <a:off x="762000" y="6283350"/>
            <a:ext cx="3270250" cy="225400"/>
          </a:xfrm>
          <a:prstGeom prst="rect">
            <a:avLst/>
          </a:prstGeom>
          <a:noFill/>
        </p:spPr>
        <p:txBody>
          <a:bodyPr wrap="square" lIns="0" tIns="0" rIns="0" bIns="0" rtlCol="0" anchor="t">
            <a:noAutofit/>
          </a:bodyPr>
          <a:lstStyle/>
          <a:p>
            <a:pPr algn="l">
              <a:lnSpc>
                <a:spcPts val="1750"/>
              </a:lnSpc>
              <a:buNone/>
            </a:pPr>
            <a:r>
              <a:rPr lang="en-US" sz="1200" dirty="0">
                <a:solidFill>
                  <a:srgbClr val="4B5268"/>
                </a:solidFill>
                <a:latin typeface="Lexend"/>
                <a:ea typeface="Lexend"/>
                <a:cs typeface="Lexend"/>
              </a:rPr>
              <a:t>Therapy for Autistic &amp; ADHD Adults</a:t>
            </a:r>
            <a:endParaRPr lang="en-US" sz="1200" dirty="0"/>
          </a:p>
        </p:txBody>
      </p:sp>
      <p:sp>
        <p:nvSpPr>
          <p:cNvPr id="4" name="page-number"/>
          <p:cNvSpPr txBox="1"/>
          <p:nvPr/>
        </p:nvSpPr>
        <p:spPr>
          <a:xfrm>
            <a:off x="10858500" y="6274359"/>
            <a:ext cx="565150" cy="208991"/>
          </a:xfrm>
          <a:prstGeom prst="rect">
            <a:avLst/>
          </a:prstGeom>
          <a:noFill/>
        </p:spPr>
        <p:txBody>
          <a:bodyPr wrap="square" lIns="0" tIns="0" rIns="0" bIns="0" rtlCol="0" anchor="t">
            <a:noAutofit/>
          </a:bodyPr>
          <a:lstStyle/>
          <a:p>
            <a:pPr algn="l">
              <a:lnSpc>
                <a:spcPts val="1750"/>
              </a:lnSpc>
              <a:buNone/>
            </a:pPr>
            <a:r>
              <a:rPr lang="en-US" sz="1200" dirty="0">
                <a:solidFill>
                  <a:srgbClr val="4B5268"/>
                </a:solidFill>
                <a:latin typeface="Lexend"/>
                <a:ea typeface="Lexend"/>
                <a:cs typeface="Lexend"/>
              </a:rPr>
              <a:t>3 / 6</a:t>
            </a:r>
            <a:endParaRPr lang="en-US" sz="1200" dirty="0"/>
          </a:p>
        </p:txBody>
      </p:sp>
      <p:sp>
        <p:nvSpPr>
          <p:cNvPr id="5" name="title-bar-13"/>
          <p:cNvSpPr/>
          <p:nvPr/>
        </p:nvSpPr>
        <p:spPr>
          <a:xfrm>
            <a:off x="762000" y="584200"/>
            <a:ext cx="457200" cy="63500"/>
          </a:xfrm>
          <a:prstGeom prst="roundRect">
            <a:avLst>
              <a:gd name="adj" fmla="val 50000"/>
            </a:avLst>
          </a:prstGeom>
          <a:solidFill>
            <a:srgbClr val="C4553F"/>
          </a:solidFill>
          <a:ln>
            <a:noFill/>
          </a:ln>
        </p:spPr>
      </p:sp>
      <p:sp>
        <p:nvSpPr>
          <p:cNvPr id="6" name="title"/>
          <p:cNvSpPr>
            <a:spLocks noGrp="1"/>
          </p:cNvSpPr>
          <p:nvPr>
            <p:ph type="title"/>
          </p:nvPr>
        </p:nvSpPr>
        <p:spPr>
          <a:xfrm>
            <a:off x="762000" y="730593"/>
            <a:ext cx="6588125" cy="469557"/>
          </a:xfrm>
          <a:prstGeom prst="rect">
            <a:avLst/>
          </a:prstGeom>
          <a:noFill/>
        </p:spPr>
        <p:txBody>
          <a:bodyPr wrap="square" lIns="0" tIns="0" rIns="0" bIns="0" rtlCol="0" anchor="t">
            <a:noAutofit/>
          </a:bodyPr>
          <a:lstStyle/>
          <a:p>
            <a:pPr algn="l">
              <a:lnSpc>
                <a:spcPts val="3742"/>
              </a:lnSpc>
              <a:buNone/>
            </a:pPr>
            <a:r>
              <a:rPr lang="en-US" sz="3400" b="1" dirty="0">
                <a:solidFill>
                  <a:srgbClr val="1A2238"/>
                </a:solidFill>
                <a:latin typeface="Fraunces"/>
                <a:ea typeface="Fraunces"/>
                <a:cs typeface="Fraunces"/>
              </a:rPr>
              <a:t>Support that helps adults</a:t>
            </a:r>
            <a:endParaRPr lang="en-US" sz="3400" dirty="0"/>
          </a:p>
        </p:txBody>
      </p:sp>
      <p:sp>
        <p:nvSpPr>
          <p:cNvPr id="7" name="card-14"/>
          <p:cNvSpPr/>
          <p:nvPr/>
        </p:nvSpPr>
        <p:spPr>
          <a:xfrm>
            <a:off x="774700" y="1714500"/>
            <a:ext cx="5156200" cy="2006600"/>
          </a:xfrm>
          <a:prstGeom prst="roundRect">
            <a:avLst>
              <a:gd name="adj" fmla="val 9810"/>
            </a:avLst>
          </a:prstGeom>
          <a:solidFill>
            <a:srgbClr val="FFFFFF"/>
          </a:solidFill>
          <a:ln w="12700">
            <a:solidFill>
              <a:srgbClr val="E6E1DA"/>
            </a:solidFill>
          </a:ln>
        </p:spPr>
      </p:sp>
      <p:sp>
        <p:nvSpPr>
          <p:cNvPr id="8" name="icon-bg-15"/>
          <p:cNvSpPr/>
          <p:nvPr/>
        </p:nvSpPr>
        <p:spPr>
          <a:xfrm>
            <a:off x="1016000" y="1981200"/>
            <a:ext cx="762000" cy="762000"/>
          </a:xfrm>
          <a:prstGeom prst="ellipse">
            <a:avLst/>
          </a:prstGeom>
          <a:solidFill>
            <a:srgbClr val="F6D8CF"/>
          </a:solidFill>
          <a:ln>
            <a:noFill/>
          </a:ln>
        </p:spPr>
      </p:sp>
      <p:pic>
        <p:nvPicPr>
          <p:cNvPr id="9" name="icon-16" descr="icon-16"/>
          <p:cNvPicPr>
            <a:picLocks noChangeAspect="1"/>
          </p:cNvPicPr>
          <p:nvPr/>
        </p:nvPicPr>
        <p:blipFill>
          <a:blip r:embed="rId3"/>
          <a:stretch>
            <a:fillRect/>
          </a:stretch>
        </p:blipFill>
        <p:spPr>
          <a:xfrm>
            <a:off x="1098550" y="2063750"/>
            <a:ext cx="596900" cy="596900"/>
          </a:xfrm>
          <a:prstGeom prst="rect">
            <a:avLst/>
          </a:prstGeom>
        </p:spPr>
      </p:pic>
      <p:grpSp>
        <p:nvGrpSpPr>
          <p:cNvPr id="12" name="block-19"/>
          <p:cNvGrpSpPr/>
          <p:nvPr/>
        </p:nvGrpSpPr>
        <p:grpSpPr>
          <a:xfrm>
            <a:off x="1968500" y="1993900"/>
            <a:ext cx="3721100" cy="927100"/>
            <a:chOff x="0" y="0"/>
            <a:chExt cx="3721100" cy="927100"/>
          </a:xfrm>
        </p:grpSpPr>
        <p:sp>
          <p:nvSpPr>
            <p:cNvPr id="10" name="head-17"/>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A2238"/>
                  </a:solidFill>
                  <a:latin typeface="Fraunces"/>
                  <a:ea typeface="Fraunces"/>
                  <a:cs typeface="Fraunces"/>
                </a:rPr>
                <a:t>Affirming psychotherapy</a:t>
              </a:r>
              <a:endParaRPr lang="en-US" sz="2200" dirty="0"/>
            </a:p>
          </p:txBody>
        </p:sp>
        <p:sp>
          <p:nvSpPr>
            <p:cNvPr id="11" name="body-18"/>
            <p:cNvSpPr txBox="1"/>
            <p:nvPr/>
          </p:nvSpPr>
          <p:spPr>
            <a:xfrm>
              <a:off x="0" y="439420"/>
              <a:ext cx="3721100" cy="9385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B5268"/>
                  </a:solidFill>
                  <a:latin typeface="Lexend"/>
                  <a:ea typeface="Lexend"/>
                  <a:cs typeface="Lexend"/>
                </a:rPr>
                <a:t>Therapists who understand neurodivergence, masking and identity.</a:t>
              </a:r>
              <a:endParaRPr lang="en-US" sz="1800" dirty="0"/>
            </a:p>
          </p:txBody>
        </p:sp>
      </p:grpSp>
      <p:sp>
        <p:nvSpPr>
          <p:cNvPr id="13" name="card-20"/>
          <p:cNvSpPr/>
          <p:nvPr/>
        </p:nvSpPr>
        <p:spPr>
          <a:xfrm>
            <a:off x="6261100" y="1714500"/>
            <a:ext cx="5156200" cy="2006600"/>
          </a:xfrm>
          <a:prstGeom prst="roundRect">
            <a:avLst>
              <a:gd name="adj" fmla="val 9810"/>
            </a:avLst>
          </a:prstGeom>
          <a:solidFill>
            <a:srgbClr val="FFFFFF"/>
          </a:solidFill>
          <a:ln w="12700">
            <a:solidFill>
              <a:srgbClr val="E6E1DA"/>
            </a:solidFill>
          </a:ln>
        </p:spPr>
      </p:sp>
      <p:sp>
        <p:nvSpPr>
          <p:cNvPr id="14" name="icon-bg-21"/>
          <p:cNvSpPr/>
          <p:nvPr/>
        </p:nvSpPr>
        <p:spPr>
          <a:xfrm>
            <a:off x="6502400" y="1981200"/>
            <a:ext cx="762000" cy="762000"/>
          </a:xfrm>
          <a:prstGeom prst="ellipse">
            <a:avLst/>
          </a:prstGeom>
          <a:solidFill>
            <a:srgbClr val="F6D8CF"/>
          </a:solidFill>
          <a:ln>
            <a:noFill/>
          </a:ln>
        </p:spPr>
      </p:sp>
      <p:pic>
        <p:nvPicPr>
          <p:cNvPr id="15" name="icon-22" descr="icon-22"/>
          <p:cNvPicPr>
            <a:picLocks noChangeAspect="1"/>
          </p:cNvPicPr>
          <p:nvPr/>
        </p:nvPicPr>
        <p:blipFill>
          <a:blip r:embed="rId4"/>
          <a:stretch>
            <a:fillRect/>
          </a:stretch>
        </p:blipFill>
        <p:spPr>
          <a:xfrm>
            <a:off x="6584950" y="2063750"/>
            <a:ext cx="596900" cy="596900"/>
          </a:xfrm>
          <a:prstGeom prst="rect">
            <a:avLst/>
          </a:prstGeom>
        </p:spPr>
      </p:pic>
      <p:grpSp>
        <p:nvGrpSpPr>
          <p:cNvPr id="18" name="block-25"/>
          <p:cNvGrpSpPr/>
          <p:nvPr/>
        </p:nvGrpSpPr>
        <p:grpSpPr>
          <a:xfrm>
            <a:off x="7454900" y="1993900"/>
            <a:ext cx="3721100" cy="622300"/>
            <a:chOff x="0" y="0"/>
            <a:chExt cx="3721100" cy="622300"/>
          </a:xfrm>
        </p:grpSpPr>
        <p:sp>
          <p:nvSpPr>
            <p:cNvPr id="16" name="head-23"/>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A2238"/>
                  </a:solidFill>
                  <a:latin typeface="Fraunces"/>
                  <a:ea typeface="Fraunces"/>
                  <a:cs typeface="Fraunces"/>
                </a:rPr>
                <a:t>Adapted CBT</a:t>
              </a:r>
              <a:endParaRPr lang="en-US" sz="2200" dirty="0"/>
            </a:p>
          </p:txBody>
        </p:sp>
        <p:sp>
          <p:nvSpPr>
            <p:cNvPr id="17" name="body-24"/>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B5268"/>
                  </a:solidFill>
                  <a:latin typeface="Lexend"/>
                  <a:ea typeface="Lexend"/>
                  <a:cs typeface="Lexend"/>
                </a:rPr>
                <a:t>Concrete, structured tools for anxiety, habits and planning.</a:t>
              </a:r>
              <a:endParaRPr lang="en-US" sz="1800" dirty="0"/>
            </a:p>
          </p:txBody>
        </p:sp>
      </p:grpSp>
      <p:sp>
        <p:nvSpPr>
          <p:cNvPr id="19" name="card-26"/>
          <p:cNvSpPr/>
          <p:nvPr/>
        </p:nvSpPr>
        <p:spPr>
          <a:xfrm>
            <a:off x="774700" y="4051300"/>
            <a:ext cx="5156200" cy="2006600"/>
          </a:xfrm>
          <a:prstGeom prst="roundRect">
            <a:avLst>
              <a:gd name="adj" fmla="val 9810"/>
            </a:avLst>
          </a:prstGeom>
          <a:solidFill>
            <a:srgbClr val="FFFFFF"/>
          </a:solidFill>
          <a:ln w="12700">
            <a:solidFill>
              <a:srgbClr val="E6E1DA"/>
            </a:solidFill>
          </a:ln>
        </p:spPr>
      </p:sp>
      <p:sp>
        <p:nvSpPr>
          <p:cNvPr id="20" name="icon-bg-27"/>
          <p:cNvSpPr/>
          <p:nvPr/>
        </p:nvSpPr>
        <p:spPr>
          <a:xfrm>
            <a:off x="1016000" y="4318000"/>
            <a:ext cx="762000" cy="762000"/>
          </a:xfrm>
          <a:prstGeom prst="ellipse">
            <a:avLst/>
          </a:prstGeom>
          <a:solidFill>
            <a:srgbClr val="F6D8CF"/>
          </a:solidFill>
          <a:ln>
            <a:noFill/>
          </a:ln>
        </p:spPr>
      </p:sp>
      <p:pic>
        <p:nvPicPr>
          <p:cNvPr id="21" name="icon-28" descr="icon-28"/>
          <p:cNvPicPr>
            <a:picLocks noChangeAspect="1"/>
          </p:cNvPicPr>
          <p:nvPr/>
        </p:nvPicPr>
        <p:blipFill>
          <a:blip r:embed="rId5"/>
          <a:stretch>
            <a:fillRect/>
          </a:stretch>
        </p:blipFill>
        <p:spPr>
          <a:xfrm>
            <a:off x="1098550" y="4400550"/>
            <a:ext cx="596900" cy="596900"/>
          </a:xfrm>
          <a:prstGeom prst="rect">
            <a:avLst/>
          </a:prstGeom>
        </p:spPr>
      </p:pic>
      <p:grpSp>
        <p:nvGrpSpPr>
          <p:cNvPr id="24" name="block-31"/>
          <p:cNvGrpSpPr/>
          <p:nvPr/>
        </p:nvGrpSpPr>
        <p:grpSpPr>
          <a:xfrm>
            <a:off x="1968500" y="4330700"/>
            <a:ext cx="3721100" cy="622300"/>
            <a:chOff x="0" y="0"/>
            <a:chExt cx="3721100" cy="622300"/>
          </a:xfrm>
        </p:grpSpPr>
        <p:sp>
          <p:nvSpPr>
            <p:cNvPr id="22" name="head-29"/>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A2238"/>
                  </a:solidFill>
                  <a:latin typeface="Fraunces"/>
                  <a:ea typeface="Fraunces"/>
                  <a:cs typeface="Fraunces"/>
                </a:rPr>
                <a:t>ADHD coaching</a:t>
              </a:r>
              <a:endParaRPr lang="en-US" sz="2200" dirty="0"/>
            </a:p>
          </p:txBody>
        </p:sp>
        <p:sp>
          <p:nvSpPr>
            <p:cNvPr id="23" name="body-30"/>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B5268"/>
                  </a:solidFill>
                  <a:latin typeface="Lexend"/>
                  <a:ea typeface="Lexend"/>
                  <a:cs typeface="Lexend"/>
                </a:rPr>
                <a:t>Accountability for routines, projects and time management.</a:t>
              </a:r>
              <a:endParaRPr lang="en-US" sz="1800" dirty="0"/>
            </a:p>
          </p:txBody>
        </p:sp>
      </p:grpSp>
      <p:sp>
        <p:nvSpPr>
          <p:cNvPr id="25" name="card-32"/>
          <p:cNvSpPr/>
          <p:nvPr/>
        </p:nvSpPr>
        <p:spPr>
          <a:xfrm>
            <a:off x="6261100" y="4051300"/>
            <a:ext cx="5156200" cy="2006600"/>
          </a:xfrm>
          <a:prstGeom prst="roundRect">
            <a:avLst>
              <a:gd name="adj" fmla="val 9810"/>
            </a:avLst>
          </a:prstGeom>
          <a:solidFill>
            <a:srgbClr val="FFFFFF"/>
          </a:solidFill>
          <a:ln w="12700">
            <a:solidFill>
              <a:srgbClr val="E6E1DA"/>
            </a:solidFill>
          </a:ln>
        </p:spPr>
      </p:sp>
      <p:sp>
        <p:nvSpPr>
          <p:cNvPr id="26" name="icon-bg-33"/>
          <p:cNvSpPr/>
          <p:nvPr/>
        </p:nvSpPr>
        <p:spPr>
          <a:xfrm>
            <a:off x="6502400" y="4318000"/>
            <a:ext cx="762000" cy="762000"/>
          </a:xfrm>
          <a:prstGeom prst="ellipse">
            <a:avLst/>
          </a:prstGeom>
          <a:solidFill>
            <a:srgbClr val="F6D8CF"/>
          </a:solidFill>
          <a:ln>
            <a:noFill/>
          </a:ln>
        </p:spPr>
      </p:sp>
      <p:pic>
        <p:nvPicPr>
          <p:cNvPr id="27" name="icon-34" descr="icon-34"/>
          <p:cNvPicPr>
            <a:picLocks noChangeAspect="1"/>
          </p:cNvPicPr>
          <p:nvPr/>
        </p:nvPicPr>
        <p:blipFill>
          <a:blip r:embed="rId6"/>
          <a:stretch>
            <a:fillRect/>
          </a:stretch>
        </p:blipFill>
        <p:spPr>
          <a:xfrm>
            <a:off x="6584950" y="4400550"/>
            <a:ext cx="596900" cy="596900"/>
          </a:xfrm>
          <a:prstGeom prst="rect">
            <a:avLst/>
          </a:prstGeom>
        </p:spPr>
      </p:pic>
      <p:grpSp>
        <p:nvGrpSpPr>
          <p:cNvPr id="30" name="block-37"/>
          <p:cNvGrpSpPr/>
          <p:nvPr/>
        </p:nvGrpSpPr>
        <p:grpSpPr>
          <a:xfrm>
            <a:off x="7454900" y="4330700"/>
            <a:ext cx="3721100" cy="622300"/>
            <a:chOff x="0" y="0"/>
            <a:chExt cx="3721100" cy="622300"/>
          </a:xfrm>
        </p:grpSpPr>
        <p:sp>
          <p:nvSpPr>
            <p:cNvPr id="28" name="head-35"/>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A2238"/>
                  </a:solidFill>
                  <a:latin typeface="Fraunces"/>
                  <a:ea typeface="Fraunces"/>
                  <a:cs typeface="Fraunces"/>
                </a:rPr>
                <a:t>Occupational therapy</a:t>
              </a:r>
              <a:endParaRPr lang="en-US" sz="2200" dirty="0"/>
            </a:p>
          </p:txBody>
        </p:sp>
        <p:sp>
          <p:nvSpPr>
            <p:cNvPr id="29" name="body-36"/>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B5268"/>
                  </a:solidFill>
                  <a:latin typeface="Lexend"/>
                  <a:ea typeface="Lexend"/>
                  <a:cs typeface="Lexend"/>
                </a:rPr>
                <a:t>Sensory needs, daily routines and workplace setup.</a:t>
              </a:r>
              <a:endParaRPr lang="en-US" sz="180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04-split">
    <p:bg>
      <p:bgPr>
        <a:solidFill>
          <a:srgbClr val="F6F4F1"/>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F6D8CF"/>
          </a:solidFill>
          <a:ln>
            <a:noFill/>
          </a:ln>
        </p:spPr>
      </p:sp>
      <p:sp>
        <p:nvSpPr>
          <p:cNvPr id="3" name="footer"/>
          <p:cNvSpPr txBox="1"/>
          <p:nvPr/>
        </p:nvSpPr>
        <p:spPr>
          <a:xfrm>
            <a:off x="762000" y="6283350"/>
            <a:ext cx="3270250" cy="225400"/>
          </a:xfrm>
          <a:prstGeom prst="rect">
            <a:avLst/>
          </a:prstGeom>
          <a:noFill/>
        </p:spPr>
        <p:txBody>
          <a:bodyPr wrap="square" lIns="0" tIns="0" rIns="0" bIns="0" rtlCol="0" anchor="t">
            <a:noAutofit/>
          </a:bodyPr>
          <a:lstStyle/>
          <a:p>
            <a:pPr algn="l">
              <a:lnSpc>
                <a:spcPts val="1750"/>
              </a:lnSpc>
              <a:buNone/>
            </a:pPr>
            <a:r>
              <a:rPr lang="en-US" sz="1200" dirty="0">
                <a:solidFill>
                  <a:srgbClr val="4B5268"/>
                </a:solidFill>
                <a:latin typeface="Lexend"/>
                <a:ea typeface="Lexend"/>
                <a:cs typeface="Lexend"/>
              </a:rPr>
              <a:t>Therapy for Autistic &amp; ADHD Adults</a:t>
            </a:r>
            <a:endParaRPr lang="en-US" sz="1200" dirty="0"/>
          </a:p>
        </p:txBody>
      </p:sp>
      <p:sp>
        <p:nvSpPr>
          <p:cNvPr id="4" name="page-number"/>
          <p:cNvSpPr txBox="1"/>
          <p:nvPr/>
        </p:nvSpPr>
        <p:spPr>
          <a:xfrm>
            <a:off x="10858500" y="6274359"/>
            <a:ext cx="584200" cy="208991"/>
          </a:xfrm>
          <a:prstGeom prst="rect">
            <a:avLst/>
          </a:prstGeom>
          <a:noFill/>
        </p:spPr>
        <p:txBody>
          <a:bodyPr wrap="square" lIns="0" tIns="0" rIns="0" bIns="0" rtlCol="0" anchor="t">
            <a:noAutofit/>
          </a:bodyPr>
          <a:lstStyle/>
          <a:p>
            <a:pPr algn="l">
              <a:lnSpc>
                <a:spcPts val="1750"/>
              </a:lnSpc>
              <a:buNone/>
            </a:pPr>
            <a:r>
              <a:rPr lang="en-US" sz="1200" dirty="0">
                <a:solidFill>
                  <a:srgbClr val="4B5268"/>
                </a:solidFill>
                <a:latin typeface="Lexend"/>
                <a:ea typeface="Lexend"/>
                <a:cs typeface="Lexend"/>
              </a:rPr>
              <a:t>4 / 6</a:t>
            </a:r>
            <a:endParaRPr lang="en-US" sz="1200" dirty="0"/>
          </a:p>
        </p:txBody>
      </p:sp>
      <p:sp>
        <p:nvSpPr>
          <p:cNvPr id="5" name="title-bar-38"/>
          <p:cNvSpPr/>
          <p:nvPr/>
        </p:nvSpPr>
        <p:spPr>
          <a:xfrm>
            <a:off x="762000" y="584200"/>
            <a:ext cx="457200" cy="63500"/>
          </a:xfrm>
          <a:prstGeom prst="roundRect">
            <a:avLst>
              <a:gd name="adj" fmla="val 50000"/>
            </a:avLst>
          </a:prstGeom>
          <a:solidFill>
            <a:srgbClr val="C4553F"/>
          </a:solidFill>
          <a:ln>
            <a:noFill/>
          </a:ln>
        </p:spPr>
      </p:sp>
      <p:sp>
        <p:nvSpPr>
          <p:cNvPr id="6" name="title"/>
          <p:cNvSpPr>
            <a:spLocks noGrp="1"/>
          </p:cNvSpPr>
          <p:nvPr>
            <p:ph type="title"/>
          </p:nvPr>
        </p:nvSpPr>
        <p:spPr>
          <a:xfrm>
            <a:off x="762000" y="730593"/>
            <a:ext cx="8167688" cy="475907"/>
          </a:xfrm>
          <a:prstGeom prst="rect">
            <a:avLst/>
          </a:prstGeom>
          <a:noFill/>
        </p:spPr>
        <p:txBody>
          <a:bodyPr wrap="square" lIns="0" tIns="0" rIns="0" bIns="0" rtlCol="0" anchor="t">
            <a:noAutofit/>
          </a:bodyPr>
          <a:lstStyle/>
          <a:p>
            <a:pPr algn="l">
              <a:lnSpc>
                <a:spcPts val="3742"/>
              </a:lnSpc>
              <a:buNone/>
            </a:pPr>
            <a:r>
              <a:rPr lang="en-US" sz="3400" b="1" dirty="0">
                <a:solidFill>
                  <a:srgbClr val="1A2238"/>
                </a:solidFill>
                <a:latin typeface="Fraunces"/>
                <a:ea typeface="Fraunces"/>
                <a:cs typeface="Fraunces"/>
              </a:rPr>
              <a:t>Common goals in adult therapy</a:t>
            </a:r>
            <a:endParaRPr lang="en-US" sz="3400" dirty="0"/>
          </a:p>
        </p:txBody>
      </p:sp>
      <p:sp>
        <p:nvSpPr>
          <p:cNvPr id="7" name="body"/>
          <p:cNvSpPr txBox="1"/>
          <p:nvPr/>
        </p:nvSpPr>
        <p:spPr>
          <a:xfrm>
            <a:off x="762000" y="1898015"/>
            <a:ext cx="5588000" cy="2172335"/>
          </a:xfrm>
          <a:prstGeom prst="rect">
            <a:avLst/>
          </a:prstGeom>
          <a:noFill/>
        </p:spPr>
        <p:txBody>
          <a:bodyPr wrap="square" lIns="0" tIns="0" rIns="0" bIns="0" rtlCol="0" anchor="t">
            <a:noAutofit/>
          </a:bodyPr>
          <a:lstStyle/>
          <a:p>
            <a:pPr algn="l" marL="391160" indent="-391160" lvl="0">
              <a:lnSpc>
                <a:spcPts val="2860"/>
              </a:lnSpc>
              <a:spcBef>
                <a:spcPts val="0"/>
              </a:spcBef>
              <a:spcAft>
                <a:spcPts val="1400"/>
              </a:spcAft>
              <a:buFont typeface="Arial"/>
              <a:buChar char="•"/>
            </a:pPr>
            <a:r>
              <a:rPr lang="en-US" sz="2200" dirty="0">
                <a:solidFill>
                  <a:srgbClr val="1A2238"/>
                </a:solidFill>
                <a:latin typeface="Lexend"/>
                <a:ea typeface="Lexend"/>
                <a:cs typeface="Lexend"/>
              </a:rPr>
              <a:t>Recovering from burnout</a:t>
            </a:r>
            <a:endParaRPr lang="en-US" sz="2200" dirty="0"/>
          </a:p>
          <a:p>
            <a:pPr algn="l" marL="391160" indent="-391160" lvl="0">
              <a:lnSpc>
                <a:spcPts val="2860"/>
              </a:lnSpc>
              <a:spcBef>
                <a:spcPts val="0"/>
              </a:spcBef>
              <a:spcAft>
                <a:spcPts val="1400"/>
              </a:spcAft>
              <a:buFont typeface="Arial"/>
              <a:buChar char="•"/>
            </a:pPr>
            <a:r>
              <a:rPr lang="en-US" sz="2200" dirty="0">
                <a:solidFill>
                  <a:srgbClr val="1A2238"/>
                </a:solidFill>
                <a:latin typeface="Lexend"/>
                <a:ea typeface="Lexend"/>
                <a:cs typeface="Lexend"/>
              </a:rPr>
              <a:t>Managing anxiety and depression</a:t>
            </a:r>
            <a:endParaRPr lang="en-US" sz="2200" dirty="0"/>
          </a:p>
          <a:p>
            <a:pPr algn="l" marL="391160" indent="-391160" lvl="0">
              <a:lnSpc>
                <a:spcPts val="2860"/>
              </a:lnSpc>
              <a:spcBef>
                <a:spcPts val="0"/>
              </a:spcBef>
              <a:spcAft>
                <a:spcPts val="1400"/>
              </a:spcAft>
              <a:buFont typeface="Arial"/>
              <a:buChar char="•"/>
            </a:pPr>
            <a:r>
              <a:rPr lang="en-US" sz="2200" dirty="0">
                <a:solidFill>
                  <a:srgbClr val="1A2238"/>
                </a:solidFill>
                <a:latin typeface="Lexend"/>
                <a:ea typeface="Lexend"/>
                <a:cs typeface="Lexend"/>
              </a:rPr>
              <a:t>Executive function at work and home</a:t>
            </a:r>
            <a:endParaRPr lang="en-US" sz="2200" dirty="0"/>
          </a:p>
          <a:p>
            <a:pPr algn="l" marL="391160" indent="-391160" lvl="0">
              <a:lnSpc>
                <a:spcPts val="2860"/>
              </a:lnSpc>
              <a:spcBef>
                <a:spcPts val="0"/>
              </a:spcBef>
              <a:spcAft>
                <a:spcPts val="1400"/>
              </a:spcAft>
              <a:buFont typeface="Arial"/>
              <a:buChar char="•"/>
            </a:pPr>
            <a:r>
              <a:rPr lang="en-US" sz="2200" dirty="0">
                <a:solidFill>
                  <a:srgbClr val="1A2238"/>
                </a:solidFill>
                <a:latin typeface="Lexend"/>
                <a:ea typeface="Lexend"/>
                <a:cs typeface="Lexend"/>
              </a:rPr>
              <a:t>Relationships and self-advocacy</a:t>
            </a:r>
            <a:endParaRPr lang="en-US" sz="2200" dirty="0"/>
          </a:p>
        </p:txBody>
      </p:sp>
      <p:sp>
        <p:nvSpPr>
          <p:cNvPr id="8" name="panel"/>
          <p:cNvSpPr/>
          <p:nvPr/>
        </p:nvSpPr>
        <p:spPr>
          <a:xfrm>
            <a:off x="7048500" y="1701800"/>
            <a:ext cx="4381500" cy="4381500"/>
          </a:xfrm>
          <a:prstGeom prst="roundRect">
            <a:avLst>
              <a:gd name="adj" fmla="val 5797"/>
            </a:avLst>
          </a:prstGeom>
          <a:solidFill>
            <a:srgbClr val="C4553F"/>
          </a:solidFill>
          <a:ln>
            <a:noFill/>
          </a:ln>
        </p:spPr>
      </p:sp>
      <p:sp>
        <p:nvSpPr>
          <p:cNvPr id="9" name="icon-bg-39"/>
          <p:cNvSpPr/>
          <p:nvPr/>
        </p:nvSpPr>
        <p:spPr>
          <a:xfrm>
            <a:off x="7404100" y="2057400"/>
            <a:ext cx="762000" cy="762000"/>
          </a:xfrm>
          <a:prstGeom prst="ellipse">
            <a:avLst/>
          </a:prstGeom>
          <a:solidFill>
            <a:srgbClr val="FBE8E3"/>
          </a:solidFill>
          <a:ln>
            <a:noFill/>
          </a:ln>
        </p:spPr>
      </p:sp>
      <p:pic>
        <p:nvPicPr>
          <p:cNvPr id="10" name="icon-40" descr="icon-40"/>
          <p:cNvPicPr>
            <a:picLocks noChangeAspect="1"/>
          </p:cNvPicPr>
          <p:nvPr/>
        </p:nvPicPr>
        <p:blipFill>
          <a:blip r:embed="rId3"/>
          <a:stretch>
            <a:fillRect/>
          </a:stretch>
        </p:blipFill>
        <p:spPr>
          <a:xfrm>
            <a:off x="7486650" y="2139950"/>
            <a:ext cx="596900" cy="596900"/>
          </a:xfrm>
          <a:prstGeom prst="rect">
            <a:avLst/>
          </a:prstGeom>
        </p:spPr>
      </p:pic>
      <p:grpSp>
        <p:nvGrpSpPr>
          <p:cNvPr id="13" name="block-41"/>
          <p:cNvGrpSpPr/>
          <p:nvPr/>
        </p:nvGrpSpPr>
        <p:grpSpPr>
          <a:xfrm>
            <a:off x="7404100" y="3098800"/>
            <a:ext cx="3670300" cy="1600200"/>
            <a:chOff x="0" y="0"/>
            <a:chExt cx="3670300" cy="1600200"/>
          </a:xfrm>
        </p:grpSpPr>
        <p:sp>
          <p:nvSpPr>
            <p:cNvPr id="11" name="panel-head"/>
            <p:cNvSpPr txBox="1"/>
            <p:nvPr/>
          </p:nvSpPr>
          <p:spPr>
            <a:xfrm>
              <a:off x="0" y="40183"/>
              <a:ext cx="3670300" cy="798017"/>
            </a:xfrm>
            <a:prstGeom prst="rect">
              <a:avLst/>
            </a:prstGeom>
            <a:noFill/>
          </p:spPr>
          <p:txBody>
            <a:bodyPr wrap="square" lIns="0" tIns="0" rIns="0" bIns="0" rtlCol="0" anchor="t">
              <a:noAutofit/>
            </a:bodyPr>
            <a:lstStyle/>
            <a:p>
              <a:pPr algn="l">
                <a:lnSpc>
                  <a:spcPts val="3136"/>
                </a:lnSpc>
                <a:spcBef>
                  <a:spcPts val="0"/>
                </a:spcBef>
                <a:spcAft>
                  <a:spcPts val="0"/>
                </a:spcAft>
                <a:buNone/>
              </a:pPr>
              <a:r>
                <a:rPr lang="en-US" sz="2800" b="1" dirty="0">
                  <a:solidFill>
                    <a:srgbClr val="FFFFFF"/>
                  </a:solidFill>
                  <a:latin typeface="Fraunces"/>
                  <a:ea typeface="Fraunces"/>
                  <a:cs typeface="Fraunces"/>
                </a:rPr>
                <a:t>Masking and burnout</a:t>
              </a:r>
              <a:endParaRPr lang="en-US" sz="2800" dirty="0"/>
            </a:p>
          </p:txBody>
        </p:sp>
        <p:sp>
          <p:nvSpPr>
            <p:cNvPr id="12" name="panel-body"/>
            <p:cNvSpPr txBox="1"/>
            <p:nvPr/>
          </p:nvSpPr>
          <p:spPr>
            <a:xfrm>
              <a:off x="0" y="973455"/>
              <a:ext cx="3670300" cy="1617345"/>
            </a:xfrm>
            <a:prstGeom prst="rect">
              <a:avLst/>
            </a:prstGeom>
            <a:noFill/>
          </p:spPr>
          <p:txBody>
            <a:bodyPr wrap="square" lIns="0" tIns="0" rIns="0" bIns="0" rtlCol="0" anchor="t">
              <a:noAutofit/>
            </a:bodyPr>
            <a:lstStyle/>
            <a:p>
              <a:pPr algn="l">
                <a:lnSpc>
                  <a:spcPts val="2520"/>
                </a:lnSpc>
                <a:spcBef>
                  <a:spcPts val="0"/>
                </a:spcBef>
                <a:spcAft>
                  <a:spcPts val="0"/>
                </a:spcAft>
                <a:buNone/>
              </a:pPr>
              <a:r>
                <a:rPr lang="en-US" sz="1800" dirty="0">
                  <a:solidFill>
                    <a:srgbClr val="FFFFFF"/>
                  </a:solidFill>
                  <a:latin typeface="Lexend"/>
                  <a:ea typeface="Lexend"/>
                  <a:cs typeface="Lexend"/>
                </a:rPr>
                <a:t>Hiding traits to fit in takes energy. Over time it can lead to exhaustion; therapy helps people unmask safely and pace themselves.</a:t>
              </a:r>
              <a:endParaRPr lang="en-US" sz="18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05-steps">
    <p:bg>
      <p:bgPr>
        <a:solidFill>
          <a:srgbClr val="F6F4F1"/>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F6D8CF"/>
          </a:solidFill>
          <a:ln>
            <a:noFill/>
          </a:ln>
        </p:spPr>
      </p:sp>
      <p:sp>
        <p:nvSpPr>
          <p:cNvPr id="3" name="footer"/>
          <p:cNvSpPr txBox="1"/>
          <p:nvPr/>
        </p:nvSpPr>
        <p:spPr>
          <a:xfrm>
            <a:off x="762000" y="6283350"/>
            <a:ext cx="3270250" cy="225400"/>
          </a:xfrm>
          <a:prstGeom prst="rect">
            <a:avLst/>
          </a:prstGeom>
          <a:noFill/>
        </p:spPr>
        <p:txBody>
          <a:bodyPr wrap="square" lIns="0" tIns="0" rIns="0" bIns="0" rtlCol="0" anchor="t">
            <a:noAutofit/>
          </a:bodyPr>
          <a:lstStyle/>
          <a:p>
            <a:pPr algn="l">
              <a:lnSpc>
                <a:spcPts val="1750"/>
              </a:lnSpc>
              <a:buNone/>
            </a:pPr>
            <a:r>
              <a:rPr lang="en-US" sz="1200" dirty="0">
                <a:solidFill>
                  <a:srgbClr val="4B5268"/>
                </a:solidFill>
                <a:latin typeface="Lexend"/>
                <a:ea typeface="Lexend"/>
                <a:cs typeface="Lexend"/>
              </a:rPr>
              <a:t>Therapy for Autistic &amp; ADHD Adults</a:t>
            </a:r>
            <a:endParaRPr lang="en-US" sz="1200" dirty="0"/>
          </a:p>
        </p:txBody>
      </p:sp>
      <p:sp>
        <p:nvSpPr>
          <p:cNvPr id="4" name="page-number"/>
          <p:cNvSpPr txBox="1"/>
          <p:nvPr/>
        </p:nvSpPr>
        <p:spPr>
          <a:xfrm>
            <a:off x="10858500" y="6274359"/>
            <a:ext cx="571500" cy="208991"/>
          </a:xfrm>
          <a:prstGeom prst="rect">
            <a:avLst/>
          </a:prstGeom>
          <a:noFill/>
        </p:spPr>
        <p:txBody>
          <a:bodyPr wrap="square" lIns="0" tIns="0" rIns="0" bIns="0" rtlCol="0" anchor="t">
            <a:noAutofit/>
          </a:bodyPr>
          <a:lstStyle/>
          <a:p>
            <a:pPr algn="l">
              <a:lnSpc>
                <a:spcPts val="1750"/>
              </a:lnSpc>
              <a:buNone/>
            </a:pPr>
            <a:r>
              <a:rPr lang="en-US" sz="1200" dirty="0">
                <a:solidFill>
                  <a:srgbClr val="4B5268"/>
                </a:solidFill>
                <a:latin typeface="Lexend"/>
                <a:ea typeface="Lexend"/>
                <a:cs typeface="Lexend"/>
              </a:rPr>
              <a:t>5 / 6</a:t>
            </a:r>
            <a:endParaRPr lang="en-US" sz="1200" dirty="0"/>
          </a:p>
        </p:txBody>
      </p:sp>
      <p:sp>
        <p:nvSpPr>
          <p:cNvPr id="5" name="title-bar-42"/>
          <p:cNvSpPr/>
          <p:nvPr/>
        </p:nvSpPr>
        <p:spPr>
          <a:xfrm>
            <a:off x="762000" y="584200"/>
            <a:ext cx="457200" cy="63500"/>
          </a:xfrm>
          <a:prstGeom prst="roundRect">
            <a:avLst>
              <a:gd name="adj" fmla="val 50000"/>
            </a:avLst>
          </a:prstGeom>
          <a:solidFill>
            <a:srgbClr val="C4553F"/>
          </a:solidFill>
          <a:ln>
            <a:noFill/>
          </a:ln>
        </p:spPr>
      </p:sp>
      <p:sp>
        <p:nvSpPr>
          <p:cNvPr id="6" name="title"/>
          <p:cNvSpPr>
            <a:spLocks noGrp="1"/>
          </p:cNvSpPr>
          <p:nvPr>
            <p:ph type="title"/>
          </p:nvPr>
        </p:nvSpPr>
        <p:spPr>
          <a:xfrm>
            <a:off x="762000" y="730593"/>
            <a:ext cx="6865938" cy="475907"/>
          </a:xfrm>
          <a:prstGeom prst="rect">
            <a:avLst/>
          </a:prstGeom>
          <a:noFill/>
        </p:spPr>
        <p:txBody>
          <a:bodyPr wrap="square" lIns="0" tIns="0" rIns="0" bIns="0" rtlCol="0" anchor="t">
            <a:noAutofit/>
          </a:bodyPr>
          <a:lstStyle/>
          <a:p>
            <a:pPr algn="l">
              <a:lnSpc>
                <a:spcPts val="3742"/>
              </a:lnSpc>
              <a:buNone/>
            </a:pPr>
            <a:r>
              <a:rPr lang="en-US" sz="3400" b="1" dirty="0">
                <a:solidFill>
                  <a:srgbClr val="1A2238"/>
                </a:solidFill>
                <a:latin typeface="Fraunces"/>
                <a:ea typeface="Fraunces"/>
                <a:cs typeface="Fraunces"/>
              </a:rPr>
              <a:t>Getting started as an adult</a:t>
            </a:r>
            <a:endParaRPr lang="en-US" sz="3400" dirty="0"/>
          </a:p>
        </p:txBody>
      </p:sp>
      <p:sp>
        <p:nvSpPr>
          <p:cNvPr id="7" name="steps-line"/>
          <p:cNvSpPr/>
          <p:nvPr/>
        </p:nvSpPr>
        <p:spPr>
          <a:xfrm>
            <a:off x="1828800" y="2489200"/>
            <a:ext cx="8534400" cy="50800"/>
          </a:xfrm>
          <a:prstGeom prst="roundRect">
            <a:avLst>
              <a:gd name="adj" fmla="val 50000"/>
            </a:avLst>
          </a:prstGeom>
          <a:solidFill>
            <a:srgbClr val="F6D8CF"/>
          </a:solidFill>
          <a:ln>
            <a:noFill/>
          </a:ln>
        </p:spPr>
      </p:sp>
      <p:sp>
        <p:nvSpPr>
          <p:cNvPr id="8" name="step-dot-43"/>
          <p:cNvSpPr/>
          <p:nvPr/>
        </p:nvSpPr>
        <p:spPr>
          <a:xfrm>
            <a:off x="1409700" y="2095500"/>
            <a:ext cx="838200" cy="838200"/>
          </a:xfrm>
          <a:prstGeom prst="ellipse">
            <a:avLst/>
          </a:prstGeom>
          <a:solidFill>
            <a:srgbClr val="C4553F"/>
          </a:solidFill>
          <a:ln>
            <a:noFill/>
          </a:ln>
        </p:spPr>
      </p:sp>
      <p:sp>
        <p:nvSpPr>
          <p:cNvPr id="9" name="step-num-44"/>
          <p:cNvSpPr txBox="1"/>
          <p:nvPr/>
        </p:nvSpPr>
        <p:spPr>
          <a:xfrm>
            <a:off x="1743075" y="2336241"/>
            <a:ext cx="704850" cy="308534"/>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1</a:t>
            </a:r>
            <a:endParaRPr lang="en-US" sz="2800" dirty="0"/>
          </a:p>
        </p:txBody>
      </p:sp>
      <p:grpSp>
        <p:nvGrpSpPr>
          <p:cNvPr id="12" name="block-47"/>
          <p:cNvGrpSpPr/>
          <p:nvPr/>
        </p:nvGrpSpPr>
        <p:grpSpPr>
          <a:xfrm>
            <a:off x="876300" y="3213100"/>
            <a:ext cx="1905000" cy="622300"/>
            <a:chOff x="0" y="0"/>
            <a:chExt cx="1905000" cy="622300"/>
          </a:xfrm>
        </p:grpSpPr>
        <p:sp>
          <p:nvSpPr>
            <p:cNvPr id="10" name="head-45"/>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A2238"/>
                  </a:solidFill>
                  <a:latin typeface="Fraunces"/>
                  <a:ea typeface="Fraunces"/>
                  <a:cs typeface="Fraunces"/>
                </a:rPr>
                <a:t>Reflect</a:t>
              </a:r>
              <a:endParaRPr lang="en-US" sz="2200" dirty="0"/>
            </a:p>
          </p:txBody>
        </p:sp>
        <p:sp>
          <p:nvSpPr>
            <p:cNvPr id="11" name="body-46"/>
            <p:cNvSpPr txBox="1"/>
            <p:nvPr/>
          </p:nvSpPr>
          <p:spPr>
            <a:xfrm>
              <a:off x="0" y="452120"/>
              <a:ext cx="19050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B5268"/>
                  </a:solidFill>
                  <a:latin typeface="Lexend"/>
                  <a:ea typeface="Lexend"/>
                  <a:cs typeface="Lexend"/>
                </a:rPr>
                <a:t>Notice patterns across your life.</a:t>
              </a:r>
              <a:endParaRPr lang="en-US" sz="1800" dirty="0"/>
            </a:p>
          </p:txBody>
        </p:sp>
      </p:grpSp>
      <p:sp>
        <p:nvSpPr>
          <p:cNvPr id="13" name="step-dot-48"/>
          <p:cNvSpPr/>
          <p:nvPr/>
        </p:nvSpPr>
        <p:spPr>
          <a:xfrm>
            <a:off x="3543300" y="2095500"/>
            <a:ext cx="838200" cy="838200"/>
          </a:xfrm>
          <a:prstGeom prst="ellipse">
            <a:avLst/>
          </a:prstGeom>
          <a:solidFill>
            <a:srgbClr val="C4553F"/>
          </a:solidFill>
          <a:ln>
            <a:noFill/>
          </a:ln>
        </p:spPr>
      </p:sp>
      <p:sp>
        <p:nvSpPr>
          <p:cNvPr id="14" name="step-num-49"/>
          <p:cNvSpPr txBox="1"/>
          <p:nvPr/>
        </p:nvSpPr>
        <p:spPr>
          <a:xfrm>
            <a:off x="3851275" y="2335530"/>
            <a:ext cx="755650" cy="309245"/>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2</a:t>
            </a:r>
            <a:endParaRPr lang="en-US" sz="2800" dirty="0"/>
          </a:p>
        </p:txBody>
      </p:sp>
      <p:grpSp>
        <p:nvGrpSpPr>
          <p:cNvPr id="17" name="block-52"/>
          <p:cNvGrpSpPr/>
          <p:nvPr/>
        </p:nvGrpSpPr>
        <p:grpSpPr>
          <a:xfrm>
            <a:off x="3009900" y="3213100"/>
            <a:ext cx="1905000" cy="660400"/>
            <a:chOff x="0" y="0"/>
            <a:chExt cx="1905000" cy="660400"/>
          </a:xfrm>
        </p:grpSpPr>
        <p:sp>
          <p:nvSpPr>
            <p:cNvPr id="15" name="head-50"/>
            <p:cNvSpPr txBox="1"/>
            <p:nvPr/>
          </p:nvSpPr>
          <p:spPr>
            <a:xfrm>
              <a:off x="0" y="31572"/>
              <a:ext cx="1905000" cy="62882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A2238"/>
                  </a:solidFill>
                  <a:latin typeface="Fraunces"/>
                  <a:ea typeface="Fraunces"/>
                  <a:cs typeface="Fraunces"/>
                </a:rPr>
                <a:t>Find an assessor</a:t>
              </a:r>
              <a:endParaRPr lang="en-US" sz="2200" dirty="0"/>
            </a:p>
          </p:txBody>
        </p:sp>
        <p:sp>
          <p:nvSpPr>
            <p:cNvPr id="16" name="body-51"/>
            <p:cNvSpPr txBox="1"/>
            <p:nvPr/>
          </p:nvSpPr>
          <p:spPr>
            <a:xfrm>
              <a:off x="0" y="763270"/>
              <a:ext cx="19050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B5268"/>
                  </a:solidFill>
                  <a:latin typeface="Lexend"/>
                  <a:ea typeface="Lexend"/>
                  <a:cs typeface="Lexend"/>
                </a:rPr>
                <a:t>Choose one who sees adults.</a:t>
              </a:r>
              <a:endParaRPr lang="en-US" sz="1800" dirty="0"/>
            </a:p>
          </p:txBody>
        </p:sp>
      </p:grpSp>
      <p:sp>
        <p:nvSpPr>
          <p:cNvPr id="18" name="step-dot-53"/>
          <p:cNvSpPr/>
          <p:nvPr/>
        </p:nvSpPr>
        <p:spPr>
          <a:xfrm>
            <a:off x="5676900" y="2095500"/>
            <a:ext cx="838200" cy="838200"/>
          </a:xfrm>
          <a:prstGeom prst="ellipse">
            <a:avLst/>
          </a:prstGeom>
          <a:solidFill>
            <a:srgbClr val="C4553F"/>
          </a:solidFill>
          <a:ln>
            <a:noFill/>
          </a:ln>
        </p:spPr>
      </p:sp>
      <p:sp>
        <p:nvSpPr>
          <p:cNvPr id="19" name="step-num-54"/>
          <p:cNvSpPr txBox="1"/>
          <p:nvPr/>
        </p:nvSpPr>
        <p:spPr>
          <a:xfrm>
            <a:off x="5994400" y="2330018"/>
            <a:ext cx="736600" cy="314757"/>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3</a:t>
            </a:r>
            <a:endParaRPr lang="en-US" sz="2800" dirty="0"/>
          </a:p>
        </p:txBody>
      </p:sp>
      <p:grpSp>
        <p:nvGrpSpPr>
          <p:cNvPr id="22" name="block-57"/>
          <p:cNvGrpSpPr/>
          <p:nvPr/>
        </p:nvGrpSpPr>
        <p:grpSpPr>
          <a:xfrm>
            <a:off x="5143500" y="3213100"/>
            <a:ext cx="1905000" cy="927100"/>
            <a:chOff x="0" y="0"/>
            <a:chExt cx="1905000" cy="927100"/>
          </a:xfrm>
        </p:grpSpPr>
        <p:sp>
          <p:nvSpPr>
            <p:cNvPr id="20" name="head-55"/>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A2238"/>
                  </a:solidFill>
                  <a:latin typeface="Fraunces"/>
                  <a:ea typeface="Fraunces"/>
                  <a:cs typeface="Fraunces"/>
                </a:rPr>
                <a:t>Get assessed</a:t>
              </a:r>
              <a:endParaRPr lang="en-US" sz="2200" dirty="0"/>
            </a:p>
          </p:txBody>
        </p:sp>
        <p:sp>
          <p:nvSpPr>
            <p:cNvPr id="21" name="body-56"/>
            <p:cNvSpPr txBox="1"/>
            <p:nvPr/>
          </p:nvSpPr>
          <p:spPr>
            <a:xfrm>
              <a:off x="0" y="45212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B5268"/>
                  </a:solidFill>
                  <a:latin typeface="Lexend"/>
                  <a:ea typeface="Lexend"/>
                  <a:cs typeface="Lexend"/>
                </a:rPr>
                <a:t>Interviews, history and questionnaires.</a:t>
              </a:r>
              <a:endParaRPr lang="en-US" sz="1800" dirty="0"/>
            </a:p>
          </p:txBody>
        </p:sp>
      </p:grpSp>
      <p:sp>
        <p:nvSpPr>
          <p:cNvPr id="23" name="step-dot-58"/>
          <p:cNvSpPr/>
          <p:nvPr/>
        </p:nvSpPr>
        <p:spPr>
          <a:xfrm>
            <a:off x="7810500" y="2095500"/>
            <a:ext cx="838200" cy="838200"/>
          </a:xfrm>
          <a:prstGeom prst="ellipse">
            <a:avLst/>
          </a:prstGeom>
          <a:solidFill>
            <a:srgbClr val="C4553F"/>
          </a:solidFill>
          <a:ln>
            <a:noFill/>
          </a:ln>
        </p:spPr>
      </p:sp>
      <p:sp>
        <p:nvSpPr>
          <p:cNvPr id="24" name="step-num-59"/>
          <p:cNvSpPr txBox="1"/>
          <p:nvPr/>
        </p:nvSpPr>
        <p:spPr>
          <a:xfrm>
            <a:off x="8115300" y="2339264"/>
            <a:ext cx="762000" cy="305511"/>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4</a:t>
            </a:r>
            <a:endParaRPr lang="en-US" sz="2800" dirty="0"/>
          </a:p>
        </p:txBody>
      </p:sp>
      <p:grpSp>
        <p:nvGrpSpPr>
          <p:cNvPr id="27" name="block-62"/>
          <p:cNvGrpSpPr/>
          <p:nvPr/>
        </p:nvGrpSpPr>
        <p:grpSpPr>
          <a:xfrm>
            <a:off x="7277100" y="3213100"/>
            <a:ext cx="1905000" cy="927100"/>
            <a:chOff x="0" y="0"/>
            <a:chExt cx="1905000" cy="927100"/>
          </a:xfrm>
        </p:grpSpPr>
        <p:sp>
          <p:nvSpPr>
            <p:cNvPr id="25" name="head-60"/>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A2238"/>
                  </a:solidFill>
                  <a:latin typeface="Fraunces"/>
                  <a:ea typeface="Fraunces"/>
                  <a:cs typeface="Fraunces"/>
                </a:rPr>
                <a:t>Plan supports</a:t>
              </a:r>
              <a:endParaRPr lang="en-US" sz="2200" dirty="0"/>
            </a:p>
          </p:txBody>
        </p:sp>
        <p:sp>
          <p:nvSpPr>
            <p:cNvPr id="26" name="body-61"/>
            <p:cNvSpPr txBox="1"/>
            <p:nvPr/>
          </p:nvSpPr>
          <p:spPr>
            <a:xfrm>
              <a:off x="0" y="45212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B5268"/>
                  </a:solidFill>
                  <a:latin typeface="Lexend"/>
                  <a:ea typeface="Lexend"/>
                  <a:cs typeface="Lexend"/>
                </a:rPr>
                <a:t>Therapy, coaching or medication.</a:t>
              </a:r>
              <a:endParaRPr lang="en-US" sz="1800" dirty="0"/>
            </a:p>
          </p:txBody>
        </p:sp>
      </p:grpSp>
      <p:sp>
        <p:nvSpPr>
          <p:cNvPr id="28" name="step-dot-63"/>
          <p:cNvSpPr/>
          <p:nvPr/>
        </p:nvSpPr>
        <p:spPr>
          <a:xfrm>
            <a:off x="9944100" y="2095500"/>
            <a:ext cx="838200" cy="838200"/>
          </a:xfrm>
          <a:prstGeom prst="ellipse">
            <a:avLst/>
          </a:prstGeom>
          <a:solidFill>
            <a:srgbClr val="C4553F"/>
          </a:solidFill>
          <a:ln>
            <a:noFill/>
          </a:ln>
        </p:spPr>
      </p:sp>
      <p:sp>
        <p:nvSpPr>
          <p:cNvPr id="29" name="step-num-64"/>
          <p:cNvSpPr txBox="1"/>
          <p:nvPr/>
        </p:nvSpPr>
        <p:spPr>
          <a:xfrm>
            <a:off x="10258425" y="2335338"/>
            <a:ext cx="742950" cy="312612"/>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5</a:t>
            </a:r>
            <a:endParaRPr lang="en-US" sz="2800" dirty="0"/>
          </a:p>
        </p:txBody>
      </p:sp>
      <p:grpSp>
        <p:nvGrpSpPr>
          <p:cNvPr id="32" name="block-67"/>
          <p:cNvGrpSpPr/>
          <p:nvPr/>
        </p:nvGrpSpPr>
        <p:grpSpPr>
          <a:xfrm>
            <a:off x="9410700" y="3213100"/>
            <a:ext cx="1905000" cy="927100"/>
            <a:chOff x="0" y="0"/>
            <a:chExt cx="1905000" cy="927100"/>
          </a:xfrm>
        </p:grpSpPr>
        <p:sp>
          <p:nvSpPr>
            <p:cNvPr id="30" name="head-65"/>
            <p:cNvSpPr txBox="1"/>
            <p:nvPr/>
          </p:nvSpPr>
          <p:spPr>
            <a:xfrm>
              <a:off x="0" y="31572"/>
              <a:ext cx="1905000" cy="62882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A2238"/>
                  </a:solidFill>
                  <a:latin typeface="Fraunces"/>
                  <a:ea typeface="Fraunces"/>
                  <a:cs typeface="Fraunces"/>
                </a:rPr>
                <a:t>Ask for adjustments</a:t>
              </a:r>
              <a:endParaRPr lang="en-US" sz="2200" dirty="0"/>
            </a:p>
          </p:txBody>
        </p:sp>
        <p:sp>
          <p:nvSpPr>
            <p:cNvPr id="31" name="body-66"/>
            <p:cNvSpPr txBox="1"/>
            <p:nvPr/>
          </p:nvSpPr>
          <p:spPr>
            <a:xfrm>
              <a:off x="0" y="76327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B5268"/>
                  </a:solidFill>
                  <a:latin typeface="Lexend"/>
                  <a:ea typeface="Lexend"/>
                  <a:cs typeface="Lexend"/>
                </a:rPr>
                <a:t>Request changes at work or school.</a:t>
              </a:r>
              <a:endParaRPr lang="en-US" sz="18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06-closing">
    <p:bg>
      <p:bgPr>
        <a:solidFill>
          <a:srgbClr val="1A2238"/>
        </a:solidFill>
        <a:effectLst/>
      </p:bgPr>
    </p:bg>
    <p:spTree>
      <p:nvGrpSpPr>
        <p:cNvPr id="1" name=""/>
        <p:cNvGrpSpPr/>
        <p:nvPr/>
      </p:nvGrpSpPr>
      <p:grpSpPr>
        <a:xfrm>
          <a:off x="0" y="0"/>
          <a:ext cx="0" cy="0"/>
          <a:chOff x="0" y="0"/>
          <a:chExt cx="0" cy="0"/>
        </a:xfrm>
      </p:grpSpPr>
      <p:sp>
        <p:nvSpPr>
          <p:cNvPr id="2" name="close-disc"/>
          <p:cNvSpPr/>
          <p:nvPr/>
        </p:nvSpPr>
        <p:spPr>
          <a:xfrm>
            <a:off x="8890000" y="3048000"/>
            <a:ext cx="5461000" cy="5461000"/>
          </a:xfrm>
          <a:prstGeom prst="ellipse">
            <a:avLst/>
          </a:prstGeom>
          <a:solidFill>
            <a:srgbClr val="C4553F">
              <a:alpha val="22000"/>
            </a:srgbClr>
          </a:solidFill>
          <a:ln>
            <a:noFill/>
          </a:ln>
        </p:spPr>
      </p:sp>
      <p:sp>
        <p:nvSpPr>
          <p:cNvPr id="3" name="close-bar"/>
          <p:cNvSpPr/>
          <p:nvPr/>
        </p:nvSpPr>
        <p:spPr>
          <a:xfrm>
            <a:off x="762000" y="584200"/>
            <a:ext cx="457200" cy="63500"/>
          </a:xfrm>
          <a:prstGeom prst="roundRect">
            <a:avLst>
              <a:gd name="adj" fmla="val 50000"/>
            </a:avLst>
          </a:prstGeom>
          <a:solidFill>
            <a:srgbClr val="C4553F"/>
          </a:solidFill>
          <a:ln>
            <a:noFill/>
          </a:ln>
        </p:spPr>
      </p:sp>
      <p:sp>
        <p:nvSpPr>
          <p:cNvPr id="4" name="title"/>
          <p:cNvSpPr>
            <a:spLocks noGrp="1"/>
          </p:cNvSpPr>
          <p:nvPr>
            <p:ph type="title"/>
          </p:nvPr>
        </p:nvSpPr>
        <p:spPr>
          <a:xfrm>
            <a:off x="762000" y="730593"/>
            <a:ext cx="3889375" cy="469557"/>
          </a:xfrm>
          <a:prstGeom prst="rect">
            <a:avLst/>
          </a:prstGeom>
          <a:noFill/>
        </p:spPr>
        <p:txBody>
          <a:bodyPr wrap="square" lIns="0" tIns="0" rIns="0" bIns="0" rtlCol="0" anchor="t">
            <a:noAutofit/>
          </a:bodyPr>
          <a:lstStyle/>
          <a:p>
            <a:pPr algn="l">
              <a:lnSpc>
                <a:spcPts val="3742"/>
              </a:lnSpc>
              <a:buNone/>
            </a:pPr>
            <a:r>
              <a:rPr lang="en-US" sz="3400" b="1" dirty="0">
                <a:solidFill>
                  <a:srgbClr val="F6F4F1"/>
                </a:solidFill>
                <a:latin typeface="Fraunces"/>
                <a:ea typeface="Fraunces"/>
                <a:cs typeface="Fraunces"/>
              </a:rPr>
              <a:t>Key takeaways</a:t>
            </a:r>
            <a:endParaRPr lang="en-US" sz="3400" dirty="0"/>
          </a:p>
        </p:txBody>
      </p:sp>
      <p:sp>
        <p:nvSpPr>
          <p:cNvPr id="5" name="close-num-68"/>
          <p:cNvSpPr/>
          <p:nvPr/>
        </p:nvSpPr>
        <p:spPr>
          <a:xfrm>
            <a:off x="762000" y="1841500"/>
            <a:ext cx="558800" cy="558800"/>
          </a:xfrm>
          <a:prstGeom prst="ellipse">
            <a:avLst/>
          </a:prstGeom>
          <a:solidFill>
            <a:srgbClr val="C4553F"/>
          </a:solidFill>
          <a:ln>
            <a:noFill/>
          </a:ln>
        </p:spPr>
      </p:sp>
      <p:sp>
        <p:nvSpPr>
          <p:cNvPr id="6" name="close-n-69"/>
          <p:cNvSpPr txBox="1"/>
          <p:nvPr/>
        </p:nvSpPr>
        <p:spPr>
          <a:xfrm>
            <a:off x="974725" y="1914766"/>
            <a:ext cx="552450" cy="307734"/>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1</a:t>
            </a:r>
            <a:endParaRPr lang="en-US" sz="2200" dirty="0"/>
          </a:p>
        </p:txBody>
      </p:sp>
      <p:sp>
        <p:nvSpPr>
          <p:cNvPr id="7" name="close-item-70"/>
          <p:cNvSpPr txBox="1"/>
          <p:nvPr/>
        </p:nvSpPr>
        <p:spPr>
          <a:xfrm>
            <a:off x="1574800" y="19234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6F4F1"/>
                </a:solidFill>
                <a:latin typeface="Lexend"/>
                <a:ea typeface="Lexend"/>
                <a:cs typeface="Lexend"/>
              </a:rPr>
              <a:t>Adult diagnosis is common, and support is available.</a:t>
            </a:r>
            <a:endParaRPr lang="en-US" sz="2200" dirty="0"/>
          </a:p>
        </p:txBody>
      </p:sp>
      <p:sp>
        <p:nvSpPr>
          <p:cNvPr id="8" name="close-num-71"/>
          <p:cNvSpPr/>
          <p:nvPr/>
        </p:nvSpPr>
        <p:spPr>
          <a:xfrm>
            <a:off x="762000" y="2692400"/>
            <a:ext cx="558800" cy="558800"/>
          </a:xfrm>
          <a:prstGeom prst="ellipse">
            <a:avLst/>
          </a:prstGeom>
          <a:solidFill>
            <a:srgbClr val="C4553F"/>
          </a:solidFill>
          <a:ln>
            <a:noFill/>
          </a:ln>
        </p:spPr>
      </p:sp>
      <p:sp>
        <p:nvSpPr>
          <p:cNvPr id="9" name="close-n-72"/>
          <p:cNvSpPr txBox="1"/>
          <p:nvPr/>
        </p:nvSpPr>
        <p:spPr>
          <a:xfrm>
            <a:off x="952500" y="2761933"/>
            <a:ext cx="596900" cy="314642"/>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2</a:t>
            </a:r>
            <a:endParaRPr lang="en-US" sz="2200" dirty="0"/>
          </a:p>
        </p:txBody>
      </p:sp>
      <p:sp>
        <p:nvSpPr>
          <p:cNvPr id="10" name="close-item-73"/>
          <p:cNvSpPr txBox="1"/>
          <p:nvPr/>
        </p:nvSpPr>
        <p:spPr>
          <a:xfrm>
            <a:off x="1574800" y="27743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6F4F1"/>
                </a:solidFill>
                <a:latin typeface="Lexend"/>
                <a:ea typeface="Lexend"/>
                <a:cs typeface="Lexend"/>
              </a:rPr>
              <a:t>Choose therapists who understand neurodivergent adults.</a:t>
            </a:r>
            <a:endParaRPr lang="en-US" sz="2200" dirty="0"/>
          </a:p>
        </p:txBody>
      </p:sp>
      <p:sp>
        <p:nvSpPr>
          <p:cNvPr id="11" name="close-num-74"/>
          <p:cNvSpPr/>
          <p:nvPr/>
        </p:nvSpPr>
        <p:spPr>
          <a:xfrm>
            <a:off x="762000" y="3543300"/>
            <a:ext cx="558800" cy="558800"/>
          </a:xfrm>
          <a:prstGeom prst="ellipse">
            <a:avLst/>
          </a:prstGeom>
          <a:solidFill>
            <a:srgbClr val="C4553F"/>
          </a:solidFill>
          <a:ln>
            <a:noFill/>
          </a:ln>
        </p:spPr>
      </p:sp>
      <p:sp>
        <p:nvSpPr>
          <p:cNvPr id="12" name="close-n-75"/>
          <p:cNvSpPr txBox="1"/>
          <p:nvPr/>
        </p:nvSpPr>
        <p:spPr>
          <a:xfrm>
            <a:off x="962025" y="3611677"/>
            <a:ext cx="577850" cy="312623"/>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3</a:t>
            </a:r>
            <a:endParaRPr lang="en-US" sz="2200" dirty="0"/>
          </a:p>
        </p:txBody>
      </p:sp>
      <p:sp>
        <p:nvSpPr>
          <p:cNvPr id="13" name="close-item-76"/>
          <p:cNvSpPr txBox="1"/>
          <p:nvPr/>
        </p:nvSpPr>
        <p:spPr>
          <a:xfrm>
            <a:off x="1574800" y="36252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6F4F1"/>
                </a:solidFill>
                <a:latin typeface="Lexend"/>
                <a:ea typeface="Lexend"/>
                <a:cs typeface="Lexend"/>
              </a:rPr>
              <a:t>Pace yourself: rest and accommodations are part of the plan.</a:t>
            </a:r>
            <a:endParaRPr lang="en-US" sz="2200" dirty="0"/>
          </a:p>
        </p:txBody>
      </p:sp>
      <p:sp>
        <p:nvSpPr>
          <p:cNvPr id="14" name="credit"/>
          <p:cNvSpPr txBox="1"/>
          <p:nvPr/>
        </p:nvSpPr>
        <p:spPr>
          <a:xfrm>
            <a:off x="762000" y="5711190"/>
            <a:ext cx="9525000" cy="207010"/>
          </a:xfrm>
          <a:prstGeom prst="rect">
            <a:avLst/>
          </a:prstGeom>
          <a:noFill/>
        </p:spPr>
        <p:txBody>
          <a:bodyPr wrap="square" lIns="0" tIns="0" rIns="0" bIns="0" rtlCol="0" anchor="t">
            <a:noAutofit/>
          </a:bodyPr>
          <a:lstStyle/>
          <a:p>
            <a:pPr algn="l">
              <a:lnSpc>
                <a:spcPts val="1560"/>
              </a:lnSpc>
              <a:spcBef>
                <a:spcPts val="0"/>
              </a:spcBef>
              <a:spcAft>
                <a:spcPts val="0"/>
              </a:spcAft>
              <a:buNone/>
            </a:pPr>
            <a:r>
              <a:rPr lang="en-US" sz="1200" dirty="0">
                <a:solidFill>
                  <a:srgbClr val="F6D8CF"/>
                </a:solidFill>
                <a:latin typeface="Lexend"/>
                <a:ea typeface="Lexend"/>
                <a:cs typeface="Lexend"/>
              </a:rPr>
              <a:t>This overview is educational and does not replace advice from a qualified clinician.</a:t>
            </a:r>
            <a:endParaRPr lang="en-US" sz="1200" dirty="0"/>
          </a:p>
        </p:txBody>
      </p:sp>
      <p:sp>
        <p:nvSpPr>
          <p:cNvPr id="15" name="footer"/>
          <p:cNvSpPr txBox="1"/>
          <p:nvPr/>
        </p:nvSpPr>
        <p:spPr>
          <a:xfrm>
            <a:off x="762000" y="6283350"/>
            <a:ext cx="3270250" cy="225400"/>
          </a:xfrm>
          <a:prstGeom prst="rect">
            <a:avLst/>
          </a:prstGeom>
          <a:noFill/>
        </p:spPr>
        <p:txBody>
          <a:bodyPr wrap="square" lIns="0" tIns="0" rIns="0" bIns="0" rtlCol="0" anchor="t">
            <a:noAutofit/>
          </a:bodyPr>
          <a:lstStyle/>
          <a:p>
            <a:pPr algn="l">
              <a:lnSpc>
                <a:spcPts val="1750"/>
              </a:lnSpc>
              <a:buNone/>
            </a:pPr>
            <a:r>
              <a:rPr lang="en-US" sz="1200" dirty="0">
                <a:solidFill>
                  <a:srgbClr val="F6D8CF"/>
                </a:solidFill>
                <a:latin typeface="Lexend"/>
                <a:ea typeface="Lexend"/>
                <a:cs typeface="Lexend"/>
              </a:rPr>
              <a:t>Therapy for Autistic &amp; ADHD Adults</a:t>
            </a:r>
            <a:endParaRPr lang="en-US" sz="1200" dirty="0"/>
          </a:p>
        </p:txBody>
      </p:sp>
      <p:sp>
        <p:nvSpPr>
          <p:cNvPr id="16" name="page-number"/>
          <p:cNvSpPr txBox="1"/>
          <p:nvPr/>
        </p:nvSpPr>
        <p:spPr>
          <a:xfrm>
            <a:off x="10858500" y="6274359"/>
            <a:ext cx="571500" cy="208991"/>
          </a:xfrm>
          <a:prstGeom prst="rect">
            <a:avLst/>
          </a:prstGeom>
          <a:noFill/>
        </p:spPr>
        <p:txBody>
          <a:bodyPr wrap="square" lIns="0" tIns="0" rIns="0" bIns="0" rtlCol="0" anchor="t">
            <a:noAutofit/>
          </a:bodyPr>
          <a:lstStyle/>
          <a:p>
            <a:pPr algn="l">
              <a:lnSpc>
                <a:spcPts val="1750"/>
              </a:lnSpc>
              <a:buNone/>
            </a:pPr>
            <a:r>
              <a:rPr lang="en-US" sz="1200" dirty="0">
                <a:solidFill>
                  <a:srgbClr val="F6D8CF"/>
                </a:solidFill>
                <a:latin typeface="Lexend"/>
                <a:ea typeface="Lexend"/>
                <a:cs typeface="Lexend"/>
              </a:rPr>
              <a:t>6 / 6</a:t>
            </a:r>
            <a:endParaRPr lang="en-US" sz="1200" dirty="0"/>
          </a:p>
        </p:txBody>
      </p:sp>
    </p:spTree>
  </p:cSld>
  <p:clrMapOvr>
    <a:masterClrMapping/>
  </p:clrMapOvr>
</p:sld>
</file>

<file path=ppt/theme/theme1.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Vixl</Application>
  <Slides>6</Slides>
  <Notes>6</Notes>
</Properties>
</file>

<file path=docProps/core.xml><?xml version="1.0" encoding="utf-8"?>
<cp:coreProperties xmlns:cp="http://schemas.openxmlformats.org/package/2006/metadata/core-properties" xmlns:dc="http://purl.org/dc/elements/1.1/" xmlns:dcterms="http://purl.org/dc/terms/" xmlns:xsi="http://www.w3.org/2001/XMLSchema-instance">
  <dc:title>Key takeaways</dc:title>
  <dc:creator>Vixl</dc:creator>
</cp:coreProperties>
</file>