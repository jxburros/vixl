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charts/chart1.xml" ContentType="application/vnd.openxmlformats-officedocument.drawingml.chart+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6" r:id="rId11"/>
    <p:sldId id="257" r:id="rId12"/>
    <p:sldId id="258" r:id="rId13"/>
    <p:sldId id="259" r:id="rId14"/>
    <p:sldId id="260" r:id="rId15"/>
    <p:sldId id="261" r:id="rId16"/>
    <p:sldId id="262" r:id="rId17"/>
    <p:sldId id="263" r:id="rId18"/>
    <p:sldId id="264" r:id="rId19"/>
    <p:sldId id="265" r:id="rId20"/>
  </p:sldIdLst>
  <p:sldSz cx="12192000" cy="6858000"/>
  <p:notesSz cx="6858000" cy="9144000"/>
  <p:defaultTextStyle>
    <a:defPPr>
      <a:defRPr lang="en-US"/>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theme" Target="theme/theme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ableStyles" Target="tableStyles.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lgn="l">
              <a:defRPr sz="2310" b="0">
                <a:solidFill>
                  <a:srgbClr val="636877"/>
                </a:solidFill>
                <a:latin typeface="Atkinson Hyperlegible Next"/>
                <a:ea typeface="Atkinson Hyperlegible Next"/>
                <a:cs typeface="Atkinson Hyperlegible Next"/>
              </a:defRPr>
            </a:pPr>
            <a:r>
              <a:rPr lang="en-US" sz="2310" b="0">
                <a:solidFill>
                  <a:srgbClr val="636877"/>
                </a:solidFill>
                <a:latin typeface="Atkinson Hyperlegible Next"/>
                <a:ea typeface="Atkinson Hyperlegible Next"/>
                <a:cs typeface="Atkinson Hyperlegible Next"/>
              </a:rPr>
              <a:t>Next-word probability (illustrative)</a:t>
            </a:r>
          </a:p>
        </c:rich>
      </c:tx>
      <c:layout>
        <c:manualLayout>
          <c:xMode val="edge"/>
          <c:yMode val="edge"/>
          <c:x val="0.0339"/>
          <c:y val="0.0586"/>
        </c:manualLayout>
      </c:layout>
      <c:overlay val="0"/>
    </c:title>
    <c:autoTitleDeleted val="0"/>
    <c:plotArea>
      <c:layout/>
      <c:barChart>
        <c:barDir val="bar"/>
        <c:grouping val="clustered"/>
        <c:varyColors val="0"/>
        <c:ser>
          <c:idx val="0"/>
          <c:order val="0"/>
          <c:tx>
            <c:strRef>
              <c:f>Sheet1!$B$1</c:f>
              <c:strCache>
                <c:ptCount val="1"/>
                <c:pt idx="0">
                  <c:v>Probability</c:v>
                </c:pt>
              </c:strCache>
            </c:strRef>
          </c:tx>
          <c:spPr>
            <a:solidFill>
              <a:srgbClr val="2F55C9"/>
            </a:solidFill>
          </c:spPr>
          <c:invertIfNegative val="0"/>
          <c:dLbls>
            <c:numFmt formatCode="0%" sourceLinked="0"/>
            <c:spPr>
              <a:noFill/>
              <a:ln>
                <a:noFill/>
              </a:ln>
            </c:spPr>
            <c:txPr>
              <a:bodyPr/>
              <a:lstStyle/>
              <a:p>
                <a:pPr>
                  <a:defRPr sz="1785" b="0">
                    <a:solidFill>
                      <a:srgbClr val="17203A"/>
                    </a:solidFill>
                    <a:latin typeface="Atkinson Hyperlegible Next"/>
                    <a:ea typeface="Atkinson Hyperlegible Next"/>
                    <a:cs typeface="Atkinson Hyperlegible Next"/>
                  </a:defRPr>
                </a:pPr>
                <a:endParaRPr lang="en-US"/>
              </a:p>
            </c:txPr>
            <c:dLblPos val="outEnd"/>
            <c:showLegendKey val="0"/>
            <c:showVal val="1"/>
            <c:showCatName val="0"/>
            <c:showSerName val="0"/>
            <c:showPercent val="0"/>
            <c:showBubbleSize val="0"/>
          </c:dLbls>
          <c:cat>
            <c:strRef>
              <c:f>Sheet1!$A$2:$A$7</c:f>
              <c:strCache>
                <c:ptCount val="6"/>
                <c:pt idx="0">
                  <c:v>mat</c:v>
                </c:pt>
                <c:pt idx="1">
                  <c:v>floor</c:v>
                </c:pt>
                <c:pt idx="2">
                  <c:v>sofa</c:v>
                </c:pt>
                <c:pt idx="3">
                  <c:v>bed</c:v>
                </c:pt>
                <c:pt idx="4">
                  <c:v>windowsill</c:v>
                </c:pt>
                <c:pt idx="5">
                  <c:v>anything else</c:v>
                </c:pt>
              </c:strCache>
            </c:strRef>
          </c:cat>
          <c:val>
            <c:numRef>
              <c:f>Sheet1!$B$2:$B$7</c:f>
              <c:numCache>
                <c:formatCode>General</c:formatCode>
                <c:ptCount val="6"/>
                <c:pt idx="0">
                  <c:v>0.41</c:v>
                </c:pt>
                <c:pt idx="1">
                  <c:v>0.18</c:v>
                </c:pt>
                <c:pt idx="2">
                  <c:v>0.12</c:v>
                </c:pt>
                <c:pt idx="3">
                  <c:v>0.08</c:v>
                </c:pt>
                <c:pt idx="4">
                  <c:v>0.05</c:v>
                </c:pt>
                <c:pt idx="5">
                  <c:v>0.16</c:v>
                </c:pt>
              </c:numCache>
            </c:numRef>
          </c:val>
        </c:ser>
        <c:gapWidth val="54"/>
        <c:axId val="111111111"/>
        <c:axId val="222222222"/>
      </c:barChart>
      <c:catAx>
        <c:axId val="111111111"/>
        <c:scaling>
          <c:orientation val="maxMin"/>
        </c:scaling>
        <c:delete val="0"/>
        <c:axPos val="l"/>
        <c:numFmt formatCode="General" sourceLinked="0"/>
        <c:majorTickMark val="none"/>
        <c:minorTickMark val="none"/>
        <c:tickLblPos val="low"/>
        <c:spPr>
          <a:noFill/>
          <a:ln w="12700">
            <a:solidFill>
              <a:srgbClr val="868A94"/>
            </a:solidFill>
          </a:ln>
        </c:spPr>
        <c:txPr>
          <a:bodyPr/>
          <a:lstStyle/>
          <a:p>
            <a:pPr>
              <a:defRPr sz="2100" b="0">
                <a:solidFill>
                  <a:srgbClr val="636877"/>
                </a:solidFill>
                <a:latin typeface="Atkinson Hyperlegible Next"/>
                <a:ea typeface="Atkinson Hyperlegible Next"/>
                <a:cs typeface="Atkinson Hyperlegible Next"/>
              </a:defRPr>
            </a:pPr>
            <a:endParaRPr lang="en-US"/>
          </a:p>
        </c:txPr>
        <c:crossAx val="222222222"/>
        <c:crosses val="autoZero"/>
        <c:auto val="1"/>
        <c:lblAlgn val="ctr"/>
        <c:lblOffset val="100"/>
        <c:noMultiLvlLbl val="0"/>
      </c:catAx>
      <c:valAx>
        <c:axId val="222222222"/>
        <c:scaling>
          <c:orientation val="minMax"/>
          <c:max val="0.5"/>
          <c:min val="0.0"/>
        </c:scaling>
        <c:delete val="0"/>
        <c:axPos val="b"/>
        <c:majorGridlines>
          <c:spPr>
            <a:ln w="9525">
              <a:solidFill>
                <a:srgbClr val="D7D6D5"/>
              </a:solidFill>
            </a:ln>
          </c:spPr>
        </c:majorGridlines>
        <c:numFmt formatCode="0%" sourceLinked="0"/>
        <c:majorTickMark val="none"/>
        <c:minorTickMark val="none"/>
        <c:tickLblPos val="nextTo"/>
        <c:spPr>
          <a:noFill/>
          <a:ln>
            <a:noFill/>
          </a:ln>
        </c:spPr>
        <c:txPr>
          <a:bodyPr/>
          <a:lstStyle/>
          <a:p>
            <a:pPr>
              <a:defRPr sz="2100" b="0">
                <a:solidFill>
                  <a:srgbClr val="636877"/>
                </a:solidFill>
                <a:latin typeface="Atkinson Hyperlegible Next"/>
                <a:ea typeface="Atkinson Hyperlegible Next"/>
                <a:cs typeface="Atkinson Hyperlegible Next"/>
              </a:defRPr>
            </a:pPr>
            <a:endParaRPr lang="en-US"/>
          </a:p>
        </c:txPr>
        <c:crossAx val="111111111"/>
        <c:crosses val="max"/>
        <c:crossBetween val="between"/>
        <c:majorUnit val="0.5"/>
      </c:valAx>
      <c:spPr>
        <a:noFill/>
        <a:ln>
          <a:noFill/>
        </a:ln>
      </c:spPr>
    </c:plotArea>
    <c:plotVisOnly val="1"/>
    <c:dispBlanksAs val="gap"/>
  </c:chart>
  <c:spPr>
    <a:noFill/>
    <a:ln>
      <a:noFill/>
    </a:ln>
  </c:spPr>
  <c:txPr>
    <a:bodyPr/>
    <a:lstStyle/>
    <a:p>
      <a:pPr>
        <a:defRPr sz="2100" b="0">
          <a:solidFill>
            <a:srgbClr val="17203A"/>
          </a:solidFill>
          <a:latin typeface="Atkinson Hyperlegible Next"/>
          <a:ea typeface="Atkinson Hyperlegible Next"/>
          <a:cs typeface="Atkinson Hyperlegible Next"/>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a:xfrm>
            <a:off x="381000" y="685800"/>
            <a:ext cx="6096000" cy="3429000"/>
          </a:xfrm>
          <a:prstGeom prst="rect">
            <a:avLst/>
          </a:prstGeom>
        </p:spPr>
        <p:txBody>
          <a:bodyPr/>
          <a:lstStyle/>
          <a:p>
            <a:endParaRPr lang="en-US"/>
          </a:p>
        </p:txBody>
      </p:sp>
      <p:sp>
        <p:nvSpPr>
          <p:cNvPr id="3" name="Notes Placeholder 2"/>
          <p:cNvSpPr>
            <a:spLocks noGrp="1"/>
          </p:cNvSpPr>
          <p:nvPr>
            <p:ph type="body" idx="1"/>
          </p:nvPr>
        </p:nvSpPr>
        <p:spPr>
          <a:xfrm>
            <a:off x="685800" y="4343400"/>
            <a:ext cx="5486400" cy="41148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notesStyle>
    <a:lvl1pPr marL="0" algn="l">
      <a:defRPr sz="1200" kern="1200">
        <a:solidFill>
          <a:schemeClr val="tx1"/>
        </a:solidFill>
        <a:latin typeface="+mn-lt"/>
      </a:defRPr>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a 30-minute, no-jargon introduction. Ask everyone to keep one task from their own work in mind; we will try it at the end.</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Nested boxes: every large language model is generative AI, every generative model is machine learning, and machine learning is one way of doing AI. In everyday speech people say 'AI' for all of them.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is not new: the field is about 70 years old. 1956: the Dartmouth summer workshop. 1997: IBM Deep Blue. 2012: AlexNet wins ImageNet. 2016: DeepMind AlphaGo. 2017: 'Attention Is All You Need'. November 2022: ChatGPT. What changed recently is scale (data and computing power) plus the Transformer.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never looks an answer up. It splits your prompt into tokens, scores every possible next token, adds a likely one, and repeats until it decides to stop. That is why answers sound fluent even when they are wrong.</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Illustrative numbers, not measured from a real model. The point: the model holds a probability for every possible continuation, and sampling picks among them. A higher 'temperature' setting makes less likely words get picked more often.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Confident mistakes are often called 'hallucinations'. Use it like a fast, well-read assistant whose work you review, not like an oracle.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closing line of Turing's 1950 paper in the journal Mind, the paper that proposed the 'imitation game', now called the Turing test.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idea: ask for 'a summary', then for 'a 5-bullet summary for a busy manager, plain language, flag anything uncertain'. Compare the two.</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homework: pick one low-risk task, ask three different ways, and note what worked on the 'My first AI experiment' worksheet.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for vocabulary questions. Hidden: left out of PDF/HTML and not counted.</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2000" y="428625"/>
            <a:ext cx="10668000" cy="1143000"/>
          </a:xfrm>
          <a:prstGeom prst="rect">
            <a:avLst/>
          </a:prstGeom>
        </p:spPr>
        <p:txBody>
          <a:bodyPr/>
          <a:lstStyle/>
          <a:p>
            <a:endParaRPr lang="en-US"/>
          </a:p>
        </p:txBody>
      </p:sp>
      <p:sp>
        <p:nvSpPr>
          <p:cNvPr id="3" name="Text Placeholder 2"/>
          <p:cNvSpPr>
            <a:spLocks noGrp="1"/>
          </p:cNvSpPr>
          <p:nvPr>
            <p:ph type="body" idx="1"/>
          </p:nvPr>
        </p:nvSpPr>
        <p:spPr>
          <a:xfrm>
            <a:off x="762000" y="1714500"/>
            <a:ext cx="10668000" cy="34290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a:defRPr sz="4400" kern="1200">
          <a:solidFill>
            <a:schemeClr val="tx1"/>
          </a:solidFill>
          <a:latin typeface="+mj-lt"/>
        </a:defRPr>
      </a:lvl1pPr>
    </p:titleStyle>
    <p:bodyStyle>
      <a:lvl1pPr marL="228600" indent="-228600">
        <a:defRPr sz="2800" kern="1200">
          <a:solidFill>
            <a:schemeClr val="tx1"/>
          </a:solidFill>
          <a:latin typeface="+mn-lt"/>
        </a:defRPr>
      </a:lvl1pPr>
    </p:bodyStyle>
    <p:otherStyle>
      <a:defPPr>
        <a:defRPr lang="en-US"/>
      </a:def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Chart1"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cover">
    <p:bg>
      <p:bgPr>
        <a:solidFill>
          <a:srgbClr val="17203A"/>
        </a:solidFill>
        <a:effectLst/>
      </p:bgPr>
    </p:bg>
    <p:spTree>
      <p:nvGrpSpPr>
        <p:cNvPr id="1" name=""/>
        <p:cNvGrpSpPr/>
        <p:nvPr/>
      </p:nvGrpSpPr>
      <p:grpSpPr>
        <a:xfrm>
          <a:off x="0" y="0"/>
          <a:ext cx="0" cy="0"/>
          <a:chOff x="0" y="0"/>
          <a:chExt cx="0" cy="0"/>
        </a:xfrm>
      </p:grpSpPr>
      <p:sp>
        <p:nvSpPr>
          <p:cNvPr id="2" name="rail"/>
          <p:cNvSpPr/>
          <p:nvPr/>
        </p:nvSpPr>
        <p:spPr>
          <a:xfrm>
            <a:off x="0" y="0"/>
            <a:ext cx="101600" cy="6858000"/>
          </a:xfrm>
          <a:prstGeom prst="rect">
            <a:avLst/>
          </a:prstGeom>
          <a:solidFill>
            <a:srgbClr val="D9822B"/>
          </a:solidFill>
          <a:ln>
            <a:noFill/>
          </a:ln>
        </p:spPr>
      </p:sp>
      <p:sp>
        <p:nvSpPr>
          <p:cNvPr id="3" name="page-number"/>
          <p:cNvSpPr txBox="1"/>
          <p:nvPr/>
        </p:nvSpPr>
        <p:spPr>
          <a:xfrm>
            <a:off x="11055350" y="5923432"/>
            <a:ext cx="571500" cy="178918"/>
          </a:xfrm>
          <a:prstGeom prst="rect">
            <a:avLst/>
          </a:prstGeom>
          <a:noFill/>
        </p:spPr>
        <p:txBody>
          <a:bodyPr wrap="square" lIns="0" tIns="0" rIns="0" bIns="0" rtlCol="0" anchor="t">
            <a:noAutofit/>
          </a:bodyPr>
          <a:lstStyle/>
          <a:p>
            <a:pPr algn="l">
              <a:lnSpc>
                <a:spcPts val="1690"/>
              </a:lnSpc>
              <a:buNone/>
            </a:pPr>
            <a:r>
              <a:rPr lang="en-US" sz="1300" dirty="0">
                <a:solidFill>
                  <a:srgbClr val="AAB2C8"/>
                </a:solidFill>
                <a:latin typeface="Atkinson Hyperlegible Next"/>
                <a:ea typeface="Atkinson Hyperlegible Next"/>
                <a:cs typeface="Atkinson Hyperlegible Next"/>
              </a:rPr>
              <a:t>1 / 9</a:t>
            </a:r>
            <a:endParaRPr lang="en-US" sz="1300" dirty="0"/>
          </a:p>
        </p:txBody>
      </p:sp>
      <p:sp>
        <p:nvSpPr>
          <p:cNvPr id="4" name="eyebrow"/>
          <p:cNvSpPr txBox="1"/>
          <p:nvPr/>
        </p:nvSpPr>
        <p:spPr>
          <a:xfrm>
            <a:off x="812800" y="1695450"/>
            <a:ext cx="4373562" cy="387350"/>
          </a:xfrm>
          <a:prstGeom prst="rect">
            <a:avLst/>
          </a:prstGeom>
          <a:noFill/>
        </p:spPr>
        <p:txBody>
          <a:bodyPr wrap="square" lIns="0" tIns="0" rIns="0" bIns="0" rtlCol="0" anchor="t">
            <a:noAutofit/>
          </a:bodyPr>
          <a:lstStyle/>
          <a:p>
            <a:pPr algn="l">
              <a:lnSpc>
                <a:spcPts val="2900"/>
              </a:lnSpc>
              <a:spcBef>
                <a:spcPts val="0"/>
              </a:spcBef>
              <a:spcAft>
                <a:spcPts val="0"/>
              </a:spcAft>
              <a:buNone/>
            </a:pPr>
            <a:r>
              <a:rPr lang="en-US" sz="2000" spc="200" dirty="0">
                <a:solidFill>
                  <a:srgbClr val="9FB4FF"/>
                </a:solidFill>
                <a:latin typeface="Atkinson Hyperlegible Next"/>
                <a:ea typeface="Atkinson Hyperlegible Next"/>
                <a:cs typeface="Atkinson Hyperlegible Next"/>
              </a:rPr>
              <a:t>WORKSHOP  ·  SESSION 1</a:t>
            </a:r>
            <a:endParaRPr lang="en-US" sz="2000" dirty="0"/>
          </a:p>
        </p:txBody>
      </p:sp>
      <p:sp>
        <p:nvSpPr>
          <p:cNvPr id="5" name="title"/>
          <p:cNvSpPr>
            <a:spLocks noGrp="1"/>
          </p:cNvSpPr>
          <p:nvPr>
            <p:ph type="title"/>
          </p:nvPr>
        </p:nvSpPr>
        <p:spPr>
          <a:xfrm>
            <a:off x="749300" y="2044700"/>
            <a:ext cx="6057900" cy="965200"/>
          </a:xfrm>
          <a:prstGeom prst="rect">
            <a:avLst/>
          </a:prstGeom>
          <a:noFill/>
        </p:spPr>
        <p:txBody>
          <a:bodyPr wrap="square" lIns="0" tIns="0" rIns="0" bIns="0" rtlCol="0" anchor="t">
            <a:noAutofit/>
          </a:bodyPr>
          <a:lstStyle/>
          <a:p>
            <a:pPr algn="l">
              <a:lnSpc>
                <a:spcPts val="10000"/>
              </a:lnSpc>
              <a:buNone/>
            </a:pPr>
            <a:r>
              <a:rPr lang="en-US" sz="10000" b="1" dirty="0">
                <a:solidFill>
                  <a:srgbClr val="FFFFFF"/>
                </a:solidFill>
                <a:latin typeface="Lexend"/>
                <a:ea typeface="Lexend"/>
                <a:cs typeface="Lexend"/>
              </a:rPr>
              <a:t>AI 101</a:t>
            </a:r>
            <a:endParaRPr lang="en-US" sz="10000" dirty="0"/>
          </a:p>
        </p:txBody>
      </p:sp>
      <p:sp>
        <p:nvSpPr>
          <p:cNvPr id="6" name="subtitle"/>
          <p:cNvSpPr txBox="1"/>
          <p:nvPr/>
        </p:nvSpPr>
        <p:spPr>
          <a:xfrm>
            <a:off x="812800" y="3618243"/>
            <a:ext cx="10922000" cy="502907"/>
          </a:xfrm>
          <a:prstGeom prst="rect">
            <a:avLst/>
          </a:prstGeom>
          <a:noFill/>
        </p:spPr>
        <p:txBody>
          <a:bodyPr wrap="square" lIns="0" tIns="0" rIns="0" bIns="0" rtlCol="0" anchor="t">
            <a:noAutofit/>
          </a:bodyPr>
          <a:lstStyle/>
          <a:p>
            <a:pPr algn="l">
              <a:lnSpc>
                <a:spcPts val="4175"/>
              </a:lnSpc>
              <a:buNone/>
            </a:pPr>
            <a:r>
              <a:rPr lang="en-US" sz="3100" dirty="0">
                <a:solidFill>
                  <a:srgbClr val="E7EAF3"/>
                </a:solidFill>
                <a:latin typeface="Lexend"/>
                <a:ea typeface="Lexend"/>
                <a:cs typeface="Lexend"/>
              </a:rPr>
              <a:t>What it is, how it works, and how to use it well</a:t>
            </a:r>
            <a:endParaRPr lang="en-US" sz="3100" dirty="0"/>
          </a:p>
        </p:txBody>
      </p:sp>
      <p:sp>
        <p:nvSpPr>
          <p:cNvPr id="7" name="cover-rule"/>
          <p:cNvSpPr/>
          <p:nvPr/>
        </p:nvSpPr>
        <p:spPr>
          <a:xfrm>
            <a:off x="812800" y="4572000"/>
            <a:ext cx="1016000" cy="50800"/>
          </a:xfrm>
          <a:prstGeom prst="rect">
            <a:avLst/>
          </a:prstGeom>
          <a:solidFill>
            <a:srgbClr val="D9822B"/>
          </a:solidFill>
          <a:ln>
            <a:noFill/>
          </a:ln>
        </p:spPr>
      </p:sp>
      <p:sp>
        <p:nvSpPr>
          <p:cNvPr id="8" name="presenter"/>
          <p:cNvSpPr txBox="1"/>
          <p:nvPr/>
        </p:nvSpPr>
        <p:spPr>
          <a:xfrm>
            <a:off x="812800" y="4783836"/>
            <a:ext cx="5222875" cy="334264"/>
          </a:xfrm>
          <a:prstGeom prst="rect">
            <a:avLst/>
          </a:prstGeom>
          <a:noFill/>
        </p:spPr>
        <p:txBody>
          <a:bodyPr wrap="square" lIns="0" tIns="0" rIns="0" bIns="0" rtlCol="0" anchor="t">
            <a:noAutofit/>
          </a:bodyPr>
          <a:lstStyle/>
          <a:p>
            <a:pPr algn="l">
              <a:lnSpc>
                <a:spcPts val="2900"/>
              </a:lnSpc>
              <a:buNone/>
            </a:pPr>
            <a:r>
              <a:rPr lang="en-US" sz="2000" dirty="0">
                <a:solidFill>
                  <a:srgbClr val="AAB2C8"/>
                </a:solidFill>
                <a:latin typeface="Atkinson Hyperlegible Next"/>
                <a:ea typeface="Atkinson Hyperlegible Next"/>
                <a:cs typeface="Atkinson Hyperlegible Next"/>
              </a:rPr>
              <a:t>Teach  ·  Explore  ·  Demystify  ·  Try it</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terms">
    <p:bg>
      <p:bgPr>
        <a:solidFill>
          <a:srgbClr val="F6F4EE"/>
        </a:solidFill>
        <a:effectLst/>
      </p:bgPr>
    </p:bg>
    <p:spTree>
      <p:nvGrpSpPr>
        <p:cNvPr id="1" name=""/>
        <p:cNvGrpSpPr/>
        <p:nvPr/>
      </p:nvGrpSpPr>
      <p:grpSpPr>
        <a:xfrm>
          <a:off x="0" y="0"/>
          <a:ext cx="0" cy="0"/>
          <a:chOff x="0" y="0"/>
          <a:chExt cx="0" cy="0"/>
        </a:xfrm>
      </p:grpSpPr>
      <p:sp>
        <p:nvSpPr>
          <p:cNvPr id="2" name="rail"/>
          <p:cNvSpPr/>
          <p:nvPr/>
        </p:nvSpPr>
        <p:spPr>
          <a:xfrm>
            <a:off x="0" y="0"/>
            <a:ext cx="101600" cy="6858000"/>
          </a:xfrm>
          <a:prstGeom prst="rect">
            <a:avLst/>
          </a:prstGeom>
          <a:solidFill>
            <a:srgbClr val="2F55C9"/>
          </a:solidFill>
          <a:ln>
            <a:noFill/>
          </a:ln>
        </p:spPr>
      </p:sp>
      <p:sp>
        <p:nvSpPr>
          <p:cNvPr id="3" name="footer-rule"/>
          <p:cNvSpPr/>
          <p:nvPr/>
        </p:nvSpPr>
        <p:spPr>
          <a:xfrm>
            <a:off x="812800" y="5880100"/>
            <a:ext cx="10566400" cy="12700"/>
          </a:xfrm>
          <a:prstGeom prst="rect">
            <a:avLst/>
          </a:prstGeom>
          <a:solidFill>
            <a:srgbClr val="E9E5D9"/>
          </a:solidFill>
          <a:ln>
            <a:noFill/>
          </a:ln>
        </p:spPr>
      </p:sp>
      <p:sp>
        <p:nvSpPr>
          <p:cNvPr id="4" name="footer"/>
          <p:cNvSpPr txBox="1"/>
          <p:nvPr/>
        </p:nvSpPr>
        <p:spPr>
          <a:xfrm>
            <a:off x="812800" y="5924423"/>
            <a:ext cx="2968625" cy="190627"/>
          </a:xfrm>
          <a:prstGeom prst="rect">
            <a:avLst/>
          </a:prstGeom>
          <a:noFill/>
        </p:spPr>
        <p:txBody>
          <a:bodyPr wrap="square" lIns="0" tIns="0" rIns="0" bIns="0" rtlCol="0" anchor="t">
            <a:noAutofit/>
          </a:bodyPr>
          <a:lstStyle/>
          <a:p>
            <a:pPr algn="l">
              <a:lnSpc>
                <a:spcPts val="1690"/>
              </a:lnSpc>
              <a:buNone/>
            </a:pPr>
            <a:r>
              <a:rPr lang="en-US" sz="1300" dirty="0">
                <a:solidFill>
                  <a:srgbClr val="535A70"/>
                </a:solidFill>
                <a:latin typeface="Atkinson Hyperlegible Next"/>
                <a:ea typeface="Atkinson Hyperlegible Next"/>
                <a:cs typeface="Atkinson Hyperlegible Next"/>
              </a:rPr>
              <a:t>AI 101  ·  A practical introduction</a:t>
            </a:r>
            <a:endParaRPr lang="en-US" sz="1300" dirty="0"/>
          </a:p>
        </p:txBody>
      </p:sp>
      <p:sp>
        <p:nvSpPr>
          <p:cNvPr id="5" name="page-number"/>
          <p:cNvSpPr txBox="1"/>
          <p:nvPr/>
        </p:nvSpPr>
        <p:spPr>
          <a:xfrm>
            <a:off x="11029950" y="5923432"/>
            <a:ext cx="596900" cy="178918"/>
          </a:xfrm>
          <a:prstGeom prst="rect">
            <a:avLst/>
          </a:prstGeom>
          <a:noFill/>
        </p:spPr>
        <p:txBody>
          <a:bodyPr wrap="square" lIns="0" tIns="0" rIns="0" bIns="0" rtlCol="0" anchor="t">
            <a:noAutofit/>
          </a:bodyPr>
          <a:lstStyle/>
          <a:p>
            <a:pPr algn="l">
              <a:lnSpc>
                <a:spcPts val="1690"/>
              </a:lnSpc>
              <a:buNone/>
            </a:pPr>
            <a:r>
              <a:rPr lang="en-US" sz="1300" dirty="0">
                <a:solidFill>
                  <a:srgbClr val="535A70"/>
                </a:solidFill>
                <a:latin typeface="Atkinson Hyperlegible Next"/>
                <a:ea typeface="Atkinson Hyperlegible Next"/>
                <a:cs typeface="Atkinson Hyperlegible Next"/>
              </a:rPr>
              <a:t>2 / 9</a:t>
            </a:r>
            <a:endParaRPr lang="en-US" sz="1300" dirty="0"/>
          </a:p>
        </p:txBody>
      </p:sp>
      <p:sp>
        <p:nvSpPr>
          <p:cNvPr id="6" name="eyebrow"/>
          <p:cNvSpPr txBox="1"/>
          <p:nvPr/>
        </p:nvSpPr>
        <p:spPr>
          <a:xfrm>
            <a:off x="812800" y="692150"/>
            <a:ext cx="2024062" cy="387350"/>
          </a:xfrm>
          <a:prstGeom prst="rect">
            <a:avLst/>
          </a:prstGeom>
          <a:noFill/>
        </p:spPr>
        <p:txBody>
          <a:bodyPr wrap="square" lIns="0" tIns="0" rIns="0" bIns="0" rtlCol="0" anchor="t">
            <a:noAutofit/>
          </a:bodyPr>
          <a:lstStyle/>
          <a:p>
            <a:pPr algn="l">
              <a:lnSpc>
                <a:spcPts val="2900"/>
              </a:lnSpc>
              <a:spcBef>
                <a:spcPts val="0"/>
              </a:spcBef>
              <a:spcAft>
                <a:spcPts val="0"/>
              </a:spcAft>
              <a:buNone/>
            </a:pPr>
            <a:r>
              <a:rPr lang="en-US" sz="2000" spc="150" dirty="0">
                <a:solidFill>
                  <a:srgbClr val="2F55C9"/>
                </a:solidFill>
                <a:latin typeface="Atkinson Hyperlegible Next"/>
                <a:ea typeface="Atkinson Hyperlegible Next"/>
                <a:cs typeface="Atkinson Hyperlegible Next"/>
              </a:rPr>
              <a:t>START HERE</a:t>
            </a:r>
            <a:endParaRPr lang="en-US" sz="2000" dirty="0"/>
          </a:p>
        </p:txBody>
      </p:sp>
      <p:sp>
        <p:nvSpPr>
          <p:cNvPr id="7" name="title"/>
          <p:cNvSpPr>
            <a:spLocks noGrp="1"/>
          </p:cNvSpPr>
          <p:nvPr>
            <p:ph type="title"/>
          </p:nvPr>
        </p:nvSpPr>
        <p:spPr>
          <a:xfrm>
            <a:off x="812800" y="1019670"/>
            <a:ext cx="7096125" cy="536080"/>
          </a:xfrm>
          <a:prstGeom prst="rect">
            <a:avLst/>
          </a:prstGeom>
          <a:noFill/>
        </p:spPr>
        <p:txBody>
          <a:bodyPr wrap="square" lIns="0" tIns="0" rIns="0" bIns="0" rtlCol="0" anchor="t">
            <a:noAutofit/>
          </a:bodyPr>
          <a:lstStyle/>
          <a:p>
            <a:pPr algn="l">
              <a:lnSpc>
                <a:spcPts val="4275"/>
              </a:lnSpc>
              <a:buNone/>
            </a:pPr>
            <a:r>
              <a:rPr lang="en-US" sz="3900" b="1" dirty="0">
                <a:solidFill>
                  <a:srgbClr val="17203A"/>
                </a:solidFill>
                <a:latin typeface="Lexend"/>
                <a:ea typeface="Lexend"/>
                <a:cs typeface="Lexend"/>
              </a:rPr>
              <a:t>What we mean by “AI”</a:t>
            </a:r>
            <a:endParaRPr lang="en-US" sz="3900" dirty="0"/>
          </a:p>
        </p:txBody>
      </p:sp>
      <p:sp>
        <p:nvSpPr>
          <p:cNvPr id="8" name="ai-box"/>
          <p:cNvSpPr/>
          <p:nvPr/>
        </p:nvSpPr>
        <p:spPr>
          <a:xfrm>
            <a:off x="812800" y="2032000"/>
            <a:ext cx="10566400" cy="3302000"/>
          </a:xfrm>
          <a:prstGeom prst="rect">
            <a:avLst/>
          </a:prstGeom>
          <a:solidFill>
            <a:srgbClr val="E9E5D9"/>
          </a:solidFill>
          <a:ln>
            <a:noFill/>
          </a:ln>
        </p:spPr>
      </p:sp>
      <p:sp>
        <p:nvSpPr>
          <p:cNvPr id="9" name="ai-text"/>
          <p:cNvSpPr txBox="1"/>
          <p:nvPr/>
        </p:nvSpPr>
        <p:spPr>
          <a:xfrm>
            <a:off x="1041400" y="2203450"/>
            <a:ext cx="10818812" cy="387350"/>
          </a:xfrm>
          <a:prstGeom prst="rect">
            <a:avLst/>
          </a:prstGeom>
          <a:noFill/>
        </p:spPr>
        <p:txBody>
          <a:bodyPr wrap="square" lIns="0" tIns="0" rIns="0" bIns="0" rtlCol="0" anchor="t">
            <a:noAutofit/>
          </a:bodyPr>
          <a:lstStyle/>
          <a:p>
            <a:pPr algn="l">
              <a:lnSpc>
                <a:spcPts val="2900"/>
              </a:lnSpc>
              <a:spcBef>
                <a:spcPts val="0"/>
              </a:spcBef>
              <a:spcAft>
                <a:spcPts val="0"/>
              </a:spcAft>
              <a:buNone/>
            </a:pPr>
            <a:r>
              <a:rPr lang="en-US" sz="2000" b="1" dirty="0">
                <a:solidFill>
                  <a:srgbClr val="17203A"/>
                </a:solidFill>
                <a:latin typeface="Atkinson Hyperlegible Next"/>
                <a:ea typeface="Atkinson Hyperlegible Next"/>
                <a:cs typeface="Atkinson Hyperlegible Next"/>
              </a:rPr>
              <a:t>Artificial intelligence</a:t>
            </a:r>
            <a:r>
              <a:rPr lang="en-US" sz="2000" dirty="0">
                <a:solidFill>
                  <a:srgbClr val="17203A"/>
                </a:solidFill>
                <a:latin typeface="Atkinson Hyperlegible Next"/>
                <a:ea typeface="Atkinson Hyperlegible Next"/>
                <a:cs typeface="Atkinson Hyperlegible Next"/>
              </a:rPr>
              <a:t>  </a:t>
            </a:r>
            <a:r>
              <a:rPr lang="en-US" sz="2000" dirty="0">
                <a:solidFill>
                  <a:srgbClr val="535A70"/>
                </a:solidFill>
                <a:latin typeface="Atkinson Hyperlegible Next"/>
                <a:ea typeface="Atkinson Hyperlegible Next"/>
                <a:cs typeface="Atkinson Hyperlegible Next"/>
              </a:rPr>
              <a:t>— computers doing tasks we link with human thinking</a:t>
            </a:r>
            <a:endParaRPr lang="en-US" sz="2000" dirty="0"/>
          </a:p>
        </p:txBody>
      </p:sp>
      <p:sp>
        <p:nvSpPr>
          <p:cNvPr id="10" name="ml-box"/>
          <p:cNvSpPr/>
          <p:nvPr/>
        </p:nvSpPr>
        <p:spPr>
          <a:xfrm>
            <a:off x="1168400" y="2667000"/>
            <a:ext cx="9855200" cy="2489200"/>
          </a:xfrm>
          <a:prstGeom prst="rect">
            <a:avLst/>
          </a:prstGeom>
          <a:solidFill>
            <a:srgbClr val="D9DFF2"/>
          </a:solidFill>
          <a:ln>
            <a:noFill/>
          </a:ln>
        </p:spPr>
      </p:sp>
      <p:sp>
        <p:nvSpPr>
          <p:cNvPr id="11" name="ml-text"/>
          <p:cNvSpPr txBox="1"/>
          <p:nvPr/>
        </p:nvSpPr>
        <p:spPr>
          <a:xfrm>
            <a:off x="1397000" y="2838450"/>
            <a:ext cx="10604500" cy="387350"/>
          </a:xfrm>
          <a:prstGeom prst="rect">
            <a:avLst/>
          </a:prstGeom>
          <a:noFill/>
        </p:spPr>
        <p:txBody>
          <a:bodyPr wrap="square" lIns="0" tIns="0" rIns="0" bIns="0" rtlCol="0" anchor="t">
            <a:noAutofit/>
          </a:bodyPr>
          <a:lstStyle/>
          <a:p>
            <a:pPr algn="l">
              <a:lnSpc>
                <a:spcPts val="2900"/>
              </a:lnSpc>
              <a:spcBef>
                <a:spcPts val="0"/>
              </a:spcBef>
              <a:spcAft>
                <a:spcPts val="0"/>
              </a:spcAft>
              <a:buNone/>
            </a:pPr>
            <a:r>
              <a:rPr lang="en-US" sz="2000" b="1" dirty="0">
                <a:solidFill>
                  <a:srgbClr val="17203A"/>
                </a:solidFill>
                <a:latin typeface="Atkinson Hyperlegible Next"/>
                <a:ea typeface="Atkinson Hyperlegible Next"/>
                <a:cs typeface="Atkinson Hyperlegible Next"/>
              </a:rPr>
              <a:t>Machine learning</a:t>
            </a:r>
            <a:r>
              <a:rPr lang="en-US" sz="2000" dirty="0">
                <a:solidFill>
                  <a:srgbClr val="17203A"/>
                </a:solidFill>
                <a:latin typeface="Atkinson Hyperlegible Next"/>
                <a:ea typeface="Atkinson Hyperlegible Next"/>
                <a:cs typeface="Atkinson Hyperlegible Next"/>
              </a:rPr>
              <a:t>  </a:t>
            </a:r>
            <a:r>
              <a:rPr lang="en-US" sz="2000" dirty="0">
                <a:solidFill>
                  <a:srgbClr val="535A70"/>
                </a:solidFill>
                <a:latin typeface="Atkinson Hyperlegible Next"/>
                <a:ea typeface="Atkinson Hyperlegible Next"/>
                <a:cs typeface="Atkinson Hyperlegible Next"/>
              </a:rPr>
              <a:t>— learns patterns from examples, not hand-written rules</a:t>
            </a:r>
            <a:endParaRPr lang="en-US" sz="2000" dirty="0"/>
          </a:p>
        </p:txBody>
      </p:sp>
      <p:sp>
        <p:nvSpPr>
          <p:cNvPr id="12" name="gen-box"/>
          <p:cNvSpPr/>
          <p:nvPr/>
        </p:nvSpPr>
        <p:spPr>
          <a:xfrm>
            <a:off x="1524000" y="3302000"/>
            <a:ext cx="9144000" cy="1676400"/>
          </a:xfrm>
          <a:prstGeom prst="rect">
            <a:avLst/>
          </a:prstGeom>
          <a:solidFill>
            <a:srgbClr val="B7C5EE"/>
          </a:solidFill>
          <a:ln>
            <a:noFill/>
          </a:ln>
        </p:spPr>
      </p:sp>
      <p:sp>
        <p:nvSpPr>
          <p:cNvPr id="13" name="gen-text"/>
          <p:cNvSpPr txBox="1"/>
          <p:nvPr/>
        </p:nvSpPr>
        <p:spPr>
          <a:xfrm>
            <a:off x="1752600" y="3473450"/>
            <a:ext cx="8104188" cy="387350"/>
          </a:xfrm>
          <a:prstGeom prst="rect">
            <a:avLst/>
          </a:prstGeom>
          <a:noFill/>
        </p:spPr>
        <p:txBody>
          <a:bodyPr wrap="square" lIns="0" tIns="0" rIns="0" bIns="0" rtlCol="0" anchor="t">
            <a:noAutofit/>
          </a:bodyPr>
          <a:lstStyle/>
          <a:p>
            <a:pPr algn="l">
              <a:lnSpc>
                <a:spcPts val="2900"/>
              </a:lnSpc>
              <a:spcBef>
                <a:spcPts val="0"/>
              </a:spcBef>
              <a:spcAft>
                <a:spcPts val="0"/>
              </a:spcAft>
              <a:buNone/>
            </a:pPr>
            <a:r>
              <a:rPr lang="en-US" sz="2000" b="1" dirty="0">
                <a:solidFill>
                  <a:srgbClr val="17203A"/>
                </a:solidFill>
                <a:latin typeface="Atkinson Hyperlegible Next"/>
                <a:ea typeface="Atkinson Hyperlegible Next"/>
                <a:cs typeface="Atkinson Hyperlegible Next"/>
              </a:rPr>
              <a:t>Generative AI</a:t>
            </a:r>
            <a:r>
              <a:rPr lang="en-US" sz="2000" dirty="0">
                <a:solidFill>
                  <a:srgbClr val="17203A"/>
                </a:solidFill>
                <a:latin typeface="Atkinson Hyperlegible Next"/>
                <a:ea typeface="Atkinson Hyperlegible Next"/>
                <a:cs typeface="Atkinson Hyperlegible Next"/>
              </a:rPr>
              <a:t>  </a:t>
            </a:r>
            <a:r>
              <a:rPr lang="en-US" sz="2000" dirty="0">
                <a:solidFill>
                  <a:srgbClr val="535A70"/>
                </a:solidFill>
                <a:latin typeface="Atkinson Hyperlegible Next"/>
                <a:ea typeface="Atkinson Hyperlegible Next"/>
                <a:cs typeface="Atkinson Hyperlegible Next"/>
              </a:rPr>
              <a:t>— creates new text, images, audio or code</a:t>
            </a:r>
            <a:endParaRPr lang="en-US" sz="2000" dirty="0"/>
          </a:p>
        </p:txBody>
      </p:sp>
      <p:sp>
        <p:nvSpPr>
          <p:cNvPr id="14" name="llm-box"/>
          <p:cNvSpPr/>
          <p:nvPr/>
        </p:nvSpPr>
        <p:spPr>
          <a:xfrm>
            <a:off x="1879600" y="3937000"/>
            <a:ext cx="8432800" cy="863600"/>
          </a:xfrm>
          <a:prstGeom prst="rect">
            <a:avLst/>
          </a:prstGeom>
          <a:solidFill>
            <a:srgbClr val="2F55C9"/>
          </a:solidFill>
          <a:ln>
            <a:noFill/>
          </a:ln>
        </p:spPr>
      </p:sp>
      <p:sp>
        <p:nvSpPr>
          <p:cNvPr id="15" name="llm-text"/>
          <p:cNvSpPr txBox="1"/>
          <p:nvPr/>
        </p:nvSpPr>
        <p:spPr>
          <a:xfrm>
            <a:off x="2108200" y="4108450"/>
            <a:ext cx="8096250" cy="387350"/>
          </a:xfrm>
          <a:prstGeom prst="rect">
            <a:avLst/>
          </a:prstGeom>
          <a:noFill/>
        </p:spPr>
        <p:txBody>
          <a:bodyPr wrap="square" lIns="0" tIns="0" rIns="0" bIns="0" rtlCol="0" anchor="t">
            <a:noAutofit/>
          </a:bodyPr>
          <a:lstStyle/>
          <a:p>
            <a:pPr algn="l">
              <a:lnSpc>
                <a:spcPts val="2900"/>
              </a:lnSpc>
              <a:spcBef>
                <a:spcPts val="0"/>
              </a:spcBef>
              <a:spcAft>
                <a:spcPts val="0"/>
              </a:spcAft>
              <a:buNone/>
            </a:pPr>
            <a:r>
              <a:rPr lang="en-US" sz="2000" b="1" dirty="0">
                <a:solidFill>
                  <a:srgbClr val="FFFFFF"/>
                </a:solidFill>
                <a:latin typeface="Atkinson Hyperlegible Next"/>
                <a:ea typeface="Atkinson Hyperlegible Next"/>
                <a:cs typeface="Atkinson Hyperlegible Next"/>
              </a:rPr>
              <a:t>Large language models</a:t>
            </a:r>
            <a:r>
              <a:rPr lang="en-US" sz="2000" dirty="0">
                <a:solidFill>
                  <a:srgbClr val="FFFFFF"/>
                </a:solidFill>
                <a:latin typeface="Atkinson Hyperlegible Next"/>
                <a:ea typeface="Atkinson Hyperlegible Next"/>
                <a:cs typeface="Atkinson Hyperlegible Next"/>
              </a:rPr>
              <a:t>  </a:t>
            </a:r>
            <a:r>
              <a:rPr lang="en-US" sz="2000" dirty="0">
                <a:solidFill>
                  <a:srgbClr val="E7EAF3"/>
                </a:solidFill>
                <a:latin typeface="Atkinson Hyperlegible Next"/>
                <a:ea typeface="Atkinson Hyperlegible Next"/>
                <a:cs typeface="Atkinson Hyperlegible Next"/>
              </a:rPr>
              <a:t>— e.g. ChatGPT, Claude, Gemini</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history">
    <p:bg>
      <p:bgPr>
        <a:solidFill>
          <a:srgbClr val="F6F4EE"/>
        </a:solidFill>
        <a:effectLst/>
      </p:bgPr>
    </p:bg>
    <p:spTree>
      <p:nvGrpSpPr>
        <p:cNvPr id="1" name=""/>
        <p:cNvGrpSpPr/>
        <p:nvPr/>
      </p:nvGrpSpPr>
      <p:grpSpPr>
        <a:xfrm>
          <a:off x="0" y="0"/>
          <a:ext cx="0" cy="0"/>
          <a:chOff x="0" y="0"/>
          <a:chExt cx="0" cy="0"/>
        </a:xfrm>
      </p:grpSpPr>
      <p:sp>
        <p:nvSpPr>
          <p:cNvPr id="2" name="rail"/>
          <p:cNvSpPr/>
          <p:nvPr/>
        </p:nvSpPr>
        <p:spPr>
          <a:xfrm>
            <a:off x="0" y="0"/>
            <a:ext cx="101600" cy="6858000"/>
          </a:xfrm>
          <a:prstGeom prst="rect">
            <a:avLst/>
          </a:prstGeom>
          <a:solidFill>
            <a:srgbClr val="2F55C9"/>
          </a:solidFill>
          <a:ln>
            <a:noFill/>
          </a:ln>
        </p:spPr>
      </p:sp>
      <p:sp>
        <p:nvSpPr>
          <p:cNvPr id="3" name="footer-rule"/>
          <p:cNvSpPr/>
          <p:nvPr/>
        </p:nvSpPr>
        <p:spPr>
          <a:xfrm>
            <a:off x="812800" y="5880100"/>
            <a:ext cx="10566400" cy="12700"/>
          </a:xfrm>
          <a:prstGeom prst="rect">
            <a:avLst/>
          </a:prstGeom>
          <a:solidFill>
            <a:srgbClr val="E9E5D9"/>
          </a:solidFill>
          <a:ln>
            <a:noFill/>
          </a:ln>
        </p:spPr>
      </p:sp>
      <p:sp>
        <p:nvSpPr>
          <p:cNvPr id="4" name="footer"/>
          <p:cNvSpPr txBox="1"/>
          <p:nvPr/>
        </p:nvSpPr>
        <p:spPr>
          <a:xfrm>
            <a:off x="812800" y="5924423"/>
            <a:ext cx="2968625" cy="190627"/>
          </a:xfrm>
          <a:prstGeom prst="rect">
            <a:avLst/>
          </a:prstGeom>
          <a:noFill/>
        </p:spPr>
        <p:txBody>
          <a:bodyPr wrap="square" lIns="0" tIns="0" rIns="0" bIns="0" rtlCol="0" anchor="t">
            <a:noAutofit/>
          </a:bodyPr>
          <a:lstStyle/>
          <a:p>
            <a:pPr algn="l">
              <a:lnSpc>
                <a:spcPts val="1690"/>
              </a:lnSpc>
              <a:buNone/>
            </a:pPr>
            <a:r>
              <a:rPr lang="en-US" sz="1300" dirty="0">
                <a:solidFill>
                  <a:srgbClr val="535A70"/>
                </a:solidFill>
                <a:latin typeface="Atkinson Hyperlegible Next"/>
                <a:ea typeface="Atkinson Hyperlegible Next"/>
                <a:cs typeface="Atkinson Hyperlegible Next"/>
              </a:rPr>
              <a:t>AI 101  ·  A practical introduction</a:t>
            </a:r>
            <a:endParaRPr lang="en-US" sz="1300" dirty="0"/>
          </a:p>
        </p:txBody>
      </p:sp>
      <p:sp>
        <p:nvSpPr>
          <p:cNvPr id="5" name="page-number"/>
          <p:cNvSpPr txBox="1"/>
          <p:nvPr/>
        </p:nvSpPr>
        <p:spPr>
          <a:xfrm>
            <a:off x="11023600" y="5923432"/>
            <a:ext cx="603250" cy="178918"/>
          </a:xfrm>
          <a:prstGeom prst="rect">
            <a:avLst/>
          </a:prstGeom>
          <a:noFill/>
        </p:spPr>
        <p:txBody>
          <a:bodyPr wrap="square" lIns="0" tIns="0" rIns="0" bIns="0" rtlCol="0" anchor="t">
            <a:noAutofit/>
          </a:bodyPr>
          <a:lstStyle/>
          <a:p>
            <a:pPr algn="l">
              <a:lnSpc>
                <a:spcPts val="1690"/>
              </a:lnSpc>
              <a:buNone/>
            </a:pPr>
            <a:r>
              <a:rPr lang="en-US" sz="1300" dirty="0">
                <a:solidFill>
                  <a:srgbClr val="535A70"/>
                </a:solidFill>
                <a:latin typeface="Atkinson Hyperlegible Next"/>
                <a:ea typeface="Atkinson Hyperlegible Next"/>
                <a:cs typeface="Atkinson Hyperlegible Next"/>
              </a:rPr>
              <a:t>3 / 9</a:t>
            </a:r>
            <a:endParaRPr lang="en-US" sz="1300" dirty="0"/>
          </a:p>
        </p:txBody>
      </p:sp>
      <p:sp>
        <p:nvSpPr>
          <p:cNvPr id="6" name="eyebrow"/>
          <p:cNvSpPr txBox="1"/>
          <p:nvPr/>
        </p:nvSpPr>
        <p:spPr>
          <a:xfrm>
            <a:off x="812800" y="692150"/>
            <a:ext cx="4333875" cy="387350"/>
          </a:xfrm>
          <a:prstGeom prst="rect">
            <a:avLst/>
          </a:prstGeom>
          <a:noFill/>
        </p:spPr>
        <p:txBody>
          <a:bodyPr wrap="square" lIns="0" tIns="0" rIns="0" bIns="0" rtlCol="0" anchor="t">
            <a:noAutofit/>
          </a:bodyPr>
          <a:lstStyle/>
          <a:p>
            <a:pPr algn="l">
              <a:lnSpc>
                <a:spcPts val="2900"/>
              </a:lnSpc>
              <a:spcBef>
                <a:spcPts val="0"/>
              </a:spcBef>
              <a:spcAft>
                <a:spcPts val="0"/>
              </a:spcAft>
              <a:buNone/>
            </a:pPr>
            <a:r>
              <a:rPr lang="en-US" sz="2000" spc="150" dirty="0">
                <a:solidFill>
                  <a:srgbClr val="2F55C9"/>
                </a:solidFill>
                <a:latin typeface="Atkinson Hyperlegible Next"/>
                <a:ea typeface="Atkinson Hyperlegible Next"/>
                <a:cs typeface="Atkinson Hyperlegible Next"/>
              </a:rPr>
              <a:t>NOT AS NEW AS IT LOOKS</a:t>
            </a:r>
            <a:endParaRPr lang="en-US" sz="2000" dirty="0"/>
          </a:p>
        </p:txBody>
      </p:sp>
      <p:sp>
        <p:nvSpPr>
          <p:cNvPr id="7" name="title"/>
          <p:cNvSpPr>
            <a:spLocks noGrp="1"/>
          </p:cNvSpPr>
          <p:nvPr>
            <p:ph type="title"/>
          </p:nvPr>
        </p:nvSpPr>
        <p:spPr>
          <a:xfrm>
            <a:off x="812800" y="1039978"/>
            <a:ext cx="9255125" cy="534822"/>
          </a:xfrm>
          <a:prstGeom prst="rect">
            <a:avLst/>
          </a:prstGeom>
          <a:noFill/>
        </p:spPr>
        <p:txBody>
          <a:bodyPr wrap="square" lIns="0" tIns="0" rIns="0" bIns="0" rtlCol="0" anchor="t">
            <a:noAutofit/>
          </a:bodyPr>
          <a:lstStyle/>
          <a:p>
            <a:pPr algn="l">
              <a:lnSpc>
                <a:spcPts val="4275"/>
              </a:lnSpc>
              <a:buNone/>
            </a:pPr>
            <a:r>
              <a:rPr lang="en-US" sz="3900" b="1" dirty="0">
                <a:solidFill>
                  <a:srgbClr val="17203A"/>
                </a:solidFill>
                <a:latin typeface="Lexend"/>
                <a:ea typeface="Lexend"/>
                <a:cs typeface="Lexend"/>
              </a:rPr>
              <a:t>Seventy years in six moments</a:t>
            </a:r>
            <a:endParaRPr lang="en-US" sz="3900" dirty="0"/>
          </a:p>
        </p:txBody>
      </p:sp>
      <p:sp>
        <p:nvSpPr>
          <p:cNvPr id="8" name="timeline-rule"/>
          <p:cNvSpPr/>
          <p:nvPr/>
        </p:nvSpPr>
        <p:spPr>
          <a:xfrm>
            <a:off x="812800" y="3136900"/>
            <a:ext cx="10566400" cy="25400"/>
          </a:xfrm>
          <a:prstGeom prst="rect">
            <a:avLst/>
          </a:prstGeom>
          <a:solidFill>
            <a:srgbClr val="17203A"/>
          </a:solidFill>
          <a:ln>
            <a:noFill/>
          </a:ln>
        </p:spPr>
      </p:sp>
      <p:sp>
        <p:nvSpPr>
          <p:cNvPr id="9" name="dot-1956"/>
          <p:cNvSpPr/>
          <p:nvPr/>
        </p:nvSpPr>
        <p:spPr>
          <a:xfrm>
            <a:off x="812800" y="3048000"/>
            <a:ext cx="203200" cy="203200"/>
          </a:xfrm>
          <a:prstGeom prst="ellipse">
            <a:avLst/>
          </a:prstGeom>
          <a:solidFill>
            <a:srgbClr val="2F55C9"/>
          </a:solidFill>
          <a:ln>
            <a:noFill/>
          </a:ln>
        </p:spPr>
      </p:sp>
      <p:sp>
        <p:nvSpPr>
          <p:cNvPr id="10" name="year-1956"/>
          <p:cNvSpPr txBox="1"/>
          <p:nvPr/>
        </p:nvSpPr>
        <p:spPr>
          <a:xfrm>
            <a:off x="812800" y="2262696"/>
            <a:ext cx="1485900" cy="436054"/>
          </a:xfrm>
          <a:prstGeom prst="rect">
            <a:avLst/>
          </a:prstGeom>
          <a:noFill/>
        </p:spPr>
        <p:txBody>
          <a:bodyPr wrap="square" lIns="0" tIns="0" rIns="0" bIns="0" rtlCol="0" anchor="t">
            <a:noAutofit/>
          </a:bodyPr>
          <a:lstStyle/>
          <a:p>
            <a:pPr algn="l">
              <a:lnSpc>
                <a:spcPts val="4175"/>
              </a:lnSpc>
              <a:buNone/>
            </a:pPr>
            <a:r>
              <a:rPr lang="en-US" sz="3100" b="1" dirty="0">
                <a:solidFill>
                  <a:srgbClr val="2F55C9"/>
                </a:solidFill>
                <a:latin typeface="Lexend"/>
                <a:ea typeface="Lexend"/>
                <a:cs typeface="Lexend"/>
              </a:rPr>
              <a:t>1956</a:t>
            </a:r>
            <a:endParaRPr lang="en-US" sz="3100" dirty="0"/>
          </a:p>
        </p:txBody>
      </p:sp>
      <p:sp>
        <p:nvSpPr>
          <p:cNvPr id="11" name="event-1956"/>
          <p:cNvSpPr txBox="1"/>
          <p:nvPr/>
        </p:nvSpPr>
        <p:spPr>
          <a:xfrm>
            <a:off x="812800" y="3475355"/>
            <a:ext cx="1530350" cy="1344295"/>
          </a:xfrm>
          <a:prstGeom prst="rect">
            <a:avLst/>
          </a:prstGeom>
          <a:noFill/>
        </p:spPr>
        <p:txBody>
          <a:bodyPr wrap="square" lIns="0" tIns="0" rIns="0" bIns="0" rtlCol="0" anchor="t">
            <a:noAutofit/>
          </a:bodyPr>
          <a:lstStyle/>
          <a:p>
            <a:pPr algn="l">
              <a:lnSpc>
                <a:spcPts val="2610"/>
              </a:lnSpc>
              <a:spcBef>
                <a:spcPts val="0"/>
              </a:spcBef>
              <a:spcAft>
                <a:spcPts val="0"/>
              </a:spcAft>
              <a:buNone/>
            </a:pPr>
            <a:r>
              <a:rPr lang="en-US" sz="1800" dirty="0">
                <a:solidFill>
                  <a:srgbClr val="17203A"/>
                </a:solidFill>
                <a:latin typeface="Atkinson Hyperlegible Next"/>
                <a:ea typeface="Atkinson Hyperlegible Next"/>
                <a:cs typeface="Atkinson Hyperlegible Next"/>
              </a:rPr>
              <a:t>“Artificial intelligence” named at Dartmouth</a:t>
            </a:r>
            <a:endParaRPr lang="en-US" sz="1800" dirty="0"/>
          </a:p>
        </p:txBody>
      </p:sp>
      <p:sp>
        <p:nvSpPr>
          <p:cNvPr id="12" name="dot-1997"/>
          <p:cNvSpPr/>
          <p:nvPr/>
        </p:nvSpPr>
        <p:spPr>
          <a:xfrm>
            <a:off x="2571750" y="3048000"/>
            <a:ext cx="203200" cy="203200"/>
          </a:xfrm>
          <a:prstGeom prst="ellipse">
            <a:avLst/>
          </a:prstGeom>
          <a:solidFill>
            <a:srgbClr val="2F55C9"/>
          </a:solidFill>
          <a:ln>
            <a:noFill/>
          </a:ln>
        </p:spPr>
      </p:sp>
      <p:sp>
        <p:nvSpPr>
          <p:cNvPr id="13" name="year-1997"/>
          <p:cNvSpPr txBox="1"/>
          <p:nvPr/>
        </p:nvSpPr>
        <p:spPr>
          <a:xfrm>
            <a:off x="2571750" y="2262696"/>
            <a:ext cx="1473200" cy="436054"/>
          </a:xfrm>
          <a:prstGeom prst="rect">
            <a:avLst/>
          </a:prstGeom>
          <a:noFill/>
        </p:spPr>
        <p:txBody>
          <a:bodyPr wrap="square" lIns="0" tIns="0" rIns="0" bIns="0" rtlCol="0" anchor="t">
            <a:noAutofit/>
          </a:bodyPr>
          <a:lstStyle/>
          <a:p>
            <a:pPr algn="l">
              <a:lnSpc>
                <a:spcPts val="4175"/>
              </a:lnSpc>
              <a:buNone/>
            </a:pPr>
            <a:r>
              <a:rPr lang="en-US" sz="3100" b="1" dirty="0">
                <a:solidFill>
                  <a:srgbClr val="2F55C9"/>
                </a:solidFill>
                <a:latin typeface="Lexend"/>
                <a:ea typeface="Lexend"/>
                <a:cs typeface="Lexend"/>
              </a:rPr>
              <a:t>1997</a:t>
            </a:r>
            <a:endParaRPr lang="en-US" sz="3100" dirty="0"/>
          </a:p>
        </p:txBody>
      </p:sp>
      <p:sp>
        <p:nvSpPr>
          <p:cNvPr id="14" name="event-1997"/>
          <p:cNvSpPr txBox="1"/>
          <p:nvPr/>
        </p:nvSpPr>
        <p:spPr>
          <a:xfrm>
            <a:off x="2571750" y="3475355"/>
            <a:ext cx="1530350" cy="1344295"/>
          </a:xfrm>
          <a:prstGeom prst="rect">
            <a:avLst/>
          </a:prstGeom>
          <a:noFill/>
        </p:spPr>
        <p:txBody>
          <a:bodyPr wrap="square" lIns="0" tIns="0" rIns="0" bIns="0" rtlCol="0" anchor="t">
            <a:noAutofit/>
          </a:bodyPr>
          <a:lstStyle/>
          <a:p>
            <a:pPr algn="l">
              <a:lnSpc>
                <a:spcPts val="2610"/>
              </a:lnSpc>
              <a:spcBef>
                <a:spcPts val="0"/>
              </a:spcBef>
              <a:spcAft>
                <a:spcPts val="0"/>
              </a:spcAft>
              <a:buNone/>
            </a:pPr>
            <a:r>
              <a:rPr lang="en-US" sz="1800" dirty="0">
                <a:solidFill>
                  <a:srgbClr val="17203A"/>
                </a:solidFill>
                <a:latin typeface="Atkinson Hyperlegible Next"/>
                <a:ea typeface="Atkinson Hyperlegible Next"/>
                <a:cs typeface="Atkinson Hyperlegible Next"/>
              </a:rPr>
              <a:t>Deep Blue beats chess champion Kasparov</a:t>
            </a:r>
            <a:endParaRPr lang="en-US" sz="1800" dirty="0"/>
          </a:p>
        </p:txBody>
      </p:sp>
      <p:sp>
        <p:nvSpPr>
          <p:cNvPr id="15" name="dot-2012"/>
          <p:cNvSpPr/>
          <p:nvPr/>
        </p:nvSpPr>
        <p:spPr>
          <a:xfrm>
            <a:off x="4337050" y="3048000"/>
            <a:ext cx="203200" cy="203200"/>
          </a:xfrm>
          <a:prstGeom prst="ellipse">
            <a:avLst/>
          </a:prstGeom>
          <a:solidFill>
            <a:srgbClr val="2F55C9"/>
          </a:solidFill>
          <a:ln>
            <a:noFill/>
          </a:ln>
        </p:spPr>
      </p:sp>
      <p:sp>
        <p:nvSpPr>
          <p:cNvPr id="16" name="year-2012"/>
          <p:cNvSpPr txBox="1"/>
          <p:nvPr/>
        </p:nvSpPr>
        <p:spPr>
          <a:xfrm>
            <a:off x="4337050" y="2262302"/>
            <a:ext cx="1498600" cy="436448"/>
          </a:xfrm>
          <a:prstGeom prst="rect">
            <a:avLst/>
          </a:prstGeom>
          <a:noFill/>
        </p:spPr>
        <p:txBody>
          <a:bodyPr wrap="square" lIns="0" tIns="0" rIns="0" bIns="0" rtlCol="0" anchor="t">
            <a:noAutofit/>
          </a:bodyPr>
          <a:lstStyle/>
          <a:p>
            <a:pPr algn="l">
              <a:lnSpc>
                <a:spcPts val="4175"/>
              </a:lnSpc>
              <a:buNone/>
            </a:pPr>
            <a:r>
              <a:rPr lang="en-US" sz="3100" b="1" dirty="0">
                <a:solidFill>
                  <a:srgbClr val="2F55C9"/>
                </a:solidFill>
                <a:latin typeface="Lexend"/>
                <a:ea typeface="Lexend"/>
                <a:cs typeface="Lexend"/>
              </a:rPr>
              <a:t>2012</a:t>
            </a:r>
            <a:endParaRPr lang="en-US" sz="3100" dirty="0"/>
          </a:p>
        </p:txBody>
      </p:sp>
      <p:sp>
        <p:nvSpPr>
          <p:cNvPr id="17" name="event-2012"/>
          <p:cNvSpPr txBox="1"/>
          <p:nvPr/>
        </p:nvSpPr>
        <p:spPr>
          <a:xfrm>
            <a:off x="4337050" y="3475355"/>
            <a:ext cx="1530350" cy="1344295"/>
          </a:xfrm>
          <a:prstGeom prst="rect">
            <a:avLst/>
          </a:prstGeom>
          <a:noFill/>
        </p:spPr>
        <p:txBody>
          <a:bodyPr wrap="square" lIns="0" tIns="0" rIns="0" bIns="0" rtlCol="0" anchor="t">
            <a:noAutofit/>
          </a:bodyPr>
          <a:lstStyle/>
          <a:p>
            <a:pPr algn="l">
              <a:lnSpc>
                <a:spcPts val="2610"/>
              </a:lnSpc>
              <a:spcBef>
                <a:spcPts val="0"/>
              </a:spcBef>
              <a:spcAft>
                <a:spcPts val="0"/>
              </a:spcAft>
              <a:buNone/>
            </a:pPr>
            <a:r>
              <a:rPr lang="en-US" sz="1800" dirty="0">
                <a:solidFill>
                  <a:srgbClr val="17203A"/>
                </a:solidFill>
                <a:latin typeface="Atkinson Hyperlegible Next"/>
                <a:ea typeface="Atkinson Hyperlegible Next"/>
                <a:cs typeface="Atkinson Hyperlegible Next"/>
              </a:rPr>
              <a:t>AlexNet sparks the deep-learning boom</a:t>
            </a:r>
            <a:endParaRPr lang="en-US" sz="1800" dirty="0"/>
          </a:p>
        </p:txBody>
      </p:sp>
      <p:sp>
        <p:nvSpPr>
          <p:cNvPr id="18" name="dot-2016"/>
          <p:cNvSpPr/>
          <p:nvPr/>
        </p:nvSpPr>
        <p:spPr>
          <a:xfrm>
            <a:off x="6096000" y="3048000"/>
            <a:ext cx="203200" cy="203200"/>
          </a:xfrm>
          <a:prstGeom prst="ellipse">
            <a:avLst/>
          </a:prstGeom>
          <a:solidFill>
            <a:srgbClr val="2F55C9"/>
          </a:solidFill>
          <a:ln>
            <a:noFill/>
          </a:ln>
        </p:spPr>
      </p:sp>
      <p:sp>
        <p:nvSpPr>
          <p:cNvPr id="19" name="year-2016"/>
          <p:cNvSpPr txBox="1"/>
          <p:nvPr/>
        </p:nvSpPr>
        <p:spPr>
          <a:xfrm>
            <a:off x="6096000" y="2262302"/>
            <a:ext cx="1504950" cy="436448"/>
          </a:xfrm>
          <a:prstGeom prst="rect">
            <a:avLst/>
          </a:prstGeom>
          <a:noFill/>
        </p:spPr>
        <p:txBody>
          <a:bodyPr wrap="square" lIns="0" tIns="0" rIns="0" bIns="0" rtlCol="0" anchor="t">
            <a:noAutofit/>
          </a:bodyPr>
          <a:lstStyle/>
          <a:p>
            <a:pPr algn="l">
              <a:lnSpc>
                <a:spcPts val="4175"/>
              </a:lnSpc>
              <a:buNone/>
            </a:pPr>
            <a:r>
              <a:rPr lang="en-US" sz="3100" b="1" dirty="0">
                <a:solidFill>
                  <a:srgbClr val="2F55C9"/>
                </a:solidFill>
                <a:latin typeface="Lexend"/>
                <a:ea typeface="Lexend"/>
                <a:cs typeface="Lexend"/>
              </a:rPr>
              <a:t>2016</a:t>
            </a:r>
            <a:endParaRPr lang="en-US" sz="3100" dirty="0"/>
          </a:p>
        </p:txBody>
      </p:sp>
      <p:sp>
        <p:nvSpPr>
          <p:cNvPr id="20" name="event-2016"/>
          <p:cNvSpPr txBox="1"/>
          <p:nvPr/>
        </p:nvSpPr>
        <p:spPr>
          <a:xfrm>
            <a:off x="6096000" y="3475355"/>
            <a:ext cx="1530350" cy="1014095"/>
          </a:xfrm>
          <a:prstGeom prst="rect">
            <a:avLst/>
          </a:prstGeom>
          <a:noFill/>
        </p:spPr>
        <p:txBody>
          <a:bodyPr wrap="square" lIns="0" tIns="0" rIns="0" bIns="0" rtlCol="0" anchor="t">
            <a:noAutofit/>
          </a:bodyPr>
          <a:lstStyle/>
          <a:p>
            <a:pPr algn="l">
              <a:lnSpc>
                <a:spcPts val="2610"/>
              </a:lnSpc>
              <a:spcBef>
                <a:spcPts val="0"/>
              </a:spcBef>
              <a:spcAft>
                <a:spcPts val="0"/>
              </a:spcAft>
              <a:buNone/>
            </a:pPr>
            <a:r>
              <a:rPr lang="en-US" sz="1800" dirty="0">
                <a:solidFill>
                  <a:srgbClr val="17203A"/>
                </a:solidFill>
                <a:latin typeface="Atkinson Hyperlegible Next"/>
                <a:ea typeface="Atkinson Hyperlegible Next"/>
                <a:cs typeface="Atkinson Hyperlegible Next"/>
              </a:rPr>
              <a:t>AlphaGo beats Go champion Lee Sedol</a:t>
            </a:r>
            <a:endParaRPr lang="en-US" sz="1800" dirty="0"/>
          </a:p>
        </p:txBody>
      </p:sp>
      <p:sp>
        <p:nvSpPr>
          <p:cNvPr id="21" name="dot-2017"/>
          <p:cNvSpPr/>
          <p:nvPr/>
        </p:nvSpPr>
        <p:spPr>
          <a:xfrm>
            <a:off x="7854950" y="3048000"/>
            <a:ext cx="203200" cy="203200"/>
          </a:xfrm>
          <a:prstGeom prst="ellipse">
            <a:avLst/>
          </a:prstGeom>
          <a:solidFill>
            <a:srgbClr val="2F55C9"/>
          </a:solidFill>
          <a:ln>
            <a:noFill/>
          </a:ln>
        </p:spPr>
      </p:sp>
      <p:sp>
        <p:nvSpPr>
          <p:cNvPr id="22" name="year-2017"/>
          <p:cNvSpPr txBox="1"/>
          <p:nvPr/>
        </p:nvSpPr>
        <p:spPr>
          <a:xfrm>
            <a:off x="7854950" y="2262302"/>
            <a:ext cx="1498600" cy="436448"/>
          </a:xfrm>
          <a:prstGeom prst="rect">
            <a:avLst/>
          </a:prstGeom>
          <a:noFill/>
        </p:spPr>
        <p:txBody>
          <a:bodyPr wrap="square" lIns="0" tIns="0" rIns="0" bIns="0" rtlCol="0" anchor="t">
            <a:noAutofit/>
          </a:bodyPr>
          <a:lstStyle/>
          <a:p>
            <a:pPr algn="l">
              <a:lnSpc>
                <a:spcPts val="4175"/>
              </a:lnSpc>
              <a:buNone/>
            </a:pPr>
            <a:r>
              <a:rPr lang="en-US" sz="3100" b="1" dirty="0">
                <a:solidFill>
                  <a:srgbClr val="2F55C9"/>
                </a:solidFill>
                <a:latin typeface="Lexend"/>
                <a:ea typeface="Lexend"/>
                <a:cs typeface="Lexend"/>
              </a:rPr>
              <a:t>2017</a:t>
            </a:r>
            <a:endParaRPr lang="en-US" sz="3100" dirty="0"/>
          </a:p>
        </p:txBody>
      </p:sp>
      <p:sp>
        <p:nvSpPr>
          <p:cNvPr id="23" name="event-2017"/>
          <p:cNvSpPr txBox="1"/>
          <p:nvPr/>
        </p:nvSpPr>
        <p:spPr>
          <a:xfrm>
            <a:off x="7854950" y="3475355"/>
            <a:ext cx="1530350" cy="1344295"/>
          </a:xfrm>
          <a:prstGeom prst="rect">
            <a:avLst/>
          </a:prstGeom>
          <a:noFill/>
        </p:spPr>
        <p:txBody>
          <a:bodyPr wrap="square" lIns="0" tIns="0" rIns="0" bIns="0" rtlCol="0" anchor="t">
            <a:noAutofit/>
          </a:bodyPr>
          <a:lstStyle/>
          <a:p>
            <a:pPr algn="l">
              <a:lnSpc>
                <a:spcPts val="2610"/>
              </a:lnSpc>
              <a:spcBef>
                <a:spcPts val="0"/>
              </a:spcBef>
              <a:spcAft>
                <a:spcPts val="0"/>
              </a:spcAft>
              <a:buNone/>
            </a:pPr>
            <a:r>
              <a:rPr lang="en-US" sz="1800" dirty="0">
                <a:solidFill>
                  <a:srgbClr val="17203A"/>
                </a:solidFill>
                <a:latin typeface="Atkinson Hyperlegible Next"/>
                <a:ea typeface="Atkinson Hyperlegible Next"/>
                <a:cs typeface="Atkinson Hyperlegible Next"/>
              </a:rPr>
              <a:t>The Transformer architecture is published</a:t>
            </a:r>
            <a:endParaRPr lang="en-US" sz="1800" dirty="0"/>
          </a:p>
        </p:txBody>
      </p:sp>
      <p:sp>
        <p:nvSpPr>
          <p:cNvPr id="24" name="dot-2022"/>
          <p:cNvSpPr/>
          <p:nvPr/>
        </p:nvSpPr>
        <p:spPr>
          <a:xfrm>
            <a:off x="9620250" y="3048000"/>
            <a:ext cx="203200" cy="203200"/>
          </a:xfrm>
          <a:prstGeom prst="ellipse">
            <a:avLst/>
          </a:prstGeom>
          <a:solidFill>
            <a:srgbClr val="D9822B"/>
          </a:solidFill>
          <a:ln>
            <a:noFill/>
          </a:ln>
        </p:spPr>
      </p:sp>
      <p:sp>
        <p:nvSpPr>
          <p:cNvPr id="25" name="year-2022"/>
          <p:cNvSpPr txBox="1"/>
          <p:nvPr/>
        </p:nvSpPr>
        <p:spPr>
          <a:xfrm>
            <a:off x="9620250" y="2262302"/>
            <a:ext cx="1498600" cy="436448"/>
          </a:xfrm>
          <a:prstGeom prst="rect">
            <a:avLst/>
          </a:prstGeom>
          <a:noFill/>
        </p:spPr>
        <p:txBody>
          <a:bodyPr wrap="square" lIns="0" tIns="0" rIns="0" bIns="0" rtlCol="0" anchor="t">
            <a:noAutofit/>
          </a:bodyPr>
          <a:lstStyle/>
          <a:p>
            <a:pPr algn="l">
              <a:lnSpc>
                <a:spcPts val="4175"/>
              </a:lnSpc>
              <a:buNone/>
            </a:pPr>
            <a:r>
              <a:rPr lang="en-US" sz="3100" b="1" dirty="0">
                <a:solidFill>
                  <a:srgbClr val="A65D17"/>
                </a:solidFill>
                <a:latin typeface="Lexend"/>
                <a:ea typeface="Lexend"/>
                <a:cs typeface="Lexend"/>
              </a:rPr>
              <a:t>2022</a:t>
            </a:r>
            <a:endParaRPr lang="en-US" sz="3100" dirty="0"/>
          </a:p>
        </p:txBody>
      </p:sp>
      <p:sp>
        <p:nvSpPr>
          <p:cNvPr id="26" name="event-2022"/>
          <p:cNvSpPr txBox="1"/>
          <p:nvPr/>
        </p:nvSpPr>
        <p:spPr>
          <a:xfrm>
            <a:off x="9620250" y="3475355"/>
            <a:ext cx="1530350" cy="1344295"/>
          </a:xfrm>
          <a:prstGeom prst="rect">
            <a:avLst/>
          </a:prstGeom>
          <a:noFill/>
        </p:spPr>
        <p:txBody>
          <a:bodyPr wrap="square" lIns="0" tIns="0" rIns="0" bIns="0" rtlCol="0" anchor="t">
            <a:noAutofit/>
          </a:bodyPr>
          <a:lstStyle/>
          <a:p>
            <a:pPr algn="l">
              <a:lnSpc>
                <a:spcPts val="2610"/>
              </a:lnSpc>
              <a:spcBef>
                <a:spcPts val="0"/>
              </a:spcBef>
              <a:spcAft>
                <a:spcPts val="0"/>
              </a:spcAft>
              <a:buNone/>
            </a:pPr>
            <a:r>
              <a:rPr lang="en-US" sz="1800" dirty="0">
                <a:solidFill>
                  <a:srgbClr val="17203A"/>
                </a:solidFill>
                <a:latin typeface="Atkinson Hyperlegible Next"/>
                <a:ea typeface="Atkinson Hyperlegible Next"/>
                <a:cs typeface="Atkinson Hyperlegible Next"/>
              </a:rPr>
              <a:t>ChatGPT brings chatbots to everyone</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how-it-works">
    <p:bg>
      <p:bgPr>
        <a:solidFill>
          <a:srgbClr val="F6F4EE"/>
        </a:solidFill>
        <a:effectLst/>
      </p:bgPr>
    </p:bg>
    <p:spTree>
      <p:nvGrpSpPr>
        <p:cNvPr id="1" name=""/>
        <p:cNvGrpSpPr/>
        <p:nvPr/>
      </p:nvGrpSpPr>
      <p:grpSpPr>
        <a:xfrm>
          <a:off x="0" y="0"/>
          <a:ext cx="0" cy="0"/>
          <a:chOff x="0" y="0"/>
          <a:chExt cx="0" cy="0"/>
        </a:xfrm>
      </p:grpSpPr>
      <p:sp>
        <p:nvSpPr>
          <p:cNvPr id="2" name="rail"/>
          <p:cNvSpPr/>
          <p:nvPr/>
        </p:nvSpPr>
        <p:spPr>
          <a:xfrm>
            <a:off x="0" y="0"/>
            <a:ext cx="101600" cy="6858000"/>
          </a:xfrm>
          <a:prstGeom prst="rect">
            <a:avLst/>
          </a:prstGeom>
          <a:solidFill>
            <a:srgbClr val="2F55C9"/>
          </a:solidFill>
          <a:ln>
            <a:noFill/>
          </a:ln>
        </p:spPr>
      </p:sp>
      <p:sp>
        <p:nvSpPr>
          <p:cNvPr id="3" name="footer-rule"/>
          <p:cNvSpPr/>
          <p:nvPr/>
        </p:nvSpPr>
        <p:spPr>
          <a:xfrm>
            <a:off x="812800" y="5880100"/>
            <a:ext cx="10566400" cy="12700"/>
          </a:xfrm>
          <a:prstGeom prst="rect">
            <a:avLst/>
          </a:prstGeom>
          <a:solidFill>
            <a:srgbClr val="E9E5D9"/>
          </a:solidFill>
          <a:ln>
            <a:noFill/>
          </a:ln>
        </p:spPr>
      </p:sp>
      <p:sp>
        <p:nvSpPr>
          <p:cNvPr id="4" name="footer"/>
          <p:cNvSpPr txBox="1"/>
          <p:nvPr/>
        </p:nvSpPr>
        <p:spPr>
          <a:xfrm>
            <a:off x="812800" y="5924423"/>
            <a:ext cx="2968625" cy="190627"/>
          </a:xfrm>
          <a:prstGeom prst="rect">
            <a:avLst/>
          </a:prstGeom>
          <a:noFill/>
        </p:spPr>
        <p:txBody>
          <a:bodyPr wrap="square" lIns="0" tIns="0" rIns="0" bIns="0" rtlCol="0" anchor="t">
            <a:noAutofit/>
          </a:bodyPr>
          <a:lstStyle/>
          <a:p>
            <a:pPr algn="l">
              <a:lnSpc>
                <a:spcPts val="1690"/>
              </a:lnSpc>
              <a:buNone/>
            </a:pPr>
            <a:r>
              <a:rPr lang="en-US" sz="1300" dirty="0">
                <a:solidFill>
                  <a:srgbClr val="535A70"/>
                </a:solidFill>
                <a:latin typeface="Atkinson Hyperlegible Next"/>
                <a:ea typeface="Atkinson Hyperlegible Next"/>
                <a:cs typeface="Atkinson Hyperlegible Next"/>
              </a:rPr>
              <a:t>AI 101  ·  A practical introduction</a:t>
            </a:r>
            <a:endParaRPr lang="en-US" sz="1300" dirty="0"/>
          </a:p>
        </p:txBody>
      </p:sp>
      <p:sp>
        <p:nvSpPr>
          <p:cNvPr id="5" name="page-number"/>
          <p:cNvSpPr txBox="1"/>
          <p:nvPr/>
        </p:nvSpPr>
        <p:spPr>
          <a:xfrm>
            <a:off x="11017250" y="5923432"/>
            <a:ext cx="609600" cy="178918"/>
          </a:xfrm>
          <a:prstGeom prst="rect">
            <a:avLst/>
          </a:prstGeom>
          <a:noFill/>
        </p:spPr>
        <p:txBody>
          <a:bodyPr wrap="square" lIns="0" tIns="0" rIns="0" bIns="0" rtlCol="0" anchor="t">
            <a:noAutofit/>
          </a:bodyPr>
          <a:lstStyle/>
          <a:p>
            <a:pPr algn="l">
              <a:lnSpc>
                <a:spcPts val="1690"/>
              </a:lnSpc>
              <a:buNone/>
            </a:pPr>
            <a:r>
              <a:rPr lang="en-US" sz="1300" dirty="0">
                <a:solidFill>
                  <a:srgbClr val="535A70"/>
                </a:solidFill>
                <a:latin typeface="Atkinson Hyperlegible Next"/>
                <a:ea typeface="Atkinson Hyperlegible Next"/>
                <a:cs typeface="Atkinson Hyperlegible Next"/>
              </a:rPr>
              <a:t>4 / 9</a:t>
            </a:r>
            <a:endParaRPr lang="en-US" sz="1300" dirty="0"/>
          </a:p>
        </p:txBody>
      </p:sp>
      <p:sp>
        <p:nvSpPr>
          <p:cNvPr id="6" name="eyebrow"/>
          <p:cNvSpPr txBox="1"/>
          <p:nvPr/>
        </p:nvSpPr>
        <p:spPr>
          <a:xfrm>
            <a:off x="812800" y="692150"/>
            <a:ext cx="3008312" cy="387350"/>
          </a:xfrm>
          <a:prstGeom prst="rect">
            <a:avLst/>
          </a:prstGeom>
          <a:noFill/>
        </p:spPr>
        <p:txBody>
          <a:bodyPr wrap="square" lIns="0" tIns="0" rIns="0" bIns="0" rtlCol="0" anchor="t">
            <a:noAutofit/>
          </a:bodyPr>
          <a:lstStyle/>
          <a:p>
            <a:pPr algn="l">
              <a:lnSpc>
                <a:spcPts val="2900"/>
              </a:lnSpc>
              <a:spcBef>
                <a:spcPts val="0"/>
              </a:spcBef>
              <a:spcAft>
                <a:spcPts val="0"/>
              </a:spcAft>
              <a:buNone/>
            </a:pPr>
            <a:r>
              <a:rPr lang="en-US" sz="2000" spc="150" dirty="0">
                <a:solidFill>
                  <a:srgbClr val="2F55C9"/>
                </a:solidFill>
                <a:latin typeface="Atkinson Hyperlegible Next"/>
                <a:ea typeface="Atkinson Hyperlegible Next"/>
                <a:cs typeface="Atkinson Hyperlegible Next"/>
              </a:rPr>
              <a:t>UNDER THE HOOD</a:t>
            </a:r>
            <a:endParaRPr lang="en-US" sz="2000" dirty="0"/>
          </a:p>
        </p:txBody>
      </p:sp>
      <p:sp>
        <p:nvSpPr>
          <p:cNvPr id="7" name="title"/>
          <p:cNvSpPr>
            <a:spLocks noGrp="1"/>
          </p:cNvSpPr>
          <p:nvPr>
            <p:ph type="title"/>
          </p:nvPr>
        </p:nvSpPr>
        <p:spPr>
          <a:xfrm>
            <a:off x="812800" y="1014222"/>
            <a:ext cx="9913938" cy="535178"/>
          </a:xfrm>
          <a:prstGeom prst="rect">
            <a:avLst/>
          </a:prstGeom>
          <a:noFill/>
        </p:spPr>
        <p:txBody>
          <a:bodyPr wrap="square" lIns="0" tIns="0" rIns="0" bIns="0" rtlCol="0" anchor="t">
            <a:noAutofit/>
          </a:bodyPr>
          <a:lstStyle/>
          <a:p>
            <a:pPr algn="l">
              <a:lnSpc>
                <a:spcPts val="4275"/>
              </a:lnSpc>
              <a:buNone/>
            </a:pPr>
            <a:r>
              <a:rPr lang="en-US" sz="3900" b="1" dirty="0">
                <a:solidFill>
                  <a:srgbClr val="17203A"/>
                </a:solidFill>
                <a:latin typeface="Lexend"/>
                <a:ea typeface="Lexend"/>
                <a:cs typeface="Lexend"/>
              </a:rPr>
              <a:t>How a language model answers</a:t>
            </a:r>
            <a:endParaRPr lang="en-US" sz="3900" dirty="0"/>
          </a:p>
        </p:txBody>
      </p:sp>
      <p:grpSp>
        <p:nvGrpSpPr>
          <p:cNvPr id="28" name="llm-flow"/>
          <p:cNvGrpSpPr/>
          <p:nvPr/>
        </p:nvGrpSpPr>
        <p:grpSpPr>
          <a:xfrm>
            <a:off x="812800" y="2540000"/>
            <a:ext cx="10668000" cy="1524000"/>
            <a:chOff x="0" y="0"/>
            <a:chExt cx="10668000" cy="1524000"/>
          </a:xfrm>
        </p:grpSpPr>
        <p:sp>
          <p:nvSpPr>
            <p:cNvPr id="8" name="llm-flow/Prompt-&gt;Tok"/>
            <p:cNvSpPr/>
            <p:nvPr/>
          </p:nvSpPr>
          <p:spPr>
            <a:xfrm>
              <a:off x="1631950" y="495300"/>
              <a:ext cx="349250" cy="101600"/>
            </a:xfrm>
            <a:custGeom>
              <a:avLst/>
              <a:gdLst/>
              <a:ahLst/>
              <a:cxnLst/>
              <a:rect l="0" t="0" r="r" b="b"/>
              <a:pathLst>
                <a:path w="5500" h="1600">
                  <a:moveTo>
                    <a:pt x="300" y="800"/>
                  </a:moveTo>
                  <a:lnTo>
                    <a:pt x="4352" y="800"/>
                  </a:lnTo>
                  <a:lnTo>
                    <a:pt x="300" y="800"/>
                  </a:lnTo>
                  <a:moveTo>
                    <a:pt x="4015" y="1298"/>
                  </a:moveTo>
                  <a:lnTo>
                    <a:pt x="5200" y="800"/>
                  </a:lnTo>
                  <a:lnTo>
                    <a:pt x="4015" y="302"/>
                  </a:lnTo>
                  <a:lnTo>
                    <a:pt x="4015" y="1298"/>
                  </a:lnTo>
                  <a:close/>
                </a:path>
              </a:pathLst>
            </a:custGeom>
            <a:solidFill>
              <a:srgbClr val="17203A"/>
            </a:solidFill>
            <a:ln w="12700" cap="rnd">
              <a:solidFill>
                <a:srgbClr val="17203A"/>
              </a:solidFill>
              <a:round/>
            </a:ln>
          </p:spPr>
        </p:sp>
        <p:sp>
          <p:nvSpPr>
            <p:cNvPr id="9" name="llm-flow/Tok-&gt;Model"/>
            <p:cNvSpPr/>
            <p:nvPr/>
          </p:nvSpPr>
          <p:spPr>
            <a:xfrm>
              <a:off x="3079750" y="495300"/>
              <a:ext cx="349250" cy="101600"/>
            </a:xfrm>
            <a:custGeom>
              <a:avLst/>
              <a:gdLst/>
              <a:ahLst/>
              <a:cxnLst/>
              <a:rect l="0" t="0" r="r" b="b"/>
              <a:pathLst>
                <a:path w="5500" h="1600">
                  <a:moveTo>
                    <a:pt x="300" y="800"/>
                  </a:moveTo>
                  <a:lnTo>
                    <a:pt x="4352" y="800"/>
                  </a:lnTo>
                  <a:lnTo>
                    <a:pt x="300" y="800"/>
                  </a:lnTo>
                  <a:moveTo>
                    <a:pt x="4015" y="1298"/>
                  </a:moveTo>
                  <a:lnTo>
                    <a:pt x="5200" y="800"/>
                  </a:lnTo>
                  <a:lnTo>
                    <a:pt x="4015" y="302"/>
                  </a:lnTo>
                  <a:lnTo>
                    <a:pt x="4015" y="1298"/>
                  </a:lnTo>
                  <a:close/>
                </a:path>
              </a:pathLst>
            </a:custGeom>
            <a:solidFill>
              <a:srgbClr val="17203A"/>
            </a:solidFill>
            <a:ln w="12700" cap="rnd">
              <a:solidFill>
                <a:srgbClr val="17203A"/>
              </a:solidFill>
              <a:round/>
            </a:ln>
          </p:spPr>
        </p:sp>
        <p:sp>
          <p:nvSpPr>
            <p:cNvPr id="10" name="llm-flow/Model-&gt;Add"/>
            <p:cNvSpPr/>
            <p:nvPr/>
          </p:nvSpPr>
          <p:spPr>
            <a:xfrm>
              <a:off x="4794250" y="317500"/>
              <a:ext cx="1289050" cy="196850"/>
            </a:xfrm>
            <a:custGeom>
              <a:avLst/>
              <a:gdLst/>
              <a:ahLst/>
              <a:cxnLst/>
              <a:rect l="0" t="0" r="r" b="b"/>
              <a:pathLst>
                <a:path w="20300" h="3100">
                  <a:moveTo>
                    <a:pt x="300" y="2800"/>
                  </a:moveTo>
                  <a:lnTo>
                    <a:pt x="9802" y="2800"/>
                  </a:lnTo>
                  <a:lnTo>
                    <a:pt x="9802" y="800"/>
                  </a:lnTo>
                  <a:lnTo>
                    <a:pt x="19152" y="800"/>
                  </a:lnTo>
                  <a:lnTo>
                    <a:pt x="9802" y="800"/>
                  </a:lnTo>
                  <a:lnTo>
                    <a:pt x="9802" y="2800"/>
                  </a:lnTo>
                  <a:lnTo>
                    <a:pt x="300" y="2800"/>
                  </a:lnTo>
                  <a:moveTo>
                    <a:pt x="18815" y="1298"/>
                  </a:moveTo>
                  <a:lnTo>
                    <a:pt x="20000" y="800"/>
                  </a:lnTo>
                  <a:lnTo>
                    <a:pt x="18815" y="302"/>
                  </a:lnTo>
                  <a:lnTo>
                    <a:pt x="18815" y="1298"/>
                  </a:lnTo>
                  <a:close/>
                </a:path>
              </a:pathLst>
            </a:custGeom>
            <a:solidFill>
              <a:srgbClr val="17203A"/>
            </a:solidFill>
            <a:ln w="12700" cap="rnd">
              <a:solidFill>
                <a:srgbClr val="17203A"/>
              </a:solidFill>
              <a:round/>
            </a:ln>
          </p:spPr>
        </p:sp>
        <p:sp>
          <p:nvSpPr>
            <p:cNvPr id="11" name="llm-flow/Add-&gt;Done"/>
            <p:cNvSpPr/>
            <p:nvPr/>
          </p:nvSpPr>
          <p:spPr>
            <a:xfrm>
              <a:off x="7410450" y="349250"/>
              <a:ext cx="349250" cy="247650"/>
            </a:xfrm>
            <a:custGeom>
              <a:avLst/>
              <a:gdLst/>
              <a:ahLst/>
              <a:cxnLst/>
              <a:rect l="0" t="0" r="r" b="b"/>
              <a:pathLst>
                <a:path w="5500" h="3900">
                  <a:moveTo>
                    <a:pt x="300" y="300"/>
                  </a:moveTo>
                  <a:lnTo>
                    <a:pt x="2413" y="300"/>
                  </a:lnTo>
                  <a:lnTo>
                    <a:pt x="2413" y="3100"/>
                  </a:lnTo>
                  <a:lnTo>
                    <a:pt x="4352" y="3100"/>
                  </a:lnTo>
                  <a:lnTo>
                    <a:pt x="2413" y="3100"/>
                  </a:lnTo>
                  <a:lnTo>
                    <a:pt x="2413" y="300"/>
                  </a:lnTo>
                  <a:lnTo>
                    <a:pt x="300" y="300"/>
                  </a:lnTo>
                  <a:moveTo>
                    <a:pt x="4015" y="3598"/>
                  </a:moveTo>
                  <a:lnTo>
                    <a:pt x="5200" y="3100"/>
                  </a:lnTo>
                  <a:lnTo>
                    <a:pt x="4015" y="2602"/>
                  </a:lnTo>
                  <a:lnTo>
                    <a:pt x="4015" y="3598"/>
                  </a:lnTo>
                  <a:close/>
                </a:path>
              </a:pathLst>
            </a:custGeom>
            <a:solidFill>
              <a:srgbClr val="17203A"/>
            </a:solidFill>
            <a:ln w="12700" cap="rnd">
              <a:solidFill>
                <a:srgbClr val="17203A"/>
              </a:solidFill>
              <a:round/>
            </a:ln>
          </p:spPr>
        </p:sp>
        <p:sp>
          <p:nvSpPr>
            <p:cNvPr id="12" name="llm-flow/Done-&gt;Model"/>
            <p:cNvSpPr/>
            <p:nvPr/>
          </p:nvSpPr>
          <p:spPr>
            <a:xfrm>
              <a:off x="4064000" y="806450"/>
              <a:ext cx="4254500" cy="596900"/>
            </a:xfrm>
            <a:custGeom>
              <a:avLst/>
              <a:gdLst/>
              <a:ahLst/>
              <a:cxnLst/>
              <a:rect l="0" t="0" r="r" b="b"/>
              <a:pathLst>
                <a:path w="67000" h="9400">
                  <a:moveTo>
                    <a:pt x="66700" y="300"/>
                  </a:moveTo>
                  <a:lnTo>
                    <a:pt x="66700" y="9100"/>
                  </a:lnTo>
                  <a:lnTo>
                    <a:pt x="41570" y="9100"/>
                  </a:lnTo>
                  <a:lnTo>
                    <a:pt x="66700" y="9100"/>
                  </a:lnTo>
                  <a:lnTo>
                    <a:pt x="66700" y="300"/>
                  </a:lnTo>
                  <a:moveTo>
                    <a:pt x="25930" y="9100"/>
                  </a:moveTo>
                  <a:lnTo>
                    <a:pt x="800" y="9100"/>
                  </a:lnTo>
                  <a:lnTo>
                    <a:pt x="800" y="4048"/>
                  </a:lnTo>
                  <a:lnTo>
                    <a:pt x="800" y="9100"/>
                  </a:lnTo>
                  <a:lnTo>
                    <a:pt x="25930" y="9100"/>
                  </a:lnTo>
                  <a:moveTo>
                    <a:pt x="1298" y="4385"/>
                  </a:moveTo>
                  <a:lnTo>
                    <a:pt x="800" y="3200"/>
                  </a:lnTo>
                  <a:lnTo>
                    <a:pt x="302" y="4385"/>
                  </a:lnTo>
                  <a:lnTo>
                    <a:pt x="1298" y="4385"/>
                  </a:lnTo>
                  <a:close/>
                </a:path>
              </a:pathLst>
            </a:custGeom>
            <a:solidFill>
              <a:srgbClr val="17203A"/>
            </a:solidFill>
            <a:ln w="12700" cap="rnd">
              <a:solidFill>
                <a:srgbClr val="17203A"/>
              </a:solidFill>
              <a:round/>
            </a:ln>
          </p:spPr>
        </p:sp>
        <p:sp>
          <p:nvSpPr>
            <p:cNvPr id="13" name="llm-flow/Done-&gt;Answer"/>
            <p:cNvSpPr/>
            <p:nvPr/>
          </p:nvSpPr>
          <p:spPr>
            <a:xfrm>
              <a:off x="8832850" y="495300"/>
              <a:ext cx="704850" cy="101600"/>
            </a:xfrm>
            <a:custGeom>
              <a:avLst/>
              <a:gdLst/>
              <a:ahLst/>
              <a:cxnLst/>
              <a:rect l="0" t="0" r="r" b="b"/>
              <a:pathLst>
                <a:path w="11100" h="1600">
                  <a:moveTo>
                    <a:pt x="300" y="800"/>
                  </a:moveTo>
                  <a:lnTo>
                    <a:pt x="2005" y="800"/>
                  </a:lnTo>
                  <a:lnTo>
                    <a:pt x="300" y="800"/>
                  </a:lnTo>
                  <a:moveTo>
                    <a:pt x="8444" y="800"/>
                  </a:moveTo>
                  <a:lnTo>
                    <a:pt x="9952" y="800"/>
                  </a:lnTo>
                  <a:lnTo>
                    <a:pt x="8444" y="800"/>
                  </a:lnTo>
                  <a:moveTo>
                    <a:pt x="9615" y="1298"/>
                  </a:moveTo>
                  <a:lnTo>
                    <a:pt x="10800" y="800"/>
                  </a:lnTo>
                  <a:lnTo>
                    <a:pt x="9615" y="302"/>
                  </a:lnTo>
                  <a:lnTo>
                    <a:pt x="9615" y="1298"/>
                  </a:lnTo>
                  <a:close/>
                </a:path>
              </a:pathLst>
            </a:custGeom>
            <a:solidFill>
              <a:srgbClr val="17203A"/>
            </a:solidFill>
            <a:ln w="12700" cap="rnd">
              <a:solidFill>
                <a:srgbClr val="17203A"/>
              </a:solidFill>
              <a:round/>
            </a:ln>
          </p:spPr>
        </p:sp>
        <p:sp>
          <p:nvSpPr>
            <p:cNvPr id="14" name="llm-flow/Prompt"/>
            <p:cNvSpPr/>
            <p:nvPr/>
          </p:nvSpPr>
          <p:spPr>
            <a:xfrm>
              <a:off x="50800" y="387350"/>
              <a:ext cx="1587500" cy="317500"/>
            </a:xfrm>
            <a:prstGeom prst="roundRect">
              <a:avLst>
                <a:gd name="adj" fmla="val 50000"/>
              </a:avLst>
            </a:prstGeom>
            <a:solidFill>
              <a:srgbClr val="A4B5D8"/>
            </a:solidFill>
            <a:ln w="12700">
              <a:solidFill>
                <a:srgbClr val="2F55C9"/>
              </a:solidFill>
            </a:ln>
          </p:spPr>
        </p:sp>
        <p:sp>
          <p:nvSpPr>
            <p:cNvPr id="15" name="llm-flow/Tok"/>
            <p:cNvSpPr/>
            <p:nvPr/>
          </p:nvSpPr>
          <p:spPr>
            <a:xfrm>
              <a:off x="1981200" y="247650"/>
              <a:ext cx="1104900" cy="596900"/>
            </a:xfrm>
            <a:prstGeom prst="roundRect">
              <a:avLst>
                <a:gd name="adj" fmla="val 8085"/>
              </a:avLst>
            </a:prstGeom>
            <a:solidFill>
              <a:srgbClr val="E9E5D9"/>
            </a:solidFill>
            <a:ln w="12700">
              <a:solidFill>
                <a:srgbClr val="2F55C9"/>
              </a:solidFill>
            </a:ln>
          </p:spPr>
        </p:sp>
        <p:sp>
          <p:nvSpPr>
            <p:cNvPr id="16" name="llm-flow/Model"/>
            <p:cNvSpPr/>
            <p:nvPr/>
          </p:nvSpPr>
          <p:spPr>
            <a:xfrm>
              <a:off x="3429000" y="101600"/>
              <a:ext cx="1371600" cy="889000"/>
            </a:xfrm>
            <a:prstGeom prst="roundRect">
              <a:avLst>
                <a:gd name="adj" fmla="val 5429"/>
              </a:avLst>
            </a:prstGeom>
            <a:solidFill>
              <a:srgbClr val="E9E5D9"/>
            </a:solidFill>
            <a:ln w="12700">
              <a:solidFill>
                <a:srgbClr val="2F55C9"/>
              </a:solidFill>
            </a:ln>
          </p:spPr>
        </p:sp>
        <p:sp>
          <p:nvSpPr>
            <p:cNvPr id="17" name="llm-flow/Add"/>
            <p:cNvSpPr/>
            <p:nvPr/>
          </p:nvSpPr>
          <p:spPr>
            <a:xfrm>
              <a:off x="6083300" y="50800"/>
              <a:ext cx="1333500" cy="635000"/>
            </a:xfrm>
            <a:prstGeom prst="roundRect">
              <a:avLst>
                <a:gd name="adj" fmla="val 7600"/>
              </a:avLst>
            </a:prstGeom>
            <a:solidFill>
              <a:srgbClr val="E9E5D9"/>
            </a:solidFill>
            <a:ln w="12700">
              <a:solidFill>
                <a:srgbClr val="2F55C9"/>
              </a:solidFill>
            </a:ln>
          </p:spPr>
        </p:sp>
        <p:sp>
          <p:nvSpPr>
            <p:cNvPr id="18" name="llm-flow/Done"/>
            <p:cNvSpPr/>
            <p:nvPr/>
          </p:nvSpPr>
          <p:spPr>
            <a:xfrm>
              <a:off x="7753350" y="273050"/>
              <a:ext cx="1092200" cy="546100"/>
            </a:xfrm>
            <a:custGeom>
              <a:avLst/>
              <a:gdLst/>
              <a:ahLst/>
              <a:cxnLst/>
              <a:rect l="0" t="0" r="r" b="b"/>
              <a:pathLst>
                <a:path w="10000" h="10000">
                  <a:moveTo>
                    <a:pt x="5000" y="0"/>
                  </a:moveTo>
                  <a:lnTo>
                    <a:pt x="10000" y="5000"/>
                  </a:lnTo>
                  <a:lnTo>
                    <a:pt x="5000" y="10000"/>
                  </a:lnTo>
                  <a:lnTo>
                    <a:pt x="0" y="5000"/>
                  </a:lnTo>
                  <a:lnTo>
                    <a:pt x="5000" y="0"/>
                  </a:lnTo>
                  <a:close/>
                </a:path>
              </a:pathLst>
            </a:custGeom>
            <a:solidFill>
              <a:srgbClr val="BDC7D9"/>
            </a:solidFill>
            <a:ln w="12700">
              <a:solidFill>
                <a:srgbClr val="2F55C9"/>
              </a:solidFill>
            </a:ln>
          </p:spPr>
        </p:sp>
        <p:sp>
          <p:nvSpPr>
            <p:cNvPr id="19" name="llm-flow/Answer"/>
            <p:cNvSpPr/>
            <p:nvPr/>
          </p:nvSpPr>
          <p:spPr>
            <a:xfrm>
              <a:off x="9537700" y="400050"/>
              <a:ext cx="1079500" cy="292100"/>
            </a:xfrm>
            <a:prstGeom prst="roundRect">
              <a:avLst>
                <a:gd name="adj" fmla="val 50000"/>
              </a:avLst>
            </a:prstGeom>
            <a:solidFill>
              <a:srgbClr val="A4B5D8"/>
            </a:solidFill>
            <a:ln w="12700">
              <a:solidFill>
                <a:srgbClr val="2F55C9"/>
              </a:solidFill>
            </a:ln>
          </p:spPr>
        </p:sp>
        <p:sp>
          <p:nvSpPr>
            <p:cNvPr id="20" name="llm-flow/Prompt.label"/>
            <p:cNvSpPr txBox="1"/>
            <p:nvPr/>
          </p:nvSpPr>
          <p:spPr>
            <a:xfrm>
              <a:off x="57150" y="378612"/>
              <a:ext cx="1574800" cy="262738"/>
            </a:xfrm>
            <a:prstGeom prst="rect">
              <a:avLst/>
            </a:prstGeom>
            <a:noFill/>
          </p:spPr>
          <p:txBody>
            <a:bodyPr wrap="square" lIns="0" tIns="0" rIns="0" bIns="0" rtlCol="0" anchor="t">
              <a:noAutofit/>
            </a:bodyPr>
            <a:lstStyle/>
            <a:p>
              <a:pPr algn="ctr">
                <a:lnSpc>
                  <a:spcPts val="2340"/>
                </a:lnSpc>
                <a:buNone/>
              </a:pPr>
              <a:r>
                <a:rPr lang="en-US" sz="1800" dirty="0">
                  <a:solidFill>
                    <a:srgbClr val="17203A"/>
                  </a:solidFill>
                  <a:latin typeface="Atkinson Hyperlegible Next"/>
                  <a:ea typeface="Atkinson Hyperlegible Next"/>
                  <a:cs typeface="Atkinson Hyperlegible Next"/>
                </a:rPr>
                <a:t>Your prompt</a:t>
              </a:r>
              <a:endParaRPr lang="en-US" sz="1800" dirty="0"/>
            </a:p>
          </p:txBody>
        </p:sp>
        <p:sp>
          <p:nvSpPr>
            <p:cNvPr id="21" name="llm-flow/Tok.label"/>
            <p:cNvSpPr txBox="1"/>
            <p:nvPr/>
          </p:nvSpPr>
          <p:spPr>
            <a:xfrm>
              <a:off x="1911350" y="255778"/>
              <a:ext cx="1244600" cy="525272"/>
            </a:xfrm>
            <a:prstGeom prst="rect">
              <a:avLst/>
            </a:prstGeom>
            <a:noFill/>
          </p:spPr>
          <p:txBody>
            <a:bodyPr wrap="square" lIns="0" tIns="0" rIns="0" bIns="0" rtlCol="0" anchor="t">
              <a:noAutofit/>
            </a:bodyPr>
            <a:lstStyle/>
            <a:p>
              <a:pPr algn="ctr">
                <a:lnSpc>
                  <a:spcPts val="2340"/>
                </a:lnSpc>
                <a:buNone/>
              </a:pPr>
              <a:r>
                <a:rPr lang="en-US" sz="1800" dirty="0">
                  <a:solidFill>
                    <a:srgbClr val="17203A"/>
                  </a:solidFill>
                  <a:latin typeface="Atkinson Hyperlegible Next"/>
                  <a:ea typeface="Atkinson Hyperlegible Next"/>
                  <a:cs typeface="Atkinson Hyperlegible Next"/>
                </a:rPr>
                <a:t>Split into</a:t>
              </a:r>
              <a:endParaRPr lang="en-US" sz="1800" dirty="0"/>
            </a:p>
            <a:p>
              <a:pPr algn="ctr">
                <a:lnSpc>
                  <a:spcPts val="2340"/>
                </a:lnSpc>
                <a:buNone/>
              </a:pPr>
              <a:r>
                <a:rPr lang="en-US" sz="1800" dirty="0">
                  <a:solidFill>
                    <a:srgbClr val="17203A"/>
                  </a:solidFill>
                  <a:latin typeface="Atkinson Hyperlegible Next"/>
                  <a:ea typeface="Atkinson Hyperlegible Next"/>
                  <a:cs typeface="Atkinson Hyperlegible Next"/>
                </a:rPr>
                <a:t>tokens</a:t>
              </a:r>
              <a:endParaRPr lang="en-US" sz="1800" dirty="0"/>
            </a:p>
          </p:txBody>
        </p:sp>
        <p:sp>
          <p:nvSpPr>
            <p:cNvPr id="22" name="llm-flow/Model.label"/>
            <p:cNvSpPr txBox="1"/>
            <p:nvPr/>
          </p:nvSpPr>
          <p:spPr>
            <a:xfrm>
              <a:off x="3359150" y="95606"/>
              <a:ext cx="1517650" cy="825144"/>
            </a:xfrm>
            <a:prstGeom prst="rect">
              <a:avLst/>
            </a:prstGeom>
            <a:noFill/>
          </p:spPr>
          <p:txBody>
            <a:bodyPr wrap="square" lIns="0" tIns="0" rIns="0" bIns="0" rtlCol="0" anchor="t">
              <a:noAutofit/>
            </a:bodyPr>
            <a:lstStyle/>
            <a:p>
              <a:pPr algn="ctr">
                <a:lnSpc>
                  <a:spcPts val="2340"/>
                </a:lnSpc>
                <a:buNone/>
              </a:pPr>
              <a:r>
                <a:rPr lang="en-US" sz="1800" dirty="0">
                  <a:solidFill>
                    <a:srgbClr val="17203A"/>
                  </a:solidFill>
                  <a:latin typeface="Atkinson Hyperlegible Next"/>
                  <a:ea typeface="Atkinson Hyperlegible Next"/>
                  <a:cs typeface="Atkinson Hyperlegible Next"/>
                </a:rPr>
                <a:t>Score every</a:t>
              </a:r>
              <a:endParaRPr lang="en-US" sz="1800" dirty="0"/>
            </a:p>
            <a:p>
              <a:pPr algn="ctr">
                <a:lnSpc>
                  <a:spcPts val="2340"/>
                </a:lnSpc>
                <a:buNone/>
              </a:pPr>
              <a:r>
                <a:rPr lang="en-US" sz="1800" dirty="0">
                  <a:solidFill>
                    <a:srgbClr val="17203A"/>
                  </a:solidFill>
                  <a:latin typeface="Atkinson Hyperlegible Next"/>
                  <a:ea typeface="Atkinson Hyperlegible Next"/>
                  <a:cs typeface="Atkinson Hyperlegible Next"/>
                </a:rPr>
                <a:t>possible</a:t>
              </a:r>
              <a:endParaRPr lang="en-US" sz="1800" dirty="0"/>
            </a:p>
            <a:p>
              <a:pPr algn="ctr">
                <a:lnSpc>
                  <a:spcPts val="2340"/>
                </a:lnSpc>
                <a:buNone/>
              </a:pPr>
              <a:r>
                <a:rPr lang="en-US" sz="1800" dirty="0">
                  <a:solidFill>
                    <a:srgbClr val="17203A"/>
                  </a:solidFill>
                  <a:latin typeface="Atkinson Hyperlegible Next"/>
                  <a:ea typeface="Atkinson Hyperlegible Next"/>
                  <a:cs typeface="Atkinson Hyperlegible Next"/>
                </a:rPr>
                <a:t>next token</a:t>
              </a:r>
              <a:endParaRPr lang="en-US" sz="1800" dirty="0"/>
            </a:p>
          </p:txBody>
        </p:sp>
        <p:sp>
          <p:nvSpPr>
            <p:cNvPr id="23" name="llm-flow/Add.label"/>
            <p:cNvSpPr txBox="1"/>
            <p:nvPr/>
          </p:nvSpPr>
          <p:spPr>
            <a:xfrm>
              <a:off x="6013450" y="51206"/>
              <a:ext cx="1473200" cy="564744"/>
            </a:xfrm>
            <a:prstGeom prst="rect">
              <a:avLst/>
            </a:prstGeom>
            <a:noFill/>
          </p:spPr>
          <p:txBody>
            <a:bodyPr wrap="square" lIns="0" tIns="0" rIns="0" bIns="0" rtlCol="0" anchor="t">
              <a:noAutofit/>
            </a:bodyPr>
            <a:lstStyle/>
            <a:p>
              <a:pPr algn="ctr">
                <a:lnSpc>
                  <a:spcPts val="2340"/>
                </a:lnSpc>
                <a:buNone/>
              </a:pPr>
              <a:r>
                <a:rPr lang="en-US" sz="1800" dirty="0">
                  <a:solidFill>
                    <a:srgbClr val="17203A"/>
                  </a:solidFill>
                  <a:latin typeface="Atkinson Hyperlegible Next"/>
                  <a:ea typeface="Atkinson Hyperlegible Next"/>
                  <a:cs typeface="Atkinson Hyperlegible Next"/>
                </a:rPr>
                <a:t>Add one</a:t>
              </a:r>
              <a:endParaRPr lang="en-US" sz="1800" dirty="0"/>
            </a:p>
            <a:p>
              <a:pPr algn="ctr">
                <a:lnSpc>
                  <a:spcPts val="2340"/>
                </a:lnSpc>
                <a:buNone/>
              </a:pPr>
              <a:r>
                <a:rPr lang="en-US" sz="1800" dirty="0">
                  <a:solidFill>
                    <a:srgbClr val="17203A"/>
                  </a:solidFill>
                  <a:latin typeface="Atkinson Hyperlegible Next"/>
                  <a:ea typeface="Atkinson Hyperlegible Next"/>
                  <a:cs typeface="Atkinson Hyperlegible Next"/>
                </a:rPr>
                <a:t>likely token</a:t>
              </a:r>
              <a:endParaRPr lang="en-US" sz="1800" dirty="0"/>
            </a:p>
          </p:txBody>
        </p:sp>
        <p:sp>
          <p:nvSpPr>
            <p:cNvPr id="24" name="llm-flow/Done.label"/>
            <p:cNvSpPr txBox="1"/>
            <p:nvPr/>
          </p:nvSpPr>
          <p:spPr>
            <a:xfrm>
              <a:off x="7816850" y="400406"/>
              <a:ext cx="971550" cy="228244"/>
            </a:xfrm>
            <a:prstGeom prst="rect">
              <a:avLst/>
            </a:prstGeom>
            <a:noFill/>
          </p:spPr>
          <p:txBody>
            <a:bodyPr wrap="square" lIns="0" tIns="0" rIns="0" bIns="0" rtlCol="0" anchor="t">
              <a:noAutofit/>
            </a:bodyPr>
            <a:lstStyle/>
            <a:p>
              <a:pPr algn="ctr">
                <a:lnSpc>
                  <a:spcPts val="2340"/>
                </a:lnSpc>
                <a:buNone/>
              </a:pPr>
              <a:r>
                <a:rPr lang="en-US" sz="1800" dirty="0">
                  <a:solidFill>
                    <a:srgbClr val="17203A"/>
                  </a:solidFill>
                  <a:latin typeface="Atkinson Hyperlegible Next"/>
                  <a:ea typeface="Atkinson Hyperlegible Next"/>
                  <a:cs typeface="Atkinson Hyperlegible Next"/>
                </a:rPr>
                <a:t>Done?</a:t>
              </a:r>
              <a:endParaRPr lang="en-US" sz="1800" dirty="0"/>
            </a:p>
          </p:txBody>
        </p:sp>
        <p:sp>
          <p:nvSpPr>
            <p:cNvPr id="25" name="llm-flow/Answer.label"/>
            <p:cNvSpPr txBox="1"/>
            <p:nvPr/>
          </p:nvSpPr>
          <p:spPr>
            <a:xfrm>
              <a:off x="9537700" y="397662"/>
              <a:ext cx="1079500" cy="230988"/>
            </a:xfrm>
            <a:prstGeom prst="rect">
              <a:avLst/>
            </a:prstGeom>
            <a:noFill/>
          </p:spPr>
          <p:txBody>
            <a:bodyPr wrap="square" lIns="0" tIns="0" rIns="0" bIns="0" rtlCol="0" anchor="t">
              <a:noAutofit/>
            </a:bodyPr>
            <a:lstStyle/>
            <a:p>
              <a:pPr algn="ctr">
                <a:lnSpc>
                  <a:spcPts val="2340"/>
                </a:lnSpc>
                <a:buNone/>
              </a:pPr>
              <a:r>
                <a:rPr lang="en-US" sz="1800" dirty="0">
                  <a:solidFill>
                    <a:srgbClr val="17203A"/>
                  </a:solidFill>
                  <a:latin typeface="Atkinson Hyperlegible Next"/>
                  <a:ea typeface="Atkinson Hyperlegible Next"/>
                  <a:cs typeface="Atkinson Hyperlegible Next"/>
                </a:rPr>
                <a:t>Answer</a:t>
              </a:r>
              <a:endParaRPr lang="en-US" sz="1800" dirty="0"/>
            </a:p>
          </p:txBody>
        </p:sp>
        <p:sp>
          <p:nvSpPr>
            <p:cNvPr id="26" name="llm-flow/Done-&gt;Model.label"/>
            <p:cNvSpPr txBox="1"/>
            <p:nvPr/>
          </p:nvSpPr>
          <p:spPr>
            <a:xfrm>
              <a:off x="5624512" y="1236447"/>
              <a:ext cx="1165225" cy="230403"/>
            </a:xfrm>
            <a:prstGeom prst="rect">
              <a:avLst/>
            </a:prstGeom>
            <a:noFill/>
          </p:spPr>
          <p:txBody>
            <a:bodyPr wrap="square" lIns="0" tIns="0" rIns="0" bIns="0" rtlCol="0" anchor="t">
              <a:noAutofit/>
            </a:bodyPr>
            <a:lstStyle/>
            <a:p>
              <a:pPr algn="ctr">
                <a:lnSpc>
                  <a:spcPts val="2015"/>
                </a:lnSpc>
                <a:buNone/>
              </a:pPr>
              <a:r>
                <a:rPr lang="en-US" sz="1550" dirty="0">
                  <a:solidFill>
                    <a:srgbClr val="17203A"/>
                  </a:solidFill>
                  <a:latin typeface="Atkinson Hyperlegible Next"/>
                  <a:ea typeface="Atkinson Hyperlegible Next"/>
                  <a:cs typeface="Atkinson Hyperlegible Next"/>
                </a:rPr>
                <a:t>no, repeat</a:t>
              </a:r>
              <a:endParaRPr lang="en-US" sz="1550" dirty="0"/>
            </a:p>
          </p:txBody>
        </p:sp>
        <p:sp>
          <p:nvSpPr>
            <p:cNvPr id="27" name="llm-flow/Done-&gt;Answer.label"/>
            <p:cNvSpPr txBox="1"/>
            <p:nvPr/>
          </p:nvSpPr>
          <p:spPr>
            <a:xfrm>
              <a:off x="8875712" y="388506"/>
              <a:ext cx="581025" cy="227444"/>
            </a:xfrm>
            <a:prstGeom prst="rect">
              <a:avLst/>
            </a:prstGeom>
            <a:noFill/>
          </p:spPr>
          <p:txBody>
            <a:bodyPr wrap="square" lIns="0" tIns="0" rIns="0" bIns="0" rtlCol="0" anchor="t">
              <a:noAutofit/>
            </a:bodyPr>
            <a:lstStyle/>
            <a:p>
              <a:pPr algn="ctr">
                <a:lnSpc>
                  <a:spcPts val="2015"/>
                </a:lnSpc>
                <a:buNone/>
              </a:pPr>
              <a:r>
                <a:rPr lang="en-US" sz="1550" dirty="0">
                  <a:solidFill>
                    <a:srgbClr val="17203A"/>
                  </a:solidFill>
                  <a:latin typeface="Atkinson Hyperlegible Next"/>
                  <a:ea typeface="Atkinson Hyperlegible Next"/>
                  <a:cs typeface="Atkinson Hyperlegible Next"/>
                </a:rPr>
                <a:t>yes</a:t>
              </a:r>
              <a:endParaRPr lang="en-US" sz="1550" dirty="0"/>
            </a:p>
          </p:txBody>
        </p:sp>
      </p:grpSp>
      <p:sp>
        <p:nvSpPr>
          <p:cNvPr id="29" name="flow-caption"/>
          <p:cNvSpPr txBox="1"/>
          <p:nvPr/>
        </p:nvSpPr>
        <p:spPr>
          <a:xfrm>
            <a:off x="812800" y="4806950"/>
            <a:ext cx="9525000" cy="755650"/>
          </a:xfrm>
          <a:prstGeom prst="rect">
            <a:avLst/>
          </a:prstGeom>
          <a:noFill/>
        </p:spPr>
        <p:txBody>
          <a:bodyPr wrap="square" lIns="0" tIns="0" rIns="0" bIns="0" rtlCol="0" anchor="t">
            <a:noAutofit/>
          </a:bodyPr>
          <a:lstStyle/>
          <a:p>
            <a:pPr algn="l">
              <a:lnSpc>
                <a:spcPts val="2900"/>
              </a:lnSpc>
              <a:spcBef>
                <a:spcPts val="0"/>
              </a:spcBef>
              <a:spcAft>
                <a:spcPts val="0"/>
              </a:spcAft>
              <a:buNone/>
            </a:pPr>
            <a:r>
              <a:rPr lang="en-US" sz="2000" dirty="0">
                <a:solidFill>
                  <a:srgbClr val="535A70"/>
                </a:solidFill>
                <a:latin typeface="Atkinson Hyperlegible Next"/>
                <a:ea typeface="Atkinson Hyperlegible Next"/>
                <a:cs typeface="Atkinson Hyperlegible Next"/>
              </a:rPr>
              <a:t>A </a:t>
            </a:r>
            <a:r>
              <a:rPr lang="en-US" sz="2000" b="1" dirty="0">
                <a:solidFill>
                  <a:srgbClr val="535A70"/>
                </a:solidFill>
                <a:latin typeface="Atkinson Hyperlegible Next"/>
                <a:ea typeface="Atkinson Hyperlegible Next"/>
                <a:cs typeface="Atkinson Hyperlegible Next"/>
              </a:rPr>
              <a:t>token</a:t>
            </a:r>
            <a:r>
              <a:rPr lang="en-US" sz="2000" dirty="0">
                <a:solidFill>
                  <a:srgbClr val="535A70"/>
                </a:solidFill>
                <a:latin typeface="Atkinson Hyperlegible Next"/>
                <a:ea typeface="Atkinson Hyperlegible Next"/>
                <a:cs typeface="Atkinson Hyperlegible Next"/>
              </a:rPr>
              <a:t> is a chunk of text, often part of a word. The loop runs once per token, so a long answer is thousands of small predictions.</a:t>
            </a:r>
            <a:endParaRPr lang="en-US" sz="200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next-token">
    <p:bg>
      <p:bgPr>
        <a:solidFill>
          <a:srgbClr val="F6F4EE"/>
        </a:solidFill>
        <a:effectLst/>
      </p:bgPr>
    </p:bg>
    <p:spTree>
      <p:nvGrpSpPr>
        <p:cNvPr id="1" name=""/>
        <p:cNvGrpSpPr/>
        <p:nvPr/>
      </p:nvGrpSpPr>
      <p:grpSpPr>
        <a:xfrm>
          <a:off x="0" y="0"/>
          <a:ext cx="0" cy="0"/>
          <a:chOff x="0" y="0"/>
          <a:chExt cx="0" cy="0"/>
        </a:xfrm>
      </p:grpSpPr>
      <p:sp>
        <p:nvSpPr>
          <p:cNvPr id="2" name="rail"/>
          <p:cNvSpPr/>
          <p:nvPr/>
        </p:nvSpPr>
        <p:spPr>
          <a:xfrm>
            <a:off x="0" y="0"/>
            <a:ext cx="101600" cy="6858000"/>
          </a:xfrm>
          <a:prstGeom prst="rect">
            <a:avLst/>
          </a:prstGeom>
          <a:solidFill>
            <a:srgbClr val="2F55C9"/>
          </a:solidFill>
          <a:ln>
            <a:noFill/>
          </a:ln>
        </p:spPr>
      </p:sp>
      <p:sp>
        <p:nvSpPr>
          <p:cNvPr id="3" name="footer-rule"/>
          <p:cNvSpPr/>
          <p:nvPr/>
        </p:nvSpPr>
        <p:spPr>
          <a:xfrm>
            <a:off x="812800" y="5880100"/>
            <a:ext cx="10566400" cy="12700"/>
          </a:xfrm>
          <a:prstGeom prst="rect">
            <a:avLst/>
          </a:prstGeom>
          <a:solidFill>
            <a:srgbClr val="E9E5D9"/>
          </a:solidFill>
          <a:ln>
            <a:noFill/>
          </a:ln>
        </p:spPr>
      </p:sp>
      <p:sp>
        <p:nvSpPr>
          <p:cNvPr id="4" name="footer"/>
          <p:cNvSpPr txBox="1"/>
          <p:nvPr/>
        </p:nvSpPr>
        <p:spPr>
          <a:xfrm>
            <a:off x="812800" y="5924423"/>
            <a:ext cx="2968625" cy="190627"/>
          </a:xfrm>
          <a:prstGeom prst="rect">
            <a:avLst/>
          </a:prstGeom>
          <a:noFill/>
        </p:spPr>
        <p:txBody>
          <a:bodyPr wrap="square" lIns="0" tIns="0" rIns="0" bIns="0" rtlCol="0" anchor="t">
            <a:noAutofit/>
          </a:bodyPr>
          <a:lstStyle/>
          <a:p>
            <a:pPr algn="l">
              <a:lnSpc>
                <a:spcPts val="1690"/>
              </a:lnSpc>
              <a:buNone/>
            </a:pPr>
            <a:r>
              <a:rPr lang="en-US" sz="1300" dirty="0">
                <a:solidFill>
                  <a:srgbClr val="535A70"/>
                </a:solidFill>
                <a:latin typeface="Atkinson Hyperlegible Next"/>
                <a:ea typeface="Atkinson Hyperlegible Next"/>
                <a:cs typeface="Atkinson Hyperlegible Next"/>
              </a:rPr>
              <a:t>AI 101  ·  A practical introduction</a:t>
            </a:r>
            <a:endParaRPr lang="en-US" sz="1300" dirty="0"/>
          </a:p>
        </p:txBody>
      </p:sp>
      <p:sp>
        <p:nvSpPr>
          <p:cNvPr id="5" name="page-number"/>
          <p:cNvSpPr txBox="1"/>
          <p:nvPr/>
        </p:nvSpPr>
        <p:spPr>
          <a:xfrm>
            <a:off x="11023600" y="5923432"/>
            <a:ext cx="603250" cy="178918"/>
          </a:xfrm>
          <a:prstGeom prst="rect">
            <a:avLst/>
          </a:prstGeom>
          <a:noFill/>
        </p:spPr>
        <p:txBody>
          <a:bodyPr wrap="square" lIns="0" tIns="0" rIns="0" bIns="0" rtlCol="0" anchor="t">
            <a:noAutofit/>
          </a:bodyPr>
          <a:lstStyle/>
          <a:p>
            <a:pPr algn="l">
              <a:lnSpc>
                <a:spcPts val="1690"/>
              </a:lnSpc>
              <a:buNone/>
            </a:pPr>
            <a:r>
              <a:rPr lang="en-US" sz="1300" dirty="0">
                <a:solidFill>
                  <a:srgbClr val="535A70"/>
                </a:solidFill>
                <a:latin typeface="Atkinson Hyperlegible Next"/>
                <a:ea typeface="Atkinson Hyperlegible Next"/>
                <a:cs typeface="Atkinson Hyperlegible Next"/>
              </a:rPr>
              <a:t>5 / 9</a:t>
            </a:r>
            <a:endParaRPr lang="en-US" sz="1300" dirty="0"/>
          </a:p>
        </p:txBody>
      </p:sp>
      <p:sp>
        <p:nvSpPr>
          <p:cNvPr id="6" name="eyebrow"/>
          <p:cNvSpPr txBox="1"/>
          <p:nvPr/>
        </p:nvSpPr>
        <p:spPr>
          <a:xfrm>
            <a:off x="812800" y="692150"/>
            <a:ext cx="3476625" cy="387350"/>
          </a:xfrm>
          <a:prstGeom prst="rect">
            <a:avLst/>
          </a:prstGeom>
          <a:noFill/>
        </p:spPr>
        <p:txBody>
          <a:bodyPr wrap="square" lIns="0" tIns="0" rIns="0" bIns="0" rtlCol="0" anchor="t">
            <a:noAutofit/>
          </a:bodyPr>
          <a:lstStyle/>
          <a:p>
            <a:pPr algn="l">
              <a:lnSpc>
                <a:spcPts val="2900"/>
              </a:lnSpc>
              <a:spcBef>
                <a:spcPts val="0"/>
              </a:spcBef>
              <a:spcAft>
                <a:spcPts val="0"/>
              </a:spcAft>
              <a:buNone/>
            </a:pPr>
            <a:r>
              <a:rPr lang="en-US" sz="2000" spc="150" dirty="0">
                <a:solidFill>
                  <a:srgbClr val="2F55C9"/>
                </a:solidFill>
                <a:latin typeface="Atkinson Hyperlegible Next"/>
                <a:ea typeface="Atkinson Hyperlegible Next"/>
                <a:cs typeface="Atkinson Hyperlegible Next"/>
              </a:rPr>
              <a:t>ONE STEP, UP CLOSE</a:t>
            </a:r>
            <a:endParaRPr lang="en-US" sz="2000" dirty="0"/>
          </a:p>
        </p:txBody>
      </p:sp>
      <p:sp>
        <p:nvSpPr>
          <p:cNvPr id="7" name="title"/>
          <p:cNvSpPr>
            <a:spLocks noGrp="1"/>
          </p:cNvSpPr>
          <p:nvPr>
            <p:ph type="title"/>
          </p:nvPr>
        </p:nvSpPr>
        <p:spPr>
          <a:xfrm>
            <a:off x="812800" y="1019670"/>
            <a:ext cx="6826250" cy="428130"/>
          </a:xfrm>
          <a:prstGeom prst="rect">
            <a:avLst/>
          </a:prstGeom>
          <a:noFill/>
        </p:spPr>
        <p:txBody>
          <a:bodyPr wrap="square" lIns="0" tIns="0" rIns="0" bIns="0" rtlCol="0" anchor="t">
            <a:noAutofit/>
          </a:bodyPr>
          <a:lstStyle/>
          <a:p>
            <a:pPr algn="l">
              <a:lnSpc>
                <a:spcPts val="4275"/>
              </a:lnSpc>
              <a:buNone/>
            </a:pPr>
            <a:r>
              <a:rPr lang="en-US" sz="3900" b="1" dirty="0">
                <a:solidFill>
                  <a:srgbClr val="17203A"/>
                </a:solidFill>
                <a:latin typeface="Lexend"/>
                <a:ea typeface="Lexend"/>
                <a:cs typeface="Lexend"/>
              </a:rPr>
              <a:t>“The cat sat on the …”</a:t>
            </a:r>
            <a:endParaRPr lang="en-US" sz="3900" dirty="0"/>
          </a:p>
        </p:txBody>
      </p:sp>
      <p:sp>
        <p:nvSpPr>
          <p:cNvPr id="8" name="chart-intro"/>
          <p:cNvSpPr txBox="1"/>
          <p:nvPr/>
        </p:nvSpPr>
        <p:spPr>
          <a:xfrm>
            <a:off x="812800" y="2139950"/>
            <a:ext cx="3556000" cy="1492250"/>
          </a:xfrm>
          <a:prstGeom prst="rect">
            <a:avLst/>
          </a:prstGeom>
          <a:noFill/>
        </p:spPr>
        <p:txBody>
          <a:bodyPr wrap="square" lIns="0" tIns="0" rIns="0" bIns="0" rtlCol="0" anchor="t">
            <a:noAutofit/>
          </a:bodyPr>
          <a:lstStyle/>
          <a:p>
            <a:pPr algn="l">
              <a:lnSpc>
                <a:spcPts val="2900"/>
              </a:lnSpc>
              <a:spcBef>
                <a:spcPts val="0"/>
              </a:spcBef>
              <a:spcAft>
                <a:spcPts val="0"/>
              </a:spcAft>
              <a:buNone/>
            </a:pPr>
            <a:r>
              <a:rPr lang="en-US" sz="2000" dirty="0">
                <a:solidFill>
                  <a:srgbClr val="17203A"/>
                </a:solidFill>
                <a:latin typeface="Atkinson Hyperlegible Next"/>
                <a:ea typeface="Atkinson Hyperlegible Next"/>
                <a:cs typeface="Atkinson Hyperlegible Next"/>
              </a:rPr>
              <a:t>Every candidate word gets a probability. The model then picks one: usually a likely word, not always the top one.</a:t>
            </a:r>
            <a:endParaRPr lang="en-US" sz="2000" dirty="0"/>
          </a:p>
        </p:txBody>
      </p:sp>
      <p:sp>
        <p:nvSpPr>
          <p:cNvPr id="9" name="source"/>
          <p:cNvSpPr txBox="1"/>
          <p:nvPr/>
        </p:nvSpPr>
        <p:spPr>
          <a:xfrm>
            <a:off x="812800" y="4826000"/>
            <a:ext cx="3556000" cy="533400"/>
          </a:xfrm>
          <a:prstGeom prst="rect">
            <a:avLst/>
          </a:prstGeom>
          <a:noFill/>
        </p:spPr>
        <p:txBody>
          <a:bodyPr wrap="square" lIns="0" tIns="0" rIns="0" bIns="0" rtlCol="0" anchor="t">
            <a:noAutofit/>
          </a:bodyPr>
          <a:lstStyle/>
          <a:p>
            <a:pPr algn="l">
              <a:lnSpc>
                <a:spcPts val="2080"/>
              </a:lnSpc>
              <a:spcBef>
                <a:spcPts val="0"/>
              </a:spcBef>
              <a:spcAft>
                <a:spcPts val="0"/>
              </a:spcAft>
              <a:buNone/>
            </a:pPr>
            <a:r>
              <a:rPr lang="en-US" sz="1600" i="1" dirty="0">
                <a:solidFill>
                  <a:srgbClr val="535A70"/>
                </a:solidFill>
                <a:latin typeface="Atkinson Hyperlegible Next"/>
                <a:ea typeface="Atkinson Hyperlegible Next"/>
                <a:cs typeface="Atkinson Hyperlegible Next"/>
              </a:rPr>
              <a:t>Illustrative numbers for teaching, not output from a real model.</a:t>
            </a:r>
            <a:endParaRPr lang="en-US" sz="1600" dirty="0"/>
          </a:p>
        </p:txBody>
      </p:sp>
      <p:graphicFrame>
        <p:nvGraphicFramePr>
          <p:cNvPr id="10" name="probs"/>
          <p:cNvGraphicFramePr>
            <a:graphicFrameLocks noGrp="1"/>
          </p:cNvGraphicFramePr>
          <p:nvPr/>
        </p:nvGraphicFramePr>
        <p:xfrm>
          <a:off x="5016500" y="2032000"/>
          <a:ext cx="6362700" cy="3683000"/>
        </p:xfrm>
        <a:graphic>
          <a:graphicData uri="http://schemas.openxmlformats.org/drawingml/2006/chart">
            <c:chart xmlns:c="http://schemas.openxmlformats.org/drawingml/2006/chart" r:id="rIdChart1"/>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trengths">
    <p:bg>
      <p:bgPr>
        <a:solidFill>
          <a:srgbClr val="F6F4EE"/>
        </a:solidFill>
        <a:effectLst/>
      </p:bgPr>
    </p:bg>
    <p:spTree>
      <p:nvGrpSpPr>
        <p:cNvPr id="1" name=""/>
        <p:cNvGrpSpPr/>
        <p:nvPr/>
      </p:nvGrpSpPr>
      <p:grpSpPr>
        <a:xfrm>
          <a:off x="0" y="0"/>
          <a:ext cx="0" cy="0"/>
          <a:chOff x="0" y="0"/>
          <a:chExt cx="0" cy="0"/>
        </a:xfrm>
      </p:grpSpPr>
      <p:sp>
        <p:nvSpPr>
          <p:cNvPr id="2" name="rail"/>
          <p:cNvSpPr/>
          <p:nvPr/>
        </p:nvSpPr>
        <p:spPr>
          <a:xfrm>
            <a:off x="0" y="0"/>
            <a:ext cx="101600" cy="6858000"/>
          </a:xfrm>
          <a:prstGeom prst="rect">
            <a:avLst/>
          </a:prstGeom>
          <a:solidFill>
            <a:srgbClr val="2F55C9"/>
          </a:solidFill>
          <a:ln>
            <a:noFill/>
          </a:ln>
        </p:spPr>
      </p:sp>
      <p:sp>
        <p:nvSpPr>
          <p:cNvPr id="3" name="footer-rule"/>
          <p:cNvSpPr/>
          <p:nvPr/>
        </p:nvSpPr>
        <p:spPr>
          <a:xfrm>
            <a:off x="812800" y="5880100"/>
            <a:ext cx="10566400" cy="12700"/>
          </a:xfrm>
          <a:prstGeom prst="rect">
            <a:avLst/>
          </a:prstGeom>
          <a:solidFill>
            <a:srgbClr val="E9E5D9"/>
          </a:solidFill>
          <a:ln>
            <a:noFill/>
          </a:ln>
        </p:spPr>
      </p:sp>
      <p:sp>
        <p:nvSpPr>
          <p:cNvPr id="4" name="footer"/>
          <p:cNvSpPr txBox="1"/>
          <p:nvPr/>
        </p:nvSpPr>
        <p:spPr>
          <a:xfrm>
            <a:off x="812800" y="5924423"/>
            <a:ext cx="2968625" cy="190627"/>
          </a:xfrm>
          <a:prstGeom prst="rect">
            <a:avLst/>
          </a:prstGeom>
          <a:noFill/>
        </p:spPr>
        <p:txBody>
          <a:bodyPr wrap="square" lIns="0" tIns="0" rIns="0" bIns="0" rtlCol="0" anchor="t">
            <a:noAutofit/>
          </a:bodyPr>
          <a:lstStyle/>
          <a:p>
            <a:pPr algn="l">
              <a:lnSpc>
                <a:spcPts val="1690"/>
              </a:lnSpc>
              <a:buNone/>
            </a:pPr>
            <a:r>
              <a:rPr lang="en-US" sz="1300" dirty="0">
                <a:solidFill>
                  <a:srgbClr val="535A70"/>
                </a:solidFill>
                <a:latin typeface="Atkinson Hyperlegible Next"/>
                <a:ea typeface="Atkinson Hyperlegible Next"/>
                <a:cs typeface="Atkinson Hyperlegible Next"/>
              </a:rPr>
              <a:t>AI 101  ·  A practical introduction</a:t>
            </a:r>
            <a:endParaRPr lang="en-US" sz="1300" dirty="0"/>
          </a:p>
        </p:txBody>
      </p:sp>
      <p:sp>
        <p:nvSpPr>
          <p:cNvPr id="5" name="page-number"/>
          <p:cNvSpPr txBox="1"/>
          <p:nvPr/>
        </p:nvSpPr>
        <p:spPr>
          <a:xfrm>
            <a:off x="11023600" y="5923432"/>
            <a:ext cx="603250" cy="178918"/>
          </a:xfrm>
          <a:prstGeom prst="rect">
            <a:avLst/>
          </a:prstGeom>
          <a:noFill/>
        </p:spPr>
        <p:txBody>
          <a:bodyPr wrap="square" lIns="0" tIns="0" rIns="0" bIns="0" rtlCol="0" anchor="t">
            <a:noAutofit/>
          </a:bodyPr>
          <a:lstStyle/>
          <a:p>
            <a:pPr algn="l">
              <a:lnSpc>
                <a:spcPts val="1690"/>
              </a:lnSpc>
              <a:buNone/>
            </a:pPr>
            <a:r>
              <a:rPr lang="en-US" sz="1300" dirty="0">
                <a:solidFill>
                  <a:srgbClr val="535A70"/>
                </a:solidFill>
                <a:latin typeface="Atkinson Hyperlegible Next"/>
                <a:ea typeface="Atkinson Hyperlegible Next"/>
                <a:cs typeface="Atkinson Hyperlegible Next"/>
              </a:rPr>
              <a:t>6 / 9</a:t>
            </a:r>
            <a:endParaRPr lang="en-US" sz="1300" dirty="0"/>
          </a:p>
        </p:txBody>
      </p:sp>
      <p:sp>
        <p:nvSpPr>
          <p:cNvPr id="6" name="eyebrow"/>
          <p:cNvSpPr txBox="1"/>
          <p:nvPr/>
        </p:nvSpPr>
        <p:spPr>
          <a:xfrm>
            <a:off x="812800" y="692150"/>
            <a:ext cx="2778125" cy="387350"/>
          </a:xfrm>
          <a:prstGeom prst="rect">
            <a:avLst/>
          </a:prstGeom>
          <a:noFill/>
        </p:spPr>
        <p:txBody>
          <a:bodyPr wrap="square" lIns="0" tIns="0" rIns="0" bIns="0" rtlCol="0" anchor="t">
            <a:noAutofit/>
          </a:bodyPr>
          <a:lstStyle/>
          <a:p>
            <a:pPr algn="l">
              <a:lnSpc>
                <a:spcPts val="2900"/>
              </a:lnSpc>
              <a:spcBef>
                <a:spcPts val="0"/>
              </a:spcBef>
              <a:spcAft>
                <a:spcPts val="0"/>
              </a:spcAft>
              <a:buNone/>
            </a:pPr>
            <a:r>
              <a:rPr lang="en-US" sz="2000" spc="150" dirty="0">
                <a:solidFill>
                  <a:srgbClr val="2F55C9"/>
                </a:solidFill>
                <a:latin typeface="Atkinson Hyperlegible Next"/>
                <a:ea typeface="Atkinson Hyperlegible Next"/>
                <a:cs typeface="Atkinson Hyperlegible Next"/>
              </a:rPr>
              <a:t>KNOW THE TOOL</a:t>
            </a:r>
            <a:endParaRPr lang="en-US" sz="2000" dirty="0"/>
          </a:p>
        </p:txBody>
      </p:sp>
      <p:sp>
        <p:nvSpPr>
          <p:cNvPr id="7" name="title"/>
          <p:cNvSpPr>
            <a:spLocks noGrp="1"/>
          </p:cNvSpPr>
          <p:nvPr>
            <p:ph type="title"/>
          </p:nvPr>
        </p:nvSpPr>
        <p:spPr>
          <a:xfrm>
            <a:off x="812800" y="1039978"/>
            <a:ext cx="6262688" cy="534822"/>
          </a:xfrm>
          <a:prstGeom prst="rect">
            <a:avLst/>
          </a:prstGeom>
          <a:noFill/>
        </p:spPr>
        <p:txBody>
          <a:bodyPr wrap="square" lIns="0" tIns="0" rIns="0" bIns="0" rtlCol="0" anchor="t">
            <a:noAutofit/>
          </a:bodyPr>
          <a:lstStyle/>
          <a:p>
            <a:pPr algn="l">
              <a:lnSpc>
                <a:spcPts val="4275"/>
              </a:lnSpc>
              <a:buNone/>
            </a:pPr>
            <a:r>
              <a:rPr lang="en-US" sz="3900" b="1" dirty="0">
                <a:solidFill>
                  <a:srgbClr val="17203A"/>
                </a:solidFill>
                <a:latin typeface="Lexend"/>
                <a:ea typeface="Lexend"/>
                <a:cs typeface="Lexend"/>
              </a:rPr>
              <a:t>Strengths and limits</a:t>
            </a:r>
            <a:endParaRPr lang="en-US" sz="3900" dirty="0"/>
          </a:p>
        </p:txBody>
      </p:sp>
      <p:sp>
        <p:nvSpPr>
          <p:cNvPr id="8" name="good-card"/>
          <p:cNvSpPr/>
          <p:nvPr/>
        </p:nvSpPr>
        <p:spPr>
          <a:xfrm>
            <a:off x="812800" y="2095500"/>
            <a:ext cx="5130800" cy="3048000"/>
          </a:xfrm>
          <a:prstGeom prst="rect">
            <a:avLst/>
          </a:prstGeom>
          <a:solidFill>
            <a:srgbClr val="E9E5D9"/>
          </a:solidFill>
          <a:ln>
            <a:noFill/>
          </a:ln>
        </p:spPr>
      </p:sp>
      <p:sp>
        <p:nvSpPr>
          <p:cNvPr id="9" name="good-bar"/>
          <p:cNvSpPr/>
          <p:nvPr/>
        </p:nvSpPr>
        <p:spPr>
          <a:xfrm>
            <a:off x="812800" y="2095500"/>
            <a:ext cx="5130800" cy="76200"/>
          </a:xfrm>
          <a:prstGeom prst="rect">
            <a:avLst/>
          </a:prstGeom>
          <a:solidFill>
            <a:srgbClr val="0F7D73"/>
          </a:solidFill>
          <a:ln>
            <a:noFill/>
          </a:ln>
        </p:spPr>
      </p:sp>
      <p:sp>
        <p:nvSpPr>
          <p:cNvPr id="10" name="good-list"/>
          <p:cNvSpPr txBox="1"/>
          <p:nvPr/>
        </p:nvSpPr>
        <p:spPr>
          <a:xfrm>
            <a:off x="1168400" y="2432050"/>
            <a:ext cx="4419600" cy="2609850"/>
          </a:xfrm>
          <a:prstGeom prst="rect">
            <a:avLst/>
          </a:prstGeom>
          <a:noFill/>
        </p:spPr>
        <p:txBody>
          <a:bodyPr wrap="square" lIns="0" tIns="0" rIns="0" bIns="0" rtlCol="0" anchor="t">
            <a:noAutofit/>
          </a:bodyPr>
          <a:lstStyle/>
          <a:p>
            <a:pPr algn="l">
              <a:lnSpc>
                <a:spcPts val="2900"/>
              </a:lnSpc>
              <a:spcBef>
                <a:spcPts val="0"/>
              </a:spcBef>
              <a:spcAft>
                <a:spcPts val="500"/>
              </a:spcAft>
              <a:buNone/>
            </a:pPr>
            <a:r>
              <a:rPr lang="en-US" sz="2000" b="1" dirty="0">
                <a:solidFill>
                  <a:srgbClr val="17203A"/>
                </a:solidFill>
                <a:latin typeface="Atkinson Hyperlegible Next"/>
                <a:ea typeface="Atkinson Hyperlegible Next"/>
                <a:cs typeface="Atkinson Hyperlegible Next"/>
              </a:rPr>
              <a:t>Good at</a:t>
            </a:r>
            <a:endParaRPr lang="en-US" sz="2000" dirty="0"/>
          </a:p>
          <a:p>
            <a:pPr algn="l" marL="355600" indent="-355600" lvl="0">
              <a:lnSpc>
                <a:spcPts val="2900"/>
              </a:lnSpc>
              <a:spcBef>
                <a:spcPts val="0"/>
              </a:spcBef>
              <a:spcAft>
                <a:spcPts val="500"/>
              </a:spcAft>
              <a:buFont typeface="Arial"/>
              <a:buChar char="•"/>
            </a:pPr>
            <a:r>
              <a:rPr lang="en-US" sz="2000" dirty="0">
                <a:solidFill>
                  <a:srgbClr val="17203A"/>
                </a:solidFill>
                <a:latin typeface="Atkinson Hyperlegible Next"/>
                <a:ea typeface="Atkinson Hyperlegible Next"/>
                <a:cs typeface="Atkinson Hyperlegible Next"/>
              </a:rPr>
              <a:t>Drafting and rewriting</a:t>
            </a:r>
            <a:endParaRPr lang="en-US" sz="2000" dirty="0"/>
          </a:p>
          <a:p>
            <a:pPr algn="l" marL="355600" indent="-355600" lvl="0">
              <a:lnSpc>
                <a:spcPts val="2900"/>
              </a:lnSpc>
              <a:spcBef>
                <a:spcPts val="0"/>
              </a:spcBef>
              <a:spcAft>
                <a:spcPts val="500"/>
              </a:spcAft>
              <a:buFont typeface="Arial"/>
              <a:buChar char="•"/>
            </a:pPr>
            <a:r>
              <a:rPr lang="en-US" sz="2000" dirty="0">
                <a:solidFill>
                  <a:srgbClr val="17203A"/>
                </a:solidFill>
                <a:latin typeface="Atkinson Hyperlegible Next"/>
                <a:ea typeface="Atkinson Hyperlegible Next"/>
                <a:cs typeface="Atkinson Hyperlegible Next"/>
              </a:rPr>
              <a:t>Summarising long documents</a:t>
            </a:r>
            <a:endParaRPr lang="en-US" sz="2000" dirty="0"/>
          </a:p>
          <a:p>
            <a:pPr algn="l" marL="355600" indent="-355600" lvl="0">
              <a:lnSpc>
                <a:spcPts val="2900"/>
              </a:lnSpc>
              <a:spcBef>
                <a:spcPts val="0"/>
              </a:spcBef>
              <a:spcAft>
                <a:spcPts val="500"/>
              </a:spcAft>
              <a:buFont typeface="Arial"/>
              <a:buChar char="•"/>
            </a:pPr>
            <a:r>
              <a:rPr lang="en-US" sz="2000" dirty="0">
                <a:solidFill>
                  <a:srgbClr val="17203A"/>
                </a:solidFill>
                <a:latin typeface="Atkinson Hyperlegible Next"/>
                <a:ea typeface="Atkinson Hyperlegible Next"/>
                <a:cs typeface="Atkinson Hyperlegible Next"/>
              </a:rPr>
              <a:t>Explaining at your level</a:t>
            </a:r>
            <a:endParaRPr lang="en-US" sz="2000" dirty="0"/>
          </a:p>
          <a:p>
            <a:pPr algn="l" marL="355600" indent="-355600" lvl="0">
              <a:lnSpc>
                <a:spcPts val="2900"/>
              </a:lnSpc>
              <a:spcBef>
                <a:spcPts val="0"/>
              </a:spcBef>
              <a:spcAft>
                <a:spcPts val="500"/>
              </a:spcAft>
              <a:buFont typeface="Arial"/>
              <a:buChar char="•"/>
            </a:pPr>
            <a:r>
              <a:rPr lang="en-US" sz="2000" dirty="0">
                <a:solidFill>
                  <a:srgbClr val="17203A"/>
                </a:solidFill>
                <a:latin typeface="Atkinson Hyperlegible Next"/>
                <a:ea typeface="Atkinson Hyperlegible Next"/>
                <a:cs typeface="Atkinson Hyperlegible Next"/>
              </a:rPr>
              <a:t>Brainstorming options</a:t>
            </a:r>
            <a:endParaRPr lang="en-US" sz="2000" dirty="0"/>
          </a:p>
          <a:p>
            <a:pPr algn="l" marL="355600" indent="-355600" lvl="0">
              <a:lnSpc>
                <a:spcPts val="2900"/>
              </a:lnSpc>
              <a:spcBef>
                <a:spcPts val="0"/>
              </a:spcBef>
              <a:spcAft>
                <a:spcPts val="500"/>
              </a:spcAft>
              <a:buFont typeface="Arial"/>
              <a:buChar char="•"/>
            </a:pPr>
            <a:r>
              <a:rPr lang="en-US" sz="2000" dirty="0">
                <a:solidFill>
                  <a:srgbClr val="17203A"/>
                </a:solidFill>
                <a:latin typeface="Atkinson Hyperlegible Next"/>
                <a:ea typeface="Atkinson Hyperlegible Next"/>
                <a:cs typeface="Atkinson Hyperlegible Next"/>
              </a:rPr>
              <a:t>Writing and fixing code</a:t>
            </a:r>
            <a:endParaRPr lang="en-US" sz="2000" dirty="0"/>
          </a:p>
        </p:txBody>
      </p:sp>
      <p:sp>
        <p:nvSpPr>
          <p:cNvPr id="11" name="weak-card"/>
          <p:cNvSpPr/>
          <p:nvPr/>
        </p:nvSpPr>
        <p:spPr>
          <a:xfrm>
            <a:off x="6248400" y="2095500"/>
            <a:ext cx="5130800" cy="3048000"/>
          </a:xfrm>
          <a:prstGeom prst="rect">
            <a:avLst/>
          </a:prstGeom>
          <a:solidFill>
            <a:srgbClr val="E9E5D9"/>
          </a:solidFill>
          <a:ln>
            <a:noFill/>
          </a:ln>
        </p:spPr>
      </p:sp>
      <p:sp>
        <p:nvSpPr>
          <p:cNvPr id="12" name="weak-bar"/>
          <p:cNvSpPr/>
          <p:nvPr/>
        </p:nvSpPr>
        <p:spPr>
          <a:xfrm>
            <a:off x="6248400" y="2095500"/>
            <a:ext cx="5130800" cy="76200"/>
          </a:xfrm>
          <a:prstGeom prst="rect">
            <a:avLst/>
          </a:prstGeom>
          <a:solidFill>
            <a:srgbClr val="C2415B"/>
          </a:solidFill>
          <a:ln>
            <a:noFill/>
          </a:ln>
        </p:spPr>
      </p:sp>
      <p:sp>
        <p:nvSpPr>
          <p:cNvPr id="13" name="weak-list"/>
          <p:cNvSpPr txBox="1"/>
          <p:nvPr/>
        </p:nvSpPr>
        <p:spPr>
          <a:xfrm>
            <a:off x="6604000" y="2432050"/>
            <a:ext cx="4419600" cy="2609850"/>
          </a:xfrm>
          <a:prstGeom prst="rect">
            <a:avLst/>
          </a:prstGeom>
          <a:noFill/>
        </p:spPr>
        <p:txBody>
          <a:bodyPr wrap="square" lIns="0" tIns="0" rIns="0" bIns="0" rtlCol="0" anchor="t">
            <a:noAutofit/>
          </a:bodyPr>
          <a:lstStyle/>
          <a:p>
            <a:pPr algn="l">
              <a:lnSpc>
                <a:spcPts val="2900"/>
              </a:lnSpc>
              <a:spcBef>
                <a:spcPts val="0"/>
              </a:spcBef>
              <a:spcAft>
                <a:spcPts val="500"/>
              </a:spcAft>
              <a:buNone/>
            </a:pPr>
            <a:r>
              <a:rPr lang="en-US" sz="2000" b="1" dirty="0">
                <a:solidFill>
                  <a:srgbClr val="17203A"/>
                </a:solidFill>
                <a:latin typeface="Atkinson Hyperlegible Next"/>
                <a:ea typeface="Atkinson Hyperlegible Next"/>
                <a:cs typeface="Atkinson Hyperlegible Next"/>
              </a:rPr>
              <a:t>Watch out for</a:t>
            </a:r>
            <a:endParaRPr lang="en-US" sz="2000" dirty="0"/>
          </a:p>
          <a:p>
            <a:pPr algn="l" marL="355600" indent="-355600" lvl="0">
              <a:lnSpc>
                <a:spcPts val="2900"/>
              </a:lnSpc>
              <a:spcBef>
                <a:spcPts val="0"/>
              </a:spcBef>
              <a:spcAft>
                <a:spcPts val="500"/>
              </a:spcAft>
              <a:buFont typeface="Arial"/>
              <a:buChar char="•"/>
            </a:pPr>
            <a:r>
              <a:rPr lang="en-US" sz="2000" dirty="0">
                <a:solidFill>
                  <a:srgbClr val="17203A"/>
                </a:solidFill>
                <a:latin typeface="Atkinson Hyperlegible Next"/>
                <a:ea typeface="Atkinson Hyperlegible Next"/>
                <a:cs typeface="Atkinson Hyperlegible Next"/>
              </a:rPr>
              <a:t>Confident mistakes</a:t>
            </a:r>
            <a:endParaRPr lang="en-US" sz="2000" dirty="0"/>
          </a:p>
          <a:p>
            <a:pPr algn="l" marL="355600" indent="-355600" lvl="0">
              <a:lnSpc>
                <a:spcPts val="2900"/>
              </a:lnSpc>
              <a:spcBef>
                <a:spcPts val="0"/>
              </a:spcBef>
              <a:spcAft>
                <a:spcPts val="500"/>
              </a:spcAft>
              <a:buFont typeface="Arial"/>
              <a:buChar char="•"/>
            </a:pPr>
            <a:r>
              <a:rPr lang="en-US" sz="2000" dirty="0">
                <a:solidFill>
                  <a:srgbClr val="17203A"/>
                </a:solidFill>
                <a:latin typeface="Atkinson Hyperlegible Next"/>
                <a:ea typeface="Atkinson Hyperlegible Next"/>
                <a:cs typeface="Atkinson Hyperlegible Next"/>
              </a:rPr>
              <a:t>Out-of-date knowledge</a:t>
            </a:r>
            <a:endParaRPr lang="en-US" sz="2000" dirty="0"/>
          </a:p>
          <a:p>
            <a:pPr algn="l" marL="355600" indent="-355600" lvl="0">
              <a:lnSpc>
                <a:spcPts val="2900"/>
              </a:lnSpc>
              <a:spcBef>
                <a:spcPts val="0"/>
              </a:spcBef>
              <a:spcAft>
                <a:spcPts val="500"/>
              </a:spcAft>
              <a:buFont typeface="Arial"/>
              <a:buChar char="•"/>
            </a:pPr>
            <a:r>
              <a:rPr lang="en-US" sz="2000" dirty="0">
                <a:solidFill>
                  <a:srgbClr val="17203A"/>
                </a:solidFill>
                <a:latin typeface="Atkinson Hyperlegible Next"/>
                <a:ea typeface="Atkinson Hyperlegible Next"/>
                <a:cs typeface="Atkinson Hyperlegible Next"/>
              </a:rPr>
              <a:t>Arithmetic without tools</a:t>
            </a:r>
            <a:endParaRPr lang="en-US" sz="2000" dirty="0"/>
          </a:p>
          <a:p>
            <a:pPr algn="l" marL="355600" indent="-355600" lvl="0">
              <a:lnSpc>
                <a:spcPts val="2900"/>
              </a:lnSpc>
              <a:spcBef>
                <a:spcPts val="0"/>
              </a:spcBef>
              <a:spcAft>
                <a:spcPts val="500"/>
              </a:spcAft>
              <a:buFont typeface="Arial"/>
              <a:buChar char="•"/>
            </a:pPr>
            <a:r>
              <a:rPr lang="en-US" sz="2000" dirty="0">
                <a:solidFill>
                  <a:srgbClr val="17203A"/>
                </a:solidFill>
                <a:latin typeface="Atkinson Hyperlegible Next"/>
                <a:ea typeface="Atkinson Hyperlegible Next"/>
                <a:cs typeface="Atkinson Hyperlegible Next"/>
              </a:rPr>
              <a:t>Bias learned from data</a:t>
            </a:r>
            <a:endParaRPr lang="en-US" sz="2000" dirty="0"/>
          </a:p>
          <a:p>
            <a:pPr algn="l" marL="355600" indent="-355600" lvl="0">
              <a:lnSpc>
                <a:spcPts val="2900"/>
              </a:lnSpc>
              <a:spcBef>
                <a:spcPts val="0"/>
              </a:spcBef>
              <a:spcAft>
                <a:spcPts val="500"/>
              </a:spcAft>
              <a:buFont typeface="Arial"/>
              <a:buChar char="•"/>
            </a:pPr>
            <a:r>
              <a:rPr lang="en-US" sz="2000" dirty="0">
                <a:solidFill>
                  <a:srgbClr val="17203A"/>
                </a:solidFill>
                <a:latin typeface="Atkinson Hyperlegible Next"/>
                <a:ea typeface="Atkinson Hyperlegible Next"/>
                <a:cs typeface="Atkinson Hyperlegible Next"/>
              </a:rPr>
              <a:t>Facts it cannot check</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quote">
    <p:bg>
      <p:bgPr>
        <a:solidFill>
          <a:srgbClr val="17203A"/>
        </a:solidFill>
        <a:effectLst/>
      </p:bgPr>
    </p:bg>
    <p:spTree>
      <p:nvGrpSpPr>
        <p:cNvPr id="1" name=""/>
        <p:cNvGrpSpPr/>
        <p:nvPr/>
      </p:nvGrpSpPr>
      <p:grpSpPr>
        <a:xfrm>
          <a:off x="0" y="0"/>
          <a:ext cx="0" cy="0"/>
          <a:chOff x="0" y="0"/>
          <a:chExt cx="0" cy="0"/>
        </a:xfrm>
      </p:grpSpPr>
      <p:sp>
        <p:nvSpPr>
          <p:cNvPr id="2" name="rail"/>
          <p:cNvSpPr/>
          <p:nvPr/>
        </p:nvSpPr>
        <p:spPr>
          <a:xfrm>
            <a:off x="0" y="0"/>
            <a:ext cx="101600" cy="6858000"/>
          </a:xfrm>
          <a:prstGeom prst="rect">
            <a:avLst/>
          </a:prstGeom>
          <a:solidFill>
            <a:srgbClr val="D9822B"/>
          </a:solidFill>
          <a:ln>
            <a:noFill/>
          </a:ln>
        </p:spPr>
      </p:sp>
      <p:sp>
        <p:nvSpPr>
          <p:cNvPr id="3" name="page-number"/>
          <p:cNvSpPr txBox="1"/>
          <p:nvPr/>
        </p:nvSpPr>
        <p:spPr>
          <a:xfrm>
            <a:off x="11036300" y="5923432"/>
            <a:ext cx="590550" cy="178918"/>
          </a:xfrm>
          <a:prstGeom prst="rect">
            <a:avLst/>
          </a:prstGeom>
          <a:noFill/>
        </p:spPr>
        <p:txBody>
          <a:bodyPr wrap="square" lIns="0" tIns="0" rIns="0" bIns="0" rtlCol="0" anchor="t">
            <a:noAutofit/>
          </a:bodyPr>
          <a:lstStyle/>
          <a:p>
            <a:pPr algn="l">
              <a:lnSpc>
                <a:spcPts val="1690"/>
              </a:lnSpc>
              <a:buNone/>
            </a:pPr>
            <a:r>
              <a:rPr lang="en-US" sz="1300" dirty="0">
                <a:solidFill>
                  <a:srgbClr val="AAB2C8"/>
                </a:solidFill>
                <a:latin typeface="Atkinson Hyperlegible Next"/>
                <a:ea typeface="Atkinson Hyperlegible Next"/>
                <a:cs typeface="Atkinson Hyperlegible Next"/>
              </a:rPr>
              <a:t>7 / 9</a:t>
            </a:r>
            <a:endParaRPr lang="en-US" sz="1300" dirty="0"/>
          </a:p>
        </p:txBody>
      </p:sp>
      <p:sp>
        <p:nvSpPr>
          <p:cNvPr id="4" name="quote-mark"/>
          <p:cNvSpPr txBox="1"/>
          <p:nvPr/>
        </p:nvSpPr>
        <p:spPr>
          <a:xfrm>
            <a:off x="736600" y="696595"/>
            <a:ext cx="3790950" cy="592455"/>
          </a:xfrm>
          <a:prstGeom prst="rect">
            <a:avLst/>
          </a:prstGeom>
          <a:noFill/>
        </p:spPr>
        <p:txBody>
          <a:bodyPr wrap="square" lIns="0" tIns="0" rIns="0" bIns="0" rtlCol="0" anchor="t">
            <a:noAutofit/>
          </a:bodyPr>
          <a:lstStyle/>
          <a:p>
            <a:pPr algn="l">
              <a:lnSpc>
                <a:spcPts val="15000"/>
              </a:lnSpc>
              <a:buNone/>
            </a:pPr>
            <a:r>
              <a:rPr lang="en-US" sz="15000" b="1" dirty="0">
                <a:solidFill>
                  <a:srgbClr val="D9822B"/>
                </a:solidFill>
                <a:latin typeface="Lexend"/>
                <a:ea typeface="Lexend"/>
                <a:cs typeface="Lexend"/>
              </a:rPr>
              <a:t>“</a:t>
            </a:r>
            <a:endParaRPr lang="en-US" sz="15000" dirty="0"/>
          </a:p>
        </p:txBody>
      </p:sp>
      <p:sp>
        <p:nvSpPr>
          <p:cNvPr id="5" name="title"/>
          <p:cNvSpPr>
            <a:spLocks noGrp="1"/>
          </p:cNvSpPr>
          <p:nvPr>
            <p:ph type="title"/>
          </p:nvPr>
        </p:nvSpPr>
        <p:spPr>
          <a:xfrm>
            <a:off x="812800" y="2222500"/>
            <a:ext cx="9398000" cy="1860550"/>
          </a:xfrm>
          <a:prstGeom prst="rect">
            <a:avLst/>
          </a:prstGeom>
          <a:noFill/>
        </p:spPr>
        <p:txBody>
          <a:bodyPr wrap="square" lIns="0" tIns="0" rIns="0" bIns="0" rtlCol="0" anchor="t">
            <a:noAutofit/>
          </a:bodyPr>
          <a:lstStyle/>
          <a:p>
            <a:pPr algn="l">
              <a:lnSpc>
                <a:spcPts val="4875"/>
              </a:lnSpc>
              <a:spcBef>
                <a:spcPts val="0"/>
              </a:spcBef>
              <a:spcAft>
                <a:spcPts val="0"/>
              </a:spcAft>
              <a:buNone/>
            </a:pPr>
            <a:r>
              <a:rPr lang="en-US" sz="3900" dirty="0">
                <a:solidFill>
                  <a:srgbClr val="FFFFFF"/>
                </a:solidFill>
                <a:latin typeface="Lexend"/>
                <a:ea typeface="Lexend"/>
                <a:cs typeface="Lexend"/>
              </a:rPr>
              <a:t>We can only see a short distance ahead, but we can see plenty there that needs to be done.</a:t>
            </a:r>
            <a:endParaRPr lang="en-US" sz="3900" dirty="0"/>
          </a:p>
        </p:txBody>
      </p:sp>
      <p:sp>
        <p:nvSpPr>
          <p:cNvPr id="6" name="attribution"/>
          <p:cNvSpPr txBox="1"/>
          <p:nvPr/>
        </p:nvSpPr>
        <p:spPr>
          <a:xfrm>
            <a:off x="812800" y="4719320"/>
            <a:ext cx="8278812" cy="341630"/>
          </a:xfrm>
          <a:prstGeom prst="rect">
            <a:avLst/>
          </a:prstGeom>
          <a:noFill/>
        </p:spPr>
        <p:txBody>
          <a:bodyPr wrap="square" lIns="0" tIns="0" rIns="0" bIns="0" rtlCol="0" anchor="t">
            <a:noAutofit/>
          </a:bodyPr>
          <a:lstStyle/>
          <a:p>
            <a:pPr algn="l">
              <a:lnSpc>
                <a:spcPts val="2900"/>
              </a:lnSpc>
              <a:buNone/>
            </a:pPr>
            <a:r>
              <a:rPr lang="en-US" sz="2000" dirty="0">
                <a:solidFill>
                  <a:srgbClr val="AAB2C8"/>
                </a:solidFill>
                <a:latin typeface="Atkinson Hyperlegible Next"/>
                <a:ea typeface="Atkinson Hyperlegible Next"/>
                <a:cs typeface="Atkinson Hyperlegible Next"/>
              </a:rPr>
              <a:t>Alan Turing, “Computing Machinery and Intelligence”, 1950</a:t>
            </a:r>
            <a:endParaRPr lang="en-US" sz="200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prompting">
    <p:bg>
      <p:bgPr>
        <a:solidFill>
          <a:srgbClr val="F6F4EE"/>
        </a:solidFill>
        <a:effectLst/>
      </p:bgPr>
    </p:bg>
    <p:spTree>
      <p:nvGrpSpPr>
        <p:cNvPr id="1" name=""/>
        <p:cNvGrpSpPr/>
        <p:nvPr/>
      </p:nvGrpSpPr>
      <p:grpSpPr>
        <a:xfrm>
          <a:off x="0" y="0"/>
          <a:ext cx="0" cy="0"/>
          <a:chOff x="0" y="0"/>
          <a:chExt cx="0" cy="0"/>
        </a:xfrm>
      </p:grpSpPr>
      <p:sp>
        <p:nvSpPr>
          <p:cNvPr id="2" name="rail"/>
          <p:cNvSpPr/>
          <p:nvPr/>
        </p:nvSpPr>
        <p:spPr>
          <a:xfrm>
            <a:off x="0" y="0"/>
            <a:ext cx="101600" cy="6858000"/>
          </a:xfrm>
          <a:prstGeom prst="rect">
            <a:avLst/>
          </a:prstGeom>
          <a:solidFill>
            <a:srgbClr val="2F55C9"/>
          </a:solidFill>
          <a:ln>
            <a:noFill/>
          </a:ln>
        </p:spPr>
      </p:sp>
      <p:sp>
        <p:nvSpPr>
          <p:cNvPr id="3" name="footer-rule"/>
          <p:cNvSpPr/>
          <p:nvPr/>
        </p:nvSpPr>
        <p:spPr>
          <a:xfrm>
            <a:off x="812800" y="5880100"/>
            <a:ext cx="10566400" cy="12700"/>
          </a:xfrm>
          <a:prstGeom prst="rect">
            <a:avLst/>
          </a:prstGeom>
          <a:solidFill>
            <a:srgbClr val="E9E5D9"/>
          </a:solidFill>
          <a:ln>
            <a:noFill/>
          </a:ln>
        </p:spPr>
      </p:sp>
      <p:sp>
        <p:nvSpPr>
          <p:cNvPr id="4" name="footer"/>
          <p:cNvSpPr txBox="1"/>
          <p:nvPr/>
        </p:nvSpPr>
        <p:spPr>
          <a:xfrm>
            <a:off x="812800" y="5924423"/>
            <a:ext cx="2968625" cy="190627"/>
          </a:xfrm>
          <a:prstGeom prst="rect">
            <a:avLst/>
          </a:prstGeom>
          <a:noFill/>
        </p:spPr>
        <p:txBody>
          <a:bodyPr wrap="square" lIns="0" tIns="0" rIns="0" bIns="0" rtlCol="0" anchor="t">
            <a:noAutofit/>
          </a:bodyPr>
          <a:lstStyle/>
          <a:p>
            <a:pPr algn="l">
              <a:lnSpc>
                <a:spcPts val="1690"/>
              </a:lnSpc>
              <a:buNone/>
            </a:pPr>
            <a:r>
              <a:rPr lang="en-US" sz="1300" dirty="0">
                <a:solidFill>
                  <a:srgbClr val="535A70"/>
                </a:solidFill>
                <a:latin typeface="Atkinson Hyperlegible Next"/>
                <a:ea typeface="Atkinson Hyperlegible Next"/>
                <a:cs typeface="Atkinson Hyperlegible Next"/>
              </a:rPr>
              <a:t>AI 101  ·  A practical introduction</a:t>
            </a:r>
            <a:endParaRPr lang="en-US" sz="1300" dirty="0"/>
          </a:p>
        </p:txBody>
      </p:sp>
      <p:sp>
        <p:nvSpPr>
          <p:cNvPr id="5" name="page-number"/>
          <p:cNvSpPr txBox="1"/>
          <p:nvPr/>
        </p:nvSpPr>
        <p:spPr>
          <a:xfrm>
            <a:off x="11017250" y="5923432"/>
            <a:ext cx="609600" cy="178918"/>
          </a:xfrm>
          <a:prstGeom prst="rect">
            <a:avLst/>
          </a:prstGeom>
          <a:noFill/>
        </p:spPr>
        <p:txBody>
          <a:bodyPr wrap="square" lIns="0" tIns="0" rIns="0" bIns="0" rtlCol="0" anchor="t">
            <a:noAutofit/>
          </a:bodyPr>
          <a:lstStyle/>
          <a:p>
            <a:pPr algn="l">
              <a:lnSpc>
                <a:spcPts val="1690"/>
              </a:lnSpc>
              <a:buNone/>
            </a:pPr>
            <a:r>
              <a:rPr lang="en-US" sz="1300" dirty="0">
                <a:solidFill>
                  <a:srgbClr val="535A70"/>
                </a:solidFill>
                <a:latin typeface="Atkinson Hyperlegible Next"/>
                <a:ea typeface="Atkinson Hyperlegible Next"/>
                <a:cs typeface="Atkinson Hyperlegible Next"/>
              </a:rPr>
              <a:t>8 / 9</a:t>
            </a:r>
            <a:endParaRPr lang="en-US" sz="1300" dirty="0"/>
          </a:p>
        </p:txBody>
      </p:sp>
      <p:sp>
        <p:nvSpPr>
          <p:cNvPr id="6" name="eyebrow"/>
          <p:cNvSpPr txBox="1"/>
          <p:nvPr/>
        </p:nvSpPr>
        <p:spPr>
          <a:xfrm>
            <a:off x="812800" y="692150"/>
            <a:ext cx="3746500" cy="387350"/>
          </a:xfrm>
          <a:prstGeom prst="rect">
            <a:avLst/>
          </a:prstGeom>
          <a:noFill/>
        </p:spPr>
        <p:txBody>
          <a:bodyPr wrap="square" lIns="0" tIns="0" rIns="0" bIns="0" rtlCol="0" anchor="t">
            <a:noAutofit/>
          </a:bodyPr>
          <a:lstStyle/>
          <a:p>
            <a:pPr algn="l">
              <a:lnSpc>
                <a:spcPts val="2900"/>
              </a:lnSpc>
              <a:spcBef>
                <a:spcPts val="0"/>
              </a:spcBef>
              <a:spcAft>
                <a:spcPts val="0"/>
              </a:spcAft>
              <a:buNone/>
            </a:pPr>
            <a:r>
              <a:rPr lang="en-US" sz="2000" spc="150" dirty="0">
                <a:solidFill>
                  <a:srgbClr val="2F55C9"/>
                </a:solidFill>
                <a:latin typeface="Atkinson Hyperlegible Next"/>
                <a:ea typeface="Atkinson Hyperlegible Next"/>
                <a:cs typeface="Atkinson Hyperlegible Next"/>
              </a:rPr>
              <a:t>GET BETTER ANSWERS</a:t>
            </a:r>
            <a:endParaRPr lang="en-US" sz="2000" dirty="0"/>
          </a:p>
        </p:txBody>
      </p:sp>
      <p:sp>
        <p:nvSpPr>
          <p:cNvPr id="7" name="title"/>
          <p:cNvSpPr>
            <a:spLocks noGrp="1"/>
          </p:cNvSpPr>
          <p:nvPr>
            <p:ph type="title"/>
          </p:nvPr>
        </p:nvSpPr>
        <p:spPr>
          <a:xfrm>
            <a:off x="812800" y="1039978"/>
            <a:ext cx="9223375" cy="534822"/>
          </a:xfrm>
          <a:prstGeom prst="rect">
            <a:avLst/>
          </a:prstGeom>
          <a:noFill/>
        </p:spPr>
        <p:txBody>
          <a:bodyPr wrap="square" lIns="0" tIns="0" rIns="0" bIns="0" rtlCol="0" anchor="t">
            <a:noAutofit/>
          </a:bodyPr>
          <a:lstStyle/>
          <a:p>
            <a:pPr algn="l">
              <a:lnSpc>
                <a:spcPts val="4275"/>
              </a:lnSpc>
              <a:buNone/>
            </a:pPr>
            <a:r>
              <a:rPr lang="en-US" sz="3900" b="1" dirty="0">
                <a:solidFill>
                  <a:srgbClr val="17203A"/>
                </a:solidFill>
                <a:latin typeface="Lexend"/>
                <a:ea typeface="Lexend"/>
                <a:cs typeface="Lexend"/>
              </a:rPr>
              <a:t>Four habits of a good prompt</a:t>
            </a:r>
            <a:endParaRPr lang="en-US" sz="3900" dirty="0"/>
          </a:p>
        </p:txBody>
      </p:sp>
      <p:sp>
        <p:nvSpPr>
          <p:cNvPr id="8" name="tip-1-card"/>
          <p:cNvSpPr/>
          <p:nvPr/>
        </p:nvSpPr>
        <p:spPr>
          <a:xfrm>
            <a:off x="812800" y="2095500"/>
            <a:ext cx="5156200" cy="1651000"/>
          </a:xfrm>
          <a:prstGeom prst="rect">
            <a:avLst/>
          </a:prstGeom>
          <a:solidFill>
            <a:srgbClr val="E9E5D9"/>
          </a:solidFill>
          <a:ln>
            <a:noFill/>
          </a:ln>
        </p:spPr>
      </p:sp>
      <p:sp>
        <p:nvSpPr>
          <p:cNvPr id="9" name="tip-1-num"/>
          <p:cNvSpPr txBox="1"/>
          <p:nvPr/>
        </p:nvSpPr>
        <p:spPr>
          <a:xfrm>
            <a:off x="1117600" y="2378837"/>
            <a:ext cx="1587500" cy="586613"/>
          </a:xfrm>
          <a:prstGeom prst="rect">
            <a:avLst/>
          </a:prstGeom>
          <a:noFill/>
        </p:spPr>
        <p:txBody>
          <a:bodyPr wrap="square" lIns="0" tIns="0" rIns="0" bIns="0" rtlCol="0" anchor="t">
            <a:noAutofit/>
          </a:bodyPr>
          <a:lstStyle/>
          <a:p>
            <a:pPr algn="l">
              <a:lnSpc>
                <a:spcPts val="6125"/>
              </a:lnSpc>
              <a:buNone/>
            </a:pPr>
            <a:r>
              <a:rPr lang="en-US" sz="6100" b="1" dirty="0">
                <a:solidFill>
                  <a:srgbClr val="2F55C9"/>
                </a:solidFill>
                <a:latin typeface="Lexend"/>
                <a:ea typeface="Lexend"/>
                <a:cs typeface="Lexend"/>
              </a:rPr>
              <a:t>1</a:t>
            </a:r>
            <a:endParaRPr lang="en-US" sz="6100" dirty="0"/>
          </a:p>
        </p:txBody>
      </p:sp>
      <p:sp>
        <p:nvSpPr>
          <p:cNvPr id="10" name="tip-1-head"/>
          <p:cNvSpPr txBox="1"/>
          <p:nvPr/>
        </p:nvSpPr>
        <p:spPr>
          <a:xfrm>
            <a:off x="1892300" y="2327910"/>
            <a:ext cx="2508250" cy="358140"/>
          </a:xfrm>
          <a:prstGeom prst="rect">
            <a:avLst/>
          </a:prstGeom>
          <a:noFill/>
        </p:spPr>
        <p:txBody>
          <a:bodyPr wrap="square" lIns="0" tIns="0" rIns="0" bIns="0" rtlCol="0" anchor="t">
            <a:noAutofit/>
          </a:bodyPr>
          <a:lstStyle/>
          <a:p>
            <a:pPr algn="l">
              <a:lnSpc>
                <a:spcPts val="3375"/>
              </a:lnSpc>
              <a:buNone/>
            </a:pPr>
            <a:r>
              <a:rPr lang="en-US" sz="2500" b="1" dirty="0">
                <a:solidFill>
                  <a:srgbClr val="17203A"/>
                </a:solidFill>
                <a:latin typeface="Lexend"/>
                <a:ea typeface="Lexend"/>
                <a:cs typeface="Lexend"/>
              </a:rPr>
              <a:t>Give context</a:t>
            </a:r>
            <a:endParaRPr lang="en-US" sz="2500" dirty="0"/>
          </a:p>
        </p:txBody>
      </p:sp>
      <p:sp>
        <p:nvSpPr>
          <p:cNvPr id="11" name="tip-1-body"/>
          <p:cNvSpPr txBox="1"/>
          <p:nvPr/>
        </p:nvSpPr>
        <p:spPr>
          <a:xfrm>
            <a:off x="1892300" y="2876550"/>
            <a:ext cx="3759200" cy="755650"/>
          </a:xfrm>
          <a:prstGeom prst="rect">
            <a:avLst/>
          </a:prstGeom>
          <a:noFill/>
        </p:spPr>
        <p:txBody>
          <a:bodyPr wrap="square" lIns="0" tIns="0" rIns="0" bIns="0" rtlCol="0" anchor="t">
            <a:noAutofit/>
          </a:bodyPr>
          <a:lstStyle/>
          <a:p>
            <a:pPr algn="l">
              <a:lnSpc>
                <a:spcPts val="2900"/>
              </a:lnSpc>
              <a:spcBef>
                <a:spcPts val="0"/>
              </a:spcBef>
              <a:spcAft>
                <a:spcPts val="0"/>
              </a:spcAft>
              <a:buNone/>
            </a:pPr>
            <a:r>
              <a:rPr lang="en-US" sz="2000" dirty="0">
                <a:solidFill>
                  <a:srgbClr val="17203A"/>
                </a:solidFill>
                <a:latin typeface="Atkinson Hyperlegible Next"/>
                <a:ea typeface="Atkinson Hyperlegible Next"/>
                <a:cs typeface="Atkinson Hyperlegible Next"/>
              </a:rPr>
              <a:t>Who you are, who it is for, what you know.</a:t>
            </a:r>
            <a:endParaRPr lang="en-US" sz="2000" dirty="0"/>
          </a:p>
        </p:txBody>
      </p:sp>
      <p:sp>
        <p:nvSpPr>
          <p:cNvPr id="12" name="tip-2-card"/>
          <p:cNvSpPr/>
          <p:nvPr/>
        </p:nvSpPr>
        <p:spPr>
          <a:xfrm>
            <a:off x="6223000" y="2095500"/>
            <a:ext cx="5156200" cy="1651000"/>
          </a:xfrm>
          <a:prstGeom prst="rect">
            <a:avLst/>
          </a:prstGeom>
          <a:solidFill>
            <a:srgbClr val="E9E5D9"/>
          </a:solidFill>
          <a:ln>
            <a:noFill/>
          </a:ln>
        </p:spPr>
      </p:sp>
      <p:sp>
        <p:nvSpPr>
          <p:cNvPr id="13" name="tip-2-num"/>
          <p:cNvSpPr txBox="1"/>
          <p:nvPr/>
        </p:nvSpPr>
        <p:spPr>
          <a:xfrm>
            <a:off x="6527800" y="2381936"/>
            <a:ext cx="1587500" cy="589864"/>
          </a:xfrm>
          <a:prstGeom prst="rect">
            <a:avLst/>
          </a:prstGeom>
          <a:noFill/>
        </p:spPr>
        <p:txBody>
          <a:bodyPr wrap="square" lIns="0" tIns="0" rIns="0" bIns="0" rtlCol="0" anchor="t">
            <a:noAutofit/>
          </a:bodyPr>
          <a:lstStyle/>
          <a:p>
            <a:pPr algn="l">
              <a:lnSpc>
                <a:spcPts val="6125"/>
              </a:lnSpc>
              <a:buNone/>
            </a:pPr>
            <a:r>
              <a:rPr lang="en-US" sz="6100" b="1" dirty="0">
                <a:solidFill>
                  <a:srgbClr val="2F55C9"/>
                </a:solidFill>
                <a:latin typeface="Lexend"/>
                <a:ea typeface="Lexend"/>
                <a:cs typeface="Lexend"/>
              </a:rPr>
              <a:t>2</a:t>
            </a:r>
            <a:endParaRPr lang="en-US" sz="6100" dirty="0"/>
          </a:p>
        </p:txBody>
      </p:sp>
      <p:sp>
        <p:nvSpPr>
          <p:cNvPr id="14" name="tip-2-head"/>
          <p:cNvSpPr txBox="1"/>
          <p:nvPr/>
        </p:nvSpPr>
        <p:spPr>
          <a:xfrm>
            <a:off x="7302500" y="2327910"/>
            <a:ext cx="2197100" cy="421640"/>
          </a:xfrm>
          <a:prstGeom prst="rect">
            <a:avLst/>
          </a:prstGeom>
          <a:noFill/>
        </p:spPr>
        <p:txBody>
          <a:bodyPr wrap="square" lIns="0" tIns="0" rIns="0" bIns="0" rtlCol="0" anchor="t">
            <a:noAutofit/>
          </a:bodyPr>
          <a:lstStyle/>
          <a:p>
            <a:pPr algn="l">
              <a:lnSpc>
                <a:spcPts val="3375"/>
              </a:lnSpc>
              <a:buNone/>
            </a:pPr>
            <a:r>
              <a:rPr lang="en-US" sz="2500" b="1" dirty="0">
                <a:solidFill>
                  <a:srgbClr val="17203A"/>
                </a:solidFill>
                <a:latin typeface="Lexend"/>
                <a:ea typeface="Lexend"/>
                <a:cs typeface="Lexend"/>
              </a:rPr>
              <a:t>Be specific</a:t>
            </a:r>
            <a:endParaRPr lang="en-US" sz="2500" dirty="0"/>
          </a:p>
        </p:txBody>
      </p:sp>
      <p:sp>
        <p:nvSpPr>
          <p:cNvPr id="15" name="tip-2-body"/>
          <p:cNvSpPr txBox="1"/>
          <p:nvPr/>
        </p:nvSpPr>
        <p:spPr>
          <a:xfrm>
            <a:off x="7302500" y="2876550"/>
            <a:ext cx="3759200" cy="755650"/>
          </a:xfrm>
          <a:prstGeom prst="rect">
            <a:avLst/>
          </a:prstGeom>
          <a:noFill/>
        </p:spPr>
        <p:txBody>
          <a:bodyPr wrap="square" lIns="0" tIns="0" rIns="0" bIns="0" rtlCol="0" anchor="t">
            <a:noAutofit/>
          </a:bodyPr>
          <a:lstStyle/>
          <a:p>
            <a:pPr algn="l">
              <a:lnSpc>
                <a:spcPts val="2900"/>
              </a:lnSpc>
              <a:spcBef>
                <a:spcPts val="0"/>
              </a:spcBef>
              <a:spcAft>
                <a:spcPts val="0"/>
              </a:spcAft>
              <a:buNone/>
            </a:pPr>
            <a:r>
              <a:rPr lang="en-US" sz="2000" dirty="0">
                <a:solidFill>
                  <a:srgbClr val="17203A"/>
                </a:solidFill>
                <a:latin typeface="Atkinson Hyperlegible Next"/>
                <a:ea typeface="Atkinson Hyperlegible Next"/>
                <a:cs typeface="Atkinson Hyperlegible Next"/>
              </a:rPr>
              <a:t>Length, format and tone: “5 bullets for a manager”.</a:t>
            </a:r>
            <a:endParaRPr lang="en-US" sz="2000" dirty="0"/>
          </a:p>
        </p:txBody>
      </p:sp>
      <p:sp>
        <p:nvSpPr>
          <p:cNvPr id="16" name="tip-3-card"/>
          <p:cNvSpPr/>
          <p:nvPr/>
        </p:nvSpPr>
        <p:spPr>
          <a:xfrm>
            <a:off x="812800" y="3975100"/>
            <a:ext cx="5156200" cy="1651000"/>
          </a:xfrm>
          <a:prstGeom prst="rect">
            <a:avLst/>
          </a:prstGeom>
          <a:solidFill>
            <a:srgbClr val="E9E5D9"/>
          </a:solidFill>
          <a:ln>
            <a:noFill/>
          </a:ln>
        </p:spPr>
      </p:sp>
      <p:sp>
        <p:nvSpPr>
          <p:cNvPr id="17" name="tip-3-num"/>
          <p:cNvSpPr txBox="1"/>
          <p:nvPr/>
        </p:nvSpPr>
        <p:spPr>
          <a:xfrm>
            <a:off x="1117600" y="4253789"/>
            <a:ext cx="1606550" cy="597611"/>
          </a:xfrm>
          <a:prstGeom prst="rect">
            <a:avLst/>
          </a:prstGeom>
          <a:noFill/>
        </p:spPr>
        <p:txBody>
          <a:bodyPr wrap="square" lIns="0" tIns="0" rIns="0" bIns="0" rtlCol="0" anchor="t">
            <a:noAutofit/>
          </a:bodyPr>
          <a:lstStyle/>
          <a:p>
            <a:pPr algn="l">
              <a:lnSpc>
                <a:spcPts val="6125"/>
              </a:lnSpc>
              <a:buNone/>
            </a:pPr>
            <a:r>
              <a:rPr lang="en-US" sz="6100" b="1" dirty="0">
                <a:solidFill>
                  <a:srgbClr val="2F55C9"/>
                </a:solidFill>
                <a:latin typeface="Lexend"/>
                <a:ea typeface="Lexend"/>
                <a:cs typeface="Lexend"/>
              </a:rPr>
              <a:t>3</a:t>
            </a:r>
            <a:endParaRPr lang="en-US" sz="6100" dirty="0"/>
          </a:p>
        </p:txBody>
      </p:sp>
      <p:sp>
        <p:nvSpPr>
          <p:cNvPr id="18" name="tip-3-head"/>
          <p:cNvSpPr txBox="1"/>
          <p:nvPr/>
        </p:nvSpPr>
        <p:spPr>
          <a:xfrm>
            <a:off x="1892300" y="4191000"/>
            <a:ext cx="3508375" cy="419100"/>
          </a:xfrm>
          <a:prstGeom prst="rect">
            <a:avLst/>
          </a:prstGeom>
          <a:noFill/>
        </p:spPr>
        <p:txBody>
          <a:bodyPr wrap="square" lIns="0" tIns="0" rIns="0" bIns="0" rtlCol="0" anchor="t">
            <a:noAutofit/>
          </a:bodyPr>
          <a:lstStyle/>
          <a:p>
            <a:pPr algn="l">
              <a:lnSpc>
                <a:spcPts val="3375"/>
              </a:lnSpc>
              <a:buNone/>
            </a:pPr>
            <a:r>
              <a:rPr lang="en-US" sz="2500" b="1" dirty="0">
                <a:solidFill>
                  <a:srgbClr val="17203A"/>
                </a:solidFill>
                <a:latin typeface="Lexend"/>
                <a:ea typeface="Lexend"/>
                <a:cs typeface="Lexend"/>
              </a:rPr>
              <a:t>Show an example</a:t>
            </a:r>
            <a:endParaRPr lang="en-US" sz="2500" dirty="0"/>
          </a:p>
        </p:txBody>
      </p:sp>
      <p:sp>
        <p:nvSpPr>
          <p:cNvPr id="19" name="tip-3-body"/>
          <p:cNvSpPr txBox="1"/>
          <p:nvPr/>
        </p:nvSpPr>
        <p:spPr>
          <a:xfrm>
            <a:off x="1892300" y="4756150"/>
            <a:ext cx="3759200" cy="755650"/>
          </a:xfrm>
          <a:prstGeom prst="rect">
            <a:avLst/>
          </a:prstGeom>
          <a:noFill/>
        </p:spPr>
        <p:txBody>
          <a:bodyPr wrap="square" lIns="0" tIns="0" rIns="0" bIns="0" rtlCol="0" anchor="t">
            <a:noAutofit/>
          </a:bodyPr>
          <a:lstStyle/>
          <a:p>
            <a:pPr algn="l">
              <a:lnSpc>
                <a:spcPts val="2900"/>
              </a:lnSpc>
              <a:spcBef>
                <a:spcPts val="0"/>
              </a:spcBef>
              <a:spcAft>
                <a:spcPts val="0"/>
              </a:spcAft>
              <a:buNone/>
            </a:pPr>
            <a:r>
              <a:rPr lang="en-US" sz="2000" dirty="0">
                <a:solidFill>
                  <a:srgbClr val="17203A"/>
                </a:solidFill>
                <a:latin typeface="Atkinson Hyperlegible Next"/>
                <a:ea typeface="Atkinson Hyperlegible Next"/>
                <a:cs typeface="Atkinson Hyperlegible Next"/>
              </a:rPr>
              <a:t>Paste a sample of the style you want.</a:t>
            </a:r>
            <a:endParaRPr lang="en-US" sz="2000" dirty="0"/>
          </a:p>
        </p:txBody>
      </p:sp>
      <p:sp>
        <p:nvSpPr>
          <p:cNvPr id="20" name="tip-4-card"/>
          <p:cNvSpPr/>
          <p:nvPr/>
        </p:nvSpPr>
        <p:spPr>
          <a:xfrm>
            <a:off x="6223000" y="3975100"/>
            <a:ext cx="5156200" cy="1651000"/>
          </a:xfrm>
          <a:prstGeom prst="rect">
            <a:avLst/>
          </a:prstGeom>
          <a:solidFill>
            <a:srgbClr val="E9E5D9"/>
          </a:solidFill>
          <a:ln>
            <a:noFill/>
          </a:ln>
        </p:spPr>
      </p:sp>
      <p:sp>
        <p:nvSpPr>
          <p:cNvPr id="21" name="tip-4-num"/>
          <p:cNvSpPr txBox="1"/>
          <p:nvPr/>
        </p:nvSpPr>
        <p:spPr>
          <a:xfrm>
            <a:off x="6527800" y="4253789"/>
            <a:ext cx="1670050" cy="584911"/>
          </a:xfrm>
          <a:prstGeom prst="rect">
            <a:avLst/>
          </a:prstGeom>
          <a:noFill/>
        </p:spPr>
        <p:txBody>
          <a:bodyPr wrap="square" lIns="0" tIns="0" rIns="0" bIns="0" rtlCol="0" anchor="t">
            <a:noAutofit/>
          </a:bodyPr>
          <a:lstStyle/>
          <a:p>
            <a:pPr algn="l">
              <a:lnSpc>
                <a:spcPts val="6125"/>
              </a:lnSpc>
              <a:buNone/>
            </a:pPr>
            <a:r>
              <a:rPr lang="en-US" sz="6100" b="1" dirty="0">
                <a:solidFill>
                  <a:srgbClr val="2F55C9"/>
                </a:solidFill>
                <a:latin typeface="Lexend"/>
                <a:ea typeface="Lexend"/>
                <a:cs typeface="Lexend"/>
              </a:rPr>
              <a:t>4</a:t>
            </a:r>
            <a:endParaRPr lang="en-US" sz="6100" dirty="0"/>
          </a:p>
        </p:txBody>
      </p:sp>
      <p:sp>
        <p:nvSpPr>
          <p:cNvPr id="22" name="tip-4-head"/>
          <p:cNvSpPr txBox="1"/>
          <p:nvPr/>
        </p:nvSpPr>
        <p:spPr>
          <a:xfrm>
            <a:off x="7302500" y="4178300"/>
            <a:ext cx="1606550" cy="355600"/>
          </a:xfrm>
          <a:prstGeom prst="rect">
            <a:avLst/>
          </a:prstGeom>
          <a:noFill/>
        </p:spPr>
        <p:txBody>
          <a:bodyPr wrap="square" lIns="0" tIns="0" rIns="0" bIns="0" rtlCol="0" anchor="t">
            <a:noAutofit/>
          </a:bodyPr>
          <a:lstStyle/>
          <a:p>
            <a:pPr algn="l">
              <a:lnSpc>
                <a:spcPts val="3375"/>
              </a:lnSpc>
              <a:buNone/>
            </a:pPr>
            <a:r>
              <a:rPr lang="en-US" sz="2500" b="1" dirty="0">
                <a:solidFill>
                  <a:srgbClr val="17203A"/>
                </a:solidFill>
                <a:latin typeface="Lexend"/>
                <a:ea typeface="Lexend"/>
                <a:cs typeface="Lexend"/>
              </a:rPr>
              <a:t>Iterate</a:t>
            </a:r>
            <a:endParaRPr lang="en-US" sz="2500" dirty="0"/>
          </a:p>
        </p:txBody>
      </p:sp>
      <p:sp>
        <p:nvSpPr>
          <p:cNvPr id="23" name="tip-4-body"/>
          <p:cNvSpPr txBox="1"/>
          <p:nvPr/>
        </p:nvSpPr>
        <p:spPr>
          <a:xfrm>
            <a:off x="7302500" y="4756150"/>
            <a:ext cx="3759200" cy="387350"/>
          </a:xfrm>
          <a:prstGeom prst="rect">
            <a:avLst/>
          </a:prstGeom>
          <a:noFill/>
        </p:spPr>
        <p:txBody>
          <a:bodyPr wrap="square" lIns="0" tIns="0" rIns="0" bIns="0" rtlCol="0" anchor="t">
            <a:noAutofit/>
          </a:bodyPr>
          <a:lstStyle/>
          <a:p>
            <a:pPr algn="l">
              <a:lnSpc>
                <a:spcPts val="2900"/>
              </a:lnSpc>
              <a:spcBef>
                <a:spcPts val="0"/>
              </a:spcBef>
              <a:spcAft>
                <a:spcPts val="0"/>
              </a:spcAft>
              <a:buNone/>
            </a:pPr>
            <a:r>
              <a:rPr lang="en-US" sz="2000" dirty="0">
                <a:solidFill>
                  <a:srgbClr val="17203A"/>
                </a:solidFill>
                <a:latin typeface="Atkinson Hyperlegible Next"/>
                <a:ea typeface="Atkinson Hyperlegible Next"/>
                <a:cs typeface="Atkinson Hyperlegible Next"/>
              </a:rPr>
              <a:t>Treat the first answer as a draft.</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use-it-well">
    <p:bg>
      <p:bgPr>
        <a:solidFill>
          <a:srgbClr val="F6F4EE"/>
        </a:solidFill>
        <a:effectLst/>
      </p:bgPr>
    </p:bg>
    <p:spTree>
      <p:nvGrpSpPr>
        <p:cNvPr id="1" name=""/>
        <p:cNvGrpSpPr/>
        <p:nvPr/>
      </p:nvGrpSpPr>
      <p:grpSpPr>
        <a:xfrm>
          <a:off x="0" y="0"/>
          <a:ext cx="0" cy="0"/>
          <a:chOff x="0" y="0"/>
          <a:chExt cx="0" cy="0"/>
        </a:xfrm>
      </p:grpSpPr>
      <p:sp>
        <p:nvSpPr>
          <p:cNvPr id="2" name="rail"/>
          <p:cNvSpPr/>
          <p:nvPr/>
        </p:nvSpPr>
        <p:spPr>
          <a:xfrm>
            <a:off x="0" y="0"/>
            <a:ext cx="101600" cy="6858000"/>
          </a:xfrm>
          <a:prstGeom prst="rect">
            <a:avLst/>
          </a:prstGeom>
          <a:solidFill>
            <a:srgbClr val="2F55C9"/>
          </a:solidFill>
          <a:ln>
            <a:noFill/>
          </a:ln>
        </p:spPr>
      </p:sp>
      <p:sp>
        <p:nvSpPr>
          <p:cNvPr id="3" name="footer-rule"/>
          <p:cNvSpPr/>
          <p:nvPr/>
        </p:nvSpPr>
        <p:spPr>
          <a:xfrm>
            <a:off x="812800" y="5880100"/>
            <a:ext cx="10566400" cy="12700"/>
          </a:xfrm>
          <a:prstGeom prst="rect">
            <a:avLst/>
          </a:prstGeom>
          <a:solidFill>
            <a:srgbClr val="E9E5D9"/>
          </a:solidFill>
          <a:ln>
            <a:noFill/>
          </a:ln>
        </p:spPr>
      </p:sp>
      <p:sp>
        <p:nvSpPr>
          <p:cNvPr id="4" name="footer"/>
          <p:cNvSpPr txBox="1"/>
          <p:nvPr/>
        </p:nvSpPr>
        <p:spPr>
          <a:xfrm>
            <a:off x="812800" y="5924423"/>
            <a:ext cx="2968625" cy="190627"/>
          </a:xfrm>
          <a:prstGeom prst="rect">
            <a:avLst/>
          </a:prstGeom>
          <a:noFill/>
        </p:spPr>
        <p:txBody>
          <a:bodyPr wrap="square" lIns="0" tIns="0" rIns="0" bIns="0" rtlCol="0" anchor="t">
            <a:noAutofit/>
          </a:bodyPr>
          <a:lstStyle/>
          <a:p>
            <a:pPr algn="l">
              <a:lnSpc>
                <a:spcPts val="1690"/>
              </a:lnSpc>
              <a:buNone/>
            </a:pPr>
            <a:r>
              <a:rPr lang="en-US" sz="1300" dirty="0">
                <a:solidFill>
                  <a:srgbClr val="535A70"/>
                </a:solidFill>
                <a:latin typeface="Atkinson Hyperlegible Next"/>
                <a:ea typeface="Atkinson Hyperlegible Next"/>
                <a:cs typeface="Atkinson Hyperlegible Next"/>
              </a:rPr>
              <a:t>AI 101  ·  A practical introduction</a:t>
            </a:r>
            <a:endParaRPr lang="en-US" sz="1300" dirty="0"/>
          </a:p>
        </p:txBody>
      </p:sp>
      <p:sp>
        <p:nvSpPr>
          <p:cNvPr id="5" name="page-number"/>
          <p:cNvSpPr txBox="1"/>
          <p:nvPr/>
        </p:nvSpPr>
        <p:spPr>
          <a:xfrm>
            <a:off x="11023600" y="5923432"/>
            <a:ext cx="603250" cy="178918"/>
          </a:xfrm>
          <a:prstGeom prst="rect">
            <a:avLst/>
          </a:prstGeom>
          <a:noFill/>
        </p:spPr>
        <p:txBody>
          <a:bodyPr wrap="square" lIns="0" tIns="0" rIns="0" bIns="0" rtlCol="0" anchor="t">
            <a:noAutofit/>
          </a:bodyPr>
          <a:lstStyle/>
          <a:p>
            <a:pPr algn="l">
              <a:lnSpc>
                <a:spcPts val="1690"/>
              </a:lnSpc>
              <a:buNone/>
            </a:pPr>
            <a:r>
              <a:rPr lang="en-US" sz="1300" dirty="0">
                <a:solidFill>
                  <a:srgbClr val="535A70"/>
                </a:solidFill>
                <a:latin typeface="Atkinson Hyperlegible Next"/>
                <a:ea typeface="Atkinson Hyperlegible Next"/>
                <a:cs typeface="Atkinson Hyperlegible Next"/>
              </a:rPr>
              <a:t>9 / 9</a:t>
            </a:r>
            <a:endParaRPr lang="en-US" sz="1300" dirty="0"/>
          </a:p>
        </p:txBody>
      </p:sp>
      <p:sp>
        <p:nvSpPr>
          <p:cNvPr id="6" name="eyebrow"/>
          <p:cNvSpPr txBox="1"/>
          <p:nvPr/>
        </p:nvSpPr>
        <p:spPr>
          <a:xfrm>
            <a:off x="812800" y="692150"/>
            <a:ext cx="1928812" cy="387350"/>
          </a:xfrm>
          <a:prstGeom prst="rect">
            <a:avLst/>
          </a:prstGeom>
          <a:noFill/>
        </p:spPr>
        <p:txBody>
          <a:bodyPr wrap="square" lIns="0" tIns="0" rIns="0" bIns="0" rtlCol="0" anchor="t">
            <a:noAutofit/>
          </a:bodyPr>
          <a:lstStyle/>
          <a:p>
            <a:pPr algn="l">
              <a:lnSpc>
                <a:spcPts val="2900"/>
              </a:lnSpc>
              <a:spcBef>
                <a:spcPts val="0"/>
              </a:spcBef>
              <a:spcAft>
                <a:spcPts val="0"/>
              </a:spcAft>
              <a:buNone/>
            </a:pPr>
            <a:r>
              <a:rPr lang="en-US" sz="2000" spc="150" dirty="0">
                <a:solidFill>
                  <a:srgbClr val="2F55C9"/>
                </a:solidFill>
                <a:latin typeface="Atkinson Hyperlegible Next"/>
                <a:ea typeface="Atkinson Hyperlegible Next"/>
                <a:cs typeface="Atkinson Hyperlegible Next"/>
              </a:rPr>
              <a:t>YOUR TURN</a:t>
            </a:r>
            <a:endParaRPr lang="en-US" sz="2000" dirty="0"/>
          </a:p>
        </p:txBody>
      </p:sp>
      <p:sp>
        <p:nvSpPr>
          <p:cNvPr id="7" name="title"/>
          <p:cNvSpPr>
            <a:spLocks noGrp="1"/>
          </p:cNvSpPr>
          <p:nvPr>
            <p:ph type="title"/>
          </p:nvPr>
        </p:nvSpPr>
        <p:spPr>
          <a:xfrm>
            <a:off x="812800" y="1039978"/>
            <a:ext cx="9096375" cy="534822"/>
          </a:xfrm>
          <a:prstGeom prst="rect">
            <a:avLst/>
          </a:prstGeom>
          <a:noFill/>
        </p:spPr>
        <p:txBody>
          <a:bodyPr wrap="square" lIns="0" tIns="0" rIns="0" bIns="0" rtlCol="0" anchor="t">
            <a:noAutofit/>
          </a:bodyPr>
          <a:lstStyle/>
          <a:p>
            <a:pPr algn="l">
              <a:lnSpc>
                <a:spcPts val="4275"/>
              </a:lnSpc>
              <a:buNone/>
            </a:pPr>
            <a:r>
              <a:rPr lang="en-US" sz="3900" b="1" dirty="0">
                <a:solidFill>
                  <a:srgbClr val="17203A"/>
                </a:solidFill>
                <a:latin typeface="Lexend"/>
                <a:ea typeface="Lexend"/>
                <a:cs typeface="Lexend"/>
              </a:rPr>
              <a:t>Use it well, starting this week</a:t>
            </a:r>
            <a:endParaRPr lang="en-US" sz="3900" dirty="0"/>
          </a:p>
        </p:txBody>
      </p:sp>
      <p:sp>
        <p:nvSpPr>
          <p:cNvPr id="8" name="rules"/>
          <p:cNvSpPr txBox="1"/>
          <p:nvPr/>
        </p:nvSpPr>
        <p:spPr>
          <a:xfrm>
            <a:off x="812800" y="2151062"/>
            <a:ext cx="6223000" cy="2433638"/>
          </a:xfrm>
          <a:prstGeom prst="rect">
            <a:avLst/>
          </a:prstGeom>
          <a:noFill/>
        </p:spPr>
        <p:txBody>
          <a:bodyPr wrap="square" lIns="0" tIns="0" rIns="0" bIns="0" rtlCol="0" anchor="t">
            <a:noAutofit/>
          </a:bodyPr>
          <a:lstStyle/>
          <a:p>
            <a:pPr algn="l">
              <a:lnSpc>
                <a:spcPts val="3375"/>
              </a:lnSpc>
              <a:spcBef>
                <a:spcPts val="0"/>
              </a:spcBef>
              <a:spcAft>
                <a:spcPts val="1400"/>
              </a:spcAft>
              <a:buNone/>
            </a:pPr>
            <a:r>
              <a:rPr lang="en-US" sz="2500" b="1" dirty="0">
                <a:solidFill>
                  <a:srgbClr val="17203A"/>
                </a:solidFill>
                <a:latin typeface="Atkinson Hyperlegible Next"/>
                <a:ea typeface="Atkinson Hyperlegible Next"/>
                <a:cs typeface="Atkinson Hyperlegible Next"/>
              </a:rPr>
              <a:t>Check</a:t>
            </a:r>
            <a:r>
              <a:rPr lang="en-US" sz="2500" dirty="0">
                <a:solidFill>
                  <a:srgbClr val="17203A"/>
                </a:solidFill>
                <a:latin typeface="Atkinson Hyperlegible Next"/>
                <a:ea typeface="Atkinson Hyperlegible Next"/>
                <a:cs typeface="Atkinson Hyperlegible Next"/>
              </a:rPr>
              <a:t> facts, numbers and quotes.</a:t>
            </a:r>
            <a:endParaRPr lang="en-US" sz="2500" dirty="0"/>
          </a:p>
          <a:p>
            <a:pPr algn="l">
              <a:lnSpc>
                <a:spcPts val="3375"/>
              </a:lnSpc>
              <a:spcBef>
                <a:spcPts val="0"/>
              </a:spcBef>
              <a:spcAft>
                <a:spcPts val="1400"/>
              </a:spcAft>
              <a:buNone/>
            </a:pPr>
            <a:r>
              <a:rPr lang="en-US" sz="2500" b="1" dirty="0">
                <a:solidFill>
                  <a:srgbClr val="17203A"/>
                </a:solidFill>
                <a:latin typeface="Atkinson Hyperlegible Next"/>
                <a:ea typeface="Atkinson Hyperlegible Next"/>
                <a:cs typeface="Atkinson Hyperlegible Next"/>
              </a:rPr>
              <a:t>Protect</a:t>
            </a:r>
            <a:r>
              <a:rPr lang="en-US" sz="2500" dirty="0">
                <a:solidFill>
                  <a:srgbClr val="17203A"/>
                </a:solidFill>
                <a:latin typeface="Atkinson Hyperlegible Next"/>
                <a:ea typeface="Atkinson Hyperlegible Next"/>
                <a:cs typeface="Atkinson Hyperlegible Next"/>
              </a:rPr>
              <a:t> personal and confidential data.</a:t>
            </a:r>
            <a:endParaRPr lang="en-US" sz="2500" dirty="0"/>
          </a:p>
          <a:p>
            <a:pPr algn="l">
              <a:lnSpc>
                <a:spcPts val="3375"/>
              </a:lnSpc>
              <a:spcBef>
                <a:spcPts val="0"/>
              </a:spcBef>
              <a:spcAft>
                <a:spcPts val="1400"/>
              </a:spcAft>
              <a:buNone/>
            </a:pPr>
            <a:r>
              <a:rPr lang="en-US" sz="2500" b="1" dirty="0">
                <a:solidFill>
                  <a:srgbClr val="17203A"/>
                </a:solidFill>
                <a:latin typeface="Atkinson Hyperlegible Next"/>
                <a:ea typeface="Atkinson Hyperlegible Next"/>
                <a:cs typeface="Atkinson Hyperlegible Next"/>
              </a:rPr>
              <a:t>Say so</a:t>
            </a:r>
            <a:r>
              <a:rPr lang="en-US" sz="2500" dirty="0">
                <a:solidFill>
                  <a:srgbClr val="17203A"/>
                </a:solidFill>
                <a:latin typeface="Atkinson Hyperlegible Next"/>
                <a:ea typeface="Atkinson Hyperlegible Next"/>
                <a:cs typeface="Atkinson Hyperlegible Next"/>
              </a:rPr>
              <a:t> when AI helped with shared work.</a:t>
            </a:r>
            <a:endParaRPr lang="en-US" sz="2500" dirty="0"/>
          </a:p>
          <a:p>
            <a:pPr algn="l">
              <a:lnSpc>
                <a:spcPts val="3375"/>
              </a:lnSpc>
              <a:spcBef>
                <a:spcPts val="0"/>
              </a:spcBef>
              <a:spcAft>
                <a:spcPts val="1400"/>
              </a:spcAft>
              <a:buNone/>
            </a:pPr>
            <a:r>
              <a:rPr lang="en-US" sz="2500" b="1" dirty="0">
                <a:solidFill>
                  <a:srgbClr val="17203A"/>
                </a:solidFill>
                <a:latin typeface="Atkinson Hyperlegible Next"/>
                <a:ea typeface="Atkinson Hyperlegible Next"/>
                <a:cs typeface="Atkinson Hyperlegible Next"/>
              </a:rPr>
              <a:t>Stay in charge:</a:t>
            </a:r>
            <a:r>
              <a:rPr lang="en-US" sz="2500" dirty="0">
                <a:solidFill>
                  <a:srgbClr val="17203A"/>
                </a:solidFill>
                <a:latin typeface="Atkinson Hyperlegible Next"/>
                <a:ea typeface="Atkinson Hyperlegible Next"/>
                <a:cs typeface="Atkinson Hyperlegible Next"/>
              </a:rPr>
              <a:t> you own the result.</a:t>
            </a:r>
            <a:endParaRPr lang="en-US" sz="2500" dirty="0"/>
          </a:p>
        </p:txBody>
      </p:sp>
      <p:sp>
        <p:nvSpPr>
          <p:cNvPr id="9" name="try-card"/>
          <p:cNvSpPr/>
          <p:nvPr/>
        </p:nvSpPr>
        <p:spPr>
          <a:xfrm>
            <a:off x="7493000" y="2095500"/>
            <a:ext cx="3886200" cy="2667000"/>
          </a:xfrm>
          <a:prstGeom prst="rect">
            <a:avLst/>
          </a:prstGeom>
          <a:solidFill>
            <a:srgbClr val="2F55C9"/>
          </a:solidFill>
          <a:ln>
            <a:noFill/>
          </a:ln>
        </p:spPr>
      </p:sp>
      <p:sp>
        <p:nvSpPr>
          <p:cNvPr id="10" name="try-text"/>
          <p:cNvSpPr txBox="1"/>
          <p:nvPr/>
        </p:nvSpPr>
        <p:spPr>
          <a:xfrm>
            <a:off x="7848600" y="2432050"/>
            <a:ext cx="3175000" cy="2051050"/>
          </a:xfrm>
          <a:prstGeom prst="rect">
            <a:avLst/>
          </a:prstGeom>
          <a:noFill/>
        </p:spPr>
        <p:txBody>
          <a:bodyPr wrap="square" lIns="0" tIns="0" rIns="0" bIns="0" rtlCol="0" anchor="t">
            <a:noAutofit/>
          </a:bodyPr>
          <a:lstStyle/>
          <a:p>
            <a:pPr algn="l">
              <a:lnSpc>
                <a:spcPts val="2900"/>
              </a:lnSpc>
              <a:spcBef>
                <a:spcPts val="0"/>
              </a:spcBef>
              <a:spcAft>
                <a:spcPts val="1100"/>
              </a:spcAft>
              <a:buNone/>
            </a:pPr>
            <a:r>
              <a:rPr lang="en-US" sz="2000" b="1" dirty="0">
                <a:solidFill>
                  <a:srgbClr val="FFFFFF"/>
                </a:solidFill>
                <a:latin typeface="Atkinson Hyperlegible Next"/>
                <a:ea typeface="Atkinson Hyperlegible Next"/>
                <a:cs typeface="Atkinson Hyperlegible Next"/>
              </a:rPr>
              <a:t>Try this week</a:t>
            </a:r>
            <a:endParaRPr lang="en-US" sz="2000" dirty="0"/>
          </a:p>
          <a:p>
            <a:pPr algn="l" marL="355600" indent="-355600" lvl="0">
              <a:lnSpc>
                <a:spcPts val="2900"/>
              </a:lnSpc>
              <a:spcBef>
                <a:spcPts val="0"/>
              </a:spcBef>
              <a:spcAft>
                <a:spcPts val="1100"/>
              </a:spcAft>
              <a:buAutoNum type="arabicPeriod"/>
            </a:pPr>
            <a:r>
              <a:rPr lang="en-US" sz="2000" dirty="0">
                <a:solidFill>
                  <a:srgbClr val="FFFFFF"/>
                </a:solidFill>
                <a:latin typeface="Atkinson Hyperlegible Next"/>
                <a:ea typeface="Atkinson Hyperlegible Next"/>
                <a:cs typeface="Atkinson Hyperlegible Next"/>
              </a:rPr>
              <a:t>Pick one low-risk task.</a:t>
            </a:r>
            <a:endParaRPr lang="en-US" sz="2000" dirty="0"/>
          </a:p>
          <a:p>
            <a:pPr algn="l" marL="355600" indent="-355600" lvl="0">
              <a:lnSpc>
                <a:spcPts val="2900"/>
              </a:lnSpc>
              <a:spcBef>
                <a:spcPts val="0"/>
              </a:spcBef>
              <a:spcAft>
                <a:spcPts val="1100"/>
              </a:spcAft>
              <a:buAutoNum type="arabicPeriod"/>
            </a:pPr>
            <a:r>
              <a:rPr lang="en-US" sz="2000" dirty="0">
                <a:solidFill>
                  <a:srgbClr val="FFFFFF"/>
                </a:solidFill>
                <a:latin typeface="Atkinson Hyperlegible Next"/>
                <a:ea typeface="Atkinson Hyperlegible Next"/>
                <a:cs typeface="Atkinson Hyperlegible Next"/>
              </a:rPr>
              <a:t>Ask three different ways.</a:t>
            </a:r>
            <a:endParaRPr lang="en-US" sz="2000" dirty="0"/>
          </a:p>
          <a:p>
            <a:pPr algn="l" marL="355600" indent="-355600" lvl="0">
              <a:lnSpc>
                <a:spcPts val="2900"/>
              </a:lnSpc>
              <a:spcBef>
                <a:spcPts val="0"/>
              </a:spcBef>
              <a:spcAft>
                <a:spcPts val="1100"/>
              </a:spcAft>
              <a:buAutoNum type="arabicPeriod"/>
            </a:pPr>
            <a:r>
              <a:rPr lang="en-US" sz="2000" dirty="0">
                <a:solidFill>
                  <a:srgbClr val="FFFFFF"/>
                </a:solidFill>
                <a:latin typeface="Atkinson Hyperlegible Next"/>
                <a:ea typeface="Atkinson Hyperlegible Next"/>
                <a:cs typeface="Atkinson Hyperlegible Next"/>
              </a:rPr>
              <a:t>Note what worked.</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name="backup-terms">
    <p:bg>
      <p:bgPr>
        <a:solidFill>
          <a:srgbClr val="F6F4EE"/>
        </a:solidFill>
        <a:effectLst/>
      </p:bgPr>
    </p:bg>
    <p:spTree>
      <p:nvGrpSpPr>
        <p:cNvPr id="1" name=""/>
        <p:cNvGrpSpPr/>
        <p:nvPr/>
      </p:nvGrpSpPr>
      <p:grpSpPr>
        <a:xfrm>
          <a:off x="0" y="0"/>
          <a:ext cx="0" cy="0"/>
          <a:chOff x="0" y="0"/>
          <a:chExt cx="0" cy="0"/>
        </a:xfrm>
      </p:grpSpPr>
      <p:sp>
        <p:nvSpPr>
          <p:cNvPr id="2" name="rail"/>
          <p:cNvSpPr/>
          <p:nvPr/>
        </p:nvSpPr>
        <p:spPr>
          <a:xfrm>
            <a:off x="0" y="0"/>
            <a:ext cx="101600" cy="6858000"/>
          </a:xfrm>
          <a:prstGeom prst="rect">
            <a:avLst/>
          </a:prstGeom>
          <a:solidFill>
            <a:srgbClr val="2F55C9"/>
          </a:solidFill>
          <a:ln>
            <a:noFill/>
          </a:ln>
        </p:spPr>
      </p:sp>
      <p:sp>
        <p:nvSpPr>
          <p:cNvPr id="3" name="footer-rule"/>
          <p:cNvSpPr/>
          <p:nvPr/>
        </p:nvSpPr>
        <p:spPr>
          <a:xfrm>
            <a:off x="812800" y="5880100"/>
            <a:ext cx="10566400" cy="12700"/>
          </a:xfrm>
          <a:prstGeom prst="rect">
            <a:avLst/>
          </a:prstGeom>
          <a:solidFill>
            <a:srgbClr val="E9E5D9"/>
          </a:solidFill>
          <a:ln>
            <a:noFill/>
          </a:ln>
        </p:spPr>
      </p:sp>
      <p:sp>
        <p:nvSpPr>
          <p:cNvPr id="4" name="footer"/>
          <p:cNvSpPr txBox="1"/>
          <p:nvPr/>
        </p:nvSpPr>
        <p:spPr>
          <a:xfrm>
            <a:off x="812800" y="5924423"/>
            <a:ext cx="2968625" cy="190627"/>
          </a:xfrm>
          <a:prstGeom prst="rect">
            <a:avLst/>
          </a:prstGeom>
          <a:noFill/>
        </p:spPr>
        <p:txBody>
          <a:bodyPr wrap="square" lIns="0" tIns="0" rIns="0" bIns="0" rtlCol="0" anchor="t">
            <a:noAutofit/>
          </a:bodyPr>
          <a:lstStyle/>
          <a:p>
            <a:pPr algn="l">
              <a:lnSpc>
                <a:spcPts val="1690"/>
              </a:lnSpc>
              <a:buNone/>
            </a:pPr>
            <a:r>
              <a:rPr lang="en-US" sz="1300" dirty="0">
                <a:solidFill>
                  <a:srgbClr val="535A70"/>
                </a:solidFill>
                <a:latin typeface="Atkinson Hyperlegible Next"/>
                <a:ea typeface="Atkinson Hyperlegible Next"/>
                <a:cs typeface="Atkinson Hyperlegible Next"/>
              </a:rPr>
              <a:t>AI 101  ·  A practical introduction</a:t>
            </a:r>
            <a:endParaRPr lang="en-US" sz="1300" dirty="0"/>
          </a:p>
        </p:txBody>
      </p:sp>
      <p:sp>
        <p:nvSpPr>
          <p:cNvPr id="5" name="page-number"/>
          <p:cNvSpPr txBox="1"/>
          <p:nvPr/>
        </p:nvSpPr>
        <p:spPr>
          <a:xfrm>
            <a:off x="10947400" y="5923432"/>
            <a:ext cx="679450" cy="178918"/>
          </a:xfrm>
          <a:prstGeom prst="rect">
            <a:avLst/>
          </a:prstGeom>
          <a:noFill/>
        </p:spPr>
        <p:txBody>
          <a:bodyPr wrap="square" lIns="0" tIns="0" rIns="0" bIns="0" rtlCol="0" anchor="t">
            <a:noAutofit/>
          </a:bodyPr>
          <a:lstStyle/>
          <a:p>
            <a:pPr algn="l">
              <a:lnSpc>
                <a:spcPts val="1690"/>
              </a:lnSpc>
              <a:buNone/>
            </a:pPr>
            <a:r>
              <a:rPr lang="en-US" sz="1300" dirty="0">
                <a:solidFill>
                  <a:srgbClr val="535A70"/>
                </a:solidFill>
                <a:latin typeface="Atkinson Hyperlegible Next"/>
                <a:ea typeface="Atkinson Hyperlegible Next"/>
                <a:cs typeface="Atkinson Hyperlegible Next"/>
              </a:rPr>
              <a:t>10 / 9</a:t>
            </a:r>
            <a:endParaRPr lang="en-US" sz="1300" dirty="0"/>
          </a:p>
        </p:txBody>
      </p:sp>
      <p:sp>
        <p:nvSpPr>
          <p:cNvPr id="6" name="eyebrow"/>
          <p:cNvSpPr txBox="1"/>
          <p:nvPr/>
        </p:nvSpPr>
        <p:spPr>
          <a:xfrm>
            <a:off x="812800" y="692150"/>
            <a:ext cx="1447800" cy="387350"/>
          </a:xfrm>
          <a:prstGeom prst="rect">
            <a:avLst/>
          </a:prstGeom>
          <a:noFill/>
        </p:spPr>
        <p:txBody>
          <a:bodyPr wrap="square" lIns="0" tIns="0" rIns="0" bIns="0" rtlCol="0" anchor="t">
            <a:noAutofit/>
          </a:bodyPr>
          <a:lstStyle/>
          <a:p>
            <a:pPr algn="l">
              <a:lnSpc>
                <a:spcPts val="2900"/>
              </a:lnSpc>
              <a:spcBef>
                <a:spcPts val="0"/>
              </a:spcBef>
              <a:spcAft>
                <a:spcPts val="0"/>
              </a:spcAft>
              <a:buNone/>
            </a:pPr>
            <a:r>
              <a:rPr lang="en-US" sz="2000" spc="150" dirty="0">
                <a:solidFill>
                  <a:srgbClr val="2F55C9"/>
                </a:solidFill>
                <a:latin typeface="Atkinson Hyperlegible Next"/>
                <a:ea typeface="Atkinson Hyperlegible Next"/>
                <a:cs typeface="Atkinson Hyperlegible Next"/>
              </a:rPr>
              <a:t>BACKUP</a:t>
            </a:r>
            <a:endParaRPr lang="en-US" sz="2000" dirty="0"/>
          </a:p>
        </p:txBody>
      </p:sp>
      <p:sp>
        <p:nvSpPr>
          <p:cNvPr id="7" name="title"/>
          <p:cNvSpPr>
            <a:spLocks noGrp="1"/>
          </p:cNvSpPr>
          <p:nvPr>
            <p:ph type="title"/>
          </p:nvPr>
        </p:nvSpPr>
        <p:spPr>
          <a:xfrm>
            <a:off x="812800" y="1039978"/>
            <a:ext cx="6159500" cy="534822"/>
          </a:xfrm>
          <a:prstGeom prst="rect">
            <a:avLst/>
          </a:prstGeom>
          <a:noFill/>
        </p:spPr>
        <p:txBody>
          <a:bodyPr wrap="square" lIns="0" tIns="0" rIns="0" bIns="0" rtlCol="0" anchor="t">
            <a:noAutofit/>
          </a:bodyPr>
          <a:lstStyle/>
          <a:p>
            <a:pPr algn="l">
              <a:lnSpc>
                <a:spcPts val="4275"/>
              </a:lnSpc>
              <a:buNone/>
            </a:pPr>
            <a:r>
              <a:rPr lang="en-US" sz="3900" b="1" dirty="0">
                <a:solidFill>
                  <a:srgbClr val="17203A"/>
                </a:solidFill>
                <a:latin typeface="Lexend"/>
                <a:ea typeface="Lexend"/>
                <a:cs typeface="Lexend"/>
              </a:rPr>
              <a:t>Words you will hear</a:t>
            </a:r>
            <a:endParaRPr lang="en-US" sz="3900" dirty="0"/>
          </a:p>
        </p:txBody>
      </p:sp>
      <p:sp>
        <p:nvSpPr>
          <p:cNvPr id="8" name="terms-list"/>
          <p:cNvSpPr txBox="1"/>
          <p:nvPr/>
        </p:nvSpPr>
        <p:spPr>
          <a:xfrm>
            <a:off x="812800" y="2139950"/>
            <a:ext cx="9525000" cy="2432050"/>
          </a:xfrm>
          <a:prstGeom prst="rect">
            <a:avLst/>
          </a:prstGeom>
          <a:noFill/>
        </p:spPr>
        <p:txBody>
          <a:bodyPr wrap="square" lIns="0" tIns="0" rIns="0" bIns="0" rtlCol="0" anchor="t">
            <a:noAutofit/>
          </a:bodyPr>
          <a:lstStyle/>
          <a:p>
            <a:pPr algn="l">
              <a:lnSpc>
                <a:spcPts val="2900"/>
              </a:lnSpc>
              <a:spcBef>
                <a:spcPts val="0"/>
              </a:spcBef>
              <a:spcAft>
                <a:spcPts val="900"/>
              </a:spcAft>
              <a:buNone/>
            </a:pPr>
            <a:r>
              <a:rPr lang="en-US" sz="2000" b="1" dirty="0">
                <a:solidFill>
                  <a:srgbClr val="17203A"/>
                </a:solidFill>
                <a:latin typeface="Atkinson Hyperlegible Next"/>
                <a:ea typeface="Atkinson Hyperlegible Next"/>
                <a:cs typeface="Atkinson Hyperlegible Next"/>
              </a:rPr>
              <a:t>Token</a:t>
            </a:r>
            <a:r>
              <a:rPr lang="en-US" sz="2000" dirty="0">
                <a:solidFill>
                  <a:srgbClr val="17203A"/>
                </a:solidFill>
                <a:latin typeface="Atkinson Hyperlegible Next"/>
                <a:ea typeface="Atkinson Hyperlegible Next"/>
                <a:cs typeface="Atkinson Hyperlegible Next"/>
              </a:rPr>
              <a:t>: a chunk of text, often part of a word.</a:t>
            </a:r>
            <a:endParaRPr lang="en-US" sz="2000" dirty="0"/>
          </a:p>
          <a:p>
            <a:pPr algn="l">
              <a:lnSpc>
                <a:spcPts val="2900"/>
              </a:lnSpc>
              <a:spcBef>
                <a:spcPts val="0"/>
              </a:spcBef>
              <a:spcAft>
                <a:spcPts val="900"/>
              </a:spcAft>
              <a:buNone/>
            </a:pPr>
            <a:r>
              <a:rPr lang="en-US" sz="2000" b="1" dirty="0">
                <a:solidFill>
                  <a:srgbClr val="17203A"/>
                </a:solidFill>
                <a:latin typeface="Atkinson Hyperlegible Next"/>
                <a:ea typeface="Atkinson Hyperlegible Next"/>
                <a:cs typeface="Atkinson Hyperlegible Next"/>
              </a:rPr>
              <a:t>Training</a:t>
            </a:r>
            <a:r>
              <a:rPr lang="en-US" sz="2000" dirty="0">
                <a:solidFill>
                  <a:srgbClr val="17203A"/>
                </a:solidFill>
                <a:latin typeface="Atkinson Hyperlegible Next"/>
                <a:ea typeface="Atkinson Hyperlegible Next"/>
                <a:cs typeface="Atkinson Hyperlegible Next"/>
              </a:rPr>
              <a:t>: tuning a model on example data.</a:t>
            </a:r>
            <a:endParaRPr lang="en-US" sz="2000" dirty="0"/>
          </a:p>
          <a:p>
            <a:pPr algn="l">
              <a:lnSpc>
                <a:spcPts val="2900"/>
              </a:lnSpc>
              <a:spcBef>
                <a:spcPts val="0"/>
              </a:spcBef>
              <a:spcAft>
                <a:spcPts val="900"/>
              </a:spcAft>
              <a:buNone/>
            </a:pPr>
            <a:r>
              <a:rPr lang="en-US" sz="2000" b="1" dirty="0">
                <a:solidFill>
                  <a:srgbClr val="17203A"/>
                </a:solidFill>
                <a:latin typeface="Atkinson Hyperlegible Next"/>
                <a:ea typeface="Atkinson Hyperlegible Next"/>
                <a:cs typeface="Atkinson Hyperlegible Next"/>
              </a:rPr>
              <a:t>Prompt</a:t>
            </a:r>
            <a:r>
              <a:rPr lang="en-US" sz="2000" dirty="0">
                <a:solidFill>
                  <a:srgbClr val="17203A"/>
                </a:solidFill>
                <a:latin typeface="Atkinson Hyperlegible Next"/>
                <a:ea typeface="Atkinson Hyperlegible Next"/>
                <a:cs typeface="Atkinson Hyperlegible Next"/>
              </a:rPr>
              <a:t>: the instructions and context you give.</a:t>
            </a:r>
            <a:endParaRPr lang="en-US" sz="2000" dirty="0"/>
          </a:p>
          <a:p>
            <a:pPr algn="l">
              <a:lnSpc>
                <a:spcPts val="2900"/>
              </a:lnSpc>
              <a:spcBef>
                <a:spcPts val="0"/>
              </a:spcBef>
              <a:spcAft>
                <a:spcPts val="900"/>
              </a:spcAft>
              <a:buNone/>
            </a:pPr>
            <a:r>
              <a:rPr lang="en-US" sz="2000" b="1" dirty="0">
                <a:solidFill>
                  <a:srgbClr val="17203A"/>
                </a:solidFill>
                <a:latin typeface="Atkinson Hyperlegible Next"/>
                <a:ea typeface="Atkinson Hyperlegible Next"/>
                <a:cs typeface="Atkinson Hyperlegible Next"/>
              </a:rPr>
              <a:t>Hallucination</a:t>
            </a:r>
            <a:r>
              <a:rPr lang="en-US" sz="2000" dirty="0">
                <a:solidFill>
                  <a:srgbClr val="17203A"/>
                </a:solidFill>
                <a:latin typeface="Atkinson Hyperlegible Next"/>
                <a:ea typeface="Atkinson Hyperlegible Next"/>
                <a:cs typeface="Atkinson Hyperlegible Next"/>
              </a:rPr>
              <a:t>: a fluent answer that is not true.</a:t>
            </a:r>
            <a:endParaRPr lang="en-US" sz="2000" dirty="0"/>
          </a:p>
          <a:p>
            <a:pPr algn="l">
              <a:lnSpc>
                <a:spcPts val="2900"/>
              </a:lnSpc>
              <a:spcBef>
                <a:spcPts val="0"/>
              </a:spcBef>
              <a:spcAft>
                <a:spcPts val="900"/>
              </a:spcAft>
              <a:buNone/>
            </a:pPr>
            <a:r>
              <a:rPr lang="en-US" sz="2000" b="1" dirty="0">
                <a:solidFill>
                  <a:srgbClr val="17203A"/>
                </a:solidFill>
                <a:latin typeface="Atkinson Hyperlegible Next"/>
                <a:ea typeface="Atkinson Hyperlegible Next"/>
                <a:cs typeface="Atkinson Hyperlegible Next"/>
              </a:rPr>
              <a:t>Context window</a:t>
            </a:r>
            <a:r>
              <a:rPr lang="en-US" sz="2000" dirty="0">
                <a:solidFill>
                  <a:srgbClr val="17203A"/>
                </a:solidFill>
                <a:latin typeface="Atkinson Hyperlegible Next"/>
                <a:ea typeface="Atkinson Hyperlegible Next"/>
                <a:cs typeface="Atkinson Hyperlegible Next"/>
              </a:rPr>
              <a:t>: how much text it can consider at once.</a:t>
            </a:r>
            <a:endParaRPr lang="en-US" sz="2000" dirty="0"/>
          </a:p>
        </p:txBody>
      </p:sp>
    </p:spTree>
  </p:cSld>
  <p:clrMapOvr>
    <a:masterClrMapping/>
  </p:clrMapOvr>
</p:sld>
</file>

<file path=ppt/theme/theme1.xml><?xml version="1.0" encoding="utf-8"?>
<a:theme xmlns:a="http://schemas.openxmlformats.org/drawingml/2006/main" name="Vixl">
  <a:themeElements>
    <a:clrScheme name="Vixl">
      <a:dk1>
        <a:srgbClr val="000000"/>
      </a:dk1>
      <a:lt1>
        <a:srgbClr val="FFFFFF"/>
      </a:lt1>
      <a:dk2>
        <a:srgbClr val="1F2937"/>
      </a:dk2>
      <a:lt2>
        <a:srgbClr val="F3F4F6"/>
      </a:lt2>
      <a:accent1>
        <a:srgbClr val="2563EB"/>
      </a:accent1>
      <a:accent2>
        <a:srgbClr val="DB2777"/>
      </a:accent2>
      <a:accent3>
        <a:srgbClr val="059669"/>
      </a:accent3>
      <a:accent4>
        <a:srgbClr val="D97706"/>
      </a:accent4>
      <a:accent5>
        <a:srgbClr val="7C3AED"/>
      </a:accent5>
      <a:accent6>
        <a:srgbClr val="0891B2"/>
      </a:accent6>
      <a:hlink>
        <a:srgbClr val="2563EB"/>
      </a:hlink>
      <a:folHlink>
        <a:srgbClr val="7C3AED"/>
      </a:folHlink>
    </a:clrScheme>
    <a:fontScheme name="Vixl">
      <a:majorFont>
        <a:latin typeface="Calibri Light"/>
        <a:ea typeface=""/>
        <a:cs typeface=""/>
      </a:majorFont>
      <a:minorFont>
        <a:latin typeface="Calibri"/>
        <a:ea typeface=""/>
        <a:cs typeface=""/>
      </a:minorFont>
    </a:fontScheme>
    <a:fmtScheme name="Vixl">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Vixl">
  <a:themeElements>
    <a:clrScheme name="Vixl">
      <a:dk1>
        <a:srgbClr val="000000"/>
      </a:dk1>
      <a:lt1>
        <a:srgbClr val="FFFFFF"/>
      </a:lt1>
      <a:dk2>
        <a:srgbClr val="1F2937"/>
      </a:dk2>
      <a:lt2>
        <a:srgbClr val="F3F4F6"/>
      </a:lt2>
      <a:accent1>
        <a:srgbClr val="2563EB"/>
      </a:accent1>
      <a:accent2>
        <a:srgbClr val="DB2777"/>
      </a:accent2>
      <a:accent3>
        <a:srgbClr val="059669"/>
      </a:accent3>
      <a:accent4>
        <a:srgbClr val="D97706"/>
      </a:accent4>
      <a:accent5>
        <a:srgbClr val="7C3AED"/>
      </a:accent5>
      <a:accent6>
        <a:srgbClr val="0891B2"/>
      </a:accent6>
      <a:hlink>
        <a:srgbClr val="2563EB"/>
      </a:hlink>
      <a:folHlink>
        <a:srgbClr val="7C3AED"/>
      </a:folHlink>
    </a:clrScheme>
    <a:fontScheme name="Vixl">
      <a:majorFont>
        <a:latin typeface="Calibri Light"/>
        <a:ea typeface=""/>
        <a:cs typeface=""/>
      </a:majorFont>
      <a:minorFont>
        <a:latin typeface="Calibri"/>
        <a:ea typeface=""/>
        <a:cs typeface=""/>
      </a:minorFont>
    </a:fontScheme>
    <a:fmtScheme name="Vixl">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Application>Vixl</Application>
  <Slides>10</Slides>
  <Notes>10</Notes>
</Properties>
</file>

<file path=docProps/core.xml><?xml version="1.0" encoding="utf-8"?>
<cp:coreProperties xmlns:cp="http://schemas.openxmlformats.org/package/2006/metadata/core-properties" xmlns:dc="http://purl.org/dc/elements/1.1/" xmlns:dcterms="http://purl.org/dc/terms/" xmlns:xsi="http://www.w3.org/2001/XMLSchema-instance">
  <dc:title>BACKUP</dc:title>
  <dc:creator>Vixl</dc:creator>
</cp:coreProperties>
</file>