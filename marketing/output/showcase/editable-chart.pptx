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</p:sldIdLst>
  <p:sldSz cx="9144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Graphics</c:v>
                </c:pt>
              </c:strCache>
            </c:strRef>
          </c:tx>
          <c:spPr>
            <a:solidFill>
              <a:srgbClr val="3575EE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Create</c:v>
                </c:pt>
                <c:pt idx="2">
                  <c:v>Review</c:v>
                </c:pt>
                <c:pt idx="3">
                  <c:v>Deliver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9CC6FA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Create</c:v>
                </c:pt>
                <c:pt idx="2">
                  <c:v>Review</c:v>
                </c:pt>
                <c:pt idx="3">
                  <c:v>Deliver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</c:numCache>
            </c:numRef>
          </c:val>
        </c:ser>
        <c:gapWidth val="43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noFill/>
          <a:ln w="12700">
            <a:solidFill>
              <a:srgbClr val="92959C"/>
            </a:solidFill>
          </a:ln>
        </c:spPr>
        <c:txPr>
          <a:bodyPr/>
          <a:lstStyle/>
          <a:p>
            <a:pPr>
              <a:defRPr sz="1500" b="0">
                <a:solidFill>
                  <a:srgbClr val="6F737C"/>
                </a:solidFill>
                <a:latin typeface="Inter"/>
                <a:ea typeface="Inter"/>
                <a:cs typeface="Inter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"/>
          <c:min val="0"/>
        </c:scaling>
        <c:delete val="0"/>
        <c:axPos val="l"/>
        <c:majorGridlines>
          <c:spPr>
            <a:ln w="9525">
              <a:solidFill>
                <a:srgbClr val="DCE2EE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/>
          <a:lstStyle/>
          <a:p>
            <a:pPr>
              <a:defRPr sz="1500" b="0">
                <a:solidFill>
                  <a:srgbClr val="6F737C"/>
                </a:solidFill>
                <a:latin typeface="Inter"/>
                <a:ea typeface="Inter"/>
                <a:cs typeface="Inter"/>
              </a:defRPr>
            </a:pPr>
            <a:endParaRPr lang="en-US"/>
          </a:p>
        </c:txPr>
        <c:crossAx val="111111111"/>
        <c:crosses val="autoZero"/>
        <c:crossBetween val="between"/>
        <c:majorUnit val="5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1500" b="0">
              <a:solidFill>
                <a:srgbClr val="252B39"/>
              </a:solidFill>
              <a:latin typeface="Inter"/>
              <a:ea typeface="Inter"/>
              <a:cs typeface="Inter"/>
            </a:defRPr>
          </a:pPr>
          <a:endParaRPr lang="en-US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500" b="0">
          <a:solidFill>
            <a:srgbClr val="252B39"/>
          </a:solidFill>
          <a:latin typeface="Inter"/>
          <a:ea typeface="Inter"/>
          <a:cs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1500" y="428625"/>
            <a:ext cx="8001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1500" y="1714500"/>
            <a:ext cx="8001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Chart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logo"/>
          <p:cNvGrpSpPr/>
          <p:nvPr/>
        </p:nvGrpSpPr>
        <p:grpSpPr>
          <a:xfrm>
            <a:off x="655320" y="403860"/>
            <a:ext cx="1242060" cy="472440"/>
            <a:chOff x="0" y="0"/>
            <a:chExt cx="1242060" cy="472440"/>
          </a:xfrm>
        </p:grpSpPr>
        <p:sp>
          <p:nvSpPr>
            <p:cNvPr id="2" name="logo-1"/>
            <p:cNvSpPr/>
            <p:nvPr/>
          </p:nvSpPr>
          <p:spPr>
            <a:xfrm>
              <a:off x="434340" y="0"/>
              <a:ext cx="38100" cy="38100"/>
            </a:xfrm>
            <a:custGeom>
              <a:avLst/>
              <a:gdLst/>
              <a:ahLst/>
              <a:cxnLst/>
              <a:rect l="0" t="0" r="r" b="b"/>
              <a:pathLst>
                <a:path w="500" h="500">
                  <a:moveTo>
                    <a:pt x="52" y="75"/>
                  </a:moveTo>
                  <a:lnTo>
                    <a:pt x="473" y="75"/>
                  </a:lnTo>
                  <a:lnTo>
                    <a:pt x="473" y="497"/>
                  </a:lnTo>
                  <a:lnTo>
                    <a:pt x="52" y="497"/>
                  </a:lnTo>
                  <a:lnTo>
                    <a:pt x="52" y="75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3" name="logo-2"/>
            <p:cNvSpPr/>
            <p:nvPr/>
          </p:nvSpPr>
          <p:spPr>
            <a:xfrm>
              <a:off x="30480" y="434340"/>
              <a:ext cx="38100" cy="38100"/>
            </a:xfrm>
            <a:custGeom>
              <a:avLst/>
              <a:gdLst/>
              <a:ahLst/>
              <a:cxnLst/>
              <a:rect l="0" t="0" r="r" b="b"/>
              <a:pathLst>
                <a:path w="500" h="500">
                  <a:moveTo>
                    <a:pt x="72" y="22"/>
                  </a:moveTo>
                  <a:lnTo>
                    <a:pt x="493" y="22"/>
                  </a:lnTo>
                  <a:lnTo>
                    <a:pt x="493" y="443"/>
                  </a:lnTo>
                  <a:lnTo>
                    <a:pt x="72" y="443"/>
                  </a:lnTo>
                  <a:lnTo>
                    <a:pt x="72" y="22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  <p:sp>
          <p:nvSpPr>
            <p:cNvPr id="4" name="logo-3"/>
            <p:cNvSpPr/>
            <p:nvPr/>
          </p:nvSpPr>
          <p:spPr>
            <a:xfrm>
              <a:off x="441960" y="83820"/>
              <a:ext cx="30480" cy="30480"/>
            </a:xfrm>
            <a:custGeom>
              <a:avLst/>
              <a:gdLst/>
              <a:ahLst/>
              <a:cxnLst/>
              <a:rect l="0" t="0" r="r" b="b"/>
              <a:pathLst>
                <a:path w="400" h="400">
                  <a:moveTo>
                    <a:pt x="62" y="38"/>
                  </a:moveTo>
                  <a:lnTo>
                    <a:pt x="355" y="38"/>
                  </a:lnTo>
                  <a:lnTo>
                    <a:pt x="355" y="332"/>
                  </a:lnTo>
                  <a:lnTo>
                    <a:pt x="62" y="332"/>
                  </a:lnTo>
                  <a:lnTo>
                    <a:pt x="62" y="38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5" name="logo-4"/>
            <p:cNvSpPr/>
            <p:nvPr/>
          </p:nvSpPr>
          <p:spPr>
            <a:xfrm>
              <a:off x="38100" y="358140"/>
              <a:ext cx="30480" cy="30480"/>
            </a:xfrm>
            <a:custGeom>
              <a:avLst/>
              <a:gdLst/>
              <a:ahLst/>
              <a:cxnLst/>
              <a:rect l="0" t="0" r="r" b="b"/>
              <a:pathLst>
                <a:path w="400" h="400">
                  <a:moveTo>
                    <a:pt x="8" y="87"/>
                  </a:moveTo>
                  <a:lnTo>
                    <a:pt x="302" y="87"/>
                  </a:lnTo>
                  <a:lnTo>
                    <a:pt x="302" y="380"/>
                  </a:lnTo>
                  <a:lnTo>
                    <a:pt x="8" y="380"/>
                  </a:lnTo>
                  <a:lnTo>
                    <a:pt x="8" y="87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  <p:sp>
          <p:nvSpPr>
            <p:cNvPr id="6" name="logo-5"/>
            <p:cNvSpPr/>
            <p:nvPr/>
          </p:nvSpPr>
          <p:spPr>
            <a:xfrm>
              <a:off x="480060" y="45720"/>
              <a:ext cx="30480" cy="22860"/>
            </a:xfrm>
            <a:custGeom>
              <a:avLst/>
              <a:gdLst/>
              <a:ahLst/>
              <a:cxnLst/>
              <a:rect l="0" t="0" r="r" b="b"/>
              <a:pathLst>
                <a:path w="400" h="300">
                  <a:moveTo>
                    <a:pt x="93" y="7"/>
                  </a:moveTo>
                  <a:lnTo>
                    <a:pt x="332" y="7"/>
                  </a:lnTo>
                  <a:lnTo>
                    <a:pt x="332" y="245"/>
                  </a:lnTo>
                  <a:lnTo>
                    <a:pt x="93" y="245"/>
                  </a:lnTo>
                  <a:lnTo>
                    <a:pt x="93" y="7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7" name="logo-6"/>
            <p:cNvSpPr/>
            <p:nvPr/>
          </p:nvSpPr>
          <p:spPr>
            <a:xfrm>
              <a:off x="0" y="403860"/>
              <a:ext cx="22860" cy="30480"/>
            </a:xfrm>
            <a:custGeom>
              <a:avLst/>
              <a:gdLst/>
              <a:ahLst/>
              <a:cxnLst/>
              <a:rect l="0" t="0" r="r" b="b"/>
              <a:pathLst>
                <a:path w="300" h="400">
                  <a:moveTo>
                    <a:pt x="50" y="92"/>
                  </a:moveTo>
                  <a:lnTo>
                    <a:pt x="288" y="92"/>
                  </a:lnTo>
                  <a:lnTo>
                    <a:pt x="288" y="330"/>
                  </a:lnTo>
                  <a:lnTo>
                    <a:pt x="50" y="330"/>
                  </a:lnTo>
                  <a:lnTo>
                    <a:pt x="50" y="92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  <p:sp>
          <p:nvSpPr>
            <p:cNvPr id="8" name="logo-7"/>
            <p:cNvSpPr/>
            <p:nvPr/>
          </p:nvSpPr>
          <p:spPr>
            <a:xfrm>
              <a:off x="640080" y="129540"/>
              <a:ext cx="251460" cy="251460"/>
            </a:xfrm>
            <a:custGeom>
              <a:avLst/>
              <a:gdLst/>
              <a:ahLst/>
              <a:cxnLst/>
              <a:rect l="0" t="0" r="r" b="b"/>
              <a:pathLst>
                <a:path w="3300" h="3300">
                  <a:moveTo>
                    <a:pt x="953" y="50"/>
                  </a:moveTo>
                  <a:lnTo>
                    <a:pt x="1665" y="2394"/>
                  </a:lnTo>
                  <a:lnTo>
                    <a:pt x="1695" y="2394"/>
                  </a:lnTo>
                  <a:lnTo>
                    <a:pt x="2410" y="50"/>
                  </a:lnTo>
                  <a:lnTo>
                    <a:pt x="3274" y="50"/>
                  </a:lnTo>
                  <a:lnTo>
                    <a:pt x="2193" y="3251"/>
                  </a:lnTo>
                  <a:lnTo>
                    <a:pt x="1166" y="3251"/>
                  </a:lnTo>
                  <a:lnTo>
                    <a:pt x="83" y="50"/>
                  </a:lnTo>
                  <a:lnTo>
                    <a:pt x="953" y="50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9" name="logo-8"/>
            <p:cNvSpPr/>
            <p:nvPr/>
          </p:nvSpPr>
          <p:spPr>
            <a:xfrm>
              <a:off x="899160" y="114300"/>
              <a:ext cx="68580" cy="266700"/>
            </a:xfrm>
            <a:custGeom>
              <a:avLst/>
              <a:gdLst/>
              <a:ahLst/>
              <a:cxnLst/>
              <a:rect l="0" t="0" r="r" b="b"/>
              <a:pathLst>
                <a:path w="900" h="3500">
                  <a:moveTo>
                    <a:pt x="95" y="3451"/>
                  </a:moveTo>
                  <a:lnTo>
                    <a:pt x="95" y="1049"/>
                  </a:lnTo>
                  <a:lnTo>
                    <a:pt x="860" y="1049"/>
                  </a:lnTo>
                  <a:lnTo>
                    <a:pt x="860" y="3451"/>
                  </a:lnTo>
                  <a:lnTo>
                    <a:pt x="95" y="3451"/>
                  </a:lnTo>
                  <a:close/>
                  <a:moveTo>
                    <a:pt x="475" y="774"/>
                  </a:moveTo>
                  <a:cubicBezTo>
                    <a:pt x="368" y="774"/>
                    <a:pt x="276" y="738"/>
                    <a:pt x="198" y="667"/>
                  </a:cubicBezTo>
                  <a:cubicBezTo>
                    <a:pt x="121" y="595"/>
                    <a:pt x="82" y="509"/>
                    <a:pt x="82" y="407"/>
                  </a:cubicBezTo>
                  <a:cubicBezTo>
                    <a:pt x="82" y="305"/>
                    <a:pt x="121" y="219"/>
                    <a:pt x="198" y="148"/>
                  </a:cubicBezTo>
                  <a:cubicBezTo>
                    <a:pt x="276" y="77"/>
                    <a:pt x="368" y="42"/>
                    <a:pt x="475" y="42"/>
                  </a:cubicBezTo>
                  <a:cubicBezTo>
                    <a:pt x="584" y="42"/>
                    <a:pt x="677" y="77"/>
                    <a:pt x="754" y="148"/>
                  </a:cubicBezTo>
                  <a:cubicBezTo>
                    <a:pt x="830" y="219"/>
                    <a:pt x="868" y="305"/>
                    <a:pt x="868" y="407"/>
                  </a:cubicBezTo>
                  <a:cubicBezTo>
                    <a:pt x="868" y="509"/>
                    <a:pt x="830" y="595"/>
                    <a:pt x="754" y="667"/>
                  </a:cubicBezTo>
                  <a:cubicBezTo>
                    <a:pt x="677" y="738"/>
                    <a:pt x="584" y="774"/>
                    <a:pt x="475" y="774"/>
                  </a:cubicBez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0" name="logo-9"/>
            <p:cNvSpPr/>
            <p:nvPr/>
          </p:nvSpPr>
          <p:spPr>
            <a:xfrm>
              <a:off x="975360" y="190500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2500" h="2500">
                  <a:moveTo>
                    <a:pt x="872" y="49"/>
                  </a:moveTo>
                  <a:lnTo>
                    <a:pt x="1265" y="844"/>
                  </a:lnTo>
                  <a:lnTo>
                    <a:pt x="1675" y="49"/>
                  </a:lnTo>
                  <a:lnTo>
                    <a:pt x="2447" y="49"/>
                  </a:lnTo>
                  <a:lnTo>
                    <a:pt x="1776" y="1252"/>
                  </a:lnTo>
                  <a:lnTo>
                    <a:pt x="2472" y="2451"/>
                  </a:lnTo>
                  <a:lnTo>
                    <a:pt x="1705" y="2451"/>
                  </a:lnTo>
                  <a:lnTo>
                    <a:pt x="1265" y="1656"/>
                  </a:lnTo>
                  <a:lnTo>
                    <a:pt x="837" y="2451"/>
                  </a:lnTo>
                  <a:lnTo>
                    <a:pt x="62" y="2451"/>
                  </a:lnTo>
                  <a:lnTo>
                    <a:pt x="760" y="1252"/>
                  </a:lnTo>
                  <a:lnTo>
                    <a:pt x="96" y="49"/>
                  </a:lnTo>
                  <a:lnTo>
                    <a:pt x="872" y="49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1" name="logo-10"/>
            <p:cNvSpPr/>
            <p:nvPr/>
          </p:nvSpPr>
          <p:spPr>
            <a:xfrm>
              <a:off x="1173480" y="129540"/>
              <a:ext cx="68580" cy="251460"/>
            </a:xfrm>
            <a:custGeom>
              <a:avLst/>
              <a:gdLst/>
              <a:ahLst/>
              <a:cxnLst/>
              <a:rect l="0" t="0" r="r" b="b"/>
              <a:pathLst>
                <a:path w="900" h="3300">
                  <a:moveTo>
                    <a:pt x="837" y="50"/>
                  </a:moveTo>
                  <a:lnTo>
                    <a:pt x="837" y="3251"/>
                  </a:lnTo>
                  <a:lnTo>
                    <a:pt x="72" y="3251"/>
                  </a:lnTo>
                  <a:lnTo>
                    <a:pt x="72" y="50"/>
                  </a:lnTo>
                  <a:lnTo>
                    <a:pt x="837" y="50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2" name="logo-11"/>
            <p:cNvSpPr/>
            <p:nvPr/>
          </p:nvSpPr>
          <p:spPr>
            <a:xfrm>
              <a:off x="22860" y="0"/>
              <a:ext cx="411480" cy="251460"/>
            </a:xfrm>
            <a:custGeom>
              <a:avLst/>
              <a:gdLst/>
              <a:ahLst/>
              <a:cxnLst/>
              <a:rect l="0" t="0" r="r" b="b"/>
              <a:pathLst>
                <a:path w="5400" h="3300">
                  <a:moveTo>
                    <a:pt x="80" y="75"/>
                  </a:moveTo>
                  <a:lnTo>
                    <a:pt x="1334" y="75"/>
                  </a:lnTo>
                  <a:lnTo>
                    <a:pt x="2720" y="1989"/>
                  </a:lnTo>
                  <a:lnTo>
                    <a:pt x="4040" y="75"/>
                  </a:lnTo>
                  <a:lnTo>
                    <a:pt x="4832" y="75"/>
                  </a:lnTo>
                  <a:lnTo>
                    <a:pt x="4832" y="603"/>
                  </a:lnTo>
                  <a:lnTo>
                    <a:pt x="5360" y="603"/>
                  </a:lnTo>
                  <a:lnTo>
                    <a:pt x="5360" y="1131"/>
                  </a:lnTo>
                  <a:lnTo>
                    <a:pt x="4832" y="1131"/>
                  </a:lnTo>
                  <a:lnTo>
                    <a:pt x="4832" y="1659"/>
                  </a:lnTo>
                  <a:lnTo>
                    <a:pt x="4304" y="1659"/>
                  </a:lnTo>
                  <a:lnTo>
                    <a:pt x="4304" y="2187"/>
                  </a:lnTo>
                  <a:lnTo>
                    <a:pt x="3776" y="2187"/>
                  </a:lnTo>
                  <a:lnTo>
                    <a:pt x="3776" y="2715"/>
                  </a:lnTo>
                  <a:lnTo>
                    <a:pt x="3248" y="2715"/>
                  </a:lnTo>
                  <a:lnTo>
                    <a:pt x="3248" y="3243"/>
                  </a:lnTo>
                  <a:lnTo>
                    <a:pt x="2192" y="3243"/>
                  </a:lnTo>
                  <a:lnTo>
                    <a:pt x="80" y="75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3" name="logo-12"/>
            <p:cNvSpPr/>
            <p:nvPr/>
          </p:nvSpPr>
          <p:spPr>
            <a:xfrm>
              <a:off x="76200" y="220980"/>
              <a:ext cx="403860" cy="251460"/>
            </a:xfrm>
            <a:custGeom>
              <a:avLst/>
              <a:gdLst/>
              <a:ahLst/>
              <a:cxnLst/>
              <a:rect l="0" t="0" r="r" b="b"/>
              <a:pathLst>
                <a:path w="5300" h="3300">
                  <a:moveTo>
                    <a:pt x="5283" y="3240"/>
                  </a:moveTo>
                  <a:lnTo>
                    <a:pt x="4029" y="3240"/>
                  </a:lnTo>
                  <a:lnTo>
                    <a:pt x="2643" y="1326"/>
                  </a:lnTo>
                  <a:lnTo>
                    <a:pt x="1323" y="3240"/>
                  </a:lnTo>
                  <a:lnTo>
                    <a:pt x="531" y="3240"/>
                  </a:lnTo>
                  <a:lnTo>
                    <a:pt x="531" y="2712"/>
                  </a:lnTo>
                  <a:lnTo>
                    <a:pt x="3" y="2712"/>
                  </a:lnTo>
                  <a:lnTo>
                    <a:pt x="3" y="2184"/>
                  </a:lnTo>
                  <a:lnTo>
                    <a:pt x="531" y="2184"/>
                  </a:lnTo>
                  <a:lnTo>
                    <a:pt x="531" y="1656"/>
                  </a:lnTo>
                  <a:lnTo>
                    <a:pt x="1059" y="1656"/>
                  </a:lnTo>
                  <a:lnTo>
                    <a:pt x="1059" y="1128"/>
                  </a:lnTo>
                  <a:lnTo>
                    <a:pt x="1587" y="1128"/>
                  </a:lnTo>
                  <a:lnTo>
                    <a:pt x="1587" y="600"/>
                  </a:lnTo>
                  <a:lnTo>
                    <a:pt x="2115" y="600"/>
                  </a:lnTo>
                  <a:lnTo>
                    <a:pt x="2115" y="72"/>
                  </a:lnTo>
                  <a:lnTo>
                    <a:pt x="3171" y="72"/>
                  </a:lnTo>
                  <a:lnTo>
                    <a:pt x="5283" y="3240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</p:grpSp>
      <p:sp>
        <p:nvSpPr>
          <p:cNvPr id="15" name="kicker"/>
          <p:cNvSpPr txBox="1"/>
          <p:nvPr/>
        </p:nvSpPr>
        <p:spPr>
          <a:xfrm>
            <a:off x="533400" y="1259616"/>
            <a:ext cx="3295650" cy="21866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1"/>
              </a:lnSpc>
              <a:buNone/>
            </a:pPr>
            <a:r>
              <a:rPr lang="en-US" sz="1440" dirty="0">
                <a:solidFill>
                  <a:srgbClr val="5B6478"/>
                </a:solidFill>
                <a:latin typeface="JetBrains Mono"/>
                <a:ea typeface="JetBrains Mono"/>
                <a:cs typeface="JetBrains Mono"/>
              </a:rPr>
              <a:t>DATA THAT STAYS EDITABLE</a:t>
            </a:r>
            <a:endParaRPr lang="en-US" sz="1440" dirty="0"/>
          </a:p>
        </p:txBody>
      </p:sp>
      <p:sp>
        <p:nvSpPr>
          <p:cNvPr id="16" name="headline"/>
          <p:cNvSpPr>
            <a:spLocks noGrp="1"/>
          </p:cNvSpPr>
          <p:nvPr>
            <p:ph type="title"/>
          </p:nvPr>
        </p:nvSpPr>
        <p:spPr>
          <a:xfrm>
            <a:off x="533400" y="1924941"/>
            <a:ext cx="6000750" cy="11001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3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80" b="1" dirty="0">
                <a:solidFill>
                  <a:srgbClr val="252B39"/>
                </a:solidFill>
                <a:latin typeface="Inter Tight"/>
                <a:ea typeface="Inter Tight"/>
                <a:cs typeface="Inter Tight"/>
              </a:rPr>
              <a:t>Keep the story.</a:t>
            </a:r>
            <a:endParaRPr lang="en-US" sz="4680" dirty="0"/>
          </a:p>
          <a:p>
            <a:pPr algn="l">
              <a:lnSpc>
                <a:spcPts val="43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80" b="1" dirty="0">
                <a:solidFill>
                  <a:srgbClr val="3575EE"/>
                </a:solidFill>
                <a:latin typeface="Inter Tight"/>
                <a:ea typeface="Inter Tight"/>
                <a:cs typeface="Inter Tight"/>
              </a:rPr>
              <a:t>Change the data.</a:t>
            </a:r>
            <a:endParaRPr lang="en-US" sz="4680" dirty="0"/>
          </a:p>
        </p:txBody>
      </p:sp>
      <p:graphicFrame>
        <p:nvGraphicFramePr>
          <p:cNvPr id="17" name="campaign"/>
          <p:cNvGraphicFramePr>
            <a:graphicFrameLocks noGrp="1"/>
          </p:cNvGraphicFramePr>
          <p:nvPr/>
        </p:nvGraphicFramePr>
        <p:xfrm>
          <a:off x="533400" y="3429000"/>
          <a:ext cx="8077200" cy="26670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  <p:sp>
        <p:nvSpPr>
          <p:cNvPr id="18" name="source"/>
          <p:cNvSpPr txBox="1"/>
          <p:nvPr/>
        </p:nvSpPr>
        <p:spPr>
          <a:xfrm>
            <a:off x="533400" y="6331148"/>
            <a:ext cx="6286500" cy="1915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52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nter"/>
                <a:ea typeface="Inter"/>
                <a:cs typeface="Inter"/>
              </a:rPr>
              <a:t>Illustrative workflow data · Native chart in PowerPoint · Made with Vixl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1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DATA THAT STAYS EDITABLE</dc:title>
  <dc:creator>Vixl</dc:creator>
</cp:coreProperties>
</file>