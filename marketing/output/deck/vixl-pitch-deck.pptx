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charts/chart1.xml" ContentType="application/vnd.openxmlformats-officedocument.drawingml.chart+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defaultTextStyle>
    <a:defPPr>
      <a:defRPr lang="en-US"/>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stacked"/>
        <c:varyColors val="0"/>
        <c:ser>
          <c:idx val="0"/>
          <c:order val="0"/>
          <c:tx>
            <c:strRef>
              <c:f>Sheet1!$B$1</c:f>
              <c:strCache>
                <c:ptCount val="1"/>
                <c:pt idx="0">
                  <c:v>Graphics</c:v>
                </c:pt>
              </c:strCache>
            </c:strRef>
          </c:tx>
          <c:spPr>
            <a:solidFill>
              <a:srgbClr val="3575EE"/>
            </a:solidFill>
          </c:spPr>
          <c:invertIfNegative val="0"/>
          <c:cat>
            <c:strRef>
              <c:f>Sheet1!$A$2:$A$5</c:f>
              <c:strCache>
                <c:ptCount val="4"/>
                <c:pt idx="0">
                  <c:v>Brief</c:v>
                </c:pt>
                <c:pt idx="1">
                  <c:v>Create</c:v>
                </c:pt>
                <c:pt idx="2">
                  <c:v>Review</c:v>
                </c:pt>
                <c:pt idx="3">
                  <c:v>Deliver</c:v>
                </c:pt>
              </c:strCache>
            </c:strRef>
          </c:cat>
          <c:val>
            <c:numRef>
              <c:f>Sheet1!$B$2:$B$5</c:f>
              <c:numCache>
                <c:formatCode>General</c:formatCode>
                <c:ptCount val="4"/>
                <c:pt idx="0">
                  <c:v>2</c:v>
                </c:pt>
                <c:pt idx="1">
                  <c:v>5</c:v>
                </c:pt>
                <c:pt idx="2">
                  <c:v>3</c:v>
                </c:pt>
                <c:pt idx="3">
                  <c:v>4</c:v>
                </c:pt>
              </c:numCache>
            </c:numRef>
          </c:val>
        </c:ser>
        <c:ser>
          <c:idx val="1"/>
          <c:order val="1"/>
          <c:tx>
            <c:strRef>
              <c:f>Sheet1!$C$1</c:f>
              <c:strCache>
                <c:ptCount val="1"/>
                <c:pt idx="0">
                  <c:v>Documents</c:v>
                </c:pt>
              </c:strCache>
            </c:strRef>
          </c:tx>
          <c:spPr>
            <a:solidFill>
              <a:srgbClr val="9CC6FA"/>
            </a:solidFill>
          </c:spPr>
          <c:invertIfNegative val="0"/>
          <c:cat>
            <c:strRef>
              <c:f>Sheet1!$A$2:$A$5</c:f>
              <c:strCache>
                <c:ptCount val="4"/>
                <c:pt idx="0">
                  <c:v>Brief</c:v>
                </c:pt>
                <c:pt idx="1">
                  <c:v>Create</c:v>
                </c:pt>
                <c:pt idx="2">
                  <c:v>Review</c:v>
                </c:pt>
                <c:pt idx="3">
                  <c:v>Deliver</c:v>
                </c:pt>
              </c:strCache>
            </c:strRef>
          </c:cat>
          <c:val>
            <c:numRef>
              <c:f>Sheet1!$C$2:$C$5</c:f>
              <c:numCache>
                <c:formatCode>General</c:formatCode>
                <c:ptCount val="4"/>
                <c:pt idx="0">
                  <c:v>1</c:v>
                </c:pt>
                <c:pt idx="1">
                  <c:v>3</c:v>
                </c:pt>
                <c:pt idx="2">
                  <c:v>2</c:v>
                </c:pt>
                <c:pt idx="3">
                  <c:v>3</c:v>
                </c:pt>
              </c:numCache>
            </c:numRef>
          </c:val>
        </c:ser>
        <c:gapWidth val="43"/>
        <c:overlap val="100"/>
        <c:axId val="111111111"/>
        <c:axId val="222222222"/>
      </c:barChart>
      <c:catAx>
        <c:axId val="111111111"/>
        <c:scaling>
          <c:orientation val="minMax"/>
        </c:scaling>
        <c:delete val="0"/>
        <c:axPos val="b"/>
        <c:numFmt formatCode="General" sourceLinked="0"/>
        <c:majorTickMark val="none"/>
        <c:minorTickMark val="none"/>
        <c:tickLblPos val="low"/>
        <c:spPr>
          <a:noFill/>
          <a:ln w="12700">
            <a:solidFill>
              <a:srgbClr val="252B39"/>
            </a:solidFill>
          </a:ln>
        </c:spPr>
        <c:txPr>
          <a:bodyPr/>
          <a:lstStyle/>
          <a:p>
            <a:pPr>
              <a:defRPr sz="1450" b="0">
                <a:solidFill>
                  <a:srgbClr val="252B39"/>
                </a:solidFill>
                <a:latin typeface="Inter"/>
                <a:ea typeface="Inter"/>
                <a:cs typeface="Inter"/>
              </a:defRPr>
            </a:pPr>
            <a:endParaRPr lang="en-US"/>
          </a:p>
        </c:txPr>
        <c:crossAx val="222222222"/>
        <c:crosses val="autoZero"/>
        <c:auto val="1"/>
        <c:lblAlgn val="ctr"/>
        <c:lblOffset val="100"/>
        <c:noMultiLvlLbl val="0"/>
      </c:catAx>
      <c:valAx>
        <c:axId val="222222222"/>
        <c:scaling>
          <c:orientation val="minMax"/>
          <c:max val="8"/>
          <c:min val="0"/>
        </c:scaling>
        <c:delete val="0"/>
        <c:axPos val="l"/>
        <c:majorGridlines>
          <c:spPr>
            <a:ln w="9525">
              <a:solidFill>
                <a:srgbClr val="DCE2EE"/>
              </a:solidFill>
            </a:ln>
          </c:spPr>
        </c:majorGridlines>
        <c:numFmt formatCode="0" sourceLinked="0"/>
        <c:majorTickMark val="none"/>
        <c:minorTickMark val="none"/>
        <c:tickLblPos val="nextTo"/>
        <c:spPr>
          <a:noFill/>
          <a:ln>
            <a:noFill/>
          </a:ln>
        </c:spPr>
        <c:txPr>
          <a:bodyPr/>
          <a:lstStyle/>
          <a:p>
            <a:pPr>
              <a:defRPr sz="1450" b="0">
                <a:solidFill>
                  <a:srgbClr val="252B39"/>
                </a:solidFill>
                <a:latin typeface="Inter"/>
                <a:ea typeface="Inter"/>
                <a:cs typeface="Inter"/>
              </a:defRPr>
            </a:pPr>
            <a:endParaRPr lang="en-US"/>
          </a:p>
        </c:txPr>
        <c:crossAx val="111111111"/>
        <c:crosses val="autoZero"/>
        <c:crossBetween val="between"/>
        <c:majorUnit val="2"/>
      </c:valAx>
      <c:spPr>
        <a:noFill/>
        <a:ln>
          <a:noFill/>
        </a:ln>
      </c:spPr>
    </c:plotArea>
    <c:legend>
      <c:legendPos val="b"/>
      <c:overlay val="0"/>
      <c:txPr>
        <a:bodyPr/>
        <a:lstStyle/>
        <a:p>
          <a:pPr>
            <a:defRPr sz="1450" b="0">
              <a:solidFill>
                <a:srgbClr val="252B39"/>
              </a:solidFill>
              <a:latin typeface="Inter"/>
              <a:ea typeface="Inter"/>
              <a:cs typeface="Inter"/>
            </a:defRPr>
          </a:pPr>
          <a:endParaRPr lang="en-US"/>
        </a:p>
      </c:txPr>
    </c:legend>
    <c:plotVisOnly val="1"/>
    <c:dispBlanksAs val="gap"/>
  </c:chart>
  <c:spPr>
    <a:noFill/>
    <a:ln>
      <a:noFill/>
    </a:ln>
  </c:spPr>
  <c:txPr>
    <a:bodyPr/>
    <a:lstStyle/>
    <a:p>
      <a:pPr>
        <a:defRPr sz="1450" b="0">
          <a:solidFill>
            <a:srgbClr val="252B39"/>
          </a:solidFill>
          <a:latin typeface="Inter"/>
          <a:ea typeface="Inter"/>
          <a:cs typeface="In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a:xfrm>
            <a:off x="381000" y="685800"/>
            <a:ext cx="6096000" cy="3429000"/>
          </a:xfrm>
          <a:prstGeom prst="rect">
            <a:avLst/>
          </a:prstGeom>
        </p:spPr>
        <p:txBody>
          <a:bodyPr/>
          <a:lstStyle/>
          <a:p>
            <a:endParaRPr lang="en-US"/>
          </a:p>
        </p:txBody>
      </p:sp>
      <p:sp>
        <p:nvSpPr>
          <p:cNvPr id="3" name="Notes Placeholder 2"/>
          <p:cNvSpPr>
            <a:spLocks noGrp="1"/>
          </p:cNvSpPr>
          <p:nvPr>
            <p:ph type="body" idx="1"/>
          </p:nvPr>
        </p:nvSpPr>
        <p:spPr>
          <a:xfrm>
            <a:off x="685800" y="4343400"/>
            <a:ext cx="5486400" cy="41148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notesStyle>
    <a:lvl1pPr marL="0" algn="l">
      <a:defRPr sz="1200" kern="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Vixl is a design engine for AI agents. Your agent builds graphics, documents and motion out of real layers, Vixl checks the work, and you get a file you can still change next week. Fun fact: this deck was made with Vixl.</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poster and most tools hand you a picture of a poster. The .vixl master keeps the content, settings and branching history instead. Raster images stay pixels; text, supported shapes and paths stay editable. Send the master along with whatever formats people asked for.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Inspect, apply, check, preview and export. Each step tells the agent what went wrong while it is still cheap to fix. The diagram is Vixl's own diagram operation: editable nodes, routed paths and text. Checks back up visual review; they do not judge taste.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real output in this repository: a print layout, a generative painting, a pixel game, data graphics, character animation and a photo edit. They show range, not usage statistics.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workflow data, not a customer result or performance claim. Vixl binds the chart to categories and series, so new numbers do not mean a new chart. In the PowerPoint export it is a native chart with an embedded workbook: open Edit Data and poke around.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included social campaign is a typed recipe: headline, description and accent go in, posts come out. Production fills in three CSV rows, runs the saved design suite and exports only the variants that pass. Nobody copies and pastes anything. Start from the supplied CSV and production request.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Vixl has timeline tracks, cameras, audio and rigged joint pose keys. The app demo in this kit ships ready, creating and delivered states with light and dark themes, explicit transitions, editable masters and reduced-motion PNGs. The teaser is an editable timeline exported to MP4 and GIF.</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checks cover bounds, flow, contrast, fonts and more. Saved suites turn margins, hierarchy and spacing into rules that pass or fail. Proof pages collect previews and findings offline. A passing check proves its rules, not your taste, so someone still looks at the render.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Unpack a .vixl master into stable JSON and hashed assets, review the diff in Git, then pack it back into a document. Branching history, project groups and reusable libraries cover the rest of teamwork. The included campaign has an unpacked source folder you can browse.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serves agents, the CLI serves scripts and CI, Python serves generators and notebooks, and REST serves integrations and live review. All share canonical operations. The server extra is needed for REST.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Supported vectors stay vector in SVG/PDF where possible; some features use reported raster fallbacks. PPTX preserves supported editable shapes, text, tables and charts. PSD export is layered pixels, not native editable type. CMYK is an export setting; ask your printer to confirm the profile.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 users can use the installer from GitHub Releases. Developers need Python 3.11 or newer; clone the repo, then install its extras. Run the MCP command in an existing workspace. Vixl is source-available under PolyForm Small Business 1.0.0; read LICENSE for eligibility. Core authoring works locally. AI generation and vision need configured external providers.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2000" y="428625"/>
            <a:ext cx="10668000" cy="1143000"/>
          </a:xfrm>
          <a:prstGeom prst="rect">
            <a:avLst/>
          </a:prstGeom>
        </p:spPr>
        <p:txBody>
          <a:bodyPr/>
          <a:lstStyle/>
          <a:p>
            <a:endParaRPr lang="en-US"/>
          </a:p>
        </p:txBody>
      </p:sp>
      <p:sp>
        <p:nvSpPr>
          <p:cNvPr id="3" name="Text Placeholder 2"/>
          <p:cNvSpPr>
            <a:spLocks noGrp="1"/>
          </p:cNvSpPr>
          <p:nvPr>
            <p:ph type="body" idx="1"/>
          </p:nvPr>
        </p:nvSpPr>
        <p:spPr>
          <a:xfrm>
            <a:off x="762000" y="1714500"/>
            <a:ext cx="10668000" cy="34290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a:defRPr sz="4400" kern="1200">
          <a:solidFill>
            <a:schemeClr val="tx1"/>
          </a:solidFill>
          <a:latin typeface="+mj-lt"/>
        </a:defRPr>
      </a:lvl1pPr>
    </p:titleStyle>
    <p:bodyStyle>
      <a:lvl1pPr marL="228600" indent="-228600">
        <a:defRPr sz="2800" kern="1200">
          <a:solidFill>
            <a:schemeClr val="tx1"/>
          </a:solidFill>
          <a:latin typeface="+mn-lt"/>
        </a:defRPr>
      </a:lvl1pPr>
    </p:bodyStyle>
    <p:otherStyle>
      <a:defPPr>
        <a:defRPr lang="en-US"/>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Chart1"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title">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 / 12</a:t>
            </a:r>
            <a:endParaRPr lang="en-US" sz="1200" dirty="0"/>
          </a:p>
        </p:txBody>
      </p:sp>
      <p:sp>
        <p:nvSpPr>
          <p:cNvPr id="16" name="kicker"/>
          <p:cNvSpPr txBox="1"/>
          <p:nvPr/>
        </p:nvSpPr>
        <p:spPr>
          <a:xfrm>
            <a:off x="889000" y="575818"/>
            <a:ext cx="4802188" cy="230632"/>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VIXL / A DESIGN ENGINE FOR AI AGENTS</a:t>
            </a:r>
            <a:endParaRPr lang="en-US" sz="1400" dirty="0"/>
          </a:p>
        </p:txBody>
      </p:sp>
      <p:sp>
        <p:nvSpPr>
          <p:cNvPr id="17" name="headline"/>
          <p:cNvSpPr>
            <a:spLocks noGrp="1"/>
          </p:cNvSpPr>
          <p:nvPr>
            <p:ph type="title"/>
          </p:nvPr>
        </p:nvSpPr>
        <p:spPr>
          <a:xfrm>
            <a:off x="889000" y="1316078"/>
            <a:ext cx="4889500" cy="110327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Ideas become</a:t>
            </a:r>
            <a:endParaRPr lang="en-US" sz="4700" dirty="0"/>
          </a:p>
          <a:p>
            <a:pPr algn="l">
              <a:lnSpc>
                <a:spcPts val="4324"/>
              </a:lnSpc>
              <a:spcBef>
                <a:spcPts val="0"/>
              </a:spcBef>
              <a:spcAft>
                <a:spcPts val="0"/>
              </a:spcAft>
              <a:buNone/>
            </a:pPr>
            <a:r>
              <a:rPr lang="en-US" sz="4700" b="1" dirty="0">
                <a:solidFill>
                  <a:srgbClr val="6A9AFF"/>
                </a:solidFill>
                <a:latin typeface="Inter Tight"/>
                <a:ea typeface="Inter Tight"/>
                <a:cs typeface="Inter Tight"/>
              </a:rPr>
              <a:t>editable.</a:t>
            </a:r>
            <a:endParaRPr lang="en-US" sz="4700" dirty="0"/>
          </a:p>
        </p:txBody>
      </p:sp>
      <p:grpSp>
        <p:nvGrpSpPr>
          <p:cNvPr id="26" name="mark"/>
          <p:cNvGrpSpPr/>
          <p:nvPr/>
        </p:nvGrpSpPr>
        <p:grpSpPr>
          <a:xfrm>
            <a:off x="8639572" y="2353866"/>
            <a:ext cx="1706642" cy="1576626"/>
            <a:chOff x="0" y="0"/>
            <a:chExt cx="3034030" cy="2802890"/>
          </a:xfrm>
        </p:grpSpPr>
        <p:sp>
          <p:nvSpPr>
            <p:cNvPr id="18" name="mark-part-0"/>
            <p:cNvSpPr/>
            <p:nvPr/>
          </p:nvSpPr>
          <p:spPr>
            <a:xfrm>
              <a:off x="2636520" y="0"/>
              <a:ext cx="196850" cy="196850"/>
            </a:xfrm>
            <a:prstGeom prst="rect">
              <a:avLst/>
            </a:prstGeom>
            <a:solidFill>
              <a:srgbClr val="FFFFFF"/>
            </a:solidFill>
            <a:ln>
              <a:noFill/>
            </a:ln>
          </p:spPr>
        </p:sp>
        <p:sp>
          <p:nvSpPr>
            <p:cNvPr id="19" name="mark-part-1"/>
            <p:cNvSpPr/>
            <p:nvPr/>
          </p:nvSpPr>
          <p:spPr>
            <a:xfrm>
              <a:off x="198120" y="2606040"/>
              <a:ext cx="196850" cy="196850"/>
            </a:xfrm>
            <a:prstGeom prst="rect">
              <a:avLst/>
            </a:prstGeom>
            <a:solidFill>
              <a:srgbClr val="6A9AFF"/>
            </a:solidFill>
            <a:ln>
              <a:noFill/>
            </a:ln>
          </p:spPr>
        </p:sp>
        <p:sp>
          <p:nvSpPr>
            <p:cNvPr id="20" name="mark-part-2"/>
            <p:cNvSpPr/>
            <p:nvPr/>
          </p:nvSpPr>
          <p:spPr>
            <a:xfrm>
              <a:off x="2682240" y="487680"/>
              <a:ext cx="139700" cy="139700"/>
            </a:xfrm>
            <a:prstGeom prst="rect">
              <a:avLst/>
            </a:prstGeom>
            <a:solidFill>
              <a:srgbClr val="FFFFFF"/>
            </a:solidFill>
            <a:ln>
              <a:noFill/>
            </a:ln>
          </p:spPr>
        </p:sp>
        <p:sp>
          <p:nvSpPr>
            <p:cNvPr id="21" name="mark-part-3"/>
            <p:cNvSpPr/>
            <p:nvPr/>
          </p:nvSpPr>
          <p:spPr>
            <a:xfrm>
              <a:off x="213360" y="2179320"/>
              <a:ext cx="139700" cy="139700"/>
            </a:xfrm>
            <a:prstGeom prst="rect">
              <a:avLst/>
            </a:prstGeom>
            <a:solidFill>
              <a:srgbClr val="6A9AFF"/>
            </a:solidFill>
            <a:ln>
              <a:noFill/>
            </a:ln>
          </p:spPr>
        </p:sp>
        <p:sp>
          <p:nvSpPr>
            <p:cNvPr id="22" name="mark-part-4"/>
            <p:cNvSpPr/>
            <p:nvPr/>
          </p:nvSpPr>
          <p:spPr>
            <a:xfrm>
              <a:off x="2926080" y="243840"/>
              <a:ext cx="107950" cy="107950"/>
            </a:xfrm>
            <a:prstGeom prst="rect">
              <a:avLst/>
            </a:prstGeom>
            <a:solidFill>
              <a:srgbClr val="FFFFFF"/>
            </a:solidFill>
            <a:ln>
              <a:noFill/>
            </a:ln>
          </p:spPr>
        </p:sp>
        <p:sp>
          <p:nvSpPr>
            <p:cNvPr id="23" name="mark-part-5"/>
            <p:cNvSpPr/>
            <p:nvPr/>
          </p:nvSpPr>
          <p:spPr>
            <a:xfrm>
              <a:off x="0" y="2453640"/>
              <a:ext cx="107950" cy="107950"/>
            </a:xfrm>
            <a:prstGeom prst="rect">
              <a:avLst/>
            </a:prstGeom>
            <a:solidFill>
              <a:srgbClr val="6A9AFF"/>
            </a:solidFill>
            <a:ln>
              <a:noFill/>
            </a:ln>
          </p:spPr>
        </p:sp>
        <p:sp>
          <p:nvSpPr>
            <p:cNvPr id="24" name="mark-part-6"/>
            <p:cNvSpPr/>
            <p:nvPr/>
          </p:nvSpPr>
          <p:spPr>
            <a:xfrm>
              <a:off x="152400" y="0"/>
              <a:ext cx="2438400" cy="1460500"/>
            </a:xfrm>
            <a:custGeom>
              <a:avLst/>
              <a:gdLst/>
              <a:ahLst/>
              <a:cxnLst/>
              <a:rect l="0" t="0" r="r" b="b"/>
              <a:pathLst>
                <a:path w="38400" h="23000">
                  <a:moveTo>
                    <a:pt x="0" y="0"/>
                  </a:moveTo>
                  <a:lnTo>
                    <a:pt x="9120" y="0"/>
                  </a:lnTo>
                  <a:lnTo>
                    <a:pt x="19200" y="13920"/>
                  </a:lnTo>
                  <a:lnTo>
                    <a:pt x="28800" y="0"/>
                  </a:lnTo>
                  <a:lnTo>
                    <a:pt x="34560" y="0"/>
                  </a:lnTo>
                  <a:lnTo>
                    <a:pt x="34560" y="3840"/>
                  </a:lnTo>
                  <a:lnTo>
                    <a:pt x="38400" y="3840"/>
                  </a:lnTo>
                  <a:lnTo>
                    <a:pt x="38400" y="7680"/>
                  </a:lnTo>
                  <a:lnTo>
                    <a:pt x="34560" y="7680"/>
                  </a:lnTo>
                  <a:lnTo>
                    <a:pt x="34560" y="11520"/>
                  </a:lnTo>
                  <a:lnTo>
                    <a:pt x="30720" y="11520"/>
                  </a:lnTo>
                  <a:lnTo>
                    <a:pt x="30720" y="15360"/>
                  </a:lnTo>
                  <a:lnTo>
                    <a:pt x="26880" y="15360"/>
                  </a:lnTo>
                  <a:lnTo>
                    <a:pt x="26880" y="19200"/>
                  </a:lnTo>
                  <a:lnTo>
                    <a:pt x="23040" y="19200"/>
                  </a:lnTo>
                  <a:lnTo>
                    <a:pt x="23040" y="23040"/>
                  </a:lnTo>
                  <a:lnTo>
                    <a:pt x="15360" y="23040"/>
                  </a:lnTo>
                  <a:lnTo>
                    <a:pt x="0" y="0"/>
                  </a:lnTo>
                  <a:close/>
                </a:path>
              </a:pathLst>
            </a:custGeom>
            <a:solidFill>
              <a:srgbClr val="FFFFFF"/>
            </a:solidFill>
            <a:ln>
              <a:noFill/>
            </a:ln>
          </p:spPr>
        </p:sp>
        <p:sp>
          <p:nvSpPr>
            <p:cNvPr id="25" name="mark-part-7"/>
            <p:cNvSpPr/>
            <p:nvPr/>
          </p:nvSpPr>
          <p:spPr>
            <a:xfrm>
              <a:off x="441960" y="1341120"/>
              <a:ext cx="2438400" cy="1460500"/>
            </a:xfrm>
            <a:custGeom>
              <a:avLst/>
              <a:gdLst/>
              <a:ahLst/>
              <a:cxnLst/>
              <a:rect l="0" t="0" r="r" b="b"/>
              <a:pathLst>
                <a:path w="38400" h="23000">
                  <a:moveTo>
                    <a:pt x="38400" y="23040"/>
                  </a:moveTo>
                  <a:lnTo>
                    <a:pt x="29280" y="23040"/>
                  </a:lnTo>
                  <a:lnTo>
                    <a:pt x="19200" y="9120"/>
                  </a:lnTo>
                  <a:lnTo>
                    <a:pt x="9600" y="23040"/>
                  </a:lnTo>
                  <a:lnTo>
                    <a:pt x="3840" y="23040"/>
                  </a:lnTo>
                  <a:lnTo>
                    <a:pt x="3840" y="19200"/>
                  </a:lnTo>
                  <a:lnTo>
                    <a:pt x="0" y="19200"/>
                  </a:lnTo>
                  <a:lnTo>
                    <a:pt x="0" y="15360"/>
                  </a:lnTo>
                  <a:lnTo>
                    <a:pt x="3840" y="15360"/>
                  </a:lnTo>
                  <a:lnTo>
                    <a:pt x="3840" y="11520"/>
                  </a:lnTo>
                  <a:lnTo>
                    <a:pt x="7680" y="11520"/>
                  </a:lnTo>
                  <a:lnTo>
                    <a:pt x="7680" y="7680"/>
                  </a:lnTo>
                  <a:lnTo>
                    <a:pt x="11520" y="7680"/>
                  </a:lnTo>
                  <a:lnTo>
                    <a:pt x="11520" y="3840"/>
                  </a:lnTo>
                  <a:lnTo>
                    <a:pt x="15360" y="3840"/>
                  </a:lnTo>
                  <a:lnTo>
                    <a:pt x="15360" y="0"/>
                  </a:lnTo>
                  <a:lnTo>
                    <a:pt x="23040" y="0"/>
                  </a:lnTo>
                  <a:lnTo>
                    <a:pt x="38400" y="23040"/>
                  </a:lnTo>
                  <a:close/>
                </a:path>
              </a:pathLst>
            </a:custGeom>
            <a:solidFill>
              <a:srgbClr val="6A9AFF"/>
            </a:solidFill>
            <a:ln>
              <a:noFill/>
            </a:ln>
          </p:spPr>
        </p:sp>
      </p:grpSp>
      <p:sp>
        <p:nvSpPr>
          <p:cNvPr id="27" name="sub"/>
          <p:cNvSpPr txBox="1"/>
          <p:nvPr/>
        </p:nvSpPr>
        <p:spPr>
          <a:xfrm>
            <a:off x="889000" y="3733922"/>
            <a:ext cx="6667500" cy="742828"/>
          </a:xfrm>
          <a:prstGeom prst="rect">
            <a:avLst/>
          </a:prstGeom>
          <a:noFill/>
        </p:spPr>
        <p:txBody>
          <a:bodyPr wrap="square" lIns="0" tIns="0" rIns="0" bIns="0" rtlCol="0" anchor="t">
            <a:noAutofit/>
          </a:bodyPr>
          <a:lstStyle/>
          <a:p>
            <a:pPr algn="l">
              <a:lnSpc>
                <a:spcPts val="2860"/>
              </a:lnSpc>
              <a:spcBef>
                <a:spcPts val="0"/>
              </a:spcBef>
              <a:spcAft>
                <a:spcPts val="0"/>
              </a:spcAft>
              <a:buNone/>
            </a:pPr>
            <a:r>
              <a:rPr lang="en-US" sz="2200" dirty="0">
                <a:solidFill>
                  <a:srgbClr val="AEB7CA"/>
                </a:solidFill>
                <a:latin typeface="Inter"/>
                <a:ea typeface="Inter"/>
                <a:cs typeface="Inter"/>
              </a:rPr>
              <a:t>Programmable. Editable. Checked.</a:t>
            </a:r>
            <a:endParaRPr lang="en-US" sz="2200" dirty="0"/>
          </a:p>
          <a:p>
            <a:pPr algn="l">
              <a:lnSpc>
                <a:spcPts val="2860"/>
              </a:lnSpc>
              <a:spcBef>
                <a:spcPts val="0"/>
              </a:spcBef>
              <a:spcAft>
                <a:spcPts val="0"/>
              </a:spcAft>
              <a:buNone/>
            </a:pPr>
            <a:r>
              <a:rPr lang="en-US" sz="2200" dirty="0">
                <a:solidFill>
                  <a:srgbClr val="AEB7CA"/>
                </a:solidFill>
                <a:latin typeface="Inter"/>
                <a:ea typeface="Inter"/>
                <a:cs typeface="Inter"/>
              </a:rPr>
              <a:t>MCP · CLI · Python · REST</a:t>
            </a:r>
            <a:endParaRPr lang="en-US" sz="2200" dirty="0"/>
          </a:p>
        </p:txBody>
      </p:sp>
      <p:sp>
        <p:nvSpPr>
          <p:cNvPr id="28" name="credit"/>
          <p:cNvSpPr txBox="1"/>
          <p:nvPr/>
        </p:nvSpPr>
        <p:spPr>
          <a:xfrm>
            <a:off x="889000" y="5195494"/>
            <a:ext cx="360362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THIS DECK IS MADE WITH VIXL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document">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2 / 12</a:t>
            </a:r>
            <a:endParaRPr lang="en-US" sz="1200" dirty="0"/>
          </a:p>
        </p:txBody>
      </p:sp>
      <p:sp>
        <p:nvSpPr>
          <p:cNvPr id="16" name="kicker"/>
          <p:cNvSpPr txBox="1"/>
          <p:nvPr/>
        </p:nvSpPr>
        <p:spPr>
          <a:xfrm>
            <a:off x="889000" y="559816"/>
            <a:ext cx="1738312"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THE CORE IDEA</a:t>
            </a:r>
            <a:endParaRPr lang="en-US" sz="1400" dirty="0"/>
          </a:p>
        </p:txBody>
      </p:sp>
      <p:sp>
        <p:nvSpPr>
          <p:cNvPr id="17" name="headline"/>
          <p:cNvSpPr>
            <a:spLocks noGrp="1"/>
          </p:cNvSpPr>
          <p:nvPr>
            <p:ph type="title"/>
          </p:nvPr>
        </p:nvSpPr>
        <p:spPr>
          <a:xfrm>
            <a:off x="889000" y="1316078"/>
            <a:ext cx="9366250"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Not a picture. </a:t>
            </a:r>
            <a:r>
              <a:rPr lang="en-US" sz="4700" b="1" dirty="0">
                <a:solidFill>
                  <a:srgbClr val="6A9AFF"/>
                </a:solidFill>
                <a:latin typeface="Inter Tight"/>
                <a:ea typeface="Inter Tight"/>
                <a:cs typeface="Inter Tight"/>
              </a:rPr>
              <a:t>A document.</a:t>
            </a:r>
            <a:endParaRPr lang="en-US" sz="4700" dirty="0"/>
          </a:p>
        </p:txBody>
      </p:sp>
      <p:sp>
        <p:nvSpPr>
          <p:cNvPr id="18" name="card-0"/>
          <p:cNvSpPr/>
          <p:nvPr/>
        </p:nvSpPr>
        <p:spPr>
          <a:xfrm>
            <a:off x="889000" y="2730500"/>
            <a:ext cx="3302000" cy="2444750"/>
          </a:xfrm>
          <a:prstGeom prst="roundRect">
            <a:avLst>
              <a:gd name="adj" fmla="val 4156"/>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388736"/>
            <a:ext cx="16668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Content</a:t>
            </a:r>
            <a:endParaRPr lang="en-US" sz="2450" dirty="0"/>
          </a:p>
        </p:txBody>
      </p:sp>
      <p:sp>
        <p:nvSpPr>
          <p:cNvPr id="21" name="body-0"/>
          <p:cNvSpPr txBox="1"/>
          <p:nvPr/>
        </p:nvSpPr>
        <p:spPr>
          <a:xfrm>
            <a:off x="1117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Text, paths, images, masks and effects. All still editable.</a:t>
            </a:r>
            <a:endParaRPr lang="en-US" sz="1700" dirty="0"/>
          </a:p>
        </p:txBody>
      </p:sp>
      <p:sp>
        <p:nvSpPr>
          <p:cNvPr id="22" name="card-1"/>
          <p:cNvSpPr/>
          <p:nvPr/>
        </p:nvSpPr>
        <p:spPr>
          <a:xfrm>
            <a:off x="4445000" y="2730500"/>
            <a:ext cx="3302000" cy="2444750"/>
          </a:xfrm>
          <a:prstGeom prst="roundRect">
            <a:avLst>
              <a:gd name="adj" fmla="val 4156"/>
            </a:avLst>
          </a:prstGeom>
          <a:solidFill>
            <a:srgbClr val="2F3647"/>
          </a:solidFill>
          <a:ln>
            <a:noFill/>
          </a:ln>
        </p:spPr>
      </p:sp>
      <p:sp>
        <p:nvSpPr>
          <p:cNvPr id="23"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388736"/>
            <a:ext cx="186372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Structure</a:t>
            </a:r>
            <a:endParaRPr lang="en-US" sz="2450" dirty="0"/>
          </a:p>
        </p:txBody>
      </p:sp>
      <p:sp>
        <p:nvSpPr>
          <p:cNvPr id="25" name="body-1"/>
          <p:cNvSpPr txBox="1"/>
          <p:nvPr/>
        </p:nvSpPr>
        <p:spPr>
          <a:xfrm>
            <a:off x="4673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Groups, variables, pages, layouts and reusable parts.</a:t>
            </a:r>
            <a:endParaRPr lang="en-US" sz="1700" dirty="0"/>
          </a:p>
        </p:txBody>
      </p:sp>
      <p:sp>
        <p:nvSpPr>
          <p:cNvPr id="26" name="card-2"/>
          <p:cNvSpPr/>
          <p:nvPr/>
        </p:nvSpPr>
        <p:spPr>
          <a:xfrm>
            <a:off x="8001000" y="2730500"/>
            <a:ext cx="3302000" cy="2444750"/>
          </a:xfrm>
          <a:prstGeom prst="roundRect">
            <a:avLst>
              <a:gd name="adj" fmla="val 4156"/>
            </a:avLst>
          </a:prstGeom>
          <a:solidFill>
            <a:srgbClr val="2F3647"/>
          </a:solidFill>
          <a:ln>
            <a:noFill/>
          </a:ln>
        </p:spPr>
      </p:sp>
      <p:sp>
        <p:nvSpPr>
          <p:cNvPr id="27"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400434"/>
            <a:ext cx="1546225" cy="33336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History</a:t>
            </a:r>
            <a:endParaRPr lang="en-US" sz="2450" dirty="0"/>
          </a:p>
        </p:txBody>
      </p:sp>
      <p:sp>
        <p:nvSpPr>
          <p:cNvPr id="29" name="body-2"/>
          <p:cNvSpPr txBox="1"/>
          <p:nvPr/>
        </p:nvSpPr>
        <p:spPr>
          <a:xfrm>
            <a:off x="8229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Undo, checkpoints, branches and diffs. Go back in time.</a:t>
            </a:r>
            <a:endParaRPr lang="en-US" sz="17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workflow">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3 / 12</a:t>
            </a:r>
            <a:endParaRPr lang="en-US" sz="1200" dirty="0"/>
          </a:p>
        </p:txBody>
      </p:sp>
      <p:sp>
        <p:nvSpPr>
          <p:cNvPr id="16" name="kicker"/>
          <p:cNvSpPr txBox="1"/>
          <p:nvPr/>
        </p:nvSpPr>
        <p:spPr>
          <a:xfrm>
            <a:off x="889000" y="559816"/>
            <a:ext cx="187325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THE AGENT LOOP</a:t>
            </a:r>
            <a:endParaRPr lang="en-US" sz="1400" dirty="0"/>
          </a:p>
        </p:txBody>
      </p:sp>
      <p:sp>
        <p:nvSpPr>
          <p:cNvPr id="17" name="headline"/>
          <p:cNvSpPr>
            <a:spLocks noGrp="1"/>
          </p:cNvSpPr>
          <p:nvPr>
            <p:ph type="title"/>
          </p:nvPr>
        </p:nvSpPr>
        <p:spPr>
          <a:xfrm>
            <a:off x="889000" y="1316078"/>
            <a:ext cx="827881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Look before </a:t>
            </a:r>
            <a:r>
              <a:rPr lang="en-US" sz="4700" b="1" dirty="0">
                <a:solidFill>
                  <a:srgbClr val="6A9AFF"/>
                </a:solidFill>
                <a:latin typeface="Inter Tight"/>
                <a:ea typeface="Inter Tight"/>
                <a:cs typeface="Inter Tight"/>
              </a:rPr>
              <a:t>you export.</a:t>
            </a:r>
            <a:endParaRPr lang="en-US" sz="4700" dirty="0"/>
          </a:p>
        </p:txBody>
      </p:sp>
      <p:grpSp>
        <p:nvGrpSpPr>
          <p:cNvPr id="32" name="workflow"/>
          <p:cNvGrpSpPr/>
          <p:nvPr/>
        </p:nvGrpSpPr>
        <p:grpSpPr>
          <a:xfrm>
            <a:off x="939800" y="2997200"/>
            <a:ext cx="10306050" cy="889000"/>
            <a:chOff x="0" y="0"/>
            <a:chExt cx="10306050" cy="889000"/>
          </a:xfrm>
        </p:grpSpPr>
        <p:sp>
          <p:nvSpPr>
            <p:cNvPr id="18" name="workflow/brief-&gt;edit"/>
            <p:cNvSpPr/>
            <p:nvPr/>
          </p:nvSpPr>
          <p:spPr>
            <a:xfrm>
              <a:off x="151130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19" name="workflow/edit-&gt;check"/>
            <p:cNvSpPr/>
            <p:nvPr/>
          </p:nvSpPr>
          <p:spPr>
            <a:xfrm>
              <a:off x="343535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20" name="workflow/check-&gt;preview"/>
            <p:cNvSpPr/>
            <p:nvPr/>
          </p:nvSpPr>
          <p:spPr>
            <a:xfrm>
              <a:off x="5930900" y="374650"/>
              <a:ext cx="711200" cy="139700"/>
            </a:xfrm>
            <a:custGeom>
              <a:avLst/>
              <a:gdLst/>
              <a:ahLst/>
              <a:cxnLst/>
              <a:rect l="0" t="0" r="r" b="b"/>
              <a:pathLst>
                <a:path w="11200" h="2200">
                  <a:moveTo>
                    <a:pt x="400" y="1100"/>
                  </a:moveTo>
                  <a:lnTo>
                    <a:pt x="9618" y="1100"/>
                  </a:lnTo>
                  <a:lnTo>
                    <a:pt x="400" y="1100"/>
                  </a:lnTo>
                  <a:moveTo>
                    <a:pt x="9122" y="1826"/>
                  </a:moveTo>
                  <a:lnTo>
                    <a:pt x="10850" y="1100"/>
                  </a:lnTo>
                  <a:lnTo>
                    <a:pt x="9122" y="374"/>
                  </a:lnTo>
                  <a:lnTo>
                    <a:pt x="9122" y="1826"/>
                  </a:lnTo>
                  <a:close/>
                </a:path>
              </a:pathLst>
            </a:custGeom>
            <a:solidFill>
              <a:srgbClr val="6A9AFF"/>
            </a:solidFill>
            <a:ln w="19050" cap="rnd">
              <a:solidFill>
                <a:srgbClr val="6A9AFF"/>
              </a:solidFill>
              <a:round/>
            </a:ln>
          </p:spPr>
        </p:sp>
        <p:sp>
          <p:nvSpPr>
            <p:cNvPr id="21" name="workflow/preview-&gt;export"/>
            <p:cNvSpPr/>
            <p:nvPr/>
          </p:nvSpPr>
          <p:spPr>
            <a:xfrm>
              <a:off x="819150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22" name="workflow/brief"/>
            <p:cNvSpPr/>
            <p:nvPr/>
          </p:nvSpPr>
          <p:spPr>
            <a:xfrm>
              <a:off x="57150" y="190500"/>
              <a:ext cx="1460500" cy="508000"/>
            </a:xfrm>
            <a:prstGeom prst="roundRect">
              <a:avLst>
                <a:gd name="adj" fmla="val 13875"/>
              </a:avLst>
            </a:prstGeom>
            <a:solidFill>
              <a:srgbClr val="2F3647"/>
            </a:solidFill>
            <a:ln w="19050">
              <a:solidFill>
                <a:srgbClr val="858A95"/>
              </a:solidFill>
            </a:ln>
          </p:spPr>
        </p:sp>
        <p:sp>
          <p:nvSpPr>
            <p:cNvPr id="23" name="workflow/edit"/>
            <p:cNvSpPr/>
            <p:nvPr/>
          </p:nvSpPr>
          <p:spPr>
            <a:xfrm>
              <a:off x="2235200" y="190500"/>
              <a:ext cx="1206500" cy="508000"/>
            </a:xfrm>
            <a:prstGeom prst="roundRect">
              <a:avLst>
                <a:gd name="adj" fmla="val 13875"/>
              </a:avLst>
            </a:prstGeom>
            <a:solidFill>
              <a:srgbClr val="2F3647"/>
            </a:solidFill>
            <a:ln w="19050">
              <a:solidFill>
                <a:srgbClr val="858A95"/>
              </a:solidFill>
            </a:ln>
          </p:spPr>
        </p:sp>
        <p:sp>
          <p:nvSpPr>
            <p:cNvPr id="24" name="workflow/check"/>
            <p:cNvSpPr/>
            <p:nvPr/>
          </p:nvSpPr>
          <p:spPr>
            <a:xfrm>
              <a:off x="4149725" y="47625"/>
              <a:ext cx="1797050" cy="793750"/>
            </a:xfrm>
            <a:custGeom>
              <a:avLst/>
              <a:gdLst/>
              <a:ahLst/>
              <a:cxnLst/>
              <a:rect l="0" t="0" r="r" b="b"/>
              <a:pathLst>
                <a:path w="10000" h="10000">
                  <a:moveTo>
                    <a:pt x="5000" y="0"/>
                  </a:moveTo>
                  <a:lnTo>
                    <a:pt x="10000" y="5000"/>
                  </a:lnTo>
                  <a:lnTo>
                    <a:pt x="5000" y="10000"/>
                  </a:lnTo>
                  <a:lnTo>
                    <a:pt x="0" y="5000"/>
                  </a:lnTo>
                  <a:lnTo>
                    <a:pt x="5000" y="0"/>
                  </a:lnTo>
                  <a:close/>
                </a:path>
              </a:pathLst>
            </a:custGeom>
            <a:solidFill>
              <a:srgbClr val="2F3647"/>
            </a:solidFill>
            <a:ln w="19050">
              <a:solidFill>
                <a:srgbClr val="858A95"/>
              </a:solidFill>
            </a:ln>
          </p:spPr>
        </p:sp>
        <p:sp>
          <p:nvSpPr>
            <p:cNvPr id="25" name="workflow/preview"/>
            <p:cNvSpPr/>
            <p:nvPr/>
          </p:nvSpPr>
          <p:spPr>
            <a:xfrm>
              <a:off x="6648450" y="222250"/>
              <a:ext cx="1549400" cy="444500"/>
            </a:xfrm>
            <a:prstGeom prst="roundRect">
              <a:avLst>
                <a:gd name="adj" fmla="val 15857"/>
              </a:avLst>
            </a:prstGeom>
            <a:solidFill>
              <a:srgbClr val="2F3647"/>
            </a:solidFill>
            <a:ln w="19050">
              <a:solidFill>
                <a:srgbClr val="858A95"/>
              </a:solidFill>
            </a:ln>
          </p:spPr>
        </p:sp>
        <p:sp>
          <p:nvSpPr>
            <p:cNvPr id="26" name="workflow/export"/>
            <p:cNvSpPr/>
            <p:nvPr/>
          </p:nvSpPr>
          <p:spPr>
            <a:xfrm>
              <a:off x="8915400" y="190500"/>
              <a:ext cx="1333500" cy="508000"/>
            </a:xfrm>
            <a:prstGeom prst="roundRect">
              <a:avLst>
                <a:gd name="adj" fmla="val 13875"/>
              </a:avLst>
            </a:prstGeom>
            <a:solidFill>
              <a:srgbClr val="2F3647"/>
            </a:solidFill>
            <a:ln w="19050">
              <a:solidFill>
                <a:srgbClr val="858A95"/>
              </a:solidFill>
            </a:ln>
          </p:spPr>
        </p:sp>
        <p:sp>
          <p:nvSpPr>
            <p:cNvPr id="27" name="workflow/brief.label"/>
            <p:cNvSpPr txBox="1"/>
            <p:nvPr/>
          </p:nvSpPr>
          <p:spPr>
            <a:xfrm>
              <a:off x="-49212" y="172820"/>
              <a:ext cx="167957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Inspect</a:t>
              </a:r>
              <a:endParaRPr lang="en-US" sz="2650" dirty="0"/>
            </a:p>
          </p:txBody>
        </p:sp>
        <p:sp>
          <p:nvSpPr>
            <p:cNvPr id="28" name="workflow/edit.label"/>
            <p:cNvSpPr txBox="1"/>
            <p:nvPr/>
          </p:nvSpPr>
          <p:spPr>
            <a:xfrm>
              <a:off x="2122488" y="172820"/>
              <a:ext cx="142557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Apply</a:t>
              </a:r>
              <a:endParaRPr lang="en-US" sz="2650" dirty="0"/>
            </a:p>
          </p:txBody>
        </p:sp>
        <p:sp>
          <p:nvSpPr>
            <p:cNvPr id="29" name="workflow/check.label"/>
            <p:cNvSpPr txBox="1"/>
            <p:nvPr/>
          </p:nvSpPr>
          <p:spPr>
            <a:xfrm>
              <a:off x="4281488" y="207857"/>
              <a:ext cx="1527175" cy="363643"/>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Check</a:t>
              </a:r>
              <a:endParaRPr lang="en-US" sz="2650" dirty="0"/>
            </a:p>
          </p:txBody>
        </p:sp>
        <p:sp>
          <p:nvSpPr>
            <p:cNvPr id="30" name="workflow/preview.label"/>
            <p:cNvSpPr txBox="1"/>
            <p:nvPr/>
          </p:nvSpPr>
          <p:spPr>
            <a:xfrm>
              <a:off x="6542088" y="212623"/>
              <a:ext cx="1768475" cy="365227"/>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Preview</a:t>
              </a:r>
              <a:endParaRPr lang="en-US" sz="2650" dirty="0"/>
            </a:p>
          </p:txBody>
        </p:sp>
        <p:sp>
          <p:nvSpPr>
            <p:cNvPr id="31" name="workflow/export.label"/>
            <p:cNvSpPr txBox="1"/>
            <p:nvPr/>
          </p:nvSpPr>
          <p:spPr>
            <a:xfrm>
              <a:off x="8809038" y="172820"/>
              <a:ext cx="154622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Export</a:t>
              </a:r>
              <a:endParaRPr lang="en-US" sz="2650" dirty="0"/>
            </a:p>
          </p:txBody>
        </p:sp>
      </p:grpSp>
      <p:sp>
        <p:nvSpPr>
          <p:cNvPr id="33" name="note"/>
          <p:cNvSpPr txBox="1"/>
          <p:nvPr/>
        </p:nvSpPr>
        <p:spPr>
          <a:xfrm>
            <a:off x="889000" y="4752209"/>
            <a:ext cx="10160000" cy="607191"/>
          </a:xfrm>
          <a:prstGeom prst="rect">
            <a:avLst/>
          </a:prstGeom>
          <a:noFill/>
        </p:spPr>
        <p:txBody>
          <a:bodyPr wrap="square" lIns="0" tIns="0" rIns="0" bIns="0" rtlCol="0" anchor="t">
            <a:noAutofit/>
          </a:bodyPr>
          <a:lstStyle/>
          <a:p>
            <a:pPr algn="l">
              <a:lnSpc>
                <a:spcPts val="2340"/>
              </a:lnSpc>
              <a:spcBef>
                <a:spcPts val="0"/>
              </a:spcBef>
              <a:spcAft>
                <a:spcPts val="0"/>
              </a:spcAft>
              <a:buNone/>
            </a:pPr>
            <a:r>
              <a:rPr lang="en-US" sz="1800" dirty="0">
                <a:solidFill>
                  <a:srgbClr val="FFFFFF"/>
                </a:solidFill>
                <a:latin typeface="Inter"/>
                <a:ea typeface="Inter"/>
                <a:cs typeface="Inter"/>
              </a:rPr>
              <a:t>Read the canvas. Make atomic edits. Run the checks.</a:t>
            </a:r>
            <a:endParaRPr lang="en-US" sz="1800" dirty="0"/>
          </a:p>
          <a:p>
            <a:pPr algn="l">
              <a:lnSpc>
                <a:spcPts val="2340"/>
              </a:lnSpc>
              <a:spcBef>
                <a:spcPts val="0"/>
              </a:spcBef>
              <a:spcAft>
                <a:spcPts val="0"/>
              </a:spcAft>
              <a:buNone/>
            </a:pPr>
            <a:r>
              <a:rPr lang="en-US" sz="1800" dirty="0">
                <a:solidFill>
                  <a:srgbClr val="FFFFFF"/>
                </a:solidFill>
                <a:latin typeface="Inter"/>
                <a:ea typeface="Inter"/>
                <a:cs typeface="Inter"/>
              </a:rPr>
              <a:t>Look at the render. Then ship the files.</a:t>
            </a:r>
            <a:endParaRPr lang="en-US" sz="1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gallery">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4 / 12</a:t>
            </a:r>
            <a:endParaRPr lang="en-US" sz="1200" dirty="0"/>
          </a:p>
        </p:txBody>
      </p:sp>
      <p:sp>
        <p:nvSpPr>
          <p:cNvPr id="16" name="kicker"/>
          <p:cNvSpPr txBox="1"/>
          <p:nvPr/>
        </p:nvSpPr>
        <p:spPr>
          <a:xfrm>
            <a:off x="889000" y="559994"/>
            <a:ext cx="4270375" cy="2401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SAME ENGINE, VERY DIFFERENT JOBS</a:t>
            </a:r>
            <a:endParaRPr lang="en-US" sz="1400" dirty="0"/>
          </a:p>
        </p:txBody>
      </p:sp>
      <p:sp>
        <p:nvSpPr>
          <p:cNvPr id="17" name="headline"/>
          <p:cNvSpPr>
            <a:spLocks noGrp="1"/>
          </p:cNvSpPr>
          <p:nvPr>
            <p:ph type="title"/>
          </p:nvPr>
        </p:nvSpPr>
        <p:spPr>
          <a:xfrm>
            <a:off x="889000" y="1316078"/>
            <a:ext cx="691356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From print to </a:t>
            </a:r>
            <a:r>
              <a:rPr lang="en-US" sz="4700" b="1" dirty="0">
                <a:solidFill>
                  <a:srgbClr val="6A9AFF"/>
                </a:solidFill>
                <a:latin typeface="Inter Tight"/>
                <a:ea typeface="Inter Tight"/>
                <a:cs typeface="Inter Tight"/>
              </a:rPr>
              <a:t>pixels.</a:t>
            </a:r>
            <a:endParaRPr lang="en-US" sz="4700" dirty="0"/>
          </a:p>
        </p:txBody>
      </p:sp>
      <p:sp>
        <p:nvSpPr>
          <p:cNvPr id="18" name="gallery-0-base"/>
          <p:cNvSpPr/>
          <p:nvPr/>
        </p:nvSpPr>
        <p:spPr>
          <a:xfrm>
            <a:off x="889000" y="2381250"/>
            <a:ext cx="3352800" cy="1574800"/>
          </a:xfrm>
          <a:prstGeom prst="roundRect">
            <a:avLst>
              <a:gd name="adj" fmla="val 7258"/>
            </a:avLst>
          </a:prstGeom>
          <a:solidFill>
            <a:srgbClr val="2F3647"/>
          </a:solidFill>
          <a:ln>
            <a:noFill/>
          </a:ln>
        </p:spPr>
      </p:sp>
      <p:pic>
        <p:nvPicPr>
          <p:cNvPr id="19" name="gallery-0" descr="gallery-0"/>
          <p:cNvPicPr>
            <a:picLocks noChangeAspect="1"/>
          </p:cNvPicPr>
          <p:nvPr/>
        </p:nvPicPr>
        <p:blipFill>
          <a:blip r:embed="rId3"/>
          <a:stretch>
            <a:fillRect/>
          </a:stretch>
        </p:blipFill>
        <p:spPr>
          <a:xfrm>
            <a:off x="889000" y="2381250"/>
            <a:ext cx="3352800" cy="1574800"/>
          </a:xfrm>
          <a:prstGeom prst="rect">
            <a:avLst/>
          </a:prstGeom>
        </p:spPr>
      </p:pic>
      <p:grpSp>
        <p:nvGrpSpPr>
          <p:cNvPr id="22" name="gallery-label-0"/>
          <p:cNvGrpSpPr/>
          <p:nvPr/>
        </p:nvGrpSpPr>
        <p:grpSpPr>
          <a:xfrm>
            <a:off x="977900" y="3549650"/>
            <a:ext cx="1079500" cy="266700"/>
            <a:chOff x="0" y="0"/>
            <a:chExt cx="1079500" cy="266700"/>
          </a:xfrm>
        </p:grpSpPr>
        <p:sp>
          <p:nvSpPr>
            <p:cNvPr id="20" name="gallery-label-0-bg"/>
            <p:cNvSpPr/>
            <p:nvPr/>
          </p:nvSpPr>
          <p:spPr>
            <a:xfrm>
              <a:off x="0" y="0"/>
              <a:ext cx="1079500" cy="266700"/>
            </a:xfrm>
            <a:prstGeom prst="roundRect">
              <a:avLst>
                <a:gd name="adj" fmla="val 50000"/>
              </a:avLst>
            </a:prstGeom>
            <a:solidFill>
              <a:srgbClr val="2F3647"/>
            </a:solidFill>
            <a:ln>
              <a:noFill/>
            </a:ln>
          </p:spPr>
        </p:sp>
        <p:sp>
          <p:nvSpPr>
            <p:cNvPr id="21" name="gallery-label-0-label"/>
            <p:cNvSpPr txBox="1"/>
            <p:nvPr/>
          </p:nvSpPr>
          <p:spPr>
            <a:xfrm>
              <a:off x="88900" y="5311"/>
              <a:ext cx="1139825"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Print poster</a:t>
              </a:r>
              <a:endParaRPr lang="en-US" sz="1250" dirty="0"/>
            </a:p>
          </p:txBody>
        </p:sp>
      </p:grpSp>
      <p:sp>
        <p:nvSpPr>
          <p:cNvPr id="23" name="gallery-1-base"/>
          <p:cNvSpPr/>
          <p:nvPr/>
        </p:nvSpPr>
        <p:spPr>
          <a:xfrm>
            <a:off x="4419600" y="2381250"/>
            <a:ext cx="3352800" cy="1574800"/>
          </a:xfrm>
          <a:prstGeom prst="roundRect">
            <a:avLst>
              <a:gd name="adj" fmla="val 7258"/>
            </a:avLst>
          </a:prstGeom>
          <a:solidFill>
            <a:srgbClr val="2F3647"/>
          </a:solidFill>
          <a:ln>
            <a:noFill/>
          </a:ln>
        </p:spPr>
      </p:sp>
      <p:pic>
        <p:nvPicPr>
          <p:cNvPr id="24" name="gallery-1" descr="gallery-1"/>
          <p:cNvPicPr>
            <a:picLocks noChangeAspect="1"/>
          </p:cNvPicPr>
          <p:nvPr/>
        </p:nvPicPr>
        <p:blipFill>
          <a:blip r:embed="rId4"/>
          <a:stretch>
            <a:fillRect/>
          </a:stretch>
        </p:blipFill>
        <p:spPr>
          <a:xfrm>
            <a:off x="4419600" y="2381250"/>
            <a:ext cx="3352800" cy="1574800"/>
          </a:xfrm>
          <a:prstGeom prst="rect">
            <a:avLst/>
          </a:prstGeom>
        </p:spPr>
      </p:pic>
      <p:grpSp>
        <p:nvGrpSpPr>
          <p:cNvPr id="27" name="gallery-label-1"/>
          <p:cNvGrpSpPr/>
          <p:nvPr/>
        </p:nvGrpSpPr>
        <p:grpSpPr>
          <a:xfrm>
            <a:off x="4508500" y="3549650"/>
            <a:ext cx="1682750" cy="266700"/>
            <a:chOff x="0" y="0"/>
            <a:chExt cx="1682750" cy="266700"/>
          </a:xfrm>
        </p:grpSpPr>
        <p:sp>
          <p:nvSpPr>
            <p:cNvPr id="25" name="gallery-label-1-bg"/>
            <p:cNvSpPr/>
            <p:nvPr/>
          </p:nvSpPr>
          <p:spPr>
            <a:xfrm>
              <a:off x="0" y="0"/>
              <a:ext cx="1682750" cy="266700"/>
            </a:xfrm>
            <a:prstGeom prst="roundRect">
              <a:avLst>
                <a:gd name="adj" fmla="val 50000"/>
              </a:avLst>
            </a:prstGeom>
            <a:solidFill>
              <a:srgbClr val="2F3647"/>
            </a:solidFill>
            <a:ln>
              <a:noFill/>
            </a:ln>
          </p:spPr>
        </p:sp>
        <p:sp>
          <p:nvSpPr>
            <p:cNvPr id="26" name="gallery-label-1-label"/>
            <p:cNvSpPr txBox="1"/>
            <p:nvPr/>
          </p:nvSpPr>
          <p:spPr>
            <a:xfrm>
              <a:off x="88900" y="5311"/>
              <a:ext cx="1881188"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Generative painting</a:t>
              </a:r>
              <a:endParaRPr lang="en-US" sz="1250" dirty="0"/>
            </a:p>
          </p:txBody>
        </p:sp>
      </p:grpSp>
      <p:sp>
        <p:nvSpPr>
          <p:cNvPr id="28" name="gallery-2-base"/>
          <p:cNvSpPr/>
          <p:nvPr/>
        </p:nvSpPr>
        <p:spPr>
          <a:xfrm>
            <a:off x="7950200" y="2381250"/>
            <a:ext cx="3352800" cy="1574800"/>
          </a:xfrm>
          <a:prstGeom prst="roundRect">
            <a:avLst>
              <a:gd name="adj" fmla="val 7258"/>
            </a:avLst>
          </a:prstGeom>
          <a:solidFill>
            <a:srgbClr val="2F3647"/>
          </a:solidFill>
          <a:ln>
            <a:noFill/>
          </a:ln>
        </p:spPr>
      </p:sp>
      <p:pic>
        <p:nvPicPr>
          <p:cNvPr id="29" name="gallery-2" descr="gallery-2"/>
          <p:cNvPicPr>
            <a:picLocks noChangeAspect="1"/>
          </p:cNvPicPr>
          <p:nvPr/>
        </p:nvPicPr>
        <p:blipFill>
          <a:blip r:embed="rId5"/>
          <a:stretch>
            <a:fillRect/>
          </a:stretch>
        </p:blipFill>
        <p:spPr>
          <a:xfrm>
            <a:off x="7950200" y="2381250"/>
            <a:ext cx="3352800" cy="1574800"/>
          </a:xfrm>
          <a:prstGeom prst="rect">
            <a:avLst/>
          </a:prstGeom>
        </p:spPr>
      </p:pic>
      <p:grpSp>
        <p:nvGrpSpPr>
          <p:cNvPr id="32" name="gallery-label-2"/>
          <p:cNvGrpSpPr/>
          <p:nvPr/>
        </p:nvGrpSpPr>
        <p:grpSpPr>
          <a:xfrm>
            <a:off x="8039100" y="3549650"/>
            <a:ext cx="1301750" cy="266700"/>
            <a:chOff x="0" y="0"/>
            <a:chExt cx="1301750" cy="266700"/>
          </a:xfrm>
        </p:grpSpPr>
        <p:sp>
          <p:nvSpPr>
            <p:cNvPr id="30" name="gallery-label-2-bg"/>
            <p:cNvSpPr/>
            <p:nvPr/>
          </p:nvSpPr>
          <p:spPr>
            <a:xfrm>
              <a:off x="0" y="0"/>
              <a:ext cx="1301750" cy="266700"/>
            </a:xfrm>
            <a:prstGeom prst="roundRect">
              <a:avLst>
                <a:gd name="adj" fmla="val 50000"/>
              </a:avLst>
            </a:prstGeom>
            <a:solidFill>
              <a:srgbClr val="2F3647"/>
            </a:solidFill>
            <a:ln>
              <a:noFill/>
            </a:ln>
          </p:spPr>
        </p:sp>
        <p:sp>
          <p:nvSpPr>
            <p:cNvPr id="31" name="gallery-label-2-label"/>
            <p:cNvSpPr txBox="1"/>
            <p:nvPr/>
          </p:nvSpPr>
          <p:spPr>
            <a:xfrm>
              <a:off x="88900" y="5311"/>
              <a:ext cx="1404938"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Pixel-art game</a:t>
              </a:r>
              <a:endParaRPr lang="en-US" sz="1250" dirty="0"/>
            </a:p>
          </p:txBody>
        </p:sp>
      </p:grpSp>
      <p:sp>
        <p:nvSpPr>
          <p:cNvPr id="33" name="gallery-3-base"/>
          <p:cNvSpPr/>
          <p:nvPr/>
        </p:nvSpPr>
        <p:spPr>
          <a:xfrm>
            <a:off x="889000" y="4133850"/>
            <a:ext cx="3352800" cy="1574800"/>
          </a:xfrm>
          <a:prstGeom prst="roundRect">
            <a:avLst>
              <a:gd name="adj" fmla="val 7258"/>
            </a:avLst>
          </a:prstGeom>
          <a:solidFill>
            <a:srgbClr val="2F3647"/>
          </a:solidFill>
          <a:ln>
            <a:noFill/>
          </a:ln>
        </p:spPr>
      </p:sp>
      <p:pic>
        <p:nvPicPr>
          <p:cNvPr id="34" name="gallery-3" descr="gallery-3"/>
          <p:cNvPicPr>
            <a:picLocks noChangeAspect="1"/>
          </p:cNvPicPr>
          <p:nvPr/>
        </p:nvPicPr>
        <p:blipFill>
          <a:blip r:embed="rId6"/>
          <a:stretch>
            <a:fillRect/>
          </a:stretch>
        </p:blipFill>
        <p:spPr>
          <a:xfrm>
            <a:off x="889000" y="4133850"/>
            <a:ext cx="3352800" cy="1574800"/>
          </a:xfrm>
          <a:prstGeom prst="rect">
            <a:avLst/>
          </a:prstGeom>
        </p:spPr>
      </p:pic>
      <p:grpSp>
        <p:nvGrpSpPr>
          <p:cNvPr id="37" name="gallery-label-3"/>
          <p:cNvGrpSpPr/>
          <p:nvPr/>
        </p:nvGrpSpPr>
        <p:grpSpPr>
          <a:xfrm>
            <a:off x="977900" y="5302250"/>
            <a:ext cx="1625600" cy="266700"/>
            <a:chOff x="0" y="0"/>
            <a:chExt cx="1625600" cy="266700"/>
          </a:xfrm>
        </p:grpSpPr>
        <p:sp>
          <p:nvSpPr>
            <p:cNvPr id="35" name="gallery-label-3-bg"/>
            <p:cNvSpPr/>
            <p:nvPr/>
          </p:nvSpPr>
          <p:spPr>
            <a:xfrm>
              <a:off x="0" y="0"/>
              <a:ext cx="1625600" cy="266700"/>
            </a:xfrm>
            <a:prstGeom prst="roundRect">
              <a:avLst>
                <a:gd name="adj" fmla="val 50000"/>
              </a:avLst>
            </a:prstGeom>
            <a:solidFill>
              <a:srgbClr val="2F3647"/>
            </a:solidFill>
            <a:ln>
              <a:noFill/>
            </a:ln>
          </p:spPr>
        </p:sp>
        <p:sp>
          <p:nvSpPr>
            <p:cNvPr id="36" name="gallery-label-3-label"/>
            <p:cNvSpPr txBox="1"/>
            <p:nvPr/>
          </p:nvSpPr>
          <p:spPr>
            <a:xfrm>
              <a:off x="88900" y="-192"/>
              <a:ext cx="1809750" cy="197042"/>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Data-bound charts</a:t>
              </a:r>
              <a:endParaRPr lang="en-US" sz="1250" dirty="0"/>
            </a:p>
          </p:txBody>
        </p:sp>
      </p:grpSp>
      <p:sp>
        <p:nvSpPr>
          <p:cNvPr id="38" name="gallery-4-base"/>
          <p:cNvSpPr/>
          <p:nvPr/>
        </p:nvSpPr>
        <p:spPr>
          <a:xfrm>
            <a:off x="4419600" y="4133850"/>
            <a:ext cx="3352800" cy="1574800"/>
          </a:xfrm>
          <a:prstGeom prst="roundRect">
            <a:avLst>
              <a:gd name="adj" fmla="val 7258"/>
            </a:avLst>
          </a:prstGeom>
          <a:solidFill>
            <a:srgbClr val="2F3647"/>
          </a:solidFill>
          <a:ln>
            <a:noFill/>
          </a:ln>
        </p:spPr>
      </p:sp>
      <p:pic>
        <p:nvPicPr>
          <p:cNvPr id="39" name="gallery-4" descr="gallery-4"/>
          <p:cNvPicPr>
            <a:picLocks noChangeAspect="1"/>
          </p:cNvPicPr>
          <p:nvPr/>
        </p:nvPicPr>
        <p:blipFill>
          <a:blip r:embed="rId7"/>
          <a:stretch>
            <a:fillRect/>
          </a:stretch>
        </p:blipFill>
        <p:spPr>
          <a:xfrm>
            <a:off x="4419600" y="4133850"/>
            <a:ext cx="3352800" cy="1574800"/>
          </a:xfrm>
          <a:prstGeom prst="rect">
            <a:avLst/>
          </a:prstGeom>
        </p:spPr>
      </p:pic>
      <p:grpSp>
        <p:nvGrpSpPr>
          <p:cNvPr id="42" name="gallery-label-4"/>
          <p:cNvGrpSpPr/>
          <p:nvPr/>
        </p:nvGrpSpPr>
        <p:grpSpPr>
          <a:xfrm>
            <a:off x="4508500" y="5302250"/>
            <a:ext cx="1739900" cy="266700"/>
            <a:chOff x="0" y="0"/>
            <a:chExt cx="1739900" cy="266700"/>
          </a:xfrm>
        </p:grpSpPr>
        <p:sp>
          <p:nvSpPr>
            <p:cNvPr id="40" name="gallery-label-4-bg"/>
            <p:cNvSpPr/>
            <p:nvPr/>
          </p:nvSpPr>
          <p:spPr>
            <a:xfrm>
              <a:off x="0" y="0"/>
              <a:ext cx="1739900" cy="266700"/>
            </a:xfrm>
            <a:prstGeom prst="roundRect">
              <a:avLst>
                <a:gd name="adj" fmla="val 50000"/>
              </a:avLst>
            </a:prstGeom>
            <a:solidFill>
              <a:srgbClr val="2F3647"/>
            </a:solidFill>
            <a:ln>
              <a:noFill/>
            </a:ln>
          </p:spPr>
        </p:sp>
        <p:sp>
          <p:nvSpPr>
            <p:cNvPr id="41" name="gallery-label-4-label"/>
            <p:cNvSpPr txBox="1"/>
            <p:nvPr/>
          </p:nvSpPr>
          <p:spPr>
            <a:xfrm>
              <a:off x="88900" y="5311"/>
              <a:ext cx="1952625" cy="19788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Character animation</a:t>
              </a:r>
              <a:endParaRPr lang="en-US" sz="1250" dirty="0"/>
            </a:p>
          </p:txBody>
        </p:sp>
      </p:grpSp>
      <p:sp>
        <p:nvSpPr>
          <p:cNvPr id="43" name="gallery-5-base"/>
          <p:cNvSpPr/>
          <p:nvPr/>
        </p:nvSpPr>
        <p:spPr>
          <a:xfrm>
            <a:off x="7950200" y="4133850"/>
            <a:ext cx="3352800" cy="1574800"/>
          </a:xfrm>
          <a:prstGeom prst="roundRect">
            <a:avLst>
              <a:gd name="adj" fmla="val 7258"/>
            </a:avLst>
          </a:prstGeom>
          <a:solidFill>
            <a:srgbClr val="2F3647"/>
          </a:solidFill>
          <a:ln>
            <a:noFill/>
          </a:ln>
        </p:spPr>
      </p:sp>
      <p:pic>
        <p:nvPicPr>
          <p:cNvPr id="44" name="gallery-5" descr="gallery-5"/>
          <p:cNvPicPr>
            <a:picLocks noChangeAspect="1"/>
          </p:cNvPicPr>
          <p:nvPr/>
        </p:nvPicPr>
        <p:blipFill>
          <a:blip r:embed="rId8"/>
          <a:stretch>
            <a:fillRect/>
          </a:stretch>
        </p:blipFill>
        <p:spPr>
          <a:xfrm>
            <a:off x="7950200" y="4133850"/>
            <a:ext cx="3352800" cy="1574800"/>
          </a:xfrm>
          <a:prstGeom prst="rect">
            <a:avLst/>
          </a:prstGeom>
        </p:spPr>
      </p:pic>
      <p:grpSp>
        <p:nvGrpSpPr>
          <p:cNvPr id="47" name="gallery-label-5"/>
          <p:cNvGrpSpPr/>
          <p:nvPr/>
        </p:nvGrpSpPr>
        <p:grpSpPr>
          <a:xfrm>
            <a:off x="8039100" y="5302250"/>
            <a:ext cx="1193800" cy="266700"/>
            <a:chOff x="0" y="0"/>
            <a:chExt cx="1193800" cy="266700"/>
          </a:xfrm>
        </p:grpSpPr>
        <p:sp>
          <p:nvSpPr>
            <p:cNvPr id="45" name="gallery-label-5-bg"/>
            <p:cNvSpPr/>
            <p:nvPr/>
          </p:nvSpPr>
          <p:spPr>
            <a:xfrm>
              <a:off x="0" y="0"/>
              <a:ext cx="1193800" cy="266700"/>
            </a:xfrm>
            <a:prstGeom prst="roundRect">
              <a:avLst>
                <a:gd name="adj" fmla="val 50000"/>
              </a:avLst>
            </a:prstGeom>
            <a:solidFill>
              <a:srgbClr val="2F3647"/>
            </a:solidFill>
            <a:ln>
              <a:noFill/>
            </a:ln>
          </p:spPr>
        </p:sp>
        <p:sp>
          <p:nvSpPr>
            <p:cNvPr id="46" name="gallery-label-5-label"/>
            <p:cNvSpPr txBox="1"/>
            <p:nvPr/>
          </p:nvSpPr>
          <p:spPr>
            <a:xfrm>
              <a:off x="88900" y="5311"/>
              <a:ext cx="1270000"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Photo editing</a:t>
              </a:r>
              <a:endParaRPr lang="en-US" sz="1250" dirty="0"/>
            </a:p>
          </p:txBody>
        </p:sp>
      </p:gr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data">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5 / 12</a:t>
            </a:r>
            <a:endParaRPr lang="en-US" sz="1200" dirty="0"/>
          </a:p>
        </p:txBody>
      </p:sp>
      <p:sp>
        <p:nvSpPr>
          <p:cNvPr id="16" name="kicker"/>
          <p:cNvSpPr txBox="1"/>
          <p:nvPr/>
        </p:nvSpPr>
        <p:spPr>
          <a:xfrm>
            <a:off x="889000" y="559994"/>
            <a:ext cx="1738312"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DATA TO STORY</a:t>
            </a:r>
            <a:endParaRPr lang="en-US" sz="1400" dirty="0"/>
          </a:p>
        </p:txBody>
      </p:sp>
      <p:sp>
        <p:nvSpPr>
          <p:cNvPr id="17" name="headline"/>
          <p:cNvSpPr>
            <a:spLocks noGrp="1"/>
          </p:cNvSpPr>
          <p:nvPr>
            <p:ph type="title"/>
          </p:nvPr>
        </p:nvSpPr>
        <p:spPr>
          <a:xfrm>
            <a:off x="889000" y="1316078"/>
            <a:ext cx="9683750"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New numbers? </a:t>
            </a:r>
            <a:r>
              <a:rPr lang="en-US" sz="4700" b="1" dirty="0">
                <a:solidFill>
                  <a:srgbClr val="6A9AFF"/>
                </a:solidFill>
                <a:latin typeface="Inter Tight"/>
                <a:ea typeface="Inter Tight"/>
                <a:cs typeface="Inter Tight"/>
              </a:rPr>
              <a:t>Same chart.</a:t>
            </a:r>
            <a:endParaRPr lang="en-US" sz="4700" dirty="0"/>
          </a:p>
        </p:txBody>
      </p:sp>
      <p:sp>
        <p:nvSpPr>
          <p:cNvPr id="18" name="chart-panel"/>
          <p:cNvSpPr/>
          <p:nvPr/>
        </p:nvSpPr>
        <p:spPr>
          <a:xfrm>
            <a:off x="889000" y="2349500"/>
            <a:ext cx="6477000" cy="3302000"/>
          </a:xfrm>
          <a:prstGeom prst="roundRect">
            <a:avLst>
              <a:gd name="adj" fmla="val 3077"/>
            </a:avLst>
          </a:prstGeom>
          <a:solidFill>
            <a:srgbClr val="FFFFFF"/>
          </a:solidFill>
          <a:ln>
            <a:noFill/>
          </a:ln>
        </p:spPr>
      </p:sp>
      <p:graphicFrame>
        <p:nvGraphicFramePr>
          <p:cNvPr id="19" name="native-chart"/>
          <p:cNvGraphicFramePr>
            <a:graphicFrameLocks noGrp="1"/>
          </p:cNvGraphicFramePr>
          <p:nvPr/>
        </p:nvGraphicFramePr>
        <p:xfrm>
          <a:off x="1143000" y="2603500"/>
          <a:ext cx="5969000" cy="2635250"/>
        </p:xfrm>
        <a:graphic>
          <a:graphicData uri="http://schemas.openxmlformats.org/drawingml/2006/chart">
            <c:chart xmlns:c="http://schemas.openxmlformats.org/drawingml/2006/chart" r:id="rIdChart1"/>
          </a:graphicData>
        </a:graphic>
      </p:graphicFrame>
      <p:sp>
        <p:nvSpPr>
          <p:cNvPr id="20" name="source"/>
          <p:cNvSpPr txBox="1"/>
          <p:nvPr/>
        </p:nvSpPr>
        <p:spPr>
          <a:xfrm>
            <a:off x="1143000" y="5298567"/>
            <a:ext cx="2476500" cy="137033"/>
          </a:xfrm>
          <a:prstGeom prst="rect">
            <a:avLst/>
          </a:prstGeom>
          <a:noFill/>
        </p:spPr>
        <p:txBody>
          <a:bodyPr wrap="square" lIns="0" tIns="0" rIns="0" bIns="0" rtlCol="0" anchor="t">
            <a:noAutofit/>
          </a:bodyPr>
          <a:lstStyle/>
          <a:p>
            <a:pPr algn="l">
              <a:lnSpc>
                <a:spcPts val="1320"/>
              </a:lnSpc>
              <a:buNone/>
            </a:pPr>
            <a:r>
              <a:rPr lang="en-US" sz="1000" dirty="0">
                <a:solidFill>
                  <a:srgbClr val="5B6478"/>
                </a:solidFill>
                <a:latin typeface="JetBrains Mono"/>
                <a:ea typeface="JetBrains Mono"/>
                <a:cs typeface="JetBrains Mono"/>
              </a:rPr>
              <a:t>ILLUSTRATIVE WORKFLOW DATA</a:t>
            </a:r>
            <a:endParaRPr lang="en-US" sz="1000" dirty="0"/>
          </a:p>
        </p:txBody>
      </p:sp>
      <p:sp>
        <p:nvSpPr>
          <p:cNvPr id="21" name="data-note"/>
          <p:cNvSpPr txBox="1"/>
          <p:nvPr/>
        </p:nvSpPr>
        <p:spPr>
          <a:xfrm>
            <a:off x="7874000" y="2593494"/>
            <a:ext cx="3302000" cy="2321406"/>
          </a:xfrm>
          <a:prstGeom prst="rect">
            <a:avLst/>
          </a:prstGeom>
          <a:noFill/>
        </p:spPr>
        <p:txBody>
          <a:bodyPr wrap="square" lIns="0" tIns="0" rIns="0" bIns="0" rtlCol="0" anchor="t">
            <a:noAutofit/>
          </a:bodyPr>
          <a:lstStyle/>
          <a:p>
            <a:pPr algn="l">
              <a:lnSpc>
                <a:spcPts val="2275"/>
              </a:lnSpc>
              <a:spcBef>
                <a:spcPts val="0"/>
              </a:spcBef>
              <a:spcAft>
                <a:spcPts val="0"/>
              </a:spcAft>
              <a:buNone/>
            </a:pPr>
            <a:r>
              <a:rPr lang="en-US" sz="1750" dirty="0">
                <a:solidFill>
                  <a:srgbClr val="FFFFFF"/>
                </a:solidFill>
                <a:latin typeface="Inter"/>
                <a:ea typeface="Inter"/>
                <a:cs typeface="Inter"/>
              </a:rPr>
              <a:t>Change the values with chart-data.</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Scale, bars, labels and totals follow along.</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In PowerPoint, hit Edit Data. It is all there.</a:t>
            </a:r>
            <a:endParaRPr lang="en-US" sz="17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repeat">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6 / 12</a:t>
            </a:r>
            <a:endParaRPr lang="en-US" sz="1200" dirty="0"/>
          </a:p>
        </p:txBody>
      </p:sp>
      <p:sp>
        <p:nvSpPr>
          <p:cNvPr id="16" name="kicker"/>
          <p:cNvSpPr txBox="1"/>
          <p:nvPr/>
        </p:nvSpPr>
        <p:spPr>
          <a:xfrm>
            <a:off x="889000" y="559816"/>
            <a:ext cx="25400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CREATIVE AUTOMATION</a:t>
            </a:r>
            <a:endParaRPr lang="en-US" sz="1400" dirty="0"/>
          </a:p>
        </p:txBody>
      </p:sp>
      <p:sp>
        <p:nvSpPr>
          <p:cNvPr id="17" name="headline"/>
          <p:cNvSpPr>
            <a:spLocks noGrp="1"/>
          </p:cNvSpPr>
          <p:nvPr>
            <p:ph type="title"/>
          </p:nvPr>
        </p:nvSpPr>
        <p:spPr>
          <a:xfrm>
            <a:off x="889000" y="1316078"/>
            <a:ext cx="9636125"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One recipe. </a:t>
            </a:r>
            <a:r>
              <a:rPr lang="en-US" sz="4700" b="1" dirty="0">
                <a:solidFill>
                  <a:srgbClr val="6A9AFF"/>
                </a:solidFill>
                <a:latin typeface="Inter Tight"/>
                <a:ea typeface="Inter Tight"/>
                <a:cs typeface="Inter Tight"/>
              </a:rPr>
              <a:t>Plenty of posts.</a:t>
            </a:r>
            <a:endParaRPr lang="en-US" sz="4700" dirty="0"/>
          </a:p>
        </p:txBody>
      </p:sp>
      <p:sp>
        <p:nvSpPr>
          <p:cNvPr id="18" name="campaign-base"/>
          <p:cNvSpPr/>
          <p:nvPr/>
        </p:nvSpPr>
        <p:spPr>
          <a:xfrm>
            <a:off x="889000" y="2476500"/>
            <a:ext cx="6096000" cy="2921000"/>
          </a:xfrm>
          <a:prstGeom prst="roundRect">
            <a:avLst>
              <a:gd name="adj" fmla="val 3913"/>
            </a:avLst>
          </a:prstGeom>
          <a:solidFill>
            <a:srgbClr val="2F3647"/>
          </a:solidFill>
          <a:ln>
            <a:noFill/>
          </a:ln>
        </p:spPr>
      </p:sp>
      <p:pic>
        <p:nvPicPr>
          <p:cNvPr id="19" name="campaign" descr="campaign"/>
          <p:cNvPicPr>
            <a:picLocks noChangeAspect="1"/>
          </p:cNvPicPr>
          <p:nvPr/>
        </p:nvPicPr>
        <p:blipFill>
          <a:blip r:embed="rId3"/>
          <a:stretch>
            <a:fillRect/>
          </a:stretch>
        </p:blipFill>
        <p:spPr>
          <a:xfrm>
            <a:off x="889000" y="2476500"/>
            <a:ext cx="6096000" cy="2921000"/>
          </a:xfrm>
          <a:prstGeom prst="rect">
            <a:avLst/>
          </a:prstGeom>
        </p:spPr>
      </p:pic>
      <p:sp>
        <p:nvSpPr>
          <p:cNvPr id="20" name="repeat-note"/>
          <p:cNvSpPr txBox="1"/>
          <p:nvPr/>
        </p:nvSpPr>
        <p:spPr>
          <a:xfrm>
            <a:off x="7556500" y="2625244"/>
            <a:ext cx="3619500" cy="2321406"/>
          </a:xfrm>
          <a:prstGeom prst="rect">
            <a:avLst/>
          </a:prstGeom>
          <a:noFill/>
        </p:spPr>
        <p:txBody>
          <a:bodyPr wrap="square" lIns="0" tIns="0" rIns="0" bIns="0" rtlCol="0" anchor="t">
            <a:noAutofit/>
          </a:bodyPr>
          <a:lstStyle/>
          <a:p>
            <a:pPr algn="l">
              <a:lnSpc>
                <a:spcPts val="2275"/>
              </a:lnSpc>
              <a:spcBef>
                <a:spcPts val="0"/>
              </a:spcBef>
              <a:spcAft>
                <a:spcPts val="0"/>
              </a:spcAft>
              <a:buNone/>
            </a:pPr>
            <a:r>
              <a:rPr lang="en-US" sz="1750" dirty="0">
                <a:solidFill>
                  <a:srgbClr val="FFFFFF"/>
                </a:solidFill>
                <a:latin typeface="Inter"/>
                <a:ea typeface="Inter"/>
                <a:cs typeface="Inter"/>
              </a:rPr>
              <a:t>Typed inputs + variables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Text fitting + saved checks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CSV-driven batches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Reusable containers and templates</a:t>
            </a:r>
            <a:endParaRPr lang="en-US" sz="17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motion">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7 / 12</a:t>
            </a:r>
            <a:endParaRPr lang="en-US" sz="1200" dirty="0"/>
          </a:p>
        </p:txBody>
      </p:sp>
      <p:sp>
        <p:nvSpPr>
          <p:cNvPr id="16" name="kicker"/>
          <p:cNvSpPr txBox="1"/>
          <p:nvPr/>
        </p:nvSpPr>
        <p:spPr>
          <a:xfrm>
            <a:off x="889000" y="559994"/>
            <a:ext cx="227012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MOTION THAT SHIPS</a:t>
            </a:r>
            <a:endParaRPr lang="en-US" sz="1400" dirty="0"/>
          </a:p>
        </p:txBody>
      </p:sp>
      <p:sp>
        <p:nvSpPr>
          <p:cNvPr id="17" name="headline"/>
          <p:cNvSpPr>
            <a:spLocks noGrp="1"/>
          </p:cNvSpPr>
          <p:nvPr>
            <p:ph type="title"/>
          </p:nvPr>
        </p:nvSpPr>
        <p:spPr>
          <a:xfrm>
            <a:off x="889000" y="1316078"/>
            <a:ext cx="5476875" cy="110327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Make it move.</a:t>
            </a:r>
            <a:endParaRPr lang="en-US" sz="4700" dirty="0"/>
          </a:p>
          <a:p>
            <a:pPr algn="l">
              <a:lnSpc>
                <a:spcPts val="4324"/>
              </a:lnSpc>
              <a:spcBef>
                <a:spcPts val="0"/>
              </a:spcBef>
              <a:spcAft>
                <a:spcPts val="0"/>
              </a:spcAft>
              <a:buNone/>
            </a:pPr>
            <a:r>
              <a:rPr lang="en-US" sz="4700" b="1" dirty="0">
                <a:solidFill>
                  <a:srgbClr val="6A9AFF"/>
                </a:solidFill>
                <a:latin typeface="Inter Tight"/>
                <a:ea typeface="Inter Tight"/>
                <a:cs typeface="Inter Tight"/>
              </a:rPr>
              <a:t>Ship the states.</a:t>
            </a:r>
            <a:endParaRPr lang="en-US" sz="4700" dirty="0"/>
          </a:p>
        </p:txBody>
      </p:sp>
      <p:sp>
        <p:nvSpPr>
          <p:cNvPr id="18" name="card-0"/>
          <p:cNvSpPr/>
          <p:nvPr/>
        </p:nvSpPr>
        <p:spPr>
          <a:xfrm>
            <a:off x="889000" y="2889250"/>
            <a:ext cx="3302000" cy="2476500"/>
          </a:xfrm>
          <a:prstGeom prst="roundRect">
            <a:avLst>
              <a:gd name="adj" fmla="val 4103"/>
            </a:avLst>
          </a:prstGeom>
          <a:solidFill>
            <a:srgbClr val="2F3647"/>
          </a:solidFill>
          <a:ln>
            <a:noFill/>
          </a:ln>
        </p:spPr>
      </p:sp>
      <p:sp>
        <p:nvSpPr>
          <p:cNvPr id="19" name="number-0"/>
          <p:cNvSpPr txBox="1"/>
          <p:nvPr/>
        </p:nvSpPr>
        <p:spPr>
          <a:xfrm>
            <a:off x="1117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544447"/>
            <a:ext cx="1501775" cy="2782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Author</a:t>
            </a:r>
            <a:endParaRPr lang="en-US" sz="2450" dirty="0"/>
          </a:p>
        </p:txBody>
      </p:sp>
      <p:sp>
        <p:nvSpPr>
          <p:cNvPr id="21" name="body-0"/>
          <p:cNvSpPr txBox="1"/>
          <p:nvPr/>
        </p:nvSpPr>
        <p:spPr>
          <a:xfrm>
            <a:off x="1117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Keyframes, motion recipes, posable characters, cameras and audio.</a:t>
            </a:r>
            <a:endParaRPr lang="en-US" sz="1700" dirty="0"/>
          </a:p>
        </p:txBody>
      </p:sp>
      <p:sp>
        <p:nvSpPr>
          <p:cNvPr id="22" name="card-1"/>
          <p:cNvSpPr/>
          <p:nvPr/>
        </p:nvSpPr>
        <p:spPr>
          <a:xfrm>
            <a:off x="4445000" y="2889250"/>
            <a:ext cx="3302000" cy="2476500"/>
          </a:xfrm>
          <a:prstGeom prst="roundRect">
            <a:avLst>
              <a:gd name="adj" fmla="val 4103"/>
            </a:avLst>
          </a:prstGeom>
          <a:solidFill>
            <a:srgbClr val="2F3647"/>
          </a:solidFill>
          <a:ln>
            <a:noFill/>
          </a:ln>
        </p:spPr>
      </p:sp>
      <p:sp>
        <p:nvSpPr>
          <p:cNvPr id="23" name="number-1"/>
          <p:cNvSpPr txBox="1"/>
          <p:nvPr/>
        </p:nvSpPr>
        <p:spPr>
          <a:xfrm>
            <a:off x="4673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544447"/>
            <a:ext cx="14446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Export</a:t>
            </a:r>
            <a:endParaRPr lang="en-US" sz="2450" dirty="0"/>
          </a:p>
        </p:txBody>
      </p:sp>
      <p:sp>
        <p:nvSpPr>
          <p:cNvPr id="25" name="body-1"/>
          <p:cNvSpPr txBox="1"/>
          <p:nvPr/>
        </p:nvSpPr>
        <p:spPr>
          <a:xfrm>
            <a:off x="4673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GIF, animated WebP, APNG, MP4 and other timeline formats.</a:t>
            </a:r>
            <a:endParaRPr lang="en-US" sz="1700" dirty="0"/>
          </a:p>
        </p:txBody>
      </p:sp>
      <p:sp>
        <p:nvSpPr>
          <p:cNvPr id="26" name="card-2"/>
          <p:cNvSpPr/>
          <p:nvPr/>
        </p:nvSpPr>
        <p:spPr>
          <a:xfrm>
            <a:off x="8001000" y="2889250"/>
            <a:ext cx="3302000" cy="2476500"/>
          </a:xfrm>
          <a:prstGeom prst="roundRect">
            <a:avLst>
              <a:gd name="adj" fmla="val 4103"/>
            </a:avLst>
          </a:prstGeom>
          <a:solidFill>
            <a:srgbClr val="2F3647"/>
          </a:solidFill>
          <a:ln>
            <a:noFill/>
          </a:ln>
        </p:spPr>
      </p:sp>
      <p:sp>
        <p:nvSpPr>
          <p:cNvPr id="27" name="number-2"/>
          <p:cNvSpPr txBox="1"/>
          <p:nvPr/>
        </p:nvSpPr>
        <p:spPr>
          <a:xfrm>
            <a:off x="8229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544447"/>
            <a:ext cx="1800225" cy="3417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Integrate</a:t>
            </a:r>
            <a:endParaRPr lang="en-US" sz="2450" dirty="0"/>
          </a:p>
        </p:txBody>
      </p:sp>
      <p:sp>
        <p:nvSpPr>
          <p:cNvPr id="29" name="body-2"/>
          <p:cNvSpPr txBox="1"/>
          <p:nvPr/>
        </p:nvSpPr>
        <p:spPr>
          <a:xfrm>
            <a:off x="8229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App states, theme variables, transitions and reduced-motion stills.</a:t>
            </a:r>
            <a:endParaRPr lang="en-US" sz="17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review">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8 / 12</a:t>
            </a:r>
            <a:endParaRPr lang="en-US" sz="1200" dirty="0"/>
          </a:p>
        </p:txBody>
      </p:sp>
      <p:sp>
        <p:nvSpPr>
          <p:cNvPr id="16" name="kicker"/>
          <p:cNvSpPr txBox="1"/>
          <p:nvPr/>
        </p:nvSpPr>
        <p:spPr>
          <a:xfrm>
            <a:off x="889000" y="559994"/>
            <a:ext cx="3071812"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CHECKED BEFORE IT SHIPS</a:t>
            </a:r>
            <a:endParaRPr lang="en-US" sz="1400" dirty="0"/>
          </a:p>
        </p:txBody>
      </p:sp>
      <p:sp>
        <p:nvSpPr>
          <p:cNvPr id="17" name="headline"/>
          <p:cNvSpPr>
            <a:spLocks noGrp="1"/>
          </p:cNvSpPr>
          <p:nvPr>
            <p:ph type="title"/>
          </p:nvPr>
        </p:nvSpPr>
        <p:spPr>
          <a:xfrm>
            <a:off x="889000" y="1316078"/>
            <a:ext cx="8159750"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Write the brief </a:t>
            </a:r>
            <a:r>
              <a:rPr lang="en-US" sz="4700" b="1" dirty="0">
                <a:solidFill>
                  <a:srgbClr val="6A9AFF"/>
                </a:solidFill>
                <a:latin typeface="Inter Tight"/>
                <a:ea typeface="Inter Tight"/>
                <a:cs typeface="Inter Tight"/>
              </a:rPr>
              <a:t>as tests.</a:t>
            </a:r>
            <a:endParaRPr lang="en-US" sz="4700" dirty="0"/>
          </a:p>
        </p:txBody>
      </p:sp>
      <p:sp>
        <p:nvSpPr>
          <p:cNvPr id="18" name="card-0"/>
          <p:cNvSpPr/>
          <p:nvPr/>
        </p:nvSpPr>
        <p:spPr>
          <a:xfrm>
            <a:off x="889000" y="2730500"/>
            <a:ext cx="3302000" cy="2444750"/>
          </a:xfrm>
          <a:prstGeom prst="roundRect">
            <a:avLst>
              <a:gd name="adj" fmla="val 4156"/>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400434"/>
            <a:ext cx="1425575"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Define</a:t>
            </a:r>
            <a:endParaRPr lang="en-US" sz="2450" dirty="0"/>
          </a:p>
        </p:txBody>
      </p:sp>
      <p:sp>
        <p:nvSpPr>
          <p:cNvPr id="21"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Turn margins, contrast and hierarchy into saved suites.</a:t>
            </a:r>
            <a:endParaRPr lang="en-US" sz="1700" dirty="0"/>
          </a:p>
        </p:txBody>
      </p:sp>
      <p:sp>
        <p:nvSpPr>
          <p:cNvPr id="22" name="card-1"/>
          <p:cNvSpPr/>
          <p:nvPr/>
        </p:nvSpPr>
        <p:spPr>
          <a:xfrm>
            <a:off x="4445000" y="2730500"/>
            <a:ext cx="3302000" cy="2444750"/>
          </a:xfrm>
          <a:prstGeom prst="roundRect">
            <a:avLst>
              <a:gd name="adj" fmla="val 4156"/>
            </a:avLst>
          </a:prstGeom>
          <a:solidFill>
            <a:srgbClr val="2F3647"/>
          </a:solidFill>
          <a:ln>
            <a:noFill/>
          </a:ln>
        </p:spPr>
      </p:sp>
      <p:sp>
        <p:nvSpPr>
          <p:cNvPr id="23"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385697"/>
            <a:ext cx="15716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Inspect</a:t>
            </a:r>
            <a:endParaRPr lang="en-US" sz="2450" dirty="0"/>
          </a:p>
        </p:txBody>
      </p:sp>
      <p:sp>
        <p:nvSpPr>
          <p:cNvPr id="25" name="body-1"/>
          <p:cNvSpPr txBox="1"/>
          <p:nvPr/>
        </p:nvSpPr>
        <p:spPr>
          <a:xfrm>
            <a:off x="4673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Run the checks, read the findings, then actually look.</a:t>
            </a:r>
            <a:endParaRPr lang="en-US" sz="1700" dirty="0"/>
          </a:p>
        </p:txBody>
      </p:sp>
      <p:sp>
        <p:nvSpPr>
          <p:cNvPr id="26" name="card-2"/>
          <p:cNvSpPr/>
          <p:nvPr/>
        </p:nvSpPr>
        <p:spPr>
          <a:xfrm>
            <a:off x="8001000" y="2730500"/>
            <a:ext cx="3302000" cy="2444750"/>
          </a:xfrm>
          <a:prstGeom prst="roundRect">
            <a:avLst>
              <a:gd name="adj" fmla="val 4156"/>
            </a:avLst>
          </a:prstGeom>
          <a:solidFill>
            <a:srgbClr val="2F3647"/>
          </a:solidFill>
          <a:ln>
            <a:noFill/>
          </a:ln>
        </p:spPr>
      </p:sp>
      <p:sp>
        <p:nvSpPr>
          <p:cNvPr id="27"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388736"/>
            <a:ext cx="13239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Share</a:t>
            </a:r>
            <a:endParaRPr lang="en-US" sz="2450" dirty="0"/>
          </a:p>
        </p:txBody>
      </p:sp>
      <p:sp>
        <p:nvSpPr>
          <p:cNvPr id="29" name="body-2"/>
          <p:cNvSpPr txBox="1"/>
          <p:nvPr/>
        </p:nvSpPr>
        <p:spPr>
          <a:xfrm>
            <a:off x="8229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Offline proof pages or a live REST review session.</a:t>
            </a:r>
            <a:endParaRPr lang="en-US" sz="17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collaborate">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9 / 12</a:t>
            </a:r>
            <a:endParaRPr lang="en-US" sz="1200" dirty="0"/>
          </a:p>
        </p:txBody>
      </p:sp>
      <p:sp>
        <p:nvSpPr>
          <p:cNvPr id="16" name="kicker"/>
          <p:cNvSpPr txBox="1"/>
          <p:nvPr/>
        </p:nvSpPr>
        <p:spPr>
          <a:xfrm>
            <a:off x="889000" y="559816"/>
            <a:ext cx="2008188"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REVIEWABLE WORK</a:t>
            </a:r>
            <a:endParaRPr lang="en-US" sz="1400" dirty="0"/>
          </a:p>
        </p:txBody>
      </p:sp>
      <p:sp>
        <p:nvSpPr>
          <p:cNvPr id="17" name="headline"/>
          <p:cNvSpPr>
            <a:spLocks noGrp="1"/>
          </p:cNvSpPr>
          <p:nvPr>
            <p:ph type="title"/>
          </p:nvPr>
        </p:nvSpPr>
        <p:spPr>
          <a:xfrm>
            <a:off x="889000" y="1316078"/>
            <a:ext cx="10080625"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Designs get </a:t>
            </a:r>
            <a:r>
              <a:rPr lang="en-US" sz="4700" b="1" dirty="0">
                <a:solidFill>
                  <a:srgbClr val="6A9AFF"/>
                </a:solidFill>
                <a:latin typeface="Inter Tight"/>
                <a:ea typeface="Inter Tight"/>
                <a:cs typeface="Inter Tight"/>
              </a:rPr>
              <a:t>code review too.</a:t>
            </a:r>
            <a:endParaRPr lang="en-US" sz="4700" dirty="0"/>
          </a:p>
        </p:txBody>
      </p:sp>
      <p:sp>
        <p:nvSpPr>
          <p:cNvPr id="18" name="card-0"/>
          <p:cNvSpPr/>
          <p:nvPr/>
        </p:nvSpPr>
        <p:spPr>
          <a:xfrm>
            <a:off x="889000" y="2730500"/>
            <a:ext cx="3302000" cy="2444750"/>
          </a:xfrm>
          <a:prstGeom prst="roundRect">
            <a:avLst>
              <a:gd name="adj" fmla="val 4156"/>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400434"/>
            <a:ext cx="1939925"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Git review</a:t>
            </a:r>
            <a:endParaRPr lang="en-US" sz="2450" dirty="0"/>
          </a:p>
        </p:txBody>
      </p:sp>
      <p:sp>
        <p:nvSpPr>
          <p:cNvPr id="21"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Readable JSON + assets through pack and unpack.</a:t>
            </a:r>
            <a:endParaRPr lang="en-US" sz="1700" dirty="0"/>
          </a:p>
        </p:txBody>
      </p:sp>
      <p:sp>
        <p:nvSpPr>
          <p:cNvPr id="22" name="card-1"/>
          <p:cNvSpPr/>
          <p:nvPr/>
        </p:nvSpPr>
        <p:spPr>
          <a:xfrm>
            <a:off x="4445000" y="2730500"/>
            <a:ext cx="3302000" cy="2444750"/>
          </a:xfrm>
          <a:prstGeom prst="roundRect">
            <a:avLst>
              <a:gd name="adj" fmla="val 4156"/>
            </a:avLst>
          </a:prstGeom>
          <a:solidFill>
            <a:srgbClr val="2F3647"/>
          </a:solidFill>
          <a:ln>
            <a:noFill/>
          </a:ln>
        </p:spPr>
      </p:sp>
      <p:sp>
        <p:nvSpPr>
          <p:cNvPr id="23"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388736"/>
            <a:ext cx="23145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Shared work</a:t>
            </a:r>
            <a:endParaRPr lang="en-US" sz="2450" dirty="0"/>
          </a:p>
        </p:txBody>
      </p:sp>
      <p:sp>
        <p:nvSpPr>
          <p:cNvPr id="25" name="body-1"/>
          <p:cNvSpPr txBox="1"/>
          <p:nvPr/>
        </p:nvSpPr>
        <p:spPr>
          <a:xfrm>
            <a:off x="4673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Branches, explicit merges, project groups and shared libraries.</a:t>
            </a:r>
            <a:endParaRPr lang="en-US" sz="1700" dirty="0"/>
          </a:p>
        </p:txBody>
      </p:sp>
      <p:sp>
        <p:nvSpPr>
          <p:cNvPr id="26" name="card-2"/>
          <p:cNvSpPr/>
          <p:nvPr/>
        </p:nvSpPr>
        <p:spPr>
          <a:xfrm>
            <a:off x="8001000" y="2730500"/>
            <a:ext cx="3302000" cy="2444750"/>
          </a:xfrm>
          <a:prstGeom prst="roundRect">
            <a:avLst>
              <a:gd name="adj" fmla="val 4156"/>
            </a:avLst>
          </a:prstGeom>
          <a:solidFill>
            <a:srgbClr val="2F3647"/>
          </a:solidFill>
          <a:ln>
            <a:noFill/>
          </a:ln>
        </p:spPr>
      </p:sp>
      <p:sp>
        <p:nvSpPr>
          <p:cNvPr id="27"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400434"/>
            <a:ext cx="2405062"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Portable files</a:t>
            </a:r>
            <a:endParaRPr lang="en-US" sz="2450" dirty="0"/>
          </a:p>
        </p:txBody>
      </p:sp>
      <p:sp>
        <p:nvSpPr>
          <p:cNvPr id="29" name="body-2"/>
          <p:cNvSpPr txBox="1"/>
          <p:nvPr/>
        </p:nvSpPr>
        <p:spPr>
          <a:xfrm>
            <a:off x="8229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Fonts and content travel inside the editable master.</a:t>
            </a:r>
            <a:endParaRPr lang="en-US" sz="17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interfaces">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10 / 12</a:t>
            </a:r>
            <a:endParaRPr lang="en-US" sz="1200" dirty="0"/>
          </a:p>
        </p:txBody>
      </p:sp>
      <p:sp>
        <p:nvSpPr>
          <p:cNvPr id="16" name="kicker"/>
          <p:cNvSpPr txBox="1"/>
          <p:nvPr/>
        </p:nvSpPr>
        <p:spPr>
          <a:xfrm>
            <a:off x="889000" y="559994"/>
            <a:ext cx="160337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FOUR WAYS IN</a:t>
            </a:r>
            <a:endParaRPr lang="en-US" sz="1400" dirty="0"/>
          </a:p>
        </p:txBody>
      </p:sp>
      <p:sp>
        <p:nvSpPr>
          <p:cNvPr id="17" name="headline"/>
          <p:cNvSpPr>
            <a:spLocks noGrp="1"/>
          </p:cNvSpPr>
          <p:nvPr>
            <p:ph type="title"/>
          </p:nvPr>
        </p:nvSpPr>
        <p:spPr>
          <a:xfrm>
            <a:off x="889000" y="1316078"/>
            <a:ext cx="1007268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Same operations. </a:t>
            </a:r>
            <a:r>
              <a:rPr lang="en-US" sz="4700" b="1" dirty="0">
                <a:solidFill>
                  <a:srgbClr val="6A9AFF"/>
                </a:solidFill>
                <a:latin typeface="Inter Tight"/>
                <a:ea typeface="Inter Tight"/>
                <a:cs typeface="Inter Tight"/>
              </a:rPr>
              <a:t>Your tools.</a:t>
            </a:r>
            <a:endParaRPr lang="en-US" sz="4700" dirty="0"/>
          </a:p>
        </p:txBody>
      </p:sp>
      <p:sp>
        <p:nvSpPr>
          <p:cNvPr id="18" name="card-0"/>
          <p:cNvSpPr/>
          <p:nvPr/>
        </p:nvSpPr>
        <p:spPr>
          <a:xfrm>
            <a:off x="889000" y="2730500"/>
            <a:ext cx="2413000" cy="2286000"/>
          </a:xfrm>
          <a:prstGeom prst="roundRect">
            <a:avLst>
              <a:gd name="adj" fmla="val 4444"/>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388736"/>
            <a:ext cx="11715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MCP</a:t>
            </a:r>
            <a:endParaRPr lang="en-US" sz="2450" dirty="0"/>
          </a:p>
        </p:txBody>
      </p:sp>
      <p:sp>
        <p:nvSpPr>
          <p:cNvPr id="21" name="body-0"/>
          <p:cNvSpPr txBox="1"/>
          <p:nvPr/>
        </p:nvSpPr>
        <p:spPr>
          <a:xfrm>
            <a:off x="1117600" y="3952680"/>
            <a:ext cx="1955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Hand the workspace to your agent.</a:t>
            </a:r>
            <a:endParaRPr lang="en-US" sz="1700" dirty="0"/>
          </a:p>
        </p:txBody>
      </p:sp>
      <p:sp>
        <p:nvSpPr>
          <p:cNvPr id="22" name="card-1"/>
          <p:cNvSpPr/>
          <p:nvPr/>
        </p:nvSpPr>
        <p:spPr>
          <a:xfrm>
            <a:off x="3556000" y="2730500"/>
            <a:ext cx="2413000" cy="2286000"/>
          </a:xfrm>
          <a:prstGeom prst="roundRect">
            <a:avLst>
              <a:gd name="adj" fmla="val 4444"/>
            </a:avLst>
          </a:prstGeom>
          <a:solidFill>
            <a:srgbClr val="2F3647"/>
          </a:solidFill>
          <a:ln>
            <a:noFill/>
          </a:ln>
        </p:spPr>
      </p:sp>
      <p:sp>
        <p:nvSpPr>
          <p:cNvPr id="23" name="number-1"/>
          <p:cNvSpPr txBox="1"/>
          <p:nvPr/>
        </p:nvSpPr>
        <p:spPr>
          <a:xfrm>
            <a:off x="3784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3784600" y="3388736"/>
            <a:ext cx="94932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CLI</a:t>
            </a:r>
            <a:endParaRPr lang="en-US" sz="2450" dirty="0"/>
          </a:p>
        </p:txBody>
      </p:sp>
      <p:sp>
        <p:nvSpPr>
          <p:cNvPr id="25" name="body-1"/>
          <p:cNvSpPr txBox="1"/>
          <p:nvPr/>
        </p:nvSpPr>
        <p:spPr>
          <a:xfrm>
            <a:off x="3784600" y="3952680"/>
            <a:ext cx="1955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Script it, batch it, run it in CI.</a:t>
            </a:r>
            <a:endParaRPr lang="en-US" sz="1700" dirty="0"/>
          </a:p>
        </p:txBody>
      </p:sp>
      <p:sp>
        <p:nvSpPr>
          <p:cNvPr id="26" name="card-2"/>
          <p:cNvSpPr/>
          <p:nvPr/>
        </p:nvSpPr>
        <p:spPr>
          <a:xfrm>
            <a:off x="6223000" y="2730500"/>
            <a:ext cx="2413000" cy="2286000"/>
          </a:xfrm>
          <a:prstGeom prst="roundRect">
            <a:avLst>
              <a:gd name="adj" fmla="val 4444"/>
            </a:avLst>
          </a:prstGeom>
          <a:solidFill>
            <a:srgbClr val="2F3647"/>
          </a:solidFill>
          <a:ln>
            <a:noFill/>
          </a:ln>
        </p:spPr>
      </p:sp>
      <p:sp>
        <p:nvSpPr>
          <p:cNvPr id="27" name="number-2"/>
          <p:cNvSpPr txBox="1"/>
          <p:nvPr/>
        </p:nvSpPr>
        <p:spPr>
          <a:xfrm>
            <a:off x="6451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6451600" y="3385697"/>
            <a:ext cx="15208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Python</a:t>
            </a:r>
            <a:endParaRPr lang="en-US" sz="2450" dirty="0"/>
          </a:p>
        </p:txBody>
      </p:sp>
      <p:sp>
        <p:nvSpPr>
          <p:cNvPr id="29" name="body-2"/>
          <p:cNvSpPr txBox="1"/>
          <p:nvPr/>
        </p:nvSpPr>
        <p:spPr>
          <a:xfrm>
            <a:off x="6451600" y="3952680"/>
            <a:ext cx="1955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Generate designs from code and data.</a:t>
            </a:r>
            <a:endParaRPr lang="en-US" sz="1700" dirty="0"/>
          </a:p>
        </p:txBody>
      </p:sp>
      <p:sp>
        <p:nvSpPr>
          <p:cNvPr id="30" name="card-3"/>
          <p:cNvSpPr/>
          <p:nvPr/>
        </p:nvSpPr>
        <p:spPr>
          <a:xfrm>
            <a:off x="8890000" y="2730500"/>
            <a:ext cx="2413000" cy="2286000"/>
          </a:xfrm>
          <a:prstGeom prst="roundRect">
            <a:avLst>
              <a:gd name="adj" fmla="val 4444"/>
            </a:avLst>
          </a:prstGeom>
          <a:solidFill>
            <a:srgbClr val="2F3647"/>
          </a:solidFill>
          <a:ln>
            <a:noFill/>
          </a:ln>
        </p:spPr>
      </p:sp>
      <p:sp>
        <p:nvSpPr>
          <p:cNvPr id="31" name="number-3"/>
          <p:cNvSpPr txBox="1"/>
          <p:nvPr/>
        </p:nvSpPr>
        <p:spPr>
          <a:xfrm>
            <a:off x="9118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04</a:t>
            </a:r>
            <a:endParaRPr lang="en-US" sz="1400" dirty="0"/>
          </a:p>
        </p:txBody>
      </p:sp>
      <p:sp>
        <p:nvSpPr>
          <p:cNvPr id="32" name="label-3"/>
          <p:cNvSpPr txBox="1"/>
          <p:nvPr/>
        </p:nvSpPr>
        <p:spPr>
          <a:xfrm>
            <a:off x="9118600" y="3388736"/>
            <a:ext cx="12477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REST</a:t>
            </a:r>
            <a:endParaRPr lang="en-US" sz="2450" dirty="0"/>
          </a:p>
        </p:txBody>
      </p:sp>
      <p:sp>
        <p:nvSpPr>
          <p:cNvPr id="33" name="body-3"/>
          <p:cNvSpPr txBox="1"/>
          <p:nvPr/>
        </p:nvSpPr>
        <p:spPr>
          <a:xfrm>
            <a:off x="9118600" y="3952680"/>
            <a:ext cx="1955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Plug it into web services.</a:t>
            </a:r>
            <a:endParaRPr lang="en-US" sz="17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delivery">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11 / 12</a:t>
            </a:r>
            <a:endParaRPr lang="en-US" sz="1200" dirty="0"/>
          </a:p>
        </p:txBody>
      </p:sp>
      <p:sp>
        <p:nvSpPr>
          <p:cNvPr id="16" name="kicker"/>
          <p:cNvSpPr txBox="1"/>
          <p:nvPr/>
        </p:nvSpPr>
        <p:spPr>
          <a:xfrm>
            <a:off x="889000" y="559816"/>
            <a:ext cx="2405062"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A COMPLETE HANDOFF</a:t>
            </a:r>
            <a:endParaRPr lang="en-US" sz="1400" dirty="0"/>
          </a:p>
        </p:txBody>
      </p:sp>
      <p:sp>
        <p:nvSpPr>
          <p:cNvPr id="17" name="headline"/>
          <p:cNvSpPr>
            <a:spLocks noGrp="1"/>
          </p:cNvSpPr>
          <p:nvPr>
            <p:ph type="title"/>
          </p:nvPr>
        </p:nvSpPr>
        <p:spPr>
          <a:xfrm>
            <a:off x="889000" y="1316078"/>
            <a:ext cx="1127918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Whatever format </a:t>
            </a:r>
            <a:r>
              <a:rPr lang="en-US" sz="4700" b="1" dirty="0">
                <a:solidFill>
                  <a:srgbClr val="6A9AFF"/>
                </a:solidFill>
                <a:latin typeface="Inter Tight"/>
                <a:ea typeface="Inter Tight"/>
                <a:cs typeface="Inter Tight"/>
              </a:rPr>
              <a:t>they asked for.</a:t>
            </a:r>
            <a:endParaRPr lang="en-US" sz="4700" dirty="0"/>
          </a:p>
        </p:txBody>
      </p:sp>
      <p:sp>
        <p:nvSpPr>
          <p:cNvPr id="18" name="card-0"/>
          <p:cNvSpPr/>
          <p:nvPr/>
        </p:nvSpPr>
        <p:spPr>
          <a:xfrm>
            <a:off x="889000" y="2730500"/>
            <a:ext cx="3302000" cy="2444750"/>
          </a:xfrm>
          <a:prstGeom prst="roundRect">
            <a:avLst>
              <a:gd name="adj" fmla="val 4156"/>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388736"/>
            <a:ext cx="15017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Screen</a:t>
            </a:r>
            <a:endParaRPr lang="en-US" sz="2450" dirty="0"/>
          </a:p>
        </p:txBody>
      </p:sp>
      <p:sp>
        <p:nvSpPr>
          <p:cNvPr id="21"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PNG, JPEG, WebP, SVG and icons.</a:t>
            </a:r>
            <a:endParaRPr lang="en-US" sz="1700" dirty="0"/>
          </a:p>
        </p:txBody>
      </p:sp>
      <p:sp>
        <p:nvSpPr>
          <p:cNvPr id="22" name="card-1"/>
          <p:cNvSpPr/>
          <p:nvPr/>
        </p:nvSpPr>
        <p:spPr>
          <a:xfrm>
            <a:off x="4445000" y="2730500"/>
            <a:ext cx="3302000" cy="2444750"/>
          </a:xfrm>
          <a:prstGeom prst="roundRect">
            <a:avLst>
              <a:gd name="adj" fmla="val 4156"/>
            </a:avLst>
          </a:prstGeom>
          <a:solidFill>
            <a:srgbClr val="2F3647"/>
          </a:solidFill>
          <a:ln>
            <a:noFill/>
          </a:ln>
        </p:spPr>
      </p:sp>
      <p:sp>
        <p:nvSpPr>
          <p:cNvPr id="23"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385697"/>
            <a:ext cx="2168525" cy="2782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Documents</a:t>
            </a:r>
            <a:endParaRPr lang="en-US" sz="2450" dirty="0"/>
          </a:p>
        </p:txBody>
      </p:sp>
      <p:sp>
        <p:nvSpPr>
          <p:cNvPr id="25" name="body-1"/>
          <p:cNvSpPr txBox="1"/>
          <p:nvPr/>
        </p:nvSpPr>
        <p:spPr>
          <a:xfrm>
            <a:off x="4673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PDF, fillable PDF, PPTX and HTML decks.</a:t>
            </a:r>
            <a:endParaRPr lang="en-US" sz="1700" dirty="0"/>
          </a:p>
        </p:txBody>
      </p:sp>
      <p:sp>
        <p:nvSpPr>
          <p:cNvPr id="26" name="card-2"/>
          <p:cNvSpPr/>
          <p:nvPr/>
        </p:nvSpPr>
        <p:spPr>
          <a:xfrm>
            <a:off x="8001000" y="2730500"/>
            <a:ext cx="3302000" cy="2444750"/>
          </a:xfrm>
          <a:prstGeom prst="roundRect">
            <a:avLst>
              <a:gd name="adj" fmla="val 4156"/>
            </a:avLst>
          </a:prstGeom>
          <a:solidFill>
            <a:srgbClr val="2F3647"/>
          </a:solidFill>
          <a:ln>
            <a:noFill/>
          </a:ln>
        </p:spPr>
      </p:sp>
      <p:sp>
        <p:nvSpPr>
          <p:cNvPr id="27"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400434"/>
            <a:ext cx="2571750"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Print + motion</a:t>
            </a:r>
            <a:endParaRPr lang="en-US" sz="2450" dirty="0"/>
          </a:p>
        </p:txBody>
      </p:sp>
      <p:sp>
        <p:nvSpPr>
          <p:cNvPr id="29" name="body-2"/>
          <p:cNvSpPr txBox="1"/>
          <p:nvPr/>
        </p:nvSpPr>
        <p:spPr>
          <a:xfrm>
            <a:off x="8229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CMYK PDF/TIFF, GIF, WebP, MP4 and more.</a:t>
            </a:r>
            <a:endParaRPr lang="en-US" sz="17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tart">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12 / 12</a:t>
            </a:r>
            <a:endParaRPr lang="en-US" sz="1200" dirty="0"/>
          </a:p>
        </p:txBody>
      </p:sp>
      <p:sp>
        <p:nvSpPr>
          <p:cNvPr id="16" name="kicker"/>
          <p:cNvSpPr txBox="1"/>
          <p:nvPr/>
        </p:nvSpPr>
        <p:spPr>
          <a:xfrm>
            <a:off x="889000" y="559816"/>
            <a:ext cx="12319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YOUR TURN</a:t>
            </a:r>
            <a:endParaRPr lang="en-US" sz="1400" dirty="0"/>
          </a:p>
        </p:txBody>
      </p:sp>
      <p:sp>
        <p:nvSpPr>
          <p:cNvPr id="17" name="headline"/>
          <p:cNvSpPr>
            <a:spLocks noGrp="1"/>
          </p:cNvSpPr>
          <p:nvPr>
            <p:ph type="title"/>
          </p:nvPr>
        </p:nvSpPr>
        <p:spPr>
          <a:xfrm>
            <a:off x="889000" y="1316078"/>
            <a:ext cx="948531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Give your agent </a:t>
            </a:r>
            <a:r>
              <a:rPr lang="en-US" sz="4700" b="1" dirty="0">
                <a:solidFill>
                  <a:srgbClr val="6A9AFF"/>
                </a:solidFill>
                <a:latin typeface="Inter Tight"/>
                <a:ea typeface="Inter Tight"/>
                <a:cs typeface="Inter Tight"/>
              </a:rPr>
              <a:t>real layers.</a:t>
            </a:r>
            <a:endParaRPr lang="en-US" sz="4700" dirty="0"/>
          </a:p>
        </p:txBody>
      </p:sp>
      <p:grpSp>
        <p:nvGrpSpPr>
          <p:cNvPr id="24" name="install"/>
          <p:cNvGrpSpPr/>
          <p:nvPr/>
        </p:nvGrpSpPr>
        <p:grpSpPr>
          <a:xfrm>
            <a:off x="889000" y="2381250"/>
            <a:ext cx="10414000" cy="1701800"/>
            <a:chOff x="0" y="0"/>
            <a:chExt cx="10414000" cy="1701800"/>
          </a:xfrm>
        </p:grpSpPr>
        <p:sp>
          <p:nvSpPr>
            <p:cNvPr id="18" name="install-bg"/>
            <p:cNvSpPr/>
            <p:nvPr/>
          </p:nvSpPr>
          <p:spPr>
            <a:xfrm>
              <a:off x="12700" y="12700"/>
              <a:ext cx="10388600" cy="1676400"/>
            </a:xfrm>
            <a:prstGeom prst="roundRect">
              <a:avLst>
                <a:gd name="adj" fmla="val 6439"/>
              </a:avLst>
            </a:prstGeom>
            <a:solidFill>
              <a:srgbClr val="1A1F2B"/>
            </a:solidFill>
            <a:ln w="12700">
              <a:solidFill>
                <a:srgbClr val="3C4458"/>
              </a:solidFill>
            </a:ln>
          </p:spPr>
        </p:sp>
        <p:sp>
          <p:nvSpPr>
            <p:cNvPr id="19" name="install-dot0"/>
            <p:cNvSpPr/>
            <p:nvPr/>
          </p:nvSpPr>
          <p:spPr>
            <a:xfrm>
              <a:off x="152400" y="139700"/>
              <a:ext cx="76200" cy="76200"/>
            </a:xfrm>
            <a:prstGeom prst="ellipse">
              <a:avLst/>
            </a:prstGeom>
            <a:solidFill>
              <a:srgbClr val="FF6B6B"/>
            </a:solidFill>
            <a:ln>
              <a:noFill/>
            </a:ln>
          </p:spPr>
        </p:sp>
        <p:sp>
          <p:nvSpPr>
            <p:cNvPr id="20" name="install-dot1"/>
            <p:cNvSpPr/>
            <p:nvPr/>
          </p:nvSpPr>
          <p:spPr>
            <a:xfrm>
              <a:off x="292100" y="139700"/>
              <a:ext cx="76200" cy="76200"/>
            </a:xfrm>
            <a:prstGeom prst="ellipse">
              <a:avLst/>
            </a:prstGeom>
            <a:solidFill>
              <a:srgbClr val="FFC37A"/>
            </a:solidFill>
            <a:ln>
              <a:noFill/>
            </a:ln>
          </p:spPr>
        </p:sp>
        <p:sp>
          <p:nvSpPr>
            <p:cNvPr id="21" name="install-dot2"/>
            <p:cNvSpPr/>
            <p:nvPr/>
          </p:nvSpPr>
          <p:spPr>
            <a:xfrm>
              <a:off x="431800" y="139700"/>
              <a:ext cx="76200" cy="76200"/>
            </a:xfrm>
            <a:prstGeom prst="ellipse">
              <a:avLst/>
            </a:prstGeom>
            <a:solidFill>
              <a:srgbClr val="5FD38D"/>
            </a:solidFill>
            <a:ln>
              <a:noFill/>
            </a:ln>
          </p:spPr>
        </p:sp>
        <p:sp>
          <p:nvSpPr>
            <p:cNvPr id="22" name="install-title"/>
            <p:cNvSpPr txBox="1"/>
            <p:nvPr/>
          </p:nvSpPr>
          <p:spPr>
            <a:xfrm>
              <a:off x="635000" y="58979"/>
              <a:ext cx="965200" cy="182321"/>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terminal</a:t>
              </a:r>
              <a:endParaRPr lang="en-US" sz="1200" dirty="0"/>
            </a:p>
          </p:txBody>
        </p:sp>
        <p:sp>
          <p:nvSpPr>
            <p:cNvPr id="23" name="install-code"/>
            <p:cNvSpPr txBox="1"/>
            <p:nvPr/>
          </p:nvSpPr>
          <p:spPr>
            <a:xfrm>
              <a:off x="177800" y="419735"/>
              <a:ext cx="10058400" cy="958215"/>
            </a:xfrm>
            <a:prstGeom prst="rect">
              <a:avLst/>
            </a:prstGeom>
            <a:noFill/>
          </p:spPr>
          <p:txBody>
            <a:bodyPr wrap="square" lIns="0" tIns="0" rIns="0" bIns="0" rtlCol="0" anchor="t">
              <a:noAutofit/>
            </a:bodyPr>
            <a:lstStyle/>
            <a:p>
              <a:pPr algn="l">
                <a:lnSpc>
                  <a:spcPts val="1875"/>
                </a:lnSpc>
                <a:spcBef>
                  <a:spcPts val="0"/>
                </a:spcBef>
                <a:spcAft>
                  <a:spcPts val="0"/>
                </a:spcAft>
                <a:buNone/>
              </a:pPr>
              <a:r>
                <a:rPr lang="en-US" sz="1500" dirty="0">
                  <a:solidFill>
                    <a:srgbClr val="FFFFFF"/>
                  </a:solidFill>
                  <a:latin typeface="JetBrains Mono"/>
                  <a:ea typeface="JetBrains Mono"/>
                  <a:cs typeface="JetBrains Mono"/>
                </a:rPr>
                <a:t>git clone https://github.com/jxburros/Vixl.git</a:t>
              </a:r>
              <a:endParaRPr lang="en-US" sz="1500" dirty="0"/>
            </a:p>
            <a:p>
              <a:pPr algn="l">
                <a:lnSpc>
                  <a:spcPts val="1875"/>
                </a:lnSpc>
                <a:spcBef>
                  <a:spcPts val="0"/>
                </a:spcBef>
                <a:spcAft>
                  <a:spcPts val="0"/>
                </a:spcAft>
                <a:buNone/>
              </a:pPr>
              <a:r>
                <a:rPr lang="en-US" sz="1500" dirty="0">
                  <a:solidFill>
                    <a:srgbClr val="FFFFFF"/>
                  </a:solidFill>
                  <a:latin typeface="JetBrains Mono"/>
                  <a:ea typeface="JetBrains Mono"/>
                  <a:cs typeface="JetBrains Mono"/>
                </a:rPr>
                <a:t>cd Vixl</a:t>
              </a:r>
              <a:endParaRPr lang="en-US" sz="1500" dirty="0"/>
            </a:p>
            <a:p>
              <a:pPr algn="l">
                <a:lnSpc>
                  <a:spcPts val="1875"/>
                </a:lnSpc>
                <a:spcBef>
                  <a:spcPts val="0"/>
                </a:spcBef>
                <a:spcAft>
                  <a:spcPts val="0"/>
                </a:spcAft>
                <a:buNone/>
              </a:pPr>
              <a:r>
                <a:rPr lang="en-US" sz="1500" dirty="0">
                  <a:solidFill>
                    <a:srgbClr val="FFFFFF"/>
                  </a:solidFill>
                  <a:latin typeface="JetBrains Mono"/>
                  <a:ea typeface="JetBrains Mono"/>
                  <a:cs typeface="JetBrains Mono"/>
                </a:rPr>
                <a:t>python -m pip install -e '.[server,pdf]'</a:t>
              </a:r>
              <a:endParaRPr lang="en-US" sz="1500" dirty="0"/>
            </a:p>
            <a:p>
              <a:pPr algn="l">
                <a:lnSpc>
                  <a:spcPts val="1875"/>
                </a:lnSpc>
                <a:spcBef>
                  <a:spcPts val="0"/>
                </a:spcBef>
                <a:spcAft>
                  <a:spcPts val="0"/>
                </a:spcAft>
                <a:buNone/>
              </a:pPr>
              <a:r>
                <a:rPr lang="en-US" sz="1500" dirty="0">
                  <a:solidFill>
                    <a:srgbClr val="9FE3B4"/>
                  </a:solidFill>
                  <a:latin typeface="JetBrains Mono"/>
                  <a:ea typeface="JetBrains Mono"/>
                  <a:cs typeface="JetBrains Mono"/>
                </a:rPr>
                <a:t>vixl mcp --workspace . --tools core --schema slim</a:t>
              </a:r>
              <a:endParaRPr lang="en-US" sz="1500" dirty="0"/>
            </a:p>
          </p:txBody>
        </p:sp>
      </p:grpSp>
      <p:sp>
        <p:nvSpPr>
          <p:cNvPr id="25" name="windows"/>
          <p:cNvSpPr txBox="1"/>
          <p:nvPr/>
        </p:nvSpPr>
        <p:spPr>
          <a:xfrm>
            <a:off x="889000" y="4527407"/>
            <a:ext cx="4627562" cy="247793"/>
          </a:xfrm>
          <a:prstGeom prst="rect">
            <a:avLst/>
          </a:prstGeom>
          <a:noFill/>
        </p:spPr>
        <p:txBody>
          <a:bodyPr wrap="square" lIns="0" tIns="0" rIns="0" bIns="0" rtlCol="0" anchor="t">
            <a:noAutofit/>
          </a:bodyPr>
          <a:lstStyle/>
          <a:p>
            <a:pPr algn="l">
              <a:lnSpc>
                <a:spcPts val="2307"/>
              </a:lnSpc>
              <a:buNone/>
            </a:pPr>
            <a:r>
              <a:rPr lang="en-US" sz="1700" b="1" dirty="0">
                <a:solidFill>
                  <a:srgbClr val="FFFFFF"/>
                </a:solidFill>
                <a:latin typeface="Inter"/>
                <a:ea typeface="Inter"/>
                <a:cs typeface="Inter"/>
              </a:rPr>
              <a:t>Windows installer: GitHub Releases</a:t>
            </a:r>
            <a:endParaRPr lang="en-US" sz="1700" dirty="0"/>
          </a:p>
        </p:txBody>
      </p:sp>
      <p:sp>
        <p:nvSpPr>
          <p:cNvPr id="26" name="repo"/>
          <p:cNvSpPr txBox="1"/>
          <p:nvPr/>
        </p:nvSpPr>
        <p:spPr>
          <a:xfrm>
            <a:off x="889000" y="4953698"/>
            <a:ext cx="3548062" cy="266002"/>
          </a:xfrm>
          <a:prstGeom prst="rect">
            <a:avLst/>
          </a:prstGeom>
          <a:noFill/>
        </p:spPr>
        <p:txBody>
          <a:bodyPr wrap="square" lIns="0" tIns="0" rIns="0" bIns="0" rtlCol="0" anchor="t">
            <a:noAutofit/>
          </a:bodyPr>
          <a:lstStyle/>
          <a:p>
            <a:pPr algn="l">
              <a:lnSpc>
                <a:spcPts val="2246"/>
              </a:lnSpc>
              <a:buNone/>
            </a:pPr>
            <a:r>
              <a:rPr lang="en-US" sz="1550" dirty="0">
                <a:solidFill>
                  <a:srgbClr val="6A9AFF"/>
                </a:solidFill>
                <a:latin typeface="JetBrains Mono"/>
                <a:ea typeface="JetBrains Mono"/>
                <a:cs typeface="JetBrains Mono"/>
              </a:rPr>
              <a:t>github.com/jxburros/Vixl</a:t>
            </a:r>
            <a:endParaRPr lang="en-US" sz="1550" dirty="0"/>
          </a:p>
        </p:txBody>
      </p:sp>
      <p:sp>
        <p:nvSpPr>
          <p:cNvPr id="27" name="license"/>
          <p:cNvSpPr txBox="1"/>
          <p:nvPr/>
        </p:nvSpPr>
        <p:spPr>
          <a:xfrm>
            <a:off x="889000" y="5415181"/>
            <a:ext cx="9779000" cy="458569"/>
          </a:xfrm>
          <a:prstGeom prst="rect">
            <a:avLst/>
          </a:prstGeom>
          <a:noFill/>
        </p:spPr>
        <p:txBody>
          <a:bodyPr wrap="square" lIns="0" tIns="0" rIns="0" bIns="0" rtlCol="0" anchor="t">
            <a:noAutofit/>
          </a:bodyPr>
          <a:lstStyle/>
          <a:p>
            <a:pPr algn="l">
              <a:lnSpc>
                <a:spcPts val="1755"/>
              </a:lnSpc>
              <a:spcBef>
                <a:spcPts val="0"/>
              </a:spcBef>
              <a:spcAft>
                <a:spcPts val="0"/>
              </a:spcAft>
              <a:buNone/>
            </a:pPr>
            <a:r>
              <a:rPr lang="en-US" sz="1350" dirty="0">
                <a:solidFill>
                  <a:srgbClr val="AEB7CA"/>
                </a:solidFill>
                <a:latin typeface="Inter"/>
                <a:ea typeface="Inter"/>
                <a:cs typeface="Inter"/>
              </a:rPr>
              <a:t>Source-available · PolyForm Small Business 1.0.0</a:t>
            </a:r>
            <a:endParaRPr lang="en-US" sz="1350" dirty="0"/>
          </a:p>
          <a:p>
            <a:pPr algn="l">
              <a:lnSpc>
                <a:spcPts val="1755"/>
              </a:lnSpc>
              <a:spcBef>
                <a:spcPts val="0"/>
              </a:spcBef>
              <a:spcAft>
                <a:spcPts val="0"/>
              </a:spcAft>
              <a:buNone/>
            </a:pPr>
            <a:r>
              <a:rPr lang="en-US" sz="1350" dirty="0">
                <a:solidFill>
                  <a:srgbClr val="AEB7CA"/>
                </a:solidFill>
                <a:latin typeface="Inter"/>
                <a:ea typeface="Inter"/>
                <a:cs typeface="Inter"/>
              </a:rPr>
              <a:t>AI features use configured external providers.</a:t>
            </a:r>
            <a:endParaRPr lang="en-US" sz="1350" dirty="0"/>
          </a:p>
        </p:txBody>
      </p:sp>
    </p:spTree>
  </p:cSld>
  <p:clrMapOvr>
    <a:masterClrMapping/>
  </p:clrMapOvr>
  <p:transition spd="med">
    <p:fade/>
  </p:transition>
</p:sld>
</file>

<file path=ppt/theme/theme1.xml><?xml version="1.0" encoding="utf-8"?>
<a:theme xmlns:a="http://schemas.openxmlformats.org/drawingml/2006/main" name="Vixl">
  <a:themeElements>
    <a:clrScheme name="Vixl">
      <a:dk1>
        <a:srgbClr val="000000"/>
      </a:dk1>
      <a:lt1>
        <a:srgbClr val="FFFFFF"/>
      </a:lt1>
      <a:dk2>
        <a:srgbClr val="1F2937"/>
      </a:dk2>
      <a:lt2>
        <a:srgbClr val="F3F4F6"/>
      </a:lt2>
      <a:accent1>
        <a:srgbClr val="2563EB"/>
      </a:accent1>
      <a:accent2>
        <a:srgbClr val="DB2777"/>
      </a:accent2>
      <a:accent3>
        <a:srgbClr val="059669"/>
      </a:accent3>
      <a:accent4>
        <a:srgbClr val="D97706"/>
      </a:accent4>
      <a:accent5>
        <a:srgbClr val="7C3AED"/>
      </a:accent5>
      <a:accent6>
        <a:srgbClr val="0891B2"/>
      </a:accent6>
      <a:hlink>
        <a:srgbClr val="2563EB"/>
      </a:hlink>
      <a:folHlink>
        <a:srgbClr val="7C3AED"/>
      </a:folHlink>
    </a:clrScheme>
    <a:fontScheme name="Vixl">
      <a:majorFont>
        <a:latin typeface="Calibri Light"/>
        <a:ea typeface=""/>
        <a:cs typeface=""/>
      </a:majorFont>
      <a:minorFont>
        <a:latin typeface="Calibri"/>
        <a:ea typeface=""/>
        <a:cs typeface=""/>
      </a:minorFont>
    </a:fontScheme>
    <a:fmtScheme name="Vixl">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Vixl">
  <a:themeElements>
    <a:clrScheme name="Vixl">
      <a:dk1>
        <a:srgbClr val="000000"/>
      </a:dk1>
      <a:lt1>
        <a:srgbClr val="FFFFFF"/>
      </a:lt1>
      <a:dk2>
        <a:srgbClr val="1F2937"/>
      </a:dk2>
      <a:lt2>
        <a:srgbClr val="F3F4F6"/>
      </a:lt2>
      <a:accent1>
        <a:srgbClr val="2563EB"/>
      </a:accent1>
      <a:accent2>
        <a:srgbClr val="DB2777"/>
      </a:accent2>
      <a:accent3>
        <a:srgbClr val="059669"/>
      </a:accent3>
      <a:accent4>
        <a:srgbClr val="D97706"/>
      </a:accent4>
      <a:accent5>
        <a:srgbClr val="7C3AED"/>
      </a:accent5>
      <a:accent6>
        <a:srgbClr val="0891B2"/>
      </a:accent6>
      <a:hlink>
        <a:srgbClr val="2563EB"/>
      </a:hlink>
      <a:folHlink>
        <a:srgbClr val="7C3AED"/>
      </a:folHlink>
    </a:clrScheme>
    <a:fontScheme name="Vixl">
      <a:majorFont>
        <a:latin typeface="Calibri Light"/>
        <a:ea typeface=""/>
        <a:cs typeface=""/>
      </a:majorFont>
      <a:minorFont>
        <a:latin typeface="Calibri"/>
        <a:ea typeface=""/>
        <a:cs typeface=""/>
      </a:minorFont>
    </a:fontScheme>
    <a:fmtScheme name="Vixl">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Vixl</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YOUR TURN</dc:title>
  <dc:creator>Vixl</dc:creator>
</cp:coreProperties>
</file>