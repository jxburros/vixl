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Vixl is an editable image-document engine built for AI agents. 30-second pitch.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Creative tools assume a person with a mouse. Agents need structure, feedback and editable output.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design is a document of editable layers. Every change is an operation.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loop: inspect the document, apply a batch, run checks, preview, export.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were built with Vixl in this repository's explorations, without a GUI.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timings from the exploration projects, before and after the 0.18.0 performance fixes.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operations everywhere: an agent over MCP, a shell script, a notebook or a web service.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master, every format. CMYK print, editable PowerPoint and mixed WAV audio included.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from source or the Windows installer, then connect an agent.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428625"/>
            <a:ext cx="10668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714500"/>
            <a:ext cx="10668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glow"/>
          <p:cNvSpPr/>
          <p:nvPr/>
        </p:nvSpPr>
        <p:spPr>
          <a:xfrm>
            <a:off x="4445000" y="-254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37647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t-grid-row" descr="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4" name="t-mark" descr="t-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1079500"/>
            <a:ext cx="3937000" cy="3937000"/>
          </a:xfrm>
          <a:prstGeom prst="rect">
            <a:avLst/>
          </a:prstGeom>
        </p:spPr>
      </p:pic>
      <p:pic>
        <p:nvPicPr>
          <p:cNvPr id="5" name="t-logo" descr="t-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952500"/>
            <a:ext cx="1905000" cy="793750"/>
          </a:xfrm>
          <a:prstGeom prst="rect">
            <a:avLst/>
          </a:prstGeom>
        </p:spPr>
      </p:pic>
      <p:sp>
        <p:nvSpPr>
          <p:cNvPr id="6" name="t-title"/>
          <p:cNvSpPr>
            <a:spLocks noGrp="1"/>
          </p:cNvSpPr>
          <p:nvPr>
            <p:ph type="title"/>
          </p:nvPr>
        </p:nvSpPr>
        <p:spPr>
          <a:xfrm>
            <a:off x="889000" y="2549021"/>
            <a:ext cx="7262812" cy="24230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The image editor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your AI agent can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actually use.</a:t>
            </a:r>
            <a:endParaRPr lang="en-US" sz="5600" dirty="0"/>
          </a:p>
        </p:txBody>
      </p:sp>
      <p:sp>
        <p:nvSpPr>
          <p:cNvPr id="7" name="t-sub"/>
          <p:cNvSpPr txBox="1"/>
          <p:nvPr/>
        </p:nvSpPr>
        <p:spPr>
          <a:xfrm>
            <a:off x="889000" y="5280620"/>
            <a:ext cx="5199062" cy="2692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Release 0.21.0  ·  MCP · CLI · Python · REST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328"/>
            <a:ext cx="323850" cy="1823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2</a:t>
            </a:r>
            <a:endParaRPr lang="en-US" sz="1200" dirty="0"/>
          </a:p>
        </p:txBody>
      </p:sp>
      <p:sp>
        <p:nvSpPr>
          <p:cNvPr id="5" name="pr-kicker"/>
          <p:cNvSpPr txBox="1"/>
          <p:nvPr/>
        </p:nvSpPr>
        <p:spPr>
          <a:xfrm>
            <a:off x="889000" y="563372"/>
            <a:ext cx="1365250" cy="1986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PROBLEM</a:t>
            </a:r>
            <a:endParaRPr lang="en-US" sz="1300" dirty="0"/>
          </a:p>
        </p:txBody>
      </p:sp>
      <p:sp>
        <p:nvSpPr>
          <p:cNvPr id="6" name="pr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881938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tools are built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for hands,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not agents.</a:t>
            </a:r>
            <a:endParaRPr lang="en-US" sz="4800" dirty="0"/>
          </a:p>
        </p:txBody>
      </p:sp>
      <p:sp>
        <p:nvSpPr>
          <p:cNvPr id="7" name="pr-card0"/>
          <p:cNvSpPr/>
          <p:nvPr/>
        </p:nvSpPr>
        <p:spPr>
          <a:xfrm>
            <a:off x="889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pr-n0"/>
          <p:cNvSpPr txBox="1"/>
          <p:nvPr/>
        </p:nvSpPr>
        <p:spPr>
          <a:xfrm>
            <a:off x="1168400" y="3089870"/>
            <a:ext cx="5334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600" dirty="0"/>
          </a:p>
        </p:txBody>
      </p:sp>
      <p:sp>
        <p:nvSpPr>
          <p:cNvPr id="9" name="pr-t0"/>
          <p:cNvSpPr txBox="1"/>
          <p:nvPr/>
        </p:nvSpPr>
        <p:spPr>
          <a:xfrm>
            <a:off x="1168400" y="3453892"/>
            <a:ext cx="2095500" cy="4132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Click-only</a:t>
            </a:r>
            <a:endParaRPr lang="en-US" sz="2600" dirty="0"/>
          </a:p>
        </p:txBody>
      </p:sp>
      <p:sp>
        <p:nvSpPr>
          <p:cNvPr id="10" name="pr-d0"/>
          <p:cNvSpPr txBox="1"/>
          <p:nvPr/>
        </p:nvSpPr>
        <p:spPr>
          <a:xfrm>
            <a:off x="1168400" y="3991325"/>
            <a:ext cx="2743200" cy="6886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Sliders, canvases and menus an agent cannot see or drive.</a:t>
            </a:r>
            <a:endParaRPr lang="en-US" sz="1500" dirty="0"/>
          </a:p>
        </p:txBody>
      </p:sp>
      <p:sp>
        <p:nvSpPr>
          <p:cNvPr id="11" name="pr-card1"/>
          <p:cNvSpPr/>
          <p:nvPr/>
        </p:nvSpPr>
        <p:spPr>
          <a:xfrm>
            <a:off x="4445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pr-n1"/>
          <p:cNvSpPr txBox="1"/>
          <p:nvPr/>
        </p:nvSpPr>
        <p:spPr>
          <a:xfrm>
            <a:off x="4724400" y="3089870"/>
            <a:ext cx="57150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600" dirty="0"/>
          </a:p>
        </p:txBody>
      </p:sp>
      <p:sp>
        <p:nvSpPr>
          <p:cNvPr id="13" name="pr-t1"/>
          <p:cNvSpPr txBox="1"/>
          <p:nvPr/>
        </p:nvSpPr>
        <p:spPr>
          <a:xfrm>
            <a:off x="4724400" y="3438252"/>
            <a:ext cx="19748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Flattened</a:t>
            </a:r>
            <a:endParaRPr lang="en-US" sz="2600" dirty="0"/>
          </a:p>
        </p:txBody>
      </p:sp>
      <p:sp>
        <p:nvSpPr>
          <p:cNvPr id="14" name="pr-d1"/>
          <p:cNvSpPr txBox="1"/>
          <p:nvPr/>
        </p:nvSpPr>
        <p:spPr>
          <a:xfrm>
            <a:off x="4724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Image generators return pixels; the layers and text are gone.</a:t>
            </a:r>
            <a:endParaRPr lang="en-US" sz="1500" dirty="0"/>
          </a:p>
        </p:txBody>
      </p:sp>
      <p:sp>
        <p:nvSpPr>
          <p:cNvPr id="15" name="pr-card2"/>
          <p:cNvSpPr/>
          <p:nvPr/>
        </p:nvSpPr>
        <p:spPr>
          <a:xfrm>
            <a:off x="8001000" y="2908300"/>
            <a:ext cx="3302000" cy="2095500"/>
          </a:xfrm>
          <a:prstGeom prst="roundRect">
            <a:avLst>
              <a:gd name="adj" fmla="val 7273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pr-n2"/>
          <p:cNvSpPr txBox="1"/>
          <p:nvPr/>
        </p:nvSpPr>
        <p:spPr>
          <a:xfrm>
            <a:off x="8280400" y="3089870"/>
            <a:ext cx="577850" cy="2248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36"/>
              </a:lnSpc>
              <a:buNone/>
            </a:pPr>
            <a:r>
              <a:rPr lang="en-US" sz="1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600" dirty="0"/>
          </a:p>
        </p:txBody>
      </p:sp>
      <p:sp>
        <p:nvSpPr>
          <p:cNvPr id="17" name="pr-t2"/>
          <p:cNvSpPr txBox="1"/>
          <p:nvPr/>
        </p:nvSpPr>
        <p:spPr>
          <a:xfrm>
            <a:off x="8280400" y="3438252"/>
            <a:ext cx="2266950" cy="35269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46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Unchecked</a:t>
            </a:r>
            <a:endParaRPr lang="en-US" sz="2600" dirty="0"/>
          </a:p>
        </p:txBody>
      </p:sp>
      <p:sp>
        <p:nvSpPr>
          <p:cNvPr id="18" name="pr-d2"/>
          <p:cNvSpPr txBox="1"/>
          <p:nvPr/>
        </p:nvSpPr>
        <p:spPr>
          <a:xfrm>
            <a:off x="8280400" y="3991325"/>
            <a:ext cx="2743200" cy="10124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Nobody knows the headline overflowed until a human looks.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ution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3</a:t>
            </a:r>
            <a:endParaRPr lang="en-US" sz="1200" dirty="0"/>
          </a:p>
        </p:txBody>
      </p:sp>
      <p:sp>
        <p:nvSpPr>
          <p:cNvPr id="5" name="s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THE SOLUTION</a:t>
            </a:r>
            <a:endParaRPr lang="en-US" sz="1300" dirty="0"/>
          </a:p>
        </p:txBody>
      </p:sp>
      <p:sp>
        <p:nvSpPr>
          <p:cNvPr id="6" name="s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7993062" cy="13801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Design as atomic,</a:t>
            </a:r>
            <a:endParaRPr lang="en-US" sz="4800" dirty="0"/>
          </a:p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checkable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operations.</a:t>
            </a:r>
            <a:endParaRPr lang="en-US" sz="4800" dirty="0"/>
          </a:p>
        </p:txBody>
      </p:sp>
      <p:grpSp>
        <p:nvGrpSpPr>
          <p:cNvPr id="13" name="so-code"/>
          <p:cNvGrpSpPr/>
          <p:nvPr/>
        </p:nvGrpSpPr>
        <p:grpSpPr>
          <a:xfrm>
            <a:off x="6858000" y="2781300"/>
            <a:ext cx="4445000" cy="3067050"/>
            <a:chOff x="0" y="0"/>
            <a:chExt cx="4445000" cy="3067050"/>
          </a:xfrm>
        </p:grpSpPr>
        <p:sp>
          <p:nvSpPr>
            <p:cNvPr id="7" name="so-code-bg"/>
            <p:cNvSpPr/>
            <p:nvPr/>
          </p:nvSpPr>
          <p:spPr>
            <a:xfrm>
              <a:off x="12700" y="12700"/>
              <a:ext cx="4419600" cy="3232150"/>
            </a:xfrm>
            <a:prstGeom prst="roundRect">
              <a:avLst>
                <a:gd name="adj" fmla="val 3340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8" name="so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9" name="so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10" name="so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11" name="so-code-title"/>
            <p:cNvSpPr txBox="1"/>
            <p:nvPr/>
          </p:nvSpPr>
          <p:spPr>
            <a:xfrm>
              <a:off x="635000" y="57163"/>
              <a:ext cx="1103312" cy="1904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86"/>
                </a:lnSpc>
                <a:buNone/>
              </a:pPr>
              <a:r>
                <a:rPr lang="en-US" sz="105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design.json</a:t>
              </a:r>
              <a:endParaRPr lang="en-US" sz="1050" dirty="0"/>
            </a:p>
          </p:txBody>
        </p:sp>
        <p:sp>
          <p:nvSpPr>
            <p:cNvPr id="12" name="so-code-code"/>
            <p:cNvSpPr txBox="1"/>
            <p:nvPr/>
          </p:nvSpPr>
          <p:spPr>
            <a:xfrm>
              <a:off x="177800" y="353759"/>
              <a:ext cx="4089400" cy="27132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[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"layout-apply"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"name"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"hero-statement"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"title"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"Launch day"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</a:t>
              </a:r>
              <a:endParaRPr lang="en-US" sz="1300" dirty="0"/>
            </a:p>
            <a:p>
              <a:pPr algn="l" marL="39370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"seed"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FFC37A"/>
                  </a:solidFill>
                  <a:latin typeface="JetBrains Mono"/>
                  <a:ea typeface="JetBrains Mono"/>
                  <a:cs typeface="JetBrains Mono"/>
                </a:rPr>
                <a:t>7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},</a:t>
              </a:r>
              <a:endParaRPr lang="en-US" sz="1300" dirty="0"/>
            </a:p>
            <a:p>
              <a:pPr algn="l" marL="196850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{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"type"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, </a:t>
              </a:r>
              <a:r>
                <a:rPr lang="en-US" sz="1300" dirty="0">
                  <a:solidFill>
                    <a:srgbClr val="8FB4FF"/>
                  </a:solidFill>
                  <a:latin typeface="JetBrains Mono"/>
                  <a:ea typeface="JetBrains Mono"/>
                  <a:cs typeface="JetBrains Mono"/>
                </a:rPr>
                <a:t>"look"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: </a:t>
              </a:r>
              <a:r>
                <a:rPr lang="en-US" sz="1300" dirty="0">
                  <a:solidFill>
                    <a:srgbClr val="9FE3B4"/>
                  </a:solidFill>
                  <a:latin typeface="JetBrains Mono"/>
                  <a:ea typeface="JetBrains Mono"/>
                  <a:cs typeface="JetBrains Mono"/>
                </a:rPr>
                <a:t>"glow"</a:t>
              </a: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}</a:t>
              </a:r>
              <a:endParaRPr lang="en-US" sz="1300" dirty="0"/>
            </a:p>
            <a:p>
              <a:pPr algn="l">
                <a:lnSpc>
                  <a:spcPts val="234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]</a:t>
              </a:r>
              <a:endParaRPr lang="en-US" sz="1300" dirty="0"/>
            </a:p>
          </p:txBody>
        </p:sp>
      </p:grpSp>
      <p:sp>
        <p:nvSpPr>
          <p:cNvPr id="14" name="so-px0"/>
          <p:cNvSpPr/>
          <p:nvPr/>
        </p:nvSpPr>
        <p:spPr>
          <a:xfrm>
            <a:off x="889000" y="311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5" name="so-p0"/>
          <p:cNvSpPr txBox="1"/>
          <p:nvPr/>
        </p:nvSpPr>
        <p:spPr>
          <a:xfrm>
            <a:off x="1168400" y="2962988"/>
            <a:ext cx="6992938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Editable .vixl masters: text, vector paths, masks, pages</a:t>
            </a:r>
            <a:endParaRPr lang="en-US" sz="1700" dirty="0"/>
          </a:p>
        </p:txBody>
      </p:sp>
      <p:sp>
        <p:nvSpPr>
          <p:cNvPr id="16" name="so-px1"/>
          <p:cNvSpPr/>
          <p:nvPr/>
        </p:nvSpPr>
        <p:spPr>
          <a:xfrm>
            <a:off x="889000" y="374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7" name="so-p1"/>
          <p:cNvSpPr txBox="1"/>
          <p:nvPr/>
        </p:nvSpPr>
        <p:spPr>
          <a:xfrm>
            <a:off x="1168400" y="3597988"/>
            <a:ext cx="5842000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180 operations, up to 10,000 per atomic batch</a:t>
            </a:r>
            <a:endParaRPr lang="en-US" sz="1700" dirty="0"/>
          </a:p>
        </p:txBody>
      </p:sp>
      <p:sp>
        <p:nvSpPr>
          <p:cNvPr id="18" name="so-px2"/>
          <p:cNvSpPr/>
          <p:nvPr/>
        </p:nvSpPr>
        <p:spPr>
          <a:xfrm>
            <a:off x="889000" y="4381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19" name="so-p2"/>
          <p:cNvSpPr txBox="1"/>
          <p:nvPr/>
        </p:nvSpPr>
        <p:spPr>
          <a:xfrm>
            <a:off x="1168400" y="4232988"/>
            <a:ext cx="4429125" cy="2818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Structured errors with suggestions</a:t>
            </a:r>
            <a:endParaRPr lang="en-US" sz="1700" dirty="0"/>
          </a:p>
        </p:txBody>
      </p:sp>
      <p:sp>
        <p:nvSpPr>
          <p:cNvPr id="20" name="so-px3"/>
          <p:cNvSpPr/>
          <p:nvPr/>
        </p:nvSpPr>
        <p:spPr>
          <a:xfrm>
            <a:off x="889000" y="5016500"/>
            <a:ext cx="114300" cy="114300"/>
          </a:xfrm>
          <a:prstGeom prst="rect">
            <a:avLst/>
          </a:prstGeom>
          <a:solidFill>
            <a:srgbClr val="3575EE"/>
          </a:solidFill>
          <a:ln>
            <a:noFill/>
          </a:ln>
        </p:spPr>
      </p:sp>
      <p:sp>
        <p:nvSpPr>
          <p:cNvPr id="21" name="so-p3"/>
          <p:cNvSpPr txBox="1"/>
          <p:nvPr/>
        </p:nvSpPr>
        <p:spPr>
          <a:xfrm>
            <a:off x="1168400" y="4870202"/>
            <a:ext cx="4929188" cy="27964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Undo, branches, checkpoints and diffs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oop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4</a:t>
            </a:r>
            <a:endParaRPr lang="en-US" sz="1200" dirty="0"/>
          </a:p>
        </p:txBody>
      </p:sp>
      <p:sp>
        <p:nvSpPr>
          <p:cNvPr id="5" name="lo-kicker"/>
          <p:cNvSpPr txBox="1"/>
          <p:nvPr/>
        </p:nvSpPr>
        <p:spPr>
          <a:xfrm>
            <a:off x="889000" y="563537"/>
            <a:ext cx="1492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HOW IT WORKS</a:t>
            </a:r>
            <a:endParaRPr lang="en-US" sz="1300" dirty="0"/>
          </a:p>
        </p:txBody>
      </p:sp>
      <p:sp>
        <p:nvSpPr>
          <p:cNvPr id="6" name="lo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5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loop for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design.</a:t>
            </a:r>
            <a:endParaRPr lang="en-US" sz="4800" dirty="0"/>
          </a:p>
        </p:txBody>
      </p:sp>
      <p:sp>
        <p:nvSpPr>
          <p:cNvPr id="7" name="lo-card0"/>
          <p:cNvSpPr/>
          <p:nvPr/>
        </p:nvSpPr>
        <p:spPr>
          <a:xfrm>
            <a:off x="8890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lo-num0"/>
          <p:cNvSpPr txBox="1"/>
          <p:nvPr/>
        </p:nvSpPr>
        <p:spPr>
          <a:xfrm>
            <a:off x="1054100" y="2475390"/>
            <a:ext cx="5111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01</a:t>
            </a:r>
            <a:endParaRPr lang="en-US" sz="1550" dirty="0"/>
          </a:p>
        </p:txBody>
      </p:sp>
      <p:sp>
        <p:nvSpPr>
          <p:cNvPr id="9" name="lo-title0"/>
          <p:cNvSpPr txBox="1"/>
          <p:nvPr/>
        </p:nvSpPr>
        <p:spPr>
          <a:xfrm>
            <a:off x="1054100" y="2760896"/>
            <a:ext cx="14097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Inspect</a:t>
            </a:r>
            <a:endParaRPr lang="en-US" sz="2200" dirty="0"/>
          </a:p>
        </p:txBody>
      </p:sp>
      <p:sp>
        <p:nvSpPr>
          <p:cNvPr id="10" name="lo-desc0"/>
          <p:cNvSpPr txBox="1"/>
          <p:nvPr/>
        </p:nvSpPr>
        <p:spPr>
          <a:xfrm>
            <a:off x="10541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Read layers, bounds and fonts</a:t>
            </a:r>
            <a:endParaRPr lang="en-US" sz="1200" dirty="0"/>
          </a:p>
        </p:txBody>
      </p:sp>
      <p:sp>
        <p:nvSpPr>
          <p:cNvPr id="11" name="lo-arrow0"/>
          <p:cNvSpPr/>
          <p:nvPr/>
        </p:nvSpPr>
        <p:spPr>
          <a:xfrm>
            <a:off x="28956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2" name="lo-card1"/>
          <p:cNvSpPr/>
          <p:nvPr/>
        </p:nvSpPr>
        <p:spPr>
          <a:xfrm>
            <a:off x="29972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lo-num1"/>
          <p:cNvSpPr txBox="1"/>
          <p:nvPr/>
        </p:nvSpPr>
        <p:spPr>
          <a:xfrm>
            <a:off x="31623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02</a:t>
            </a:r>
            <a:endParaRPr lang="en-US" sz="1550" dirty="0"/>
          </a:p>
        </p:txBody>
      </p:sp>
      <p:sp>
        <p:nvSpPr>
          <p:cNvPr id="14" name="lo-title1"/>
          <p:cNvSpPr txBox="1"/>
          <p:nvPr/>
        </p:nvSpPr>
        <p:spPr>
          <a:xfrm>
            <a:off x="3162300" y="2760896"/>
            <a:ext cx="120015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Apply</a:t>
            </a:r>
            <a:endParaRPr lang="en-US" sz="2200" dirty="0"/>
          </a:p>
        </p:txBody>
      </p:sp>
      <p:sp>
        <p:nvSpPr>
          <p:cNvPr id="15" name="lo-desc1"/>
          <p:cNvSpPr txBox="1"/>
          <p:nvPr/>
        </p:nvSpPr>
        <p:spPr>
          <a:xfrm>
            <a:off x="31623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Atomic batches, up to 10,000 ops</a:t>
            </a:r>
            <a:endParaRPr lang="en-US" sz="1200" dirty="0"/>
          </a:p>
        </p:txBody>
      </p:sp>
      <p:sp>
        <p:nvSpPr>
          <p:cNvPr id="16" name="lo-arrow1"/>
          <p:cNvSpPr/>
          <p:nvPr/>
        </p:nvSpPr>
        <p:spPr>
          <a:xfrm>
            <a:off x="50038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17" name="lo-card2"/>
          <p:cNvSpPr/>
          <p:nvPr/>
        </p:nvSpPr>
        <p:spPr>
          <a:xfrm>
            <a:off x="51054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lo-num2"/>
          <p:cNvSpPr txBox="1"/>
          <p:nvPr/>
        </p:nvSpPr>
        <p:spPr>
          <a:xfrm>
            <a:off x="52705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03</a:t>
            </a:r>
            <a:endParaRPr lang="en-US" sz="1550" dirty="0"/>
          </a:p>
        </p:txBody>
      </p:sp>
      <p:sp>
        <p:nvSpPr>
          <p:cNvPr id="19" name="lo-title2"/>
          <p:cNvSpPr txBox="1"/>
          <p:nvPr/>
        </p:nvSpPr>
        <p:spPr>
          <a:xfrm>
            <a:off x="5270500" y="2763624"/>
            <a:ext cx="12763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Check</a:t>
            </a:r>
            <a:endParaRPr lang="en-US" sz="2200" dirty="0"/>
          </a:p>
        </p:txBody>
      </p:sp>
      <p:sp>
        <p:nvSpPr>
          <p:cNvPr id="20" name="lo-desc2"/>
          <p:cNvSpPr txBox="1"/>
          <p:nvPr/>
        </p:nvSpPr>
        <p:spPr>
          <a:xfrm>
            <a:off x="52705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Contrast, overlap, bounds, print</a:t>
            </a:r>
            <a:endParaRPr lang="en-US" sz="1200" dirty="0"/>
          </a:p>
        </p:txBody>
      </p:sp>
      <p:sp>
        <p:nvSpPr>
          <p:cNvPr id="21" name="lo-arrow2"/>
          <p:cNvSpPr/>
          <p:nvPr/>
        </p:nvSpPr>
        <p:spPr>
          <a:xfrm>
            <a:off x="71120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2" name="lo-card3"/>
          <p:cNvSpPr/>
          <p:nvPr/>
        </p:nvSpPr>
        <p:spPr>
          <a:xfrm>
            <a:off x="72136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3" name="lo-num3"/>
          <p:cNvSpPr txBox="1"/>
          <p:nvPr/>
        </p:nvSpPr>
        <p:spPr>
          <a:xfrm>
            <a:off x="7378700" y="2475390"/>
            <a:ext cx="56197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04</a:t>
            </a:r>
            <a:endParaRPr lang="en-US" sz="1550" dirty="0"/>
          </a:p>
        </p:txBody>
      </p:sp>
      <p:sp>
        <p:nvSpPr>
          <p:cNvPr id="24" name="lo-title3"/>
          <p:cNvSpPr txBox="1"/>
          <p:nvPr/>
        </p:nvSpPr>
        <p:spPr>
          <a:xfrm>
            <a:off x="7378700" y="2774129"/>
            <a:ext cx="14732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Preview</a:t>
            </a:r>
            <a:endParaRPr lang="en-US" sz="2200" dirty="0"/>
          </a:p>
        </p:txBody>
      </p:sp>
      <p:sp>
        <p:nvSpPr>
          <p:cNvPr id="25" name="lo-desc3"/>
          <p:cNvSpPr txBox="1"/>
          <p:nvPr/>
        </p:nvSpPr>
        <p:spPr>
          <a:xfrm>
            <a:off x="7378700" y="3191790"/>
            <a:ext cx="1651000" cy="294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Render and look</a:t>
            </a:r>
            <a:endParaRPr lang="en-US" sz="1200" dirty="0"/>
          </a:p>
        </p:txBody>
      </p:sp>
      <p:sp>
        <p:nvSpPr>
          <p:cNvPr id="26" name="lo-arrow3"/>
          <p:cNvSpPr/>
          <p:nvPr/>
        </p:nvSpPr>
        <p:spPr>
          <a:xfrm>
            <a:off x="9220200" y="3289300"/>
            <a:ext cx="76200" cy="114300"/>
          </a:xfrm>
          <a:custGeom>
            <a:avLst/>
            <a:gdLst/>
            <a:ahLst/>
            <a:cxnLst/>
            <a:rect l="0" t="0" r="r" b="b"/>
            <a:pathLst>
              <a:path w="10000" h="10000">
                <a:moveTo>
                  <a:pt x="0" y="0"/>
                </a:moveTo>
                <a:lnTo>
                  <a:pt x="4000" y="0"/>
                </a:lnTo>
                <a:lnTo>
                  <a:pt x="10000" y="5000"/>
                </a:lnTo>
                <a:lnTo>
                  <a:pt x="4000" y="10000"/>
                </a:lnTo>
                <a:lnTo>
                  <a:pt x="0" y="10000"/>
                </a:lnTo>
                <a:lnTo>
                  <a:pt x="6000" y="5000"/>
                </a:lnTo>
                <a:lnTo>
                  <a:pt x="0" y="0"/>
                </a:lnTo>
                <a:close/>
              </a:path>
            </a:pathLst>
          </a:custGeom>
          <a:solidFill>
            <a:srgbClr val="6A9AFF"/>
          </a:solidFill>
          <a:ln>
            <a:noFill/>
          </a:ln>
        </p:spPr>
      </p:sp>
      <p:sp>
        <p:nvSpPr>
          <p:cNvPr id="27" name="lo-card4"/>
          <p:cNvSpPr/>
          <p:nvPr/>
        </p:nvSpPr>
        <p:spPr>
          <a:xfrm>
            <a:off x="9321800" y="2393950"/>
            <a:ext cx="1981200" cy="1905000"/>
          </a:xfrm>
          <a:prstGeom prst="roundRect">
            <a:avLst>
              <a:gd name="adj" fmla="val 6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8" name="lo-num4"/>
          <p:cNvSpPr txBox="1"/>
          <p:nvPr/>
        </p:nvSpPr>
        <p:spPr>
          <a:xfrm>
            <a:off x="9486900" y="2475390"/>
            <a:ext cx="555625" cy="2233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75"/>
              </a:lnSpc>
              <a:buNone/>
            </a:pPr>
            <a:r>
              <a:rPr lang="en-US" sz="155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05</a:t>
            </a:r>
            <a:endParaRPr lang="en-US" sz="1550" dirty="0"/>
          </a:p>
        </p:txBody>
      </p:sp>
      <p:sp>
        <p:nvSpPr>
          <p:cNvPr id="29" name="lo-title4"/>
          <p:cNvSpPr txBox="1"/>
          <p:nvPr/>
        </p:nvSpPr>
        <p:spPr>
          <a:xfrm>
            <a:off x="9486900" y="2760896"/>
            <a:ext cx="1295400" cy="3531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Export</a:t>
            </a:r>
            <a:endParaRPr lang="en-US" sz="2200" dirty="0"/>
          </a:p>
        </p:txBody>
      </p:sp>
      <p:sp>
        <p:nvSpPr>
          <p:cNvPr id="30" name="lo-desc4"/>
          <p:cNvSpPr txBox="1"/>
          <p:nvPr/>
        </p:nvSpPr>
        <p:spPr>
          <a:xfrm>
            <a:off x="9486900" y="3191790"/>
            <a:ext cx="1651000" cy="5610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PNG, SVG, PDF, PPTX, MP4 ...</a:t>
            </a:r>
            <a:endParaRPr lang="en-US" sz="1200" dirty="0"/>
          </a:p>
        </p:txBody>
      </p:sp>
      <p:sp>
        <p:nvSpPr>
          <p:cNvPr id="31" name="lo-note"/>
          <p:cNvSpPr txBox="1"/>
          <p:nvPr/>
        </p:nvSpPr>
        <p:spPr>
          <a:xfrm>
            <a:off x="889000" y="4617670"/>
            <a:ext cx="10414000" cy="7290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Checks find overflowing text, low contrast, overlaps, unsafe margins, missing glyphs and print ink problems, so the agent fixes them before anyone looks.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ller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5</a:t>
            </a:r>
            <a:endParaRPr lang="en-US" sz="1200" dirty="0"/>
          </a:p>
        </p:txBody>
      </p:sp>
      <p:sp>
        <p:nvSpPr>
          <p:cNvPr id="5" name="ga-kicker"/>
          <p:cNvSpPr txBox="1"/>
          <p:nvPr/>
        </p:nvSpPr>
        <p:spPr>
          <a:xfrm>
            <a:off x="889000" y="561886"/>
            <a:ext cx="1738312" cy="2001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MADE WITH VIXL</a:t>
            </a:r>
            <a:endParaRPr lang="en-US" sz="1300" dirty="0"/>
          </a:p>
        </p:txBody>
      </p:sp>
      <p:sp>
        <p:nvSpPr>
          <p:cNvPr id="6" name="ga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310562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Posters to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pixel games.</a:t>
            </a:r>
            <a:endParaRPr lang="en-US" sz="4800" dirty="0"/>
          </a:p>
        </p:txBody>
      </p:sp>
      <p:sp>
        <p:nvSpPr>
          <p:cNvPr id="7" name="ga-poster-base"/>
          <p:cNvSpPr/>
          <p:nvPr/>
        </p:nvSpPr>
        <p:spPr>
          <a:xfrm>
            <a:off x="8890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8" name="ga-poster" descr="ga-pos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2076450"/>
            <a:ext cx="2470150" cy="1841500"/>
          </a:xfrm>
          <a:prstGeom prst="rect">
            <a:avLst/>
          </a:prstGeom>
        </p:spPr>
      </p:pic>
      <p:sp>
        <p:nvSpPr>
          <p:cNvPr id="9" name="ga-painting-base"/>
          <p:cNvSpPr/>
          <p:nvPr/>
        </p:nvSpPr>
        <p:spPr>
          <a:xfrm>
            <a:off x="35369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0" name="ga-painting" descr="ga-pain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950" y="2076450"/>
            <a:ext cx="2470150" cy="1841500"/>
          </a:xfrm>
          <a:prstGeom prst="rect">
            <a:avLst/>
          </a:prstGeom>
        </p:spPr>
      </p:pic>
      <p:sp>
        <p:nvSpPr>
          <p:cNvPr id="11" name="ga-pixel-base"/>
          <p:cNvSpPr/>
          <p:nvPr/>
        </p:nvSpPr>
        <p:spPr>
          <a:xfrm>
            <a:off x="618490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2" name="ga-pixel" descr="ga-pix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4900" y="2076450"/>
            <a:ext cx="2470150" cy="1841500"/>
          </a:xfrm>
          <a:prstGeom prst="rect">
            <a:avLst/>
          </a:prstGeom>
        </p:spPr>
      </p:pic>
      <p:sp>
        <p:nvSpPr>
          <p:cNvPr id="13" name="ga-donut-base"/>
          <p:cNvSpPr/>
          <p:nvPr/>
        </p:nvSpPr>
        <p:spPr>
          <a:xfrm>
            <a:off x="8832850" y="20764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4" name="ga-donut" descr="ga-donu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850" y="2076450"/>
            <a:ext cx="2470150" cy="1841500"/>
          </a:xfrm>
          <a:prstGeom prst="rect">
            <a:avLst/>
          </a:prstGeom>
        </p:spPr>
      </p:pic>
      <p:sp>
        <p:nvSpPr>
          <p:cNvPr id="15" name="ga-film-base"/>
          <p:cNvSpPr/>
          <p:nvPr/>
        </p:nvSpPr>
        <p:spPr>
          <a:xfrm>
            <a:off x="8890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6" name="ga-film" descr="ga-fil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" y="4095750"/>
            <a:ext cx="2470150" cy="1841500"/>
          </a:xfrm>
          <a:prstGeom prst="rect">
            <a:avLst/>
          </a:prstGeom>
        </p:spPr>
      </p:pic>
      <p:sp>
        <p:nvSpPr>
          <p:cNvPr id="17" name="ga-photo-base"/>
          <p:cNvSpPr/>
          <p:nvPr/>
        </p:nvSpPr>
        <p:spPr>
          <a:xfrm>
            <a:off x="35369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18" name="ga-photo" descr="ga-photo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950" y="4095750"/>
            <a:ext cx="2470150" cy="1841500"/>
          </a:xfrm>
          <a:prstGeom prst="rect">
            <a:avLst/>
          </a:prstGeom>
        </p:spPr>
      </p:pic>
      <p:sp>
        <p:nvSpPr>
          <p:cNvPr id="19" name="ga-map-base"/>
          <p:cNvSpPr/>
          <p:nvPr/>
        </p:nvSpPr>
        <p:spPr>
          <a:xfrm>
            <a:off x="618490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0" name="ga-map" descr="ga-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4900" y="4095750"/>
            <a:ext cx="2470150" cy="1841500"/>
          </a:xfrm>
          <a:prstGeom prst="rect">
            <a:avLst/>
          </a:prstGeom>
        </p:spPr>
      </p:pic>
      <p:sp>
        <p:nvSpPr>
          <p:cNvPr id="21" name="ga-chart-base"/>
          <p:cNvSpPr/>
          <p:nvPr/>
        </p:nvSpPr>
        <p:spPr>
          <a:xfrm>
            <a:off x="8832850" y="4095750"/>
            <a:ext cx="2470150" cy="1841500"/>
          </a:xfrm>
          <a:prstGeom prst="roundRect">
            <a:avLst>
              <a:gd name="adj" fmla="val 6207"/>
            </a:avLst>
          </a:prstGeom>
          <a:solidFill>
            <a:srgbClr val="2F3647"/>
          </a:solidFill>
          <a:ln>
            <a:noFill/>
          </a:ln>
        </p:spPr>
      </p:sp>
      <p:pic>
        <p:nvPicPr>
          <p:cNvPr id="22" name="ga-chart" descr="ga-cha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2850" y="4095750"/>
            <a:ext cx="2470150" cy="1841500"/>
          </a:xfrm>
          <a:prstGeom prst="rect">
            <a:avLst/>
          </a:prstGeom>
        </p:spPr>
      </p:pic>
      <p:grpSp>
        <p:nvGrpSpPr>
          <p:cNvPr id="25" name="ga-lab0"/>
          <p:cNvGrpSpPr/>
          <p:nvPr/>
        </p:nvGrpSpPr>
        <p:grpSpPr>
          <a:xfrm>
            <a:off x="977900" y="3549650"/>
            <a:ext cx="1022350" cy="266700"/>
            <a:chOff x="0" y="0"/>
            <a:chExt cx="1022350" cy="266700"/>
          </a:xfrm>
        </p:grpSpPr>
        <p:sp>
          <p:nvSpPr>
            <p:cNvPr id="23" name="ga-lab0-bg"/>
            <p:cNvSpPr/>
            <p:nvPr/>
          </p:nvSpPr>
          <p:spPr>
            <a:xfrm>
              <a:off x="0" y="0"/>
              <a:ext cx="10223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4" name="ga-lab0-label"/>
            <p:cNvSpPr txBox="1"/>
            <p:nvPr/>
          </p:nvSpPr>
          <p:spPr>
            <a:xfrm>
              <a:off x="114300" y="28804"/>
              <a:ext cx="10033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Print poster</a:t>
              </a:r>
              <a:endParaRPr lang="en-US" sz="1100" dirty="0"/>
            </a:p>
          </p:txBody>
        </p:sp>
      </p:grpSp>
      <p:grpSp>
        <p:nvGrpSpPr>
          <p:cNvPr id="28" name="ga-lab1"/>
          <p:cNvGrpSpPr/>
          <p:nvPr/>
        </p:nvGrpSpPr>
        <p:grpSpPr>
          <a:xfrm>
            <a:off x="3625850" y="3549650"/>
            <a:ext cx="1555750" cy="266700"/>
            <a:chOff x="0" y="0"/>
            <a:chExt cx="1555750" cy="266700"/>
          </a:xfrm>
        </p:grpSpPr>
        <p:sp>
          <p:nvSpPr>
            <p:cNvPr id="26" name="ga-lab1-bg"/>
            <p:cNvSpPr/>
            <p:nvPr/>
          </p:nvSpPr>
          <p:spPr>
            <a:xfrm>
              <a:off x="0" y="0"/>
              <a:ext cx="15557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27" name="ga-lab1-label"/>
            <p:cNvSpPr txBox="1"/>
            <p:nvPr/>
          </p:nvSpPr>
          <p:spPr>
            <a:xfrm>
              <a:off x="114300" y="28804"/>
              <a:ext cx="165893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Generative painting</a:t>
              </a:r>
              <a:endParaRPr lang="en-US" sz="1100" dirty="0"/>
            </a:p>
          </p:txBody>
        </p:sp>
      </p:grpSp>
      <p:grpSp>
        <p:nvGrpSpPr>
          <p:cNvPr id="31" name="ga-lab2"/>
          <p:cNvGrpSpPr/>
          <p:nvPr/>
        </p:nvGrpSpPr>
        <p:grpSpPr>
          <a:xfrm>
            <a:off x="6273800" y="3549650"/>
            <a:ext cx="1219200" cy="266700"/>
            <a:chOff x="0" y="0"/>
            <a:chExt cx="1219200" cy="266700"/>
          </a:xfrm>
        </p:grpSpPr>
        <p:sp>
          <p:nvSpPr>
            <p:cNvPr id="29" name="ga-lab2-bg"/>
            <p:cNvSpPr/>
            <p:nvPr/>
          </p:nvSpPr>
          <p:spPr>
            <a:xfrm>
              <a:off x="0" y="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0" name="ga-lab2-label"/>
            <p:cNvSpPr txBox="1"/>
            <p:nvPr/>
          </p:nvSpPr>
          <p:spPr>
            <a:xfrm>
              <a:off x="114300" y="28804"/>
              <a:ext cx="123825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Pixel-art game</a:t>
              </a:r>
              <a:endParaRPr lang="en-US" sz="1100" dirty="0"/>
            </a:p>
          </p:txBody>
        </p:sp>
      </p:grpSp>
      <p:grpSp>
        <p:nvGrpSpPr>
          <p:cNvPr id="34" name="ga-lab3"/>
          <p:cNvGrpSpPr/>
          <p:nvPr/>
        </p:nvGrpSpPr>
        <p:grpSpPr>
          <a:xfrm>
            <a:off x="8921750" y="3549650"/>
            <a:ext cx="1346200" cy="266700"/>
            <a:chOff x="0" y="0"/>
            <a:chExt cx="1346200" cy="266700"/>
          </a:xfrm>
        </p:grpSpPr>
        <p:sp>
          <p:nvSpPr>
            <p:cNvPr id="32" name="ga-lab3-bg"/>
            <p:cNvSpPr/>
            <p:nvPr/>
          </p:nvSpPr>
          <p:spPr>
            <a:xfrm>
              <a:off x="0" y="0"/>
              <a:ext cx="1346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3" name="ga-lab3-label"/>
            <p:cNvSpPr txBox="1"/>
            <p:nvPr/>
          </p:nvSpPr>
          <p:spPr>
            <a:xfrm>
              <a:off x="114300" y="28804"/>
              <a:ext cx="13970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Data infographic</a:t>
              </a:r>
              <a:endParaRPr lang="en-US" sz="1100" dirty="0"/>
            </a:p>
          </p:txBody>
        </p:sp>
      </p:grpSp>
      <p:grpSp>
        <p:nvGrpSpPr>
          <p:cNvPr id="37" name="ga-lab4"/>
          <p:cNvGrpSpPr/>
          <p:nvPr/>
        </p:nvGrpSpPr>
        <p:grpSpPr>
          <a:xfrm>
            <a:off x="977900" y="5568950"/>
            <a:ext cx="1600200" cy="266700"/>
            <a:chOff x="0" y="0"/>
            <a:chExt cx="1600200" cy="266700"/>
          </a:xfrm>
        </p:grpSpPr>
        <p:sp>
          <p:nvSpPr>
            <p:cNvPr id="35" name="ga-lab4-bg"/>
            <p:cNvSpPr/>
            <p:nvPr/>
          </p:nvSpPr>
          <p:spPr>
            <a:xfrm>
              <a:off x="0" y="0"/>
              <a:ext cx="16002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6" name="ga-lab4-label"/>
            <p:cNvSpPr txBox="1"/>
            <p:nvPr/>
          </p:nvSpPr>
          <p:spPr>
            <a:xfrm>
              <a:off x="114300" y="28804"/>
              <a:ext cx="17145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Character animation</a:t>
              </a:r>
              <a:endParaRPr lang="en-US" sz="1100" dirty="0"/>
            </a:p>
          </p:txBody>
        </p:sp>
      </p:grpSp>
      <p:grpSp>
        <p:nvGrpSpPr>
          <p:cNvPr id="40" name="ga-lab5"/>
          <p:cNvGrpSpPr/>
          <p:nvPr/>
        </p:nvGrpSpPr>
        <p:grpSpPr>
          <a:xfrm>
            <a:off x="3625850" y="5568950"/>
            <a:ext cx="1123950" cy="266700"/>
            <a:chOff x="0" y="0"/>
            <a:chExt cx="1123950" cy="266700"/>
          </a:xfrm>
        </p:grpSpPr>
        <p:sp>
          <p:nvSpPr>
            <p:cNvPr id="38" name="ga-lab5-bg"/>
            <p:cNvSpPr/>
            <p:nvPr/>
          </p:nvSpPr>
          <p:spPr>
            <a:xfrm>
              <a:off x="0" y="0"/>
              <a:ext cx="11239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39" name="ga-lab5-label"/>
            <p:cNvSpPr txBox="1"/>
            <p:nvPr/>
          </p:nvSpPr>
          <p:spPr>
            <a:xfrm>
              <a:off x="114300" y="28804"/>
              <a:ext cx="1119188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Photo editing</a:t>
              </a:r>
              <a:endParaRPr lang="en-US" sz="1100" dirty="0"/>
            </a:p>
          </p:txBody>
        </p:sp>
      </p:grpSp>
      <p:grpSp>
        <p:nvGrpSpPr>
          <p:cNvPr id="43" name="ga-lab6"/>
          <p:cNvGrpSpPr/>
          <p:nvPr/>
        </p:nvGrpSpPr>
        <p:grpSpPr>
          <a:xfrm>
            <a:off x="6273800" y="5568950"/>
            <a:ext cx="882650" cy="266700"/>
            <a:chOff x="0" y="0"/>
            <a:chExt cx="882650" cy="266700"/>
          </a:xfrm>
        </p:grpSpPr>
        <p:sp>
          <p:nvSpPr>
            <p:cNvPr id="41" name="ga-lab6-bg"/>
            <p:cNvSpPr/>
            <p:nvPr/>
          </p:nvSpPr>
          <p:spPr>
            <a:xfrm>
              <a:off x="0" y="0"/>
              <a:ext cx="88265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2" name="ga-lab6-label"/>
            <p:cNvSpPr txBox="1"/>
            <p:nvPr/>
          </p:nvSpPr>
          <p:spPr>
            <a:xfrm>
              <a:off x="114300" y="28804"/>
              <a:ext cx="863600" cy="1939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Tile maps</a:t>
              </a:r>
              <a:endParaRPr lang="en-US" sz="1100" dirty="0"/>
            </a:p>
          </p:txBody>
        </p:sp>
      </p:grpSp>
      <p:grpSp>
        <p:nvGrpSpPr>
          <p:cNvPr id="46" name="ga-lab7"/>
          <p:cNvGrpSpPr/>
          <p:nvPr/>
        </p:nvGrpSpPr>
        <p:grpSpPr>
          <a:xfrm>
            <a:off x="8921750" y="5568950"/>
            <a:ext cx="1244600" cy="266700"/>
            <a:chOff x="0" y="0"/>
            <a:chExt cx="1244600" cy="266700"/>
          </a:xfrm>
        </p:grpSpPr>
        <p:sp>
          <p:nvSpPr>
            <p:cNvPr id="44" name="ga-lab7-bg"/>
            <p:cNvSpPr/>
            <p:nvPr/>
          </p:nvSpPr>
          <p:spPr>
            <a:xfrm>
              <a:off x="0" y="0"/>
              <a:ext cx="1244600" cy="266700"/>
            </a:xfrm>
            <a:prstGeom prst="roundRect">
              <a:avLst>
                <a:gd name="adj" fmla="val 50000"/>
              </a:avLst>
            </a:prstGeom>
            <a:solidFill>
              <a:srgbClr val="1A1F2B">
                <a:alpha val="85098"/>
              </a:srgbClr>
            </a:solidFill>
            <a:ln>
              <a:noFill/>
            </a:ln>
          </p:spPr>
        </p:sp>
        <p:sp>
          <p:nvSpPr>
            <p:cNvPr id="45" name="ga-lab7-label"/>
            <p:cNvSpPr txBox="1"/>
            <p:nvPr/>
          </p:nvSpPr>
          <p:spPr>
            <a:xfrm>
              <a:off x="114300" y="28804"/>
              <a:ext cx="1270000" cy="1685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531"/>
                </a:lnSpc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Inter"/>
                  <a:ea typeface="Inter"/>
                  <a:cs typeface="Inter"/>
                </a:rPr>
                <a:t>Editable charts</a:t>
              </a:r>
              <a:endParaRPr lang="en-US" sz="1100" dirty="0"/>
            </a:p>
          </p:txBody>
        </p: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ality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6</a:t>
            </a:r>
            <a:endParaRPr lang="en-US" sz="1200" dirty="0"/>
          </a:p>
        </p:txBody>
      </p:sp>
      <p:sp>
        <p:nvSpPr>
          <p:cNvPr id="5" name="qa-kicker"/>
          <p:cNvSpPr txBox="1"/>
          <p:nvPr/>
        </p:nvSpPr>
        <p:spPr>
          <a:xfrm>
            <a:off x="889000" y="563537"/>
            <a:ext cx="260350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FAST WHERE IT MATTERS</a:t>
            </a:r>
            <a:endParaRPr lang="en-US" sz="1300" dirty="0"/>
          </a:p>
        </p:txBody>
      </p:sp>
      <p:sp>
        <p:nvSpPr>
          <p:cNvPr id="6" name="qa-title"/>
          <p:cNvSpPr txBox="1"/>
          <p:nvPr/>
        </p:nvSpPr>
        <p:spPr>
          <a:xfrm>
            <a:off x="889000" y="956604"/>
            <a:ext cx="8080375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Seconds,</a:t>
            </a: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 not minutes.</a:t>
            </a:r>
            <a:endParaRPr lang="en-US" sz="4800" dirty="0"/>
          </a:p>
        </p:txBody>
      </p:sp>
      <p:sp>
        <p:nvSpPr>
          <p:cNvPr id="7" name="qa-card0"/>
          <p:cNvSpPr/>
          <p:nvPr/>
        </p:nvSpPr>
        <p:spPr>
          <a:xfrm>
            <a:off x="889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qa-before0"/>
          <p:cNvSpPr txBox="1"/>
          <p:nvPr/>
        </p:nvSpPr>
        <p:spPr>
          <a:xfrm>
            <a:off x="1168400" y="2441389"/>
            <a:ext cx="1460500" cy="30181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10+ min</a:t>
            </a:r>
            <a:endParaRPr lang="en-US" sz="2200" dirty="0"/>
          </a:p>
        </p:txBody>
      </p:sp>
      <p:sp>
        <p:nvSpPr>
          <p:cNvPr id="9" name="qa-strike0"/>
          <p:cNvSpPr/>
          <p:nvPr/>
        </p:nvSpPr>
        <p:spPr>
          <a:xfrm>
            <a:off x="1143000" y="2616200"/>
            <a:ext cx="10922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0" name="qa-after0"/>
          <p:cNvSpPr txBox="1"/>
          <p:nvPr/>
        </p:nvSpPr>
        <p:spPr>
          <a:xfrm>
            <a:off x="1168400" y="2740930"/>
            <a:ext cx="2654300" cy="8341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17 s</a:t>
            </a:r>
            <a:endParaRPr lang="en-US" sz="6500" dirty="0"/>
          </a:p>
        </p:txBody>
      </p:sp>
      <p:sp>
        <p:nvSpPr>
          <p:cNvPr id="11" name="qa-l0"/>
          <p:cNvSpPr txBox="1"/>
          <p:nvPr/>
        </p:nvSpPr>
        <p:spPr>
          <a:xfrm>
            <a:off x="1168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Full design check, 11 x 17 poster</a:t>
            </a:r>
            <a:endParaRPr lang="en-US" sz="1400" dirty="0"/>
          </a:p>
        </p:txBody>
      </p:sp>
      <p:sp>
        <p:nvSpPr>
          <p:cNvPr id="12" name="qa-card1"/>
          <p:cNvSpPr/>
          <p:nvPr/>
        </p:nvSpPr>
        <p:spPr>
          <a:xfrm>
            <a:off x="4445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3" name="qa-before1"/>
          <p:cNvSpPr txBox="1"/>
          <p:nvPr/>
        </p:nvSpPr>
        <p:spPr>
          <a:xfrm>
            <a:off x="4724400" y="2431295"/>
            <a:ext cx="1066800" cy="3055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9.8 s</a:t>
            </a:r>
            <a:endParaRPr lang="en-US" sz="2200" dirty="0"/>
          </a:p>
        </p:txBody>
      </p:sp>
      <p:sp>
        <p:nvSpPr>
          <p:cNvPr id="14" name="qa-strike1"/>
          <p:cNvSpPr/>
          <p:nvPr/>
        </p:nvSpPr>
        <p:spPr>
          <a:xfrm>
            <a:off x="4699000" y="2616200"/>
            <a:ext cx="69850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15" name="qa-after1"/>
          <p:cNvSpPr txBox="1"/>
          <p:nvPr/>
        </p:nvSpPr>
        <p:spPr>
          <a:xfrm>
            <a:off x="4724400" y="2748992"/>
            <a:ext cx="29718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1.6 s</a:t>
            </a:r>
            <a:endParaRPr lang="en-US" sz="6500" dirty="0"/>
          </a:p>
        </p:txBody>
      </p:sp>
      <p:sp>
        <p:nvSpPr>
          <p:cNvPr id="16" name="qa-l1"/>
          <p:cNvSpPr txBox="1"/>
          <p:nvPr/>
        </p:nvSpPr>
        <p:spPr>
          <a:xfrm>
            <a:off x="4724400" y="3987280"/>
            <a:ext cx="2743200" cy="3434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Paint 400 brush strokes</a:t>
            </a:r>
            <a:endParaRPr lang="en-US" sz="1400" dirty="0"/>
          </a:p>
        </p:txBody>
      </p:sp>
      <p:sp>
        <p:nvSpPr>
          <p:cNvPr id="17" name="qa-card2"/>
          <p:cNvSpPr/>
          <p:nvPr/>
        </p:nvSpPr>
        <p:spPr>
          <a:xfrm>
            <a:off x="8001000" y="2203450"/>
            <a:ext cx="3302000" cy="2667000"/>
          </a:xfrm>
          <a:prstGeom prst="roundRect">
            <a:avLst>
              <a:gd name="adj" fmla="val 5714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8" name="qa-before2"/>
          <p:cNvSpPr txBox="1"/>
          <p:nvPr/>
        </p:nvSpPr>
        <p:spPr>
          <a:xfrm>
            <a:off x="8280400" y="2430884"/>
            <a:ext cx="1162050" cy="29961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62"/>
              </a:lnSpc>
              <a:buNone/>
            </a:pPr>
            <a:r>
              <a:rPr lang="en-US" sz="2200" b="1" dirty="0">
                <a:solidFill>
                  <a:srgbClr val="AEB7CA"/>
                </a:solidFill>
                <a:latin typeface="Inter Tight"/>
                <a:ea typeface="Inter Tight"/>
                <a:cs typeface="Inter Tight"/>
              </a:rPr>
              <a:t>10.7 s</a:t>
            </a:r>
            <a:endParaRPr lang="en-US" sz="2200" dirty="0"/>
          </a:p>
        </p:txBody>
      </p:sp>
      <p:sp>
        <p:nvSpPr>
          <p:cNvPr id="19" name="qa-strike2"/>
          <p:cNvSpPr/>
          <p:nvPr/>
        </p:nvSpPr>
        <p:spPr>
          <a:xfrm>
            <a:off x="8255000" y="2616200"/>
            <a:ext cx="793750" cy="25400"/>
          </a:xfrm>
          <a:prstGeom prst="rect">
            <a:avLst/>
          </a:prstGeom>
          <a:solidFill>
            <a:srgbClr val="AEB7CA"/>
          </a:solidFill>
          <a:ln>
            <a:noFill/>
          </a:ln>
        </p:spPr>
      </p:sp>
      <p:sp>
        <p:nvSpPr>
          <p:cNvPr id="20" name="qa-after2"/>
          <p:cNvSpPr txBox="1"/>
          <p:nvPr/>
        </p:nvSpPr>
        <p:spPr>
          <a:xfrm>
            <a:off x="8280400" y="2748992"/>
            <a:ext cx="3162300" cy="8387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8065"/>
              </a:lnSpc>
              <a:buNone/>
            </a:pPr>
            <a:r>
              <a:rPr lang="en-US" sz="65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0.3 s</a:t>
            </a:r>
            <a:endParaRPr lang="en-US" sz="6500" dirty="0"/>
          </a:p>
        </p:txBody>
      </p:sp>
      <p:sp>
        <p:nvSpPr>
          <p:cNvPr id="21" name="qa-l2"/>
          <p:cNvSpPr txBox="1"/>
          <p:nvPr/>
        </p:nvSpPr>
        <p:spPr>
          <a:xfrm>
            <a:off x="8280400" y="3987280"/>
            <a:ext cx="27432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Add 1 stroke to a 3,000-stroke layer</a:t>
            </a:r>
            <a:endParaRPr lang="en-US" sz="1400" dirty="0"/>
          </a:p>
        </p:txBody>
      </p:sp>
      <p:sp>
        <p:nvSpPr>
          <p:cNvPr id="22" name="qa-note"/>
          <p:cNvSpPr txBox="1"/>
          <p:nvPr/>
        </p:nvSpPr>
        <p:spPr>
          <a:xfrm>
            <a:off x="889000" y="5066780"/>
            <a:ext cx="104140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Timings from the repository's exploration projects (explorations/README.md), before and after the performance fixes in Vixl 0.18.0.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face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78804"/>
            <a:ext cx="323850" cy="18389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7</a:t>
            </a:r>
            <a:endParaRPr lang="en-US" sz="1200" dirty="0"/>
          </a:p>
        </p:txBody>
      </p:sp>
      <p:sp>
        <p:nvSpPr>
          <p:cNvPr id="5" name="if-kicker"/>
          <p:cNvSpPr txBox="1"/>
          <p:nvPr/>
        </p:nvSpPr>
        <p:spPr>
          <a:xfrm>
            <a:off x="889000" y="563537"/>
            <a:ext cx="12382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INTERFACES</a:t>
            </a:r>
            <a:endParaRPr lang="en-US" sz="1300" dirty="0"/>
          </a:p>
        </p:txBody>
      </p:sp>
      <p:sp>
        <p:nvSpPr>
          <p:cNvPr id="6" name="if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844550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Four doors,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one engine.</a:t>
            </a:r>
            <a:endParaRPr lang="en-US" sz="4800" dirty="0"/>
          </a:p>
        </p:txBody>
      </p:sp>
      <p:sp>
        <p:nvSpPr>
          <p:cNvPr id="7" name="if-card0"/>
          <p:cNvSpPr/>
          <p:nvPr/>
        </p:nvSpPr>
        <p:spPr>
          <a:xfrm>
            <a:off x="8890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8" name="if-n0"/>
          <p:cNvSpPr txBox="1"/>
          <p:nvPr/>
        </p:nvSpPr>
        <p:spPr>
          <a:xfrm>
            <a:off x="1143000" y="2337991"/>
            <a:ext cx="15303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MCP</a:t>
            </a:r>
            <a:endParaRPr lang="en-US" sz="3200" dirty="0"/>
          </a:p>
        </p:txBody>
      </p:sp>
      <p:sp>
        <p:nvSpPr>
          <p:cNvPr id="9" name="if-c0"/>
          <p:cNvSpPr txBox="1"/>
          <p:nvPr/>
        </p:nvSpPr>
        <p:spPr>
          <a:xfrm>
            <a:off x="11430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mcp --tools core</a:t>
            </a:r>
            <a:endParaRPr lang="en-US" sz="1200" dirty="0"/>
          </a:p>
        </p:txBody>
      </p:sp>
      <p:sp>
        <p:nvSpPr>
          <p:cNvPr id="10" name="if-d0"/>
          <p:cNvSpPr txBox="1"/>
          <p:nvPr/>
        </p:nvSpPr>
        <p:spPr>
          <a:xfrm>
            <a:off x="11430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Agents in Claude Code and other MCP clients</a:t>
            </a:r>
            <a:endParaRPr lang="en-US" sz="1400" dirty="0"/>
          </a:p>
        </p:txBody>
      </p:sp>
      <p:sp>
        <p:nvSpPr>
          <p:cNvPr id="11" name="if-card1"/>
          <p:cNvSpPr/>
          <p:nvPr/>
        </p:nvSpPr>
        <p:spPr>
          <a:xfrm>
            <a:off x="35433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if-n1"/>
          <p:cNvSpPr txBox="1"/>
          <p:nvPr/>
        </p:nvSpPr>
        <p:spPr>
          <a:xfrm>
            <a:off x="3797300" y="2337991"/>
            <a:ext cx="123190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CLI</a:t>
            </a:r>
            <a:endParaRPr lang="en-US" sz="3200" dirty="0"/>
          </a:p>
        </p:txBody>
      </p:sp>
      <p:sp>
        <p:nvSpPr>
          <p:cNvPr id="13" name="if-c1"/>
          <p:cNvSpPr txBox="1"/>
          <p:nvPr/>
        </p:nvSpPr>
        <p:spPr>
          <a:xfrm>
            <a:off x="379730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vixl -p a.vixl text add 'Hi'</a:t>
            </a:r>
            <a:endParaRPr lang="en-US" sz="1200" dirty="0"/>
          </a:p>
        </p:txBody>
      </p:sp>
      <p:sp>
        <p:nvSpPr>
          <p:cNvPr id="14" name="if-d1"/>
          <p:cNvSpPr txBox="1"/>
          <p:nvPr/>
        </p:nvSpPr>
        <p:spPr>
          <a:xfrm>
            <a:off x="37973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Scripts, CI pipelines and batch jobs</a:t>
            </a:r>
            <a:endParaRPr lang="en-US" sz="1400" dirty="0"/>
          </a:p>
        </p:txBody>
      </p:sp>
      <p:sp>
        <p:nvSpPr>
          <p:cNvPr id="15" name="if-card2"/>
          <p:cNvSpPr/>
          <p:nvPr/>
        </p:nvSpPr>
        <p:spPr>
          <a:xfrm>
            <a:off x="619125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if-n2"/>
          <p:cNvSpPr txBox="1"/>
          <p:nvPr/>
        </p:nvSpPr>
        <p:spPr>
          <a:xfrm>
            <a:off x="6445250" y="2334022"/>
            <a:ext cx="1987550" cy="5044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Python</a:t>
            </a:r>
            <a:endParaRPr lang="en-US" sz="3200" dirty="0"/>
          </a:p>
        </p:txBody>
      </p:sp>
      <p:sp>
        <p:nvSpPr>
          <p:cNvPr id="17" name="if-c2"/>
          <p:cNvSpPr txBox="1"/>
          <p:nvPr/>
        </p:nvSpPr>
        <p:spPr>
          <a:xfrm>
            <a:off x="6445250" y="3100375"/>
            <a:ext cx="1955800" cy="608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Project(800, 600).apply([...])</a:t>
            </a:r>
            <a:endParaRPr lang="en-US" sz="1200" dirty="0"/>
          </a:p>
        </p:txBody>
      </p:sp>
      <p:sp>
        <p:nvSpPr>
          <p:cNvPr id="18" name="if-d2"/>
          <p:cNvSpPr txBox="1"/>
          <p:nvPr/>
        </p:nvSpPr>
        <p:spPr>
          <a:xfrm>
            <a:off x="6445250" y="3733280"/>
            <a:ext cx="1955800" cy="9530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Notebooks, generators, data merges</a:t>
            </a:r>
            <a:endParaRPr lang="en-US" sz="1400" dirty="0"/>
          </a:p>
        </p:txBody>
      </p:sp>
      <p:sp>
        <p:nvSpPr>
          <p:cNvPr id="19" name="if-card3"/>
          <p:cNvSpPr/>
          <p:nvPr/>
        </p:nvSpPr>
        <p:spPr>
          <a:xfrm>
            <a:off x="8839200" y="2203450"/>
            <a:ext cx="2463800" cy="2667000"/>
          </a:xfrm>
          <a:prstGeom prst="roundRect">
            <a:avLst>
              <a:gd name="adj" fmla="val 6186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if-n3"/>
          <p:cNvSpPr txBox="1"/>
          <p:nvPr/>
        </p:nvSpPr>
        <p:spPr>
          <a:xfrm>
            <a:off x="9093200" y="2337991"/>
            <a:ext cx="1631950" cy="42425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07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REST</a:t>
            </a:r>
            <a:endParaRPr lang="en-US" sz="3200" dirty="0"/>
          </a:p>
        </p:txBody>
      </p:sp>
      <p:sp>
        <p:nvSpPr>
          <p:cNvPr id="21" name="if-c3"/>
          <p:cNvSpPr txBox="1"/>
          <p:nvPr/>
        </p:nvSpPr>
        <p:spPr>
          <a:xfrm>
            <a:off x="9093200" y="3100375"/>
            <a:ext cx="1955800" cy="32227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FE3B4"/>
                </a:solidFill>
                <a:latin typeface="JetBrains Mono"/>
                <a:ea typeface="JetBrains Mono"/>
                <a:cs typeface="JetBrains Mono"/>
              </a:rPr>
              <a:t>POST /operations</a:t>
            </a:r>
            <a:endParaRPr lang="en-US" sz="1200" dirty="0"/>
          </a:p>
        </p:txBody>
      </p:sp>
      <p:sp>
        <p:nvSpPr>
          <p:cNvPr id="22" name="if-d3"/>
          <p:cNvSpPr txBox="1"/>
          <p:nvPr/>
        </p:nvSpPr>
        <p:spPr>
          <a:xfrm>
            <a:off x="9093200" y="3733280"/>
            <a:ext cx="1955800" cy="6482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AEB7CA"/>
                </a:solidFill>
                <a:latin typeface="Inter"/>
                <a:ea typeface="Inter"/>
                <a:cs typeface="Inter"/>
              </a:rPr>
              <a:t>Web apps and live human review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tputs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-grid-row" descr="m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pic>
        <p:nvPicPr>
          <p:cNvPr id="3" name="m-logo" descr="m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6146800"/>
            <a:ext cx="952500" cy="393700"/>
          </a:xfrm>
          <a:prstGeom prst="rect">
            <a:avLst/>
          </a:prstGeom>
        </p:spPr>
      </p:pic>
      <p:sp>
        <p:nvSpPr>
          <p:cNvPr id="4" name="m-num"/>
          <p:cNvSpPr txBox="1"/>
          <p:nvPr/>
        </p:nvSpPr>
        <p:spPr>
          <a:xfrm>
            <a:off x="11112500" y="6180480"/>
            <a:ext cx="323850" cy="1885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84"/>
              </a:lnSpc>
              <a:buNone/>
            </a:pPr>
            <a:r>
              <a:rPr lang="en-US" sz="1200" dirty="0">
                <a:solidFill>
                  <a:srgbClr val="AEB7CA"/>
                </a:solidFill>
                <a:latin typeface="JetBrains Mono"/>
                <a:ea typeface="JetBrains Mono"/>
                <a:cs typeface="JetBrains Mono"/>
              </a:rPr>
              <a:t>8</a:t>
            </a:r>
            <a:endParaRPr lang="en-US" sz="1200" dirty="0"/>
          </a:p>
        </p:txBody>
      </p:sp>
      <p:sp>
        <p:nvSpPr>
          <p:cNvPr id="5" name="ou-kicker"/>
          <p:cNvSpPr txBox="1"/>
          <p:nvPr/>
        </p:nvSpPr>
        <p:spPr>
          <a:xfrm>
            <a:off x="889000" y="563537"/>
            <a:ext cx="946150" cy="1984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916"/>
              </a:lnSpc>
              <a:buNone/>
            </a:pPr>
            <a:r>
              <a:rPr lang="en-US" sz="1300" dirty="0">
                <a:solidFill>
                  <a:srgbClr val="6A9AFF"/>
                </a:solidFill>
                <a:latin typeface="JetBrains Mono"/>
                <a:ea typeface="JetBrains Mono"/>
                <a:cs typeface="JetBrains Mono"/>
              </a:rPr>
              <a:t>OUTPUTS</a:t>
            </a:r>
            <a:endParaRPr lang="en-US" sz="1300" dirty="0"/>
          </a:p>
        </p:txBody>
      </p:sp>
      <p:sp>
        <p:nvSpPr>
          <p:cNvPr id="6" name="ou-title"/>
          <p:cNvSpPr>
            <a:spLocks noGrp="1"/>
          </p:cNvSpPr>
          <p:nvPr>
            <p:ph type="title"/>
          </p:nvPr>
        </p:nvSpPr>
        <p:spPr>
          <a:xfrm>
            <a:off x="889000" y="956604"/>
            <a:ext cx="9366250" cy="67534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5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One master. </a:t>
            </a:r>
            <a:r>
              <a:rPr lang="en-US" sz="48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Every format.</a:t>
            </a:r>
            <a:endParaRPr lang="en-US" sz="4800" dirty="0"/>
          </a:p>
        </p:txBody>
      </p:sp>
      <p:sp>
        <p:nvSpPr>
          <p:cNvPr id="7" name="ou-c0"/>
          <p:cNvSpPr/>
          <p:nvPr/>
        </p:nvSpPr>
        <p:spPr>
          <a:xfrm>
            <a:off x="8890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8" name="ou-t0"/>
          <p:cNvSpPr txBox="1"/>
          <p:nvPr/>
        </p:nvSpPr>
        <p:spPr>
          <a:xfrm>
            <a:off x="1117600" y="23478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PNG</a:t>
            </a:r>
            <a:endParaRPr lang="en-US" sz="2000" dirty="0"/>
          </a:p>
        </p:txBody>
      </p:sp>
      <p:sp>
        <p:nvSpPr>
          <p:cNvPr id="9" name="ou-c1"/>
          <p:cNvSpPr/>
          <p:nvPr/>
        </p:nvSpPr>
        <p:spPr>
          <a:xfrm>
            <a:off x="35369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0" name="ou-t1"/>
          <p:cNvSpPr txBox="1"/>
          <p:nvPr/>
        </p:nvSpPr>
        <p:spPr>
          <a:xfrm>
            <a:off x="3765550" y="2347863"/>
            <a:ext cx="1022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JPEG</a:t>
            </a:r>
            <a:endParaRPr lang="en-US" sz="2000" dirty="0"/>
          </a:p>
        </p:txBody>
      </p:sp>
      <p:sp>
        <p:nvSpPr>
          <p:cNvPr id="11" name="ou-c2"/>
          <p:cNvSpPr/>
          <p:nvPr/>
        </p:nvSpPr>
        <p:spPr>
          <a:xfrm>
            <a:off x="618490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2" name="ou-t2"/>
          <p:cNvSpPr txBox="1"/>
          <p:nvPr/>
        </p:nvSpPr>
        <p:spPr>
          <a:xfrm>
            <a:off x="6413500" y="2345382"/>
            <a:ext cx="1117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WEBP</a:t>
            </a:r>
            <a:endParaRPr lang="en-US" sz="2000" dirty="0"/>
          </a:p>
        </p:txBody>
      </p:sp>
      <p:sp>
        <p:nvSpPr>
          <p:cNvPr id="13" name="ou-c3"/>
          <p:cNvSpPr/>
          <p:nvPr/>
        </p:nvSpPr>
        <p:spPr>
          <a:xfrm>
            <a:off x="8832850" y="22034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4" name="ou-t3"/>
          <p:cNvSpPr txBox="1"/>
          <p:nvPr/>
        </p:nvSpPr>
        <p:spPr>
          <a:xfrm>
            <a:off x="9061450" y="2345382"/>
            <a:ext cx="8953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TIFF</a:t>
            </a:r>
            <a:endParaRPr lang="en-US" sz="2000" dirty="0"/>
          </a:p>
        </p:txBody>
      </p:sp>
      <p:sp>
        <p:nvSpPr>
          <p:cNvPr id="15" name="ou-c4"/>
          <p:cNvSpPr/>
          <p:nvPr/>
        </p:nvSpPr>
        <p:spPr>
          <a:xfrm>
            <a:off x="8890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16" name="ou-t4"/>
          <p:cNvSpPr txBox="1"/>
          <p:nvPr/>
        </p:nvSpPr>
        <p:spPr>
          <a:xfrm>
            <a:off x="1117600" y="3259782"/>
            <a:ext cx="9461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AVIF</a:t>
            </a:r>
            <a:endParaRPr lang="en-US" sz="2000" dirty="0"/>
          </a:p>
        </p:txBody>
      </p:sp>
      <p:sp>
        <p:nvSpPr>
          <p:cNvPr id="17" name="ou-c5"/>
          <p:cNvSpPr/>
          <p:nvPr/>
        </p:nvSpPr>
        <p:spPr>
          <a:xfrm>
            <a:off x="35369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18" name="ou-t5"/>
          <p:cNvSpPr txBox="1"/>
          <p:nvPr/>
        </p:nvSpPr>
        <p:spPr>
          <a:xfrm>
            <a:off x="3765550" y="3262263"/>
            <a:ext cx="908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SVG</a:t>
            </a:r>
            <a:endParaRPr lang="en-US" sz="2000" dirty="0"/>
          </a:p>
        </p:txBody>
      </p:sp>
      <p:sp>
        <p:nvSpPr>
          <p:cNvPr id="19" name="ou-c6"/>
          <p:cNvSpPr/>
          <p:nvPr/>
        </p:nvSpPr>
        <p:spPr>
          <a:xfrm>
            <a:off x="618490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0" name="ou-t6"/>
          <p:cNvSpPr txBox="1"/>
          <p:nvPr/>
        </p:nvSpPr>
        <p:spPr>
          <a:xfrm>
            <a:off x="6413500" y="3259782"/>
            <a:ext cx="8636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PDF</a:t>
            </a:r>
            <a:endParaRPr lang="en-US" sz="2000" dirty="0"/>
          </a:p>
        </p:txBody>
      </p:sp>
      <p:sp>
        <p:nvSpPr>
          <p:cNvPr id="21" name="ou-c7"/>
          <p:cNvSpPr/>
          <p:nvPr/>
        </p:nvSpPr>
        <p:spPr>
          <a:xfrm>
            <a:off x="8832850" y="31178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2" name="ou-t7"/>
          <p:cNvSpPr txBox="1"/>
          <p:nvPr/>
        </p:nvSpPr>
        <p:spPr>
          <a:xfrm>
            <a:off x="9061450" y="3259782"/>
            <a:ext cx="10477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PPTX</a:t>
            </a:r>
            <a:endParaRPr lang="en-US" sz="2000" dirty="0"/>
          </a:p>
        </p:txBody>
      </p:sp>
      <p:sp>
        <p:nvSpPr>
          <p:cNvPr id="23" name="ou-c8"/>
          <p:cNvSpPr/>
          <p:nvPr/>
        </p:nvSpPr>
        <p:spPr>
          <a:xfrm>
            <a:off x="8890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4" name="ou-t8"/>
          <p:cNvSpPr txBox="1"/>
          <p:nvPr/>
        </p:nvSpPr>
        <p:spPr>
          <a:xfrm>
            <a:off x="1117600" y="4174182"/>
            <a:ext cx="10985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HTML</a:t>
            </a:r>
            <a:endParaRPr lang="en-US" sz="2000" dirty="0"/>
          </a:p>
        </p:txBody>
      </p:sp>
      <p:sp>
        <p:nvSpPr>
          <p:cNvPr id="25" name="ou-c9"/>
          <p:cNvSpPr/>
          <p:nvPr/>
        </p:nvSpPr>
        <p:spPr>
          <a:xfrm>
            <a:off x="35369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26" name="ou-t9"/>
          <p:cNvSpPr txBox="1"/>
          <p:nvPr/>
        </p:nvSpPr>
        <p:spPr>
          <a:xfrm>
            <a:off x="3765550" y="4176663"/>
            <a:ext cx="82550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ICO</a:t>
            </a:r>
            <a:endParaRPr lang="en-US" sz="2000" dirty="0"/>
          </a:p>
        </p:txBody>
      </p:sp>
      <p:sp>
        <p:nvSpPr>
          <p:cNvPr id="27" name="ou-c10"/>
          <p:cNvSpPr/>
          <p:nvPr/>
        </p:nvSpPr>
        <p:spPr>
          <a:xfrm>
            <a:off x="618490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28" name="ou-t10"/>
          <p:cNvSpPr txBox="1"/>
          <p:nvPr/>
        </p:nvSpPr>
        <p:spPr>
          <a:xfrm>
            <a:off x="6413500" y="4176663"/>
            <a:ext cx="7810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GIF</a:t>
            </a:r>
            <a:endParaRPr lang="en-US" sz="2000" dirty="0"/>
          </a:p>
        </p:txBody>
      </p:sp>
      <p:sp>
        <p:nvSpPr>
          <p:cNvPr id="29" name="ou-c11"/>
          <p:cNvSpPr/>
          <p:nvPr/>
        </p:nvSpPr>
        <p:spPr>
          <a:xfrm>
            <a:off x="8832850" y="40322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0" name="ou-t11"/>
          <p:cNvSpPr txBox="1"/>
          <p:nvPr/>
        </p:nvSpPr>
        <p:spPr>
          <a:xfrm>
            <a:off x="9061450" y="4174182"/>
            <a:ext cx="93980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MP4</a:t>
            </a:r>
            <a:endParaRPr lang="en-US" sz="2000" dirty="0"/>
          </a:p>
        </p:txBody>
      </p:sp>
      <p:sp>
        <p:nvSpPr>
          <p:cNvPr id="31" name="ou-c12"/>
          <p:cNvSpPr/>
          <p:nvPr/>
        </p:nvSpPr>
        <p:spPr>
          <a:xfrm>
            <a:off x="8890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2" name="ou-t12"/>
          <p:cNvSpPr txBox="1"/>
          <p:nvPr/>
        </p:nvSpPr>
        <p:spPr>
          <a:xfrm>
            <a:off x="1117600" y="5091063"/>
            <a:ext cx="11493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CMYK</a:t>
            </a:r>
            <a:endParaRPr lang="en-US" sz="2000" dirty="0"/>
          </a:p>
        </p:txBody>
      </p:sp>
      <p:sp>
        <p:nvSpPr>
          <p:cNvPr id="33" name="ou-c13"/>
          <p:cNvSpPr/>
          <p:nvPr/>
        </p:nvSpPr>
        <p:spPr>
          <a:xfrm>
            <a:off x="35369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4" name="ou-t13"/>
          <p:cNvSpPr txBox="1"/>
          <p:nvPr/>
        </p:nvSpPr>
        <p:spPr>
          <a:xfrm>
            <a:off x="3765550" y="5088582"/>
            <a:ext cx="1162050" cy="277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WebM</a:t>
            </a:r>
            <a:endParaRPr lang="en-US" sz="2000" dirty="0"/>
          </a:p>
        </p:txBody>
      </p:sp>
      <p:sp>
        <p:nvSpPr>
          <p:cNvPr id="35" name="ou-c14"/>
          <p:cNvSpPr/>
          <p:nvPr/>
        </p:nvSpPr>
        <p:spPr>
          <a:xfrm>
            <a:off x="618490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2F3647"/>
          </a:solidFill>
          <a:ln>
            <a:noFill/>
          </a:ln>
        </p:spPr>
      </p:sp>
      <p:sp>
        <p:nvSpPr>
          <p:cNvPr id="36" name="ou-t14"/>
          <p:cNvSpPr txBox="1"/>
          <p:nvPr/>
        </p:nvSpPr>
        <p:spPr>
          <a:xfrm>
            <a:off x="6413500" y="5091063"/>
            <a:ext cx="1098550" cy="27468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APNG</a:t>
            </a:r>
            <a:endParaRPr lang="en-US" sz="2000" dirty="0"/>
          </a:p>
        </p:txBody>
      </p:sp>
      <p:sp>
        <p:nvSpPr>
          <p:cNvPr id="37" name="ou-c15"/>
          <p:cNvSpPr/>
          <p:nvPr/>
        </p:nvSpPr>
        <p:spPr>
          <a:xfrm>
            <a:off x="8832850" y="4946650"/>
            <a:ext cx="2470150" cy="762000"/>
          </a:xfrm>
          <a:prstGeom prst="roundRect">
            <a:avLst>
              <a:gd name="adj" fmla="val 15000"/>
            </a:avLst>
          </a:prstGeom>
          <a:solidFill>
            <a:srgbClr val="3575EE"/>
          </a:solidFill>
          <a:ln>
            <a:noFill/>
          </a:ln>
        </p:spPr>
      </p:sp>
      <p:sp>
        <p:nvSpPr>
          <p:cNvPr id="38" name="ou-t15"/>
          <p:cNvSpPr txBox="1"/>
          <p:nvPr/>
        </p:nvSpPr>
        <p:spPr>
          <a:xfrm>
            <a:off x="9061450" y="5100613"/>
            <a:ext cx="1695450" cy="2778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2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WAV audio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rt">
    <p:bg>
      <p:bgPr>
        <a:solidFill>
          <a:srgbClr val="252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-glow"/>
          <p:cNvSpPr/>
          <p:nvPr/>
        </p:nvSpPr>
        <p:spPr>
          <a:xfrm>
            <a:off x="-1905000" y="1270000"/>
            <a:ext cx="11430000" cy="11430000"/>
          </a:xfrm>
          <a:prstGeom prst="rect">
            <a:avLst/>
          </a:prstGeom>
          <a:gradFill rotWithShape="1">
            <a:gsLst>
              <a:gs pos="0">
                <a:srgbClr val="3575EE">
                  <a:alpha val="40000"/>
                </a:srgbClr>
              </a:gs>
              <a:gs pos="60000">
                <a:srgbClr val="3575EE">
                  <a:alpha val="6275"/>
                </a:srgbClr>
              </a:gs>
              <a:gs pos="100000">
                <a:srgbClr val="3575E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pic>
        <p:nvPicPr>
          <p:cNvPr id="3" name="st-grid-row" descr="st-grid-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190500"/>
            <a:ext cx="11703050" cy="6369050"/>
          </a:xfrm>
          <a:prstGeom prst="rect">
            <a:avLst/>
          </a:prstGeom>
        </p:spPr>
      </p:pic>
      <p:sp>
        <p:nvSpPr>
          <p:cNvPr id="4" name="st-title"/>
          <p:cNvSpPr>
            <a:spLocks noGrp="1"/>
          </p:cNvSpPr>
          <p:nvPr>
            <p:ph type="title"/>
          </p:nvPr>
        </p:nvSpPr>
        <p:spPr>
          <a:xfrm>
            <a:off x="889000" y="1279021"/>
            <a:ext cx="6627812" cy="160387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Give your agent</a:t>
            </a:r>
            <a:endParaRPr lang="en-US" sz="5600" dirty="0"/>
          </a:p>
          <a:p>
            <a:pPr algn="l">
              <a:lnSpc>
                <a:spcPts val="64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6A9AFF"/>
                </a:solidFill>
                <a:latin typeface="Inter Tight"/>
                <a:ea typeface="Inter Tight"/>
                <a:cs typeface="Inter Tight"/>
              </a:rPr>
              <a:t>a design studio.</a:t>
            </a:r>
            <a:endParaRPr lang="en-US" sz="5600" dirty="0"/>
          </a:p>
        </p:txBody>
      </p:sp>
      <p:grpSp>
        <p:nvGrpSpPr>
          <p:cNvPr id="11" name="st-code"/>
          <p:cNvGrpSpPr/>
          <p:nvPr/>
        </p:nvGrpSpPr>
        <p:grpSpPr>
          <a:xfrm>
            <a:off x="889000" y="3390900"/>
            <a:ext cx="8255000" cy="1130300"/>
            <a:chOff x="0" y="0"/>
            <a:chExt cx="8255000" cy="1130300"/>
          </a:xfrm>
        </p:grpSpPr>
        <p:sp>
          <p:nvSpPr>
            <p:cNvPr id="5" name="st-code-bg"/>
            <p:cNvSpPr/>
            <p:nvPr/>
          </p:nvSpPr>
          <p:spPr>
            <a:xfrm>
              <a:off x="12700" y="12700"/>
              <a:ext cx="8229600" cy="1225550"/>
            </a:xfrm>
            <a:prstGeom prst="roundRect">
              <a:avLst>
                <a:gd name="adj" fmla="val 8808"/>
              </a:avLst>
            </a:prstGeom>
            <a:solidFill>
              <a:srgbClr val="1A1F2B"/>
            </a:solidFill>
            <a:ln w="12700">
              <a:solidFill>
                <a:srgbClr val="3C4458"/>
              </a:solidFill>
            </a:ln>
          </p:spPr>
        </p:sp>
        <p:sp>
          <p:nvSpPr>
            <p:cNvPr id="6" name="st-code-dot0"/>
            <p:cNvSpPr/>
            <p:nvPr/>
          </p:nvSpPr>
          <p:spPr>
            <a:xfrm>
              <a:off x="152400" y="139700"/>
              <a:ext cx="76200" cy="76200"/>
            </a:xfrm>
            <a:prstGeom prst="ellipse">
              <a:avLst/>
            </a:prstGeom>
            <a:solidFill>
              <a:srgbClr val="FF6B6B"/>
            </a:solidFill>
            <a:ln>
              <a:noFill/>
            </a:ln>
          </p:spPr>
        </p:sp>
        <p:sp>
          <p:nvSpPr>
            <p:cNvPr id="7" name="st-code-dot1"/>
            <p:cNvSpPr/>
            <p:nvPr/>
          </p:nvSpPr>
          <p:spPr>
            <a:xfrm>
              <a:off x="292100" y="139700"/>
              <a:ext cx="76200" cy="76200"/>
            </a:xfrm>
            <a:prstGeom prst="ellipse">
              <a:avLst/>
            </a:prstGeom>
            <a:solidFill>
              <a:srgbClr val="FFC37A"/>
            </a:solidFill>
            <a:ln>
              <a:noFill/>
            </a:ln>
          </p:spPr>
        </p:sp>
        <p:sp>
          <p:nvSpPr>
            <p:cNvPr id="8" name="st-code-dot2"/>
            <p:cNvSpPr/>
            <p:nvPr/>
          </p:nvSpPr>
          <p:spPr>
            <a:xfrm>
              <a:off x="431800" y="139700"/>
              <a:ext cx="76200" cy="76200"/>
            </a:xfrm>
            <a:prstGeom prst="ellipse">
              <a:avLst/>
            </a:prstGeom>
            <a:solidFill>
              <a:srgbClr val="5FD38D"/>
            </a:solidFill>
            <a:ln>
              <a:noFill/>
            </a:ln>
          </p:spPr>
        </p:sp>
        <p:sp>
          <p:nvSpPr>
            <p:cNvPr id="9" name="st-code-title"/>
            <p:cNvSpPr txBox="1"/>
            <p:nvPr/>
          </p:nvSpPr>
          <p:spPr>
            <a:xfrm>
              <a:off x="635000" y="52629"/>
              <a:ext cx="965200" cy="18867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784"/>
                </a:lnSpc>
                <a:buNone/>
              </a:pPr>
              <a:r>
                <a:rPr lang="en-US" sz="1200" dirty="0">
                  <a:solidFill>
                    <a:srgbClr val="AEB7CA"/>
                  </a:solidFill>
                  <a:latin typeface="JetBrains Mono"/>
                  <a:ea typeface="JetBrains Mono"/>
                  <a:cs typeface="JetBrains Mono"/>
                </a:rPr>
                <a:t>terminal</a:t>
              </a:r>
              <a:endParaRPr lang="en-US" sz="1200" dirty="0"/>
            </a:p>
          </p:txBody>
        </p:sp>
        <p:sp>
          <p:nvSpPr>
            <p:cNvPr id="10" name="st-code-code"/>
            <p:cNvSpPr txBox="1"/>
            <p:nvPr/>
          </p:nvSpPr>
          <p:spPr>
            <a:xfrm>
              <a:off x="177800" y="349568"/>
              <a:ext cx="7899400" cy="71088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pip install -e '.[server,pdf]'</a:t>
              </a:r>
              <a:endParaRPr lang="en-US" sz="1500" dirty="0"/>
            </a:p>
            <a:p>
              <a:pPr algn="l">
                <a:lnSpc>
                  <a:spcPts val="267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dirty="0">
                  <a:solidFill>
                    <a:srgbClr val="6A9AFF"/>
                  </a:solidFill>
                  <a:latin typeface="JetBrains Mono"/>
                  <a:ea typeface="JetBrains Mono"/>
                  <a:cs typeface="JetBrains Mono"/>
                </a:rPr>
                <a:t>$ </a:t>
              </a:r>
              <a:r>
                <a:rPr lang="en-US" sz="1500" dirty="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</a:rPr>
                <a:t>vixl mcp --workspace . --tools core --schema slim</a:t>
              </a:r>
              <a:endParaRPr lang="en-US" sz="1500" dirty="0"/>
            </a:p>
          </p:txBody>
        </p:sp>
      </p:grpSp>
      <p:pic>
        <p:nvPicPr>
          <p:cNvPr id="12" name="st-logo" descr="st-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588000"/>
            <a:ext cx="1778000" cy="742950"/>
          </a:xfrm>
          <a:prstGeom prst="rect">
            <a:avLst/>
          </a:prstGeom>
        </p:spPr>
      </p:pic>
      <p:sp>
        <p:nvSpPr>
          <p:cNvPr id="13" name="st-url"/>
          <p:cNvSpPr txBox="1"/>
          <p:nvPr/>
        </p:nvSpPr>
        <p:spPr>
          <a:xfrm>
            <a:off x="3175000" y="5768340"/>
            <a:ext cx="4572000" cy="3340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4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</a:rPr>
              <a:t>github.com/jxburros/Vixl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9</Slides>
  <Notes>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Give your agent
a design studio.</dc:title>
  <dc:creator>Vixl</dc:creator>
</cp:coreProperties>
</file>