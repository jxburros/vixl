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charts/chart1.xml" ContentType="application/vnd.openxmlformats-officedocument.drawingml.chart+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defaultTextStyle>
    <a:defPPr>
      <a:defRPr lang="en-US"/>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stacked"/>
        <c:varyColors val="0"/>
        <c:ser>
          <c:idx val="0"/>
          <c:order val="0"/>
          <c:tx>
            <c:strRef>
              <c:f>Sheet1!$B$1</c:f>
              <c:strCache>
                <c:ptCount val="1"/>
                <c:pt idx="0">
                  <c:v>Graphics</c:v>
                </c:pt>
              </c:strCache>
            </c:strRef>
          </c:tx>
          <c:spPr>
            <a:solidFill>
              <a:srgbClr val="3575EE"/>
            </a:solidFill>
          </c:spPr>
          <c:invertIfNegative val="0"/>
          <c:cat>
            <c:strRef>
              <c:f>Sheet1!$A$2:$A$5</c:f>
              <c:strCache>
                <c:ptCount val="4"/>
                <c:pt idx="0">
                  <c:v>Brief</c:v>
                </c:pt>
                <c:pt idx="1">
                  <c:v>Create</c:v>
                </c:pt>
                <c:pt idx="2">
                  <c:v>Review</c:v>
                </c:pt>
                <c:pt idx="3">
                  <c:v>Deliver</c:v>
                </c:pt>
              </c:strCache>
            </c:strRef>
          </c:cat>
          <c:val>
            <c:numRef>
              <c:f>Sheet1!$B$2:$B$5</c:f>
              <c:numCache>
                <c:formatCode>General</c:formatCode>
                <c:ptCount val="4"/>
                <c:pt idx="0">
                  <c:v>2</c:v>
                </c:pt>
                <c:pt idx="1">
                  <c:v>5</c:v>
                </c:pt>
                <c:pt idx="2">
                  <c:v>3</c:v>
                </c:pt>
                <c:pt idx="3">
                  <c:v>4</c:v>
                </c:pt>
              </c:numCache>
            </c:numRef>
          </c:val>
        </c:ser>
        <c:ser>
          <c:idx val="1"/>
          <c:order val="1"/>
          <c:tx>
            <c:strRef>
              <c:f>Sheet1!$C$1</c:f>
              <c:strCache>
                <c:ptCount val="1"/>
                <c:pt idx="0">
                  <c:v>Documents</c:v>
                </c:pt>
              </c:strCache>
            </c:strRef>
          </c:tx>
          <c:spPr>
            <a:solidFill>
              <a:srgbClr val="9CC6FA"/>
            </a:solidFill>
          </c:spPr>
          <c:invertIfNegative val="0"/>
          <c:cat>
            <c:strRef>
              <c:f>Sheet1!$A$2:$A$5</c:f>
              <c:strCache>
                <c:ptCount val="4"/>
                <c:pt idx="0">
                  <c:v>Brief</c:v>
                </c:pt>
                <c:pt idx="1">
                  <c:v>Create</c:v>
                </c:pt>
                <c:pt idx="2">
                  <c:v>Review</c:v>
                </c:pt>
                <c:pt idx="3">
                  <c:v>Deliver</c:v>
                </c:pt>
              </c:strCache>
            </c:strRef>
          </c:cat>
          <c:val>
            <c:numRef>
              <c:f>Sheet1!$C$2:$C$5</c:f>
              <c:numCache>
                <c:formatCode>General</c:formatCode>
                <c:ptCount val="4"/>
                <c:pt idx="0">
                  <c:v>1</c:v>
                </c:pt>
                <c:pt idx="1">
                  <c:v>3</c:v>
                </c:pt>
                <c:pt idx="2">
                  <c:v>2</c:v>
                </c:pt>
                <c:pt idx="3">
                  <c:v>3</c:v>
                </c:pt>
              </c:numCache>
            </c:numRef>
          </c:val>
        </c:ser>
        <c:gapWidth val="43"/>
        <c:overlap val="100"/>
        <c:axId val="111111111"/>
        <c:axId val="222222222"/>
      </c:barChart>
      <c:catAx>
        <c:axId val="111111111"/>
        <c:scaling>
          <c:orientation val="minMax"/>
        </c:scaling>
        <c:delete val="0"/>
        <c:axPos val="b"/>
        <c:numFmt formatCode="General" sourceLinked="0"/>
        <c:majorTickMark val="none"/>
        <c:minorTickMark val="none"/>
        <c:tickLblPos val="low"/>
        <c:spPr>
          <a:noFill/>
          <a:ln w="12700">
            <a:solidFill>
              <a:srgbClr val="252B39"/>
            </a:solidFill>
          </a:ln>
        </c:spPr>
        <c:txPr>
          <a:bodyPr/>
          <a:lstStyle/>
          <a:p>
            <a:pPr>
              <a:defRPr sz="1450" b="0">
                <a:solidFill>
                  <a:srgbClr val="252B39"/>
                </a:solidFill>
                <a:latin typeface="Inter"/>
                <a:ea typeface="Inter"/>
                <a:cs typeface="Inter"/>
              </a:defRPr>
            </a:pPr>
            <a:endParaRPr lang="en-US"/>
          </a:p>
        </c:txPr>
        <c:crossAx val="222222222"/>
        <c:crosses val="autoZero"/>
        <c:auto val="1"/>
        <c:lblAlgn val="ctr"/>
        <c:lblOffset val="100"/>
        <c:noMultiLvlLbl val="0"/>
      </c:catAx>
      <c:valAx>
        <c:axId val="222222222"/>
        <c:scaling>
          <c:orientation val="minMax"/>
          <c:max val="8"/>
          <c:min val="0"/>
        </c:scaling>
        <c:delete val="0"/>
        <c:axPos val="l"/>
        <c:majorGridlines>
          <c:spPr>
            <a:ln w="9525">
              <a:solidFill>
                <a:srgbClr val="DCE2EE"/>
              </a:solidFill>
            </a:ln>
          </c:spPr>
        </c:majorGridlines>
        <c:numFmt formatCode="0" sourceLinked="0"/>
        <c:majorTickMark val="none"/>
        <c:minorTickMark val="none"/>
        <c:tickLblPos val="nextTo"/>
        <c:spPr>
          <a:noFill/>
          <a:ln>
            <a:noFill/>
          </a:ln>
        </c:spPr>
        <c:txPr>
          <a:bodyPr/>
          <a:lstStyle/>
          <a:p>
            <a:pPr>
              <a:defRPr sz="1450" b="0">
                <a:solidFill>
                  <a:srgbClr val="252B39"/>
                </a:solidFill>
                <a:latin typeface="Inter"/>
                <a:ea typeface="Inter"/>
                <a:cs typeface="Inter"/>
              </a:defRPr>
            </a:pPr>
            <a:endParaRPr lang="en-US"/>
          </a:p>
        </c:txPr>
        <c:crossAx val="111111111"/>
        <c:crosses val="autoZero"/>
        <c:crossBetween val="between"/>
        <c:majorUnit val="2"/>
      </c:valAx>
      <c:spPr>
        <a:noFill/>
        <a:ln>
          <a:noFill/>
        </a:ln>
      </c:spPr>
    </c:plotArea>
    <c:legend>
      <c:legendPos val="b"/>
      <c:overlay val="0"/>
      <c:txPr>
        <a:bodyPr/>
        <a:lstStyle/>
        <a:p>
          <a:pPr>
            <a:defRPr sz="1450" b="0">
              <a:solidFill>
                <a:srgbClr val="252B39"/>
              </a:solidFill>
              <a:latin typeface="Inter"/>
              <a:ea typeface="Inter"/>
              <a:cs typeface="Inter"/>
            </a:defRPr>
          </a:pPr>
          <a:endParaRPr lang="en-US"/>
        </a:p>
      </c:txPr>
    </c:legend>
    <c:plotVisOnly val="1"/>
    <c:dispBlanksAs val="gap"/>
  </c:chart>
  <c:spPr>
    <a:noFill/>
    <a:ln>
      <a:noFill/>
    </a:ln>
  </c:spPr>
  <c:txPr>
    <a:bodyPr/>
    <a:lstStyle/>
    <a:p>
      <a:pPr>
        <a:defRPr sz="1450" b="0">
          <a:solidFill>
            <a:srgbClr val="252B39"/>
          </a:solidFill>
          <a:latin typeface="Inter"/>
          <a:ea typeface="Inter"/>
          <a:cs typeface="In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a:xfrm>
            <a:off x="381000" y="685800"/>
            <a:ext cx="6096000" cy="3429000"/>
          </a:xfrm>
          <a:prstGeom prst="rect">
            <a:avLst/>
          </a:prstGeom>
        </p:spPr>
        <p:txBody>
          <a:bodyPr/>
          <a:lstStyle/>
          <a:p>
            <a:endParaRPr lang="en-US"/>
          </a:p>
        </p:txBody>
      </p:sp>
      <p:sp>
        <p:nvSpPr>
          <p:cNvPr id="3" name="Notes Placeholder 2"/>
          <p:cNvSpPr>
            <a:spLocks noGrp="1"/>
          </p:cNvSpPr>
          <p:nvPr>
            <p:ph type="body" idx="1"/>
          </p:nvPr>
        </p:nvSpPr>
        <p:spPr>
          <a:xfrm>
            <a:off x="685800" y="4343400"/>
            <a:ext cx="5486400" cy="41148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Style>
    <a:lvl1pPr marL="0" algn="l">
      <a:defRPr sz="1200" kern="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Vixl is a programmable design studio for AI agents. It turns graphics, documents and motion into layered files you can inspect, revise and deliver. This deck was authored with Vixl.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.vixl master keeps editable content, settings and branching history. Raster images remain pixels; text, supported shapes and paths remain editable. Deliver the master alongside the formats people need.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Inspect, apply, check, preview and export. The diagram is made from Vixl's diagram operation, with editable nodes, routed paths and text. Automated checks complement visual review; they do not judge taste.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examples are real outputs in this repository: print layout, generative painting, a pixel game, data graphics, character animation and photo editing. They show different workflows rather than usage statistics.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illustrative workflow data, not a customer result or performance claim. Vixl binds the chart to categories and series. In the PowerPoint export it is a native chart with an embedded workbook. Open PowerPoint's Edit Data command to inspect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included social campaign is a typed recipe. Its inputs supply headline, description and accent. Production instantiates three rows, runs the saved design suite and exports the checked variants. Use the supplied CSV and production request as a starting point.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Vixl supports timeline tracks, cameras, audio and rigged joint pose keys. The app demo in this kit ships ready, creating and delivered states with light/dark themes, explicit transitions, editable masters and reduced-motion PNGs. The teaser is an editable timeline exported to MP4 and GIF.</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checks cover bounds, flow, contrast, fonts and other selected concerns. Saved suites can encode margins, hierarchy and spacing. Proof pages collect previews and findings offline. A passing check proves its rules, so a person or agent still needs to review the rendered design.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Unpack a .vixl master into stable current-state JSON and hashed assets for Git review. Pack it back into a document after edits. Branching history, project groups and reusable libraries support collaboration. The included campaign has an unpacked source folder to inspect.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serves agents, the CLI serves scripts and CI, Python serves generators and notebooks, and REST serves integrations and live review. All share canonical operations. The server extra is needed for REST.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Supported vectors stay vector in SVG/PDF where possible; some features use reported raster fallbacks. PPTX preserves supported editable shapes, text, tables and charts. PSD export is layered pixels, not native editable type. CMYK is an export setting; a printer should confirm the chosen profile.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users can use the installer from GitHub Releases. Developers need Python 3.11 or newer; clone the repo, then install its extras. Run the MCP command in an existing workspace. Vixl is source-available under PolyForm Small Business 1.0.0; read LICENSE for eligibility. Core authoring works locally. AI generation and vision need configured external providers.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2000" y="428625"/>
            <a:ext cx="10668000" cy="1143000"/>
          </a:xfrm>
          <a:prstGeom prst="rect">
            <a:avLst/>
          </a:prstGeom>
        </p:spPr>
        <p:txBody>
          <a:bodyPr/>
          <a:lstStyle/>
          <a:p>
            <a:endParaRPr lang="en-US"/>
          </a:p>
        </p:txBody>
      </p:sp>
      <p:sp>
        <p:nvSpPr>
          <p:cNvPr id="3" name="Text Placeholder 2"/>
          <p:cNvSpPr>
            <a:spLocks noGrp="1"/>
          </p:cNvSpPr>
          <p:nvPr>
            <p:ph type="body" idx="1"/>
          </p:nvPr>
        </p:nvSpPr>
        <p:spPr>
          <a:xfrm>
            <a:off x="762000" y="1714500"/>
            <a:ext cx="10668000" cy="3429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a:defRPr sz="4400" kern="1200">
          <a:solidFill>
            <a:schemeClr val="tx1"/>
          </a:solidFill>
          <a:latin typeface="+mj-lt"/>
        </a:defRPr>
      </a:lvl1pPr>
    </p:titleStyle>
    <p:bodyStyle>
      <a:lvl1pPr marL="228600" indent="-228600">
        <a:defRPr sz="2800" kern="1200">
          <a:solidFill>
            <a:schemeClr val="tx1"/>
          </a:solidFill>
          <a:latin typeface="+mn-lt"/>
        </a:defRPr>
      </a:lvl1pPr>
    </p:bodyStyle>
    <p:otherStyle>
      <a:defPPr>
        <a:defRPr lang="en-US"/>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Chart1"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 / 12</a:t>
            </a:r>
            <a:endParaRPr lang="en-US" sz="1200" dirty="0"/>
          </a:p>
        </p:txBody>
      </p:sp>
      <p:sp>
        <p:nvSpPr>
          <p:cNvPr id="16" name="kicker"/>
          <p:cNvSpPr txBox="1"/>
          <p:nvPr/>
        </p:nvSpPr>
        <p:spPr>
          <a:xfrm>
            <a:off x="889000" y="575818"/>
            <a:ext cx="4802188" cy="230632"/>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VIXL / A DESIGN STUDIO FOR AI AGENTS</a:t>
            </a:r>
            <a:endParaRPr lang="en-US" sz="1400" dirty="0"/>
          </a:p>
        </p:txBody>
      </p:sp>
      <p:sp>
        <p:nvSpPr>
          <p:cNvPr id="17" name="headline"/>
          <p:cNvSpPr>
            <a:spLocks noGrp="1"/>
          </p:cNvSpPr>
          <p:nvPr>
            <p:ph type="title"/>
          </p:nvPr>
        </p:nvSpPr>
        <p:spPr>
          <a:xfrm>
            <a:off x="889000" y="1316078"/>
            <a:ext cx="4889500" cy="110327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Ideas become</a:t>
            </a:r>
            <a:endParaRPr lang="en-US" sz="4700" dirty="0"/>
          </a:p>
          <a:p>
            <a:pPr algn="l">
              <a:lnSpc>
                <a:spcPts val="4324"/>
              </a:lnSpc>
              <a:spcBef>
                <a:spcPts val="0"/>
              </a:spcBef>
              <a:spcAft>
                <a:spcPts val="0"/>
              </a:spcAft>
              <a:buNone/>
            </a:pPr>
            <a:r>
              <a:rPr lang="en-US" sz="4700" b="1" dirty="0">
                <a:solidFill>
                  <a:srgbClr val="6A9AFF"/>
                </a:solidFill>
                <a:latin typeface="Inter Tight"/>
                <a:ea typeface="Inter Tight"/>
                <a:cs typeface="Inter Tight"/>
              </a:rPr>
              <a:t>editable.</a:t>
            </a:r>
            <a:endParaRPr lang="en-US" sz="4700" dirty="0"/>
          </a:p>
        </p:txBody>
      </p:sp>
      <p:grpSp>
        <p:nvGrpSpPr>
          <p:cNvPr id="26" name="mark"/>
          <p:cNvGrpSpPr/>
          <p:nvPr/>
        </p:nvGrpSpPr>
        <p:grpSpPr>
          <a:xfrm>
            <a:off x="8639572" y="2353866"/>
            <a:ext cx="1706642" cy="1576626"/>
            <a:chOff x="0" y="0"/>
            <a:chExt cx="3034030" cy="2802890"/>
          </a:xfrm>
        </p:grpSpPr>
        <p:sp>
          <p:nvSpPr>
            <p:cNvPr id="18" name="mark-part-0"/>
            <p:cNvSpPr/>
            <p:nvPr/>
          </p:nvSpPr>
          <p:spPr>
            <a:xfrm>
              <a:off x="2636520" y="0"/>
              <a:ext cx="196850" cy="196850"/>
            </a:xfrm>
            <a:prstGeom prst="rect">
              <a:avLst/>
            </a:prstGeom>
            <a:solidFill>
              <a:srgbClr val="FFFFFF"/>
            </a:solidFill>
            <a:ln>
              <a:noFill/>
            </a:ln>
          </p:spPr>
        </p:sp>
        <p:sp>
          <p:nvSpPr>
            <p:cNvPr id="19" name="mark-part-1"/>
            <p:cNvSpPr/>
            <p:nvPr/>
          </p:nvSpPr>
          <p:spPr>
            <a:xfrm>
              <a:off x="198120" y="2606040"/>
              <a:ext cx="196850" cy="196850"/>
            </a:xfrm>
            <a:prstGeom prst="rect">
              <a:avLst/>
            </a:prstGeom>
            <a:solidFill>
              <a:srgbClr val="6A9AFF"/>
            </a:solidFill>
            <a:ln>
              <a:noFill/>
            </a:ln>
          </p:spPr>
        </p:sp>
        <p:sp>
          <p:nvSpPr>
            <p:cNvPr id="20" name="mark-part-2"/>
            <p:cNvSpPr/>
            <p:nvPr/>
          </p:nvSpPr>
          <p:spPr>
            <a:xfrm>
              <a:off x="2682240" y="487680"/>
              <a:ext cx="139700" cy="139700"/>
            </a:xfrm>
            <a:prstGeom prst="rect">
              <a:avLst/>
            </a:prstGeom>
            <a:solidFill>
              <a:srgbClr val="FFFFFF"/>
            </a:solidFill>
            <a:ln>
              <a:noFill/>
            </a:ln>
          </p:spPr>
        </p:sp>
        <p:sp>
          <p:nvSpPr>
            <p:cNvPr id="21" name="mark-part-3"/>
            <p:cNvSpPr/>
            <p:nvPr/>
          </p:nvSpPr>
          <p:spPr>
            <a:xfrm>
              <a:off x="213360" y="2179320"/>
              <a:ext cx="139700" cy="139700"/>
            </a:xfrm>
            <a:prstGeom prst="rect">
              <a:avLst/>
            </a:prstGeom>
            <a:solidFill>
              <a:srgbClr val="6A9AFF"/>
            </a:solidFill>
            <a:ln>
              <a:noFill/>
            </a:ln>
          </p:spPr>
        </p:sp>
        <p:sp>
          <p:nvSpPr>
            <p:cNvPr id="22" name="mark-part-4"/>
            <p:cNvSpPr/>
            <p:nvPr/>
          </p:nvSpPr>
          <p:spPr>
            <a:xfrm>
              <a:off x="2926080" y="243840"/>
              <a:ext cx="107950" cy="107950"/>
            </a:xfrm>
            <a:prstGeom prst="rect">
              <a:avLst/>
            </a:prstGeom>
            <a:solidFill>
              <a:srgbClr val="FFFFFF"/>
            </a:solidFill>
            <a:ln>
              <a:noFill/>
            </a:ln>
          </p:spPr>
        </p:sp>
        <p:sp>
          <p:nvSpPr>
            <p:cNvPr id="23" name="mark-part-5"/>
            <p:cNvSpPr/>
            <p:nvPr/>
          </p:nvSpPr>
          <p:spPr>
            <a:xfrm>
              <a:off x="0" y="2453640"/>
              <a:ext cx="107950" cy="107950"/>
            </a:xfrm>
            <a:prstGeom prst="rect">
              <a:avLst/>
            </a:prstGeom>
            <a:solidFill>
              <a:srgbClr val="6A9AFF"/>
            </a:solidFill>
            <a:ln>
              <a:noFill/>
            </a:ln>
          </p:spPr>
        </p:sp>
        <p:sp>
          <p:nvSpPr>
            <p:cNvPr id="24" name="mark-part-6"/>
            <p:cNvSpPr/>
            <p:nvPr/>
          </p:nvSpPr>
          <p:spPr>
            <a:xfrm>
              <a:off x="152400" y="0"/>
              <a:ext cx="2438400" cy="1460500"/>
            </a:xfrm>
            <a:custGeom>
              <a:avLst/>
              <a:gdLst/>
              <a:ahLst/>
              <a:cxnLst/>
              <a:rect l="0" t="0" r="r" b="b"/>
              <a:pathLst>
                <a:path w="38400" h="23000">
                  <a:moveTo>
                    <a:pt x="0" y="0"/>
                  </a:moveTo>
                  <a:lnTo>
                    <a:pt x="9120" y="0"/>
                  </a:lnTo>
                  <a:lnTo>
                    <a:pt x="19200" y="13920"/>
                  </a:lnTo>
                  <a:lnTo>
                    <a:pt x="28800" y="0"/>
                  </a:lnTo>
                  <a:lnTo>
                    <a:pt x="34560" y="0"/>
                  </a:lnTo>
                  <a:lnTo>
                    <a:pt x="34560" y="3840"/>
                  </a:lnTo>
                  <a:lnTo>
                    <a:pt x="38400" y="3840"/>
                  </a:lnTo>
                  <a:lnTo>
                    <a:pt x="38400" y="7680"/>
                  </a:lnTo>
                  <a:lnTo>
                    <a:pt x="34560" y="7680"/>
                  </a:lnTo>
                  <a:lnTo>
                    <a:pt x="34560" y="11520"/>
                  </a:lnTo>
                  <a:lnTo>
                    <a:pt x="30720" y="11520"/>
                  </a:lnTo>
                  <a:lnTo>
                    <a:pt x="30720" y="15360"/>
                  </a:lnTo>
                  <a:lnTo>
                    <a:pt x="26880" y="15360"/>
                  </a:lnTo>
                  <a:lnTo>
                    <a:pt x="26880" y="19200"/>
                  </a:lnTo>
                  <a:lnTo>
                    <a:pt x="23040" y="19200"/>
                  </a:lnTo>
                  <a:lnTo>
                    <a:pt x="23040" y="23040"/>
                  </a:lnTo>
                  <a:lnTo>
                    <a:pt x="15360" y="23040"/>
                  </a:lnTo>
                  <a:lnTo>
                    <a:pt x="0" y="0"/>
                  </a:lnTo>
                  <a:close/>
                </a:path>
              </a:pathLst>
            </a:custGeom>
            <a:solidFill>
              <a:srgbClr val="FFFFFF"/>
            </a:solidFill>
            <a:ln>
              <a:noFill/>
            </a:ln>
          </p:spPr>
        </p:sp>
        <p:sp>
          <p:nvSpPr>
            <p:cNvPr id="25" name="mark-part-7"/>
            <p:cNvSpPr/>
            <p:nvPr/>
          </p:nvSpPr>
          <p:spPr>
            <a:xfrm>
              <a:off x="441960" y="1341120"/>
              <a:ext cx="2438400" cy="1460500"/>
            </a:xfrm>
            <a:custGeom>
              <a:avLst/>
              <a:gdLst/>
              <a:ahLst/>
              <a:cxnLst/>
              <a:rect l="0" t="0" r="r" b="b"/>
              <a:pathLst>
                <a:path w="38400" h="23000">
                  <a:moveTo>
                    <a:pt x="38400" y="23040"/>
                  </a:moveTo>
                  <a:lnTo>
                    <a:pt x="29280" y="23040"/>
                  </a:lnTo>
                  <a:lnTo>
                    <a:pt x="19200" y="9120"/>
                  </a:lnTo>
                  <a:lnTo>
                    <a:pt x="9600" y="23040"/>
                  </a:lnTo>
                  <a:lnTo>
                    <a:pt x="3840" y="23040"/>
                  </a:lnTo>
                  <a:lnTo>
                    <a:pt x="3840" y="19200"/>
                  </a:lnTo>
                  <a:lnTo>
                    <a:pt x="0" y="19200"/>
                  </a:lnTo>
                  <a:lnTo>
                    <a:pt x="0" y="15360"/>
                  </a:lnTo>
                  <a:lnTo>
                    <a:pt x="3840" y="15360"/>
                  </a:lnTo>
                  <a:lnTo>
                    <a:pt x="3840" y="11520"/>
                  </a:lnTo>
                  <a:lnTo>
                    <a:pt x="7680" y="11520"/>
                  </a:lnTo>
                  <a:lnTo>
                    <a:pt x="7680" y="7680"/>
                  </a:lnTo>
                  <a:lnTo>
                    <a:pt x="11520" y="7680"/>
                  </a:lnTo>
                  <a:lnTo>
                    <a:pt x="11520" y="3840"/>
                  </a:lnTo>
                  <a:lnTo>
                    <a:pt x="15360" y="3840"/>
                  </a:lnTo>
                  <a:lnTo>
                    <a:pt x="15360" y="0"/>
                  </a:lnTo>
                  <a:lnTo>
                    <a:pt x="23040" y="0"/>
                  </a:lnTo>
                  <a:lnTo>
                    <a:pt x="38400" y="23040"/>
                  </a:lnTo>
                  <a:close/>
                </a:path>
              </a:pathLst>
            </a:custGeom>
            <a:solidFill>
              <a:srgbClr val="6A9AFF"/>
            </a:solidFill>
            <a:ln>
              <a:noFill/>
            </a:ln>
          </p:spPr>
        </p:sp>
      </p:grpSp>
      <p:sp>
        <p:nvSpPr>
          <p:cNvPr id="27" name="sub"/>
          <p:cNvSpPr txBox="1"/>
          <p:nvPr/>
        </p:nvSpPr>
        <p:spPr>
          <a:xfrm>
            <a:off x="889000" y="3733922"/>
            <a:ext cx="6667500" cy="742828"/>
          </a:xfrm>
          <a:prstGeom prst="rect">
            <a:avLst/>
          </a:prstGeom>
          <a:noFill/>
        </p:spPr>
        <p:txBody>
          <a:bodyPr wrap="square" lIns="0" tIns="0" rIns="0" bIns="0" rtlCol="0" anchor="t">
            <a:noAutofit/>
          </a:bodyPr>
          <a:lstStyle/>
          <a:p>
            <a:pPr algn="l">
              <a:lnSpc>
                <a:spcPts val="2860"/>
              </a:lnSpc>
              <a:spcBef>
                <a:spcPts val="0"/>
              </a:spcBef>
              <a:spcAft>
                <a:spcPts val="0"/>
              </a:spcAft>
              <a:buNone/>
            </a:pPr>
            <a:r>
              <a:rPr lang="en-US" sz="2200" dirty="0">
                <a:solidFill>
                  <a:srgbClr val="AEB7CA"/>
                </a:solidFill>
                <a:latin typeface="Inter"/>
                <a:ea typeface="Inter"/>
                <a:cs typeface="Inter"/>
              </a:rPr>
              <a:t>Graphics. Documents. Motion.</a:t>
            </a:r>
            <a:endParaRPr lang="en-US" sz="2200" dirty="0"/>
          </a:p>
          <a:p>
            <a:pPr algn="l">
              <a:lnSpc>
                <a:spcPts val="2860"/>
              </a:lnSpc>
              <a:spcBef>
                <a:spcPts val="0"/>
              </a:spcBef>
              <a:spcAft>
                <a:spcPts val="0"/>
              </a:spcAft>
              <a:buNone/>
            </a:pPr>
            <a:r>
              <a:rPr lang="en-US" sz="2200" dirty="0">
                <a:solidFill>
                  <a:srgbClr val="AEB7CA"/>
                </a:solidFill>
                <a:latin typeface="Inter"/>
                <a:ea typeface="Inter"/>
                <a:cs typeface="Inter"/>
              </a:rPr>
              <a:t>MCP · CLI · Python · REST</a:t>
            </a:r>
            <a:endParaRPr lang="en-US" sz="2200" dirty="0"/>
          </a:p>
        </p:txBody>
      </p:sp>
      <p:sp>
        <p:nvSpPr>
          <p:cNvPr id="28" name="credit"/>
          <p:cNvSpPr txBox="1"/>
          <p:nvPr/>
        </p:nvSpPr>
        <p:spPr>
          <a:xfrm>
            <a:off x="889000" y="5195494"/>
            <a:ext cx="360362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THIS DECK IS MADE WITH VIXL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document">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2 / 12</a:t>
            </a:r>
            <a:endParaRPr lang="en-US" sz="1200" dirty="0"/>
          </a:p>
        </p:txBody>
      </p:sp>
      <p:sp>
        <p:nvSpPr>
          <p:cNvPr id="16" name="kicker"/>
          <p:cNvSpPr txBox="1"/>
          <p:nvPr/>
        </p:nvSpPr>
        <p:spPr>
          <a:xfrm>
            <a:off x="889000" y="559816"/>
            <a:ext cx="1738312"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THE CORE IDEA</a:t>
            </a:r>
            <a:endParaRPr lang="en-US" sz="1400" dirty="0"/>
          </a:p>
        </p:txBody>
      </p:sp>
      <p:sp>
        <p:nvSpPr>
          <p:cNvPr id="17" name="headline"/>
          <p:cNvSpPr>
            <a:spLocks noGrp="1"/>
          </p:cNvSpPr>
          <p:nvPr>
            <p:ph type="title"/>
          </p:nvPr>
        </p:nvSpPr>
        <p:spPr>
          <a:xfrm>
            <a:off x="889000" y="1316078"/>
            <a:ext cx="837406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A design is a </a:t>
            </a:r>
            <a:r>
              <a:rPr lang="en-US" sz="4700" b="1" dirty="0">
                <a:solidFill>
                  <a:srgbClr val="6A9AFF"/>
                </a:solidFill>
                <a:latin typeface="Inter Tight"/>
                <a:ea typeface="Inter Tight"/>
                <a:cs typeface="Inter Tight"/>
              </a:rPr>
              <a:t>document.</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388736"/>
            <a:ext cx="16668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Content</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Text, vector paths, images, masks and effects.</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8736"/>
            <a:ext cx="186372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Structure</a:t>
            </a:r>
            <a:endParaRPr lang="en-US" sz="2450" dirty="0"/>
          </a:p>
        </p:txBody>
      </p:sp>
      <p:sp>
        <p:nvSpPr>
          <p:cNvPr id="25" name="body-1"/>
          <p:cNvSpPr txBox="1"/>
          <p:nvPr/>
        </p:nvSpPr>
        <p:spPr>
          <a:xfrm>
            <a:off x="4673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Groups, variables, pages, layouts and reusable components.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400434"/>
            <a:ext cx="1546225" cy="33336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History</a:t>
            </a:r>
            <a:endParaRPr lang="en-US" sz="2450" dirty="0"/>
          </a:p>
        </p:txBody>
      </p:sp>
      <p:sp>
        <p:nvSpPr>
          <p:cNvPr id="29" name="body-2"/>
          <p:cNvSpPr txBox="1"/>
          <p:nvPr/>
        </p:nvSpPr>
        <p:spPr>
          <a:xfrm>
            <a:off x="8229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Undo, checkpoints, branches and document diffs.</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workflow">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3 / 12</a:t>
            </a:r>
            <a:endParaRPr lang="en-US" sz="1200" dirty="0"/>
          </a:p>
        </p:txBody>
      </p:sp>
      <p:sp>
        <p:nvSpPr>
          <p:cNvPr id="16" name="kicker"/>
          <p:cNvSpPr txBox="1"/>
          <p:nvPr/>
        </p:nvSpPr>
        <p:spPr>
          <a:xfrm>
            <a:off x="889000" y="559816"/>
            <a:ext cx="187325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THE AGENT LOOP</a:t>
            </a:r>
            <a:endParaRPr lang="en-US" sz="1400" dirty="0"/>
          </a:p>
        </p:txBody>
      </p:sp>
      <p:sp>
        <p:nvSpPr>
          <p:cNvPr id="17" name="headline"/>
          <p:cNvSpPr>
            <a:spLocks noGrp="1"/>
          </p:cNvSpPr>
          <p:nvPr>
            <p:ph type="title"/>
          </p:nvPr>
        </p:nvSpPr>
        <p:spPr>
          <a:xfrm>
            <a:off x="889000" y="1316078"/>
            <a:ext cx="832643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Feedback at </a:t>
            </a:r>
            <a:r>
              <a:rPr lang="en-US" sz="4700" b="1" dirty="0">
                <a:solidFill>
                  <a:srgbClr val="6A9AFF"/>
                </a:solidFill>
                <a:latin typeface="Inter Tight"/>
                <a:ea typeface="Inter Tight"/>
                <a:cs typeface="Inter Tight"/>
              </a:rPr>
              <a:t>every step.</a:t>
            </a:r>
            <a:endParaRPr lang="en-US" sz="4700" dirty="0"/>
          </a:p>
        </p:txBody>
      </p:sp>
      <p:grpSp>
        <p:nvGrpSpPr>
          <p:cNvPr id="32" name="workflow"/>
          <p:cNvGrpSpPr/>
          <p:nvPr/>
        </p:nvGrpSpPr>
        <p:grpSpPr>
          <a:xfrm>
            <a:off x="939800" y="2997200"/>
            <a:ext cx="10306050" cy="889000"/>
            <a:chOff x="0" y="0"/>
            <a:chExt cx="10306050" cy="889000"/>
          </a:xfrm>
        </p:grpSpPr>
        <p:sp>
          <p:nvSpPr>
            <p:cNvPr id="18" name="workflow/brief-&gt;edit"/>
            <p:cNvSpPr/>
            <p:nvPr/>
          </p:nvSpPr>
          <p:spPr>
            <a:xfrm>
              <a:off x="151130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19" name="workflow/edit-&gt;check"/>
            <p:cNvSpPr/>
            <p:nvPr/>
          </p:nvSpPr>
          <p:spPr>
            <a:xfrm>
              <a:off x="343535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0" name="workflow/check-&gt;preview"/>
            <p:cNvSpPr/>
            <p:nvPr/>
          </p:nvSpPr>
          <p:spPr>
            <a:xfrm>
              <a:off x="5930900" y="374650"/>
              <a:ext cx="711200" cy="139700"/>
            </a:xfrm>
            <a:custGeom>
              <a:avLst/>
              <a:gdLst/>
              <a:ahLst/>
              <a:cxnLst/>
              <a:rect l="0" t="0" r="r" b="b"/>
              <a:pathLst>
                <a:path w="11200" h="2200">
                  <a:moveTo>
                    <a:pt x="400" y="1100"/>
                  </a:moveTo>
                  <a:lnTo>
                    <a:pt x="9618" y="1100"/>
                  </a:lnTo>
                  <a:lnTo>
                    <a:pt x="400" y="1100"/>
                  </a:lnTo>
                  <a:moveTo>
                    <a:pt x="9122" y="1826"/>
                  </a:moveTo>
                  <a:lnTo>
                    <a:pt x="10850" y="1100"/>
                  </a:lnTo>
                  <a:lnTo>
                    <a:pt x="9122" y="374"/>
                  </a:lnTo>
                  <a:lnTo>
                    <a:pt x="9122" y="1826"/>
                  </a:lnTo>
                  <a:close/>
                </a:path>
              </a:pathLst>
            </a:custGeom>
            <a:solidFill>
              <a:srgbClr val="6A9AFF"/>
            </a:solidFill>
            <a:ln w="19050" cap="rnd">
              <a:solidFill>
                <a:srgbClr val="6A9AFF"/>
              </a:solidFill>
              <a:round/>
            </a:ln>
          </p:spPr>
        </p:sp>
        <p:sp>
          <p:nvSpPr>
            <p:cNvPr id="21" name="workflow/preview-&gt;export"/>
            <p:cNvSpPr/>
            <p:nvPr/>
          </p:nvSpPr>
          <p:spPr>
            <a:xfrm>
              <a:off x="819150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2" name="workflow/brief"/>
            <p:cNvSpPr/>
            <p:nvPr/>
          </p:nvSpPr>
          <p:spPr>
            <a:xfrm>
              <a:off x="57150" y="190500"/>
              <a:ext cx="1460500" cy="508000"/>
            </a:xfrm>
            <a:prstGeom prst="roundRect">
              <a:avLst>
                <a:gd name="adj" fmla="val 13875"/>
              </a:avLst>
            </a:prstGeom>
            <a:solidFill>
              <a:srgbClr val="2F3647"/>
            </a:solidFill>
            <a:ln w="19050">
              <a:solidFill>
                <a:srgbClr val="858A95"/>
              </a:solidFill>
            </a:ln>
          </p:spPr>
        </p:sp>
        <p:sp>
          <p:nvSpPr>
            <p:cNvPr id="23" name="workflow/edit"/>
            <p:cNvSpPr/>
            <p:nvPr/>
          </p:nvSpPr>
          <p:spPr>
            <a:xfrm>
              <a:off x="2235200" y="190500"/>
              <a:ext cx="1206500" cy="508000"/>
            </a:xfrm>
            <a:prstGeom prst="roundRect">
              <a:avLst>
                <a:gd name="adj" fmla="val 13875"/>
              </a:avLst>
            </a:prstGeom>
            <a:solidFill>
              <a:srgbClr val="2F3647"/>
            </a:solidFill>
            <a:ln w="19050">
              <a:solidFill>
                <a:srgbClr val="858A95"/>
              </a:solidFill>
            </a:ln>
          </p:spPr>
        </p:sp>
        <p:sp>
          <p:nvSpPr>
            <p:cNvPr id="24" name="workflow/check"/>
            <p:cNvSpPr/>
            <p:nvPr/>
          </p:nvSpPr>
          <p:spPr>
            <a:xfrm>
              <a:off x="4149725" y="47625"/>
              <a:ext cx="1797050" cy="793750"/>
            </a:xfrm>
            <a:custGeom>
              <a:avLst/>
              <a:gdLst/>
              <a:ahLst/>
              <a:cxnLst/>
              <a:rect l="0" t="0" r="r" b="b"/>
              <a:pathLst>
                <a:path w="10000" h="10000">
                  <a:moveTo>
                    <a:pt x="5000" y="0"/>
                  </a:moveTo>
                  <a:lnTo>
                    <a:pt x="10000" y="5000"/>
                  </a:lnTo>
                  <a:lnTo>
                    <a:pt x="5000" y="10000"/>
                  </a:lnTo>
                  <a:lnTo>
                    <a:pt x="0" y="5000"/>
                  </a:lnTo>
                  <a:lnTo>
                    <a:pt x="5000" y="0"/>
                  </a:lnTo>
                  <a:close/>
                </a:path>
              </a:pathLst>
            </a:custGeom>
            <a:solidFill>
              <a:srgbClr val="2F3647"/>
            </a:solidFill>
            <a:ln w="19050">
              <a:solidFill>
                <a:srgbClr val="858A95"/>
              </a:solidFill>
            </a:ln>
          </p:spPr>
        </p:sp>
        <p:sp>
          <p:nvSpPr>
            <p:cNvPr id="25" name="workflow/preview"/>
            <p:cNvSpPr/>
            <p:nvPr/>
          </p:nvSpPr>
          <p:spPr>
            <a:xfrm>
              <a:off x="6648450" y="222250"/>
              <a:ext cx="1549400" cy="444500"/>
            </a:xfrm>
            <a:prstGeom prst="roundRect">
              <a:avLst>
                <a:gd name="adj" fmla="val 15857"/>
              </a:avLst>
            </a:prstGeom>
            <a:solidFill>
              <a:srgbClr val="2F3647"/>
            </a:solidFill>
            <a:ln w="19050">
              <a:solidFill>
                <a:srgbClr val="858A95"/>
              </a:solidFill>
            </a:ln>
          </p:spPr>
        </p:sp>
        <p:sp>
          <p:nvSpPr>
            <p:cNvPr id="26" name="workflow/export"/>
            <p:cNvSpPr/>
            <p:nvPr/>
          </p:nvSpPr>
          <p:spPr>
            <a:xfrm>
              <a:off x="8915400" y="190500"/>
              <a:ext cx="1333500" cy="508000"/>
            </a:xfrm>
            <a:prstGeom prst="roundRect">
              <a:avLst>
                <a:gd name="adj" fmla="val 13875"/>
              </a:avLst>
            </a:prstGeom>
            <a:solidFill>
              <a:srgbClr val="2F3647"/>
            </a:solidFill>
            <a:ln w="19050">
              <a:solidFill>
                <a:srgbClr val="858A95"/>
              </a:solidFill>
            </a:ln>
          </p:spPr>
        </p:sp>
        <p:sp>
          <p:nvSpPr>
            <p:cNvPr id="27" name="workflow/brief.label"/>
            <p:cNvSpPr txBox="1"/>
            <p:nvPr/>
          </p:nvSpPr>
          <p:spPr>
            <a:xfrm>
              <a:off x="-49212" y="172820"/>
              <a:ext cx="167957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Inspect</a:t>
              </a:r>
              <a:endParaRPr lang="en-US" sz="2650" dirty="0"/>
            </a:p>
          </p:txBody>
        </p:sp>
        <p:sp>
          <p:nvSpPr>
            <p:cNvPr id="28" name="workflow/edit.label"/>
            <p:cNvSpPr txBox="1"/>
            <p:nvPr/>
          </p:nvSpPr>
          <p:spPr>
            <a:xfrm>
              <a:off x="2122488" y="172820"/>
              <a:ext cx="142557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Apply</a:t>
              </a:r>
              <a:endParaRPr lang="en-US" sz="2650" dirty="0"/>
            </a:p>
          </p:txBody>
        </p:sp>
        <p:sp>
          <p:nvSpPr>
            <p:cNvPr id="29" name="workflow/check.label"/>
            <p:cNvSpPr txBox="1"/>
            <p:nvPr/>
          </p:nvSpPr>
          <p:spPr>
            <a:xfrm>
              <a:off x="4281488" y="207857"/>
              <a:ext cx="1527175" cy="363643"/>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Check</a:t>
              </a:r>
              <a:endParaRPr lang="en-US" sz="2650" dirty="0"/>
            </a:p>
          </p:txBody>
        </p:sp>
        <p:sp>
          <p:nvSpPr>
            <p:cNvPr id="30" name="workflow/preview.label"/>
            <p:cNvSpPr txBox="1"/>
            <p:nvPr/>
          </p:nvSpPr>
          <p:spPr>
            <a:xfrm>
              <a:off x="6542088" y="212623"/>
              <a:ext cx="1768475" cy="365227"/>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Preview</a:t>
              </a:r>
              <a:endParaRPr lang="en-US" sz="2650" dirty="0"/>
            </a:p>
          </p:txBody>
        </p:sp>
        <p:sp>
          <p:nvSpPr>
            <p:cNvPr id="31" name="workflow/export.label"/>
            <p:cNvSpPr txBox="1"/>
            <p:nvPr/>
          </p:nvSpPr>
          <p:spPr>
            <a:xfrm>
              <a:off x="8809038" y="172820"/>
              <a:ext cx="154622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Export</a:t>
              </a:r>
              <a:endParaRPr lang="en-US" sz="2650" dirty="0"/>
            </a:p>
          </p:txBody>
        </p:sp>
      </p:grpSp>
      <p:sp>
        <p:nvSpPr>
          <p:cNvPr id="33" name="note"/>
          <p:cNvSpPr txBox="1"/>
          <p:nvPr/>
        </p:nvSpPr>
        <p:spPr>
          <a:xfrm>
            <a:off x="889000" y="4752209"/>
            <a:ext cx="10160000" cy="607191"/>
          </a:xfrm>
          <a:prstGeom prst="rect">
            <a:avLst/>
          </a:prstGeom>
          <a:noFill/>
        </p:spPr>
        <p:txBody>
          <a:bodyPr wrap="square" lIns="0" tIns="0" rIns="0" bIns="0" rtlCol="0" anchor="t">
            <a:noAutofit/>
          </a:bodyPr>
          <a:lstStyle/>
          <a:p>
            <a:pPr algn="l">
              <a:lnSpc>
                <a:spcPts val="2340"/>
              </a:lnSpc>
              <a:spcBef>
                <a:spcPts val="0"/>
              </a:spcBef>
              <a:spcAft>
                <a:spcPts val="0"/>
              </a:spcAft>
              <a:buNone/>
            </a:pPr>
            <a:r>
              <a:rPr lang="en-US" sz="1800" dirty="0">
                <a:solidFill>
                  <a:srgbClr val="FFFFFF"/>
                </a:solidFill>
                <a:latin typeface="Inter"/>
                <a:ea typeface="Inter"/>
                <a:cs typeface="Inter"/>
              </a:rPr>
              <a:t>Read the structure. Apply atomic edits. Check requirements.</a:t>
            </a:r>
            <a:endParaRPr lang="en-US" sz="1800" dirty="0"/>
          </a:p>
          <a:p>
            <a:pPr algn="l">
              <a:lnSpc>
                <a:spcPts val="2340"/>
              </a:lnSpc>
              <a:spcBef>
                <a:spcPts val="0"/>
              </a:spcBef>
              <a:spcAft>
                <a:spcPts val="0"/>
              </a:spcAft>
              <a:buNone/>
            </a:pPr>
            <a:r>
              <a:rPr lang="en-US" sz="1800" dirty="0">
                <a:solidFill>
                  <a:srgbClr val="FFFFFF"/>
                </a:solidFill>
                <a:latin typeface="Inter"/>
                <a:ea typeface="Inter"/>
                <a:cs typeface="Inter"/>
              </a:rPr>
              <a:t>Render and review the design. Export the files.</a:t>
            </a:r>
            <a:endParaRPr lang="en-US" sz="1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gallery">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4 / 12</a:t>
            </a:r>
            <a:endParaRPr lang="en-US" sz="1200" dirty="0"/>
          </a:p>
        </p:txBody>
      </p:sp>
      <p:sp>
        <p:nvSpPr>
          <p:cNvPr id="16" name="kicker"/>
          <p:cNvSpPr txBox="1"/>
          <p:nvPr/>
        </p:nvSpPr>
        <p:spPr>
          <a:xfrm>
            <a:off x="889000" y="559994"/>
            <a:ext cx="3206750"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A BROAD CREATIVE TOOLSET</a:t>
            </a:r>
            <a:endParaRPr lang="en-US" sz="1400" dirty="0"/>
          </a:p>
        </p:txBody>
      </p:sp>
      <p:sp>
        <p:nvSpPr>
          <p:cNvPr id="17" name="headline"/>
          <p:cNvSpPr>
            <a:spLocks noGrp="1"/>
          </p:cNvSpPr>
          <p:nvPr>
            <p:ph type="title"/>
          </p:nvPr>
        </p:nvSpPr>
        <p:spPr>
          <a:xfrm>
            <a:off x="889000" y="1316078"/>
            <a:ext cx="691356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From print to </a:t>
            </a:r>
            <a:r>
              <a:rPr lang="en-US" sz="4700" b="1" dirty="0">
                <a:solidFill>
                  <a:srgbClr val="6A9AFF"/>
                </a:solidFill>
                <a:latin typeface="Inter Tight"/>
                <a:ea typeface="Inter Tight"/>
                <a:cs typeface="Inter Tight"/>
              </a:rPr>
              <a:t>pixels.</a:t>
            </a:r>
            <a:endParaRPr lang="en-US" sz="4700" dirty="0"/>
          </a:p>
        </p:txBody>
      </p:sp>
      <p:sp>
        <p:nvSpPr>
          <p:cNvPr id="18" name="gallery-0-base"/>
          <p:cNvSpPr/>
          <p:nvPr/>
        </p:nvSpPr>
        <p:spPr>
          <a:xfrm>
            <a:off x="889000" y="2381250"/>
            <a:ext cx="3352800" cy="1574800"/>
          </a:xfrm>
          <a:prstGeom prst="roundRect">
            <a:avLst>
              <a:gd name="adj" fmla="val 7258"/>
            </a:avLst>
          </a:prstGeom>
          <a:solidFill>
            <a:srgbClr val="2F3647"/>
          </a:solidFill>
          <a:ln>
            <a:noFill/>
          </a:ln>
        </p:spPr>
      </p:sp>
      <p:pic>
        <p:nvPicPr>
          <p:cNvPr id="19" name="gallery-0" descr="gallery-0"/>
          <p:cNvPicPr>
            <a:picLocks noChangeAspect="1"/>
          </p:cNvPicPr>
          <p:nvPr/>
        </p:nvPicPr>
        <p:blipFill>
          <a:blip r:embed="rId3"/>
          <a:stretch>
            <a:fillRect/>
          </a:stretch>
        </p:blipFill>
        <p:spPr>
          <a:xfrm>
            <a:off x="889000" y="2381250"/>
            <a:ext cx="3352800" cy="1574800"/>
          </a:xfrm>
          <a:prstGeom prst="rect">
            <a:avLst/>
          </a:prstGeom>
        </p:spPr>
      </p:pic>
      <p:grpSp>
        <p:nvGrpSpPr>
          <p:cNvPr id="22" name="gallery-label-0"/>
          <p:cNvGrpSpPr/>
          <p:nvPr/>
        </p:nvGrpSpPr>
        <p:grpSpPr>
          <a:xfrm>
            <a:off x="977900" y="3549650"/>
            <a:ext cx="1079500" cy="266700"/>
            <a:chOff x="0" y="0"/>
            <a:chExt cx="1079500" cy="266700"/>
          </a:xfrm>
        </p:grpSpPr>
        <p:sp>
          <p:nvSpPr>
            <p:cNvPr id="20" name="gallery-label-0-bg"/>
            <p:cNvSpPr/>
            <p:nvPr/>
          </p:nvSpPr>
          <p:spPr>
            <a:xfrm>
              <a:off x="0" y="0"/>
              <a:ext cx="1079500" cy="266700"/>
            </a:xfrm>
            <a:prstGeom prst="roundRect">
              <a:avLst>
                <a:gd name="adj" fmla="val 50000"/>
              </a:avLst>
            </a:prstGeom>
            <a:solidFill>
              <a:srgbClr val="2F3647"/>
            </a:solidFill>
            <a:ln>
              <a:noFill/>
            </a:ln>
          </p:spPr>
        </p:sp>
        <p:sp>
          <p:nvSpPr>
            <p:cNvPr id="21" name="gallery-label-0-label"/>
            <p:cNvSpPr txBox="1"/>
            <p:nvPr/>
          </p:nvSpPr>
          <p:spPr>
            <a:xfrm>
              <a:off x="88900" y="5311"/>
              <a:ext cx="1139825"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Print poster</a:t>
              </a:r>
              <a:endParaRPr lang="en-US" sz="1250" dirty="0"/>
            </a:p>
          </p:txBody>
        </p:sp>
      </p:grpSp>
      <p:sp>
        <p:nvSpPr>
          <p:cNvPr id="23" name="gallery-1-base"/>
          <p:cNvSpPr/>
          <p:nvPr/>
        </p:nvSpPr>
        <p:spPr>
          <a:xfrm>
            <a:off x="4419600" y="2381250"/>
            <a:ext cx="3352800" cy="1574800"/>
          </a:xfrm>
          <a:prstGeom prst="roundRect">
            <a:avLst>
              <a:gd name="adj" fmla="val 7258"/>
            </a:avLst>
          </a:prstGeom>
          <a:solidFill>
            <a:srgbClr val="2F3647"/>
          </a:solidFill>
          <a:ln>
            <a:noFill/>
          </a:ln>
        </p:spPr>
      </p:sp>
      <p:pic>
        <p:nvPicPr>
          <p:cNvPr id="24" name="gallery-1" descr="gallery-1"/>
          <p:cNvPicPr>
            <a:picLocks noChangeAspect="1"/>
          </p:cNvPicPr>
          <p:nvPr/>
        </p:nvPicPr>
        <p:blipFill>
          <a:blip r:embed="rId4"/>
          <a:stretch>
            <a:fillRect/>
          </a:stretch>
        </p:blipFill>
        <p:spPr>
          <a:xfrm>
            <a:off x="4419600" y="2381250"/>
            <a:ext cx="3352800" cy="1574800"/>
          </a:xfrm>
          <a:prstGeom prst="rect">
            <a:avLst/>
          </a:prstGeom>
        </p:spPr>
      </p:pic>
      <p:grpSp>
        <p:nvGrpSpPr>
          <p:cNvPr id="27" name="gallery-label-1"/>
          <p:cNvGrpSpPr/>
          <p:nvPr/>
        </p:nvGrpSpPr>
        <p:grpSpPr>
          <a:xfrm>
            <a:off x="4508500" y="3549650"/>
            <a:ext cx="1682750" cy="266700"/>
            <a:chOff x="0" y="0"/>
            <a:chExt cx="1682750" cy="266700"/>
          </a:xfrm>
        </p:grpSpPr>
        <p:sp>
          <p:nvSpPr>
            <p:cNvPr id="25" name="gallery-label-1-bg"/>
            <p:cNvSpPr/>
            <p:nvPr/>
          </p:nvSpPr>
          <p:spPr>
            <a:xfrm>
              <a:off x="0" y="0"/>
              <a:ext cx="1682750" cy="266700"/>
            </a:xfrm>
            <a:prstGeom prst="roundRect">
              <a:avLst>
                <a:gd name="adj" fmla="val 50000"/>
              </a:avLst>
            </a:prstGeom>
            <a:solidFill>
              <a:srgbClr val="2F3647"/>
            </a:solidFill>
            <a:ln>
              <a:noFill/>
            </a:ln>
          </p:spPr>
        </p:sp>
        <p:sp>
          <p:nvSpPr>
            <p:cNvPr id="26" name="gallery-label-1-label"/>
            <p:cNvSpPr txBox="1"/>
            <p:nvPr/>
          </p:nvSpPr>
          <p:spPr>
            <a:xfrm>
              <a:off x="88900" y="5311"/>
              <a:ext cx="1881188"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Generative painting</a:t>
              </a:r>
              <a:endParaRPr lang="en-US" sz="1250" dirty="0"/>
            </a:p>
          </p:txBody>
        </p:sp>
      </p:grpSp>
      <p:sp>
        <p:nvSpPr>
          <p:cNvPr id="28" name="gallery-2-base"/>
          <p:cNvSpPr/>
          <p:nvPr/>
        </p:nvSpPr>
        <p:spPr>
          <a:xfrm>
            <a:off x="7950200" y="2381250"/>
            <a:ext cx="3352800" cy="1574800"/>
          </a:xfrm>
          <a:prstGeom prst="roundRect">
            <a:avLst>
              <a:gd name="adj" fmla="val 7258"/>
            </a:avLst>
          </a:prstGeom>
          <a:solidFill>
            <a:srgbClr val="2F3647"/>
          </a:solidFill>
          <a:ln>
            <a:noFill/>
          </a:ln>
        </p:spPr>
      </p:sp>
      <p:pic>
        <p:nvPicPr>
          <p:cNvPr id="29" name="gallery-2" descr="gallery-2"/>
          <p:cNvPicPr>
            <a:picLocks noChangeAspect="1"/>
          </p:cNvPicPr>
          <p:nvPr/>
        </p:nvPicPr>
        <p:blipFill>
          <a:blip r:embed="rId5"/>
          <a:stretch>
            <a:fillRect/>
          </a:stretch>
        </p:blipFill>
        <p:spPr>
          <a:xfrm>
            <a:off x="7950200" y="2381250"/>
            <a:ext cx="3352800" cy="1574800"/>
          </a:xfrm>
          <a:prstGeom prst="rect">
            <a:avLst/>
          </a:prstGeom>
        </p:spPr>
      </p:pic>
      <p:grpSp>
        <p:nvGrpSpPr>
          <p:cNvPr id="32" name="gallery-label-2"/>
          <p:cNvGrpSpPr/>
          <p:nvPr/>
        </p:nvGrpSpPr>
        <p:grpSpPr>
          <a:xfrm>
            <a:off x="8039100" y="3549650"/>
            <a:ext cx="1301750" cy="266700"/>
            <a:chOff x="0" y="0"/>
            <a:chExt cx="1301750" cy="266700"/>
          </a:xfrm>
        </p:grpSpPr>
        <p:sp>
          <p:nvSpPr>
            <p:cNvPr id="30" name="gallery-label-2-bg"/>
            <p:cNvSpPr/>
            <p:nvPr/>
          </p:nvSpPr>
          <p:spPr>
            <a:xfrm>
              <a:off x="0" y="0"/>
              <a:ext cx="1301750" cy="266700"/>
            </a:xfrm>
            <a:prstGeom prst="roundRect">
              <a:avLst>
                <a:gd name="adj" fmla="val 50000"/>
              </a:avLst>
            </a:prstGeom>
            <a:solidFill>
              <a:srgbClr val="2F3647"/>
            </a:solidFill>
            <a:ln>
              <a:noFill/>
            </a:ln>
          </p:spPr>
        </p:sp>
        <p:sp>
          <p:nvSpPr>
            <p:cNvPr id="31" name="gallery-label-2-label"/>
            <p:cNvSpPr txBox="1"/>
            <p:nvPr/>
          </p:nvSpPr>
          <p:spPr>
            <a:xfrm>
              <a:off x="88900" y="5311"/>
              <a:ext cx="1404938"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Pixel-art game</a:t>
              </a:r>
              <a:endParaRPr lang="en-US" sz="1250" dirty="0"/>
            </a:p>
          </p:txBody>
        </p:sp>
      </p:grpSp>
      <p:sp>
        <p:nvSpPr>
          <p:cNvPr id="33" name="gallery-3-base"/>
          <p:cNvSpPr/>
          <p:nvPr/>
        </p:nvSpPr>
        <p:spPr>
          <a:xfrm>
            <a:off x="889000" y="4133850"/>
            <a:ext cx="3352800" cy="1574800"/>
          </a:xfrm>
          <a:prstGeom prst="roundRect">
            <a:avLst>
              <a:gd name="adj" fmla="val 7258"/>
            </a:avLst>
          </a:prstGeom>
          <a:solidFill>
            <a:srgbClr val="2F3647"/>
          </a:solidFill>
          <a:ln>
            <a:noFill/>
          </a:ln>
        </p:spPr>
      </p:sp>
      <p:pic>
        <p:nvPicPr>
          <p:cNvPr id="34" name="gallery-3" descr="gallery-3"/>
          <p:cNvPicPr>
            <a:picLocks noChangeAspect="1"/>
          </p:cNvPicPr>
          <p:nvPr/>
        </p:nvPicPr>
        <p:blipFill>
          <a:blip r:embed="rId6"/>
          <a:stretch>
            <a:fillRect/>
          </a:stretch>
        </p:blipFill>
        <p:spPr>
          <a:xfrm>
            <a:off x="889000" y="4133850"/>
            <a:ext cx="3352800" cy="1574800"/>
          </a:xfrm>
          <a:prstGeom prst="rect">
            <a:avLst/>
          </a:prstGeom>
        </p:spPr>
      </p:pic>
      <p:grpSp>
        <p:nvGrpSpPr>
          <p:cNvPr id="37" name="gallery-label-3"/>
          <p:cNvGrpSpPr/>
          <p:nvPr/>
        </p:nvGrpSpPr>
        <p:grpSpPr>
          <a:xfrm>
            <a:off x="977900" y="5302250"/>
            <a:ext cx="1625600" cy="266700"/>
            <a:chOff x="0" y="0"/>
            <a:chExt cx="1625600" cy="266700"/>
          </a:xfrm>
        </p:grpSpPr>
        <p:sp>
          <p:nvSpPr>
            <p:cNvPr id="35" name="gallery-label-3-bg"/>
            <p:cNvSpPr/>
            <p:nvPr/>
          </p:nvSpPr>
          <p:spPr>
            <a:xfrm>
              <a:off x="0" y="0"/>
              <a:ext cx="1625600" cy="266700"/>
            </a:xfrm>
            <a:prstGeom prst="roundRect">
              <a:avLst>
                <a:gd name="adj" fmla="val 50000"/>
              </a:avLst>
            </a:prstGeom>
            <a:solidFill>
              <a:srgbClr val="2F3647"/>
            </a:solidFill>
            <a:ln>
              <a:noFill/>
            </a:ln>
          </p:spPr>
        </p:sp>
        <p:sp>
          <p:nvSpPr>
            <p:cNvPr id="36" name="gallery-label-3-label"/>
            <p:cNvSpPr txBox="1"/>
            <p:nvPr/>
          </p:nvSpPr>
          <p:spPr>
            <a:xfrm>
              <a:off x="88900" y="-192"/>
              <a:ext cx="1809750" cy="197042"/>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Data-bound charts</a:t>
              </a:r>
              <a:endParaRPr lang="en-US" sz="1250" dirty="0"/>
            </a:p>
          </p:txBody>
        </p:sp>
      </p:grpSp>
      <p:sp>
        <p:nvSpPr>
          <p:cNvPr id="38" name="gallery-4-base"/>
          <p:cNvSpPr/>
          <p:nvPr/>
        </p:nvSpPr>
        <p:spPr>
          <a:xfrm>
            <a:off x="4419600" y="4133850"/>
            <a:ext cx="3352800" cy="1574800"/>
          </a:xfrm>
          <a:prstGeom prst="roundRect">
            <a:avLst>
              <a:gd name="adj" fmla="val 7258"/>
            </a:avLst>
          </a:prstGeom>
          <a:solidFill>
            <a:srgbClr val="2F3647"/>
          </a:solidFill>
          <a:ln>
            <a:noFill/>
          </a:ln>
        </p:spPr>
      </p:sp>
      <p:pic>
        <p:nvPicPr>
          <p:cNvPr id="39" name="gallery-4" descr="gallery-4"/>
          <p:cNvPicPr>
            <a:picLocks noChangeAspect="1"/>
          </p:cNvPicPr>
          <p:nvPr/>
        </p:nvPicPr>
        <p:blipFill>
          <a:blip r:embed="rId7"/>
          <a:stretch>
            <a:fillRect/>
          </a:stretch>
        </p:blipFill>
        <p:spPr>
          <a:xfrm>
            <a:off x="4419600" y="4133850"/>
            <a:ext cx="3352800" cy="1574800"/>
          </a:xfrm>
          <a:prstGeom prst="rect">
            <a:avLst/>
          </a:prstGeom>
        </p:spPr>
      </p:pic>
      <p:grpSp>
        <p:nvGrpSpPr>
          <p:cNvPr id="42" name="gallery-label-4"/>
          <p:cNvGrpSpPr/>
          <p:nvPr/>
        </p:nvGrpSpPr>
        <p:grpSpPr>
          <a:xfrm>
            <a:off x="4508500" y="5302250"/>
            <a:ext cx="1739900" cy="266700"/>
            <a:chOff x="0" y="0"/>
            <a:chExt cx="1739900" cy="266700"/>
          </a:xfrm>
        </p:grpSpPr>
        <p:sp>
          <p:nvSpPr>
            <p:cNvPr id="40" name="gallery-label-4-bg"/>
            <p:cNvSpPr/>
            <p:nvPr/>
          </p:nvSpPr>
          <p:spPr>
            <a:xfrm>
              <a:off x="0" y="0"/>
              <a:ext cx="1739900" cy="266700"/>
            </a:xfrm>
            <a:prstGeom prst="roundRect">
              <a:avLst>
                <a:gd name="adj" fmla="val 50000"/>
              </a:avLst>
            </a:prstGeom>
            <a:solidFill>
              <a:srgbClr val="2F3647"/>
            </a:solidFill>
            <a:ln>
              <a:noFill/>
            </a:ln>
          </p:spPr>
        </p:sp>
        <p:sp>
          <p:nvSpPr>
            <p:cNvPr id="41" name="gallery-label-4-label"/>
            <p:cNvSpPr txBox="1"/>
            <p:nvPr/>
          </p:nvSpPr>
          <p:spPr>
            <a:xfrm>
              <a:off x="88900" y="5311"/>
              <a:ext cx="1952625" cy="19788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Character animation</a:t>
              </a:r>
              <a:endParaRPr lang="en-US" sz="1250" dirty="0"/>
            </a:p>
          </p:txBody>
        </p:sp>
      </p:grpSp>
      <p:sp>
        <p:nvSpPr>
          <p:cNvPr id="43" name="gallery-5-base"/>
          <p:cNvSpPr/>
          <p:nvPr/>
        </p:nvSpPr>
        <p:spPr>
          <a:xfrm>
            <a:off x="7950200" y="4133850"/>
            <a:ext cx="3352800" cy="1574800"/>
          </a:xfrm>
          <a:prstGeom prst="roundRect">
            <a:avLst>
              <a:gd name="adj" fmla="val 7258"/>
            </a:avLst>
          </a:prstGeom>
          <a:solidFill>
            <a:srgbClr val="2F3647"/>
          </a:solidFill>
          <a:ln>
            <a:noFill/>
          </a:ln>
        </p:spPr>
      </p:sp>
      <p:pic>
        <p:nvPicPr>
          <p:cNvPr id="44" name="gallery-5" descr="gallery-5"/>
          <p:cNvPicPr>
            <a:picLocks noChangeAspect="1"/>
          </p:cNvPicPr>
          <p:nvPr/>
        </p:nvPicPr>
        <p:blipFill>
          <a:blip r:embed="rId8"/>
          <a:stretch>
            <a:fillRect/>
          </a:stretch>
        </p:blipFill>
        <p:spPr>
          <a:xfrm>
            <a:off x="7950200" y="4133850"/>
            <a:ext cx="3352800" cy="1574800"/>
          </a:xfrm>
          <a:prstGeom prst="rect">
            <a:avLst/>
          </a:prstGeom>
        </p:spPr>
      </p:pic>
      <p:grpSp>
        <p:nvGrpSpPr>
          <p:cNvPr id="47" name="gallery-label-5"/>
          <p:cNvGrpSpPr/>
          <p:nvPr/>
        </p:nvGrpSpPr>
        <p:grpSpPr>
          <a:xfrm>
            <a:off x="8039100" y="5302250"/>
            <a:ext cx="1193800" cy="266700"/>
            <a:chOff x="0" y="0"/>
            <a:chExt cx="1193800" cy="266700"/>
          </a:xfrm>
        </p:grpSpPr>
        <p:sp>
          <p:nvSpPr>
            <p:cNvPr id="45" name="gallery-label-5-bg"/>
            <p:cNvSpPr/>
            <p:nvPr/>
          </p:nvSpPr>
          <p:spPr>
            <a:xfrm>
              <a:off x="0" y="0"/>
              <a:ext cx="1193800" cy="266700"/>
            </a:xfrm>
            <a:prstGeom prst="roundRect">
              <a:avLst>
                <a:gd name="adj" fmla="val 50000"/>
              </a:avLst>
            </a:prstGeom>
            <a:solidFill>
              <a:srgbClr val="2F3647"/>
            </a:solidFill>
            <a:ln>
              <a:noFill/>
            </a:ln>
          </p:spPr>
        </p:sp>
        <p:sp>
          <p:nvSpPr>
            <p:cNvPr id="46" name="gallery-label-5-label"/>
            <p:cNvSpPr txBox="1"/>
            <p:nvPr/>
          </p:nvSpPr>
          <p:spPr>
            <a:xfrm>
              <a:off x="88900" y="5311"/>
              <a:ext cx="1270000"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Photo editing</a:t>
              </a:r>
              <a:endParaRPr lang="en-US" sz="1250" dirty="0"/>
            </a:p>
          </p:txBody>
        </p:sp>
      </p:gr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data">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5 / 12</a:t>
            </a:r>
            <a:endParaRPr lang="en-US" sz="1200" dirty="0"/>
          </a:p>
        </p:txBody>
      </p:sp>
      <p:sp>
        <p:nvSpPr>
          <p:cNvPr id="16" name="kicker"/>
          <p:cNvSpPr txBox="1"/>
          <p:nvPr/>
        </p:nvSpPr>
        <p:spPr>
          <a:xfrm>
            <a:off x="889000" y="559994"/>
            <a:ext cx="1738312"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DATA TO STORY</a:t>
            </a:r>
            <a:endParaRPr lang="en-US" sz="1400" dirty="0"/>
          </a:p>
        </p:txBody>
      </p:sp>
      <p:sp>
        <p:nvSpPr>
          <p:cNvPr id="17" name="headline"/>
          <p:cNvSpPr>
            <a:spLocks noGrp="1"/>
          </p:cNvSpPr>
          <p:nvPr>
            <p:ph type="title"/>
          </p:nvPr>
        </p:nvSpPr>
        <p:spPr>
          <a:xfrm>
            <a:off x="889000" y="1316078"/>
            <a:ext cx="1012031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Edit the data. </a:t>
            </a:r>
            <a:r>
              <a:rPr lang="en-US" sz="4700" b="1" dirty="0">
                <a:solidFill>
                  <a:srgbClr val="6A9AFF"/>
                </a:solidFill>
                <a:latin typeface="Inter Tight"/>
                <a:ea typeface="Inter Tight"/>
                <a:cs typeface="Inter Tight"/>
              </a:rPr>
              <a:t>Keep the chart.</a:t>
            </a:r>
            <a:endParaRPr lang="en-US" sz="4700" dirty="0"/>
          </a:p>
        </p:txBody>
      </p:sp>
      <p:sp>
        <p:nvSpPr>
          <p:cNvPr id="18" name="chart-panel"/>
          <p:cNvSpPr/>
          <p:nvPr/>
        </p:nvSpPr>
        <p:spPr>
          <a:xfrm>
            <a:off x="889000" y="2349500"/>
            <a:ext cx="6477000" cy="3302000"/>
          </a:xfrm>
          <a:prstGeom prst="roundRect">
            <a:avLst>
              <a:gd name="adj" fmla="val 3077"/>
            </a:avLst>
          </a:prstGeom>
          <a:solidFill>
            <a:srgbClr val="FFFFFF"/>
          </a:solidFill>
          <a:ln>
            <a:noFill/>
          </a:ln>
        </p:spPr>
      </p:sp>
      <p:graphicFrame>
        <p:nvGraphicFramePr>
          <p:cNvPr id="19" name="native-chart"/>
          <p:cNvGraphicFramePr>
            <a:graphicFrameLocks noGrp="1"/>
          </p:cNvGraphicFramePr>
          <p:nvPr/>
        </p:nvGraphicFramePr>
        <p:xfrm>
          <a:off x="1143000" y="2603500"/>
          <a:ext cx="5969000" cy="2635250"/>
        </p:xfrm>
        <a:graphic>
          <a:graphicData uri="http://schemas.openxmlformats.org/drawingml/2006/chart">
            <c:chart xmlns:c="http://schemas.openxmlformats.org/drawingml/2006/chart" r:id="rIdChart1"/>
          </a:graphicData>
        </a:graphic>
      </p:graphicFrame>
      <p:sp>
        <p:nvSpPr>
          <p:cNvPr id="20" name="source"/>
          <p:cNvSpPr txBox="1"/>
          <p:nvPr/>
        </p:nvSpPr>
        <p:spPr>
          <a:xfrm>
            <a:off x="1143000" y="5298567"/>
            <a:ext cx="2476500" cy="137033"/>
          </a:xfrm>
          <a:prstGeom prst="rect">
            <a:avLst/>
          </a:prstGeom>
          <a:noFill/>
        </p:spPr>
        <p:txBody>
          <a:bodyPr wrap="square" lIns="0" tIns="0" rIns="0" bIns="0" rtlCol="0" anchor="t">
            <a:noAutofit/>
          </a:bodyPr>
          <a:lstStyle/>
          <a:p>
            <a:pPr algn="l">
              <a:lnSpc>
                <a:spcPts val="1320"/>
              </a:lnSpc>
              <a:buNone/>
            </a:pPr>
            <a:r>
              <a:rPr lang="en-US" sz="1000" dirty="0">
                <a:solidFill>
                  <a:srgbClr val="5B6478"/>
                </a:solidFill>
                <a:latin typeface="JetBrains Mono"/>
                <a:ea typeface="JetBrains Mono"/>
                <a:cs typeface="JetBrains Mono"/>
              </a:rPr>
              <a:t>ILLUSTRATIVE WORKFLOW DATA</a:t>
            </a:r>
            <a:endParaRPr lang="en-US" sz="1000" dirty="0"/>
          </a:p>
        </p:txBody>
      </p:sp>
      <p:sp>
        <p:nvSpPr>
          <p:cNvPr id="21" name="data-note"/>
          <p:cNvSpPr txBox="1"/>
          <p:nvPr/>
        </p:nvSpPr>
        <p:spPr>
          <a:xfrm>
            <a:off x="7874000" y="2593494"/>
            <a:ext cx="3302000" cy="1743556"/>
          </a:xfrm>
          <a:prstGeom prst="rect">
            <a:avLst/>
          </a:prstGeom>
          <a:noFill/>
        </p:spPr>
        <p:txBody>
          <a:bodyPr wrap="square" lIns="0" tIns="0" rIns="0" bIns="0" rtlCol="0" anchor="t">
            <a:noAutofit/>
          </a:bodyPr>
          <a:lstStyle/>
          <a:p>
            <a:pPr algn="l">
              <a:lnSpc>
                <a:spcPts val="2275"/>
              </a:lnSpc>
              <a:spcBef>
                <a:spcPts val="0"/>
              </a:spcBef>
              <a:spcAft>
                <a:spcPts val="0"/>
              </a:spcAft>
              <a:buNone/>
            </a:pPr>
            <a:r>
              <a:rPr lang="en-US" sz="1750" dirty="0">
                <a:solidFill>
                  <a:srgbClr val="FFFFFF"/>
                </a:solidFill>
                <a:latin typeface="Inter"/>
                <a:ea typeface="Inter"/>
                <a:cs typeface="Inter"/>
              </a:rPr>
              <a:t>Change values with chart-data.</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Vixl updates the scale, bars, labels and totals.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PPTX includes the data table.</a:t>
            </a:r>
            <a:endParaRPr lang="en-US" sz="17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repeat">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6 / 12</a:t>
            </a:r>
            <a:endParaRPr lang="en-US" sz="1200" dirty="0"/>
          </a:p>
        </p:txBody>
      </p:sp>
      <p:sp>
        <p:nvSpPr>
          <p:cNvPr id="16" name="kicker"/>
          <p:cNvSpPr txBox="1"/>
          <p:nvPr/>
        </p:nvSpPr>
        <p:spPr>
          <a:xfrm>
            <a:off x="889000" y="559816"/>
            <a:ext cx="25400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CREATIVE AUTOMATION</a:t>
            </a:r>
            <a:endParaRPr lang="en-US" sz="1400" dirty="0"/>
          </a:p>
        </p:txBody>
      </p:sp>
      <p:sp>
        <p:nvSpPr>
          <p:cNvPr id="17" name="headline"/>
          <p:cNvSpPr>
            <a:spLocks noGrp="1"/>
          </p:cNvSpPr>
          <p:nvPr>
            <p:ph type="title"/>
          </p:nvPr>
        </p:nvSpPr>
        <p:spPr>
          <a:xfrm>
            <a:off x="889000" y="1316078"/>
            <a:ext cx="10334625"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One recipe. </a:t>
            </a:r>
            <a:r>
              <a:rPr lang="en-US" sz="4700" b="1" dirty="0">
                <a:solidFill>
                  <a:srgbClr val="6A9AFF"/>
                </a:solidFill>
                <a:latin typeface="Inter Tight"/>
                <a:ea typeface="Inter Tight"/>
                <a:cs typeface="Inter Tight"/>
              </a:rPr>
              <a:t>Useful variations.</a:t>
            </a:r>
            <a:endParaRPr lang="en-US" sz="4700" dirty="0"/>
          </a:p>
        </p:txBody>
      </p:sp>
      <p:sp>
        <p:nvSpPr>
          <p:cNvPr id="18" name="campaign-base"/>
          <p:cNvSpPr/>
          <p:nvPr/>
        </p:nvSpPr>
        <p:spPr>
          <a:xfrm>
            <a:off x="889000" y="2476500"/>
            <a:ext cx="6096000" cy="2921000"/>
          </a:xfrm>
          <a:prstGeom prst="roundRect">
            <a:avLst>
              <a:gd name="adj" fmla="val 3913"/>
            </a:avLst>
          </a:prstGeom>
          <a:solidFill>
            <a:srgbClr val="2F3647"/>
          </a:solidFill>
          <a:ln>
            <a:noFill/>
          </a:ln>
        </p:spPr>
      </p:sp>
      <p:pic>
        <p:nvPicPr>
          <p:cNvPr id="19" name="campaign" descr="campaign"/>
          <p:cNvPicPr>
            <a:picLocks noChangeAspect="1"/>
          </p:cNvPicPr>
          <p:nvPr/>
        </p:nvPicPr>
        <p:blipFill>
          <a:blip r:embed="rId3"/>
          <a:stretch>
            <a:fillRect/>
          </a:stretch>
        </p:blipFill>
        <p:spPr>
          <a:xfrm>
            <a:off x="889000" y="2476500"/>
            <a:ext cx="6096000" cy="2921000"/>
          </a:xfrm>
          <a:prstGeom prst="rect">
            <a:avLst/>
          </a:prstGeom>
        </p:spPr>
      </p:pic>
      <p:sp>
        <p:nvSpPr>
          <p:cNvPr id="20" name="repeat-note"/>
          <p:cNvSpPr txBox="1"/>
          <p:nvPr/>
        </p:nvSpPr>
        <p:spPr>
          <a:xfrm>
            <a:off x="7556500" y="2625244"/>
            <a:ext cx="3619500" cy="2321406"/>
          </a:xfrm>
          <a:prstGeom prst="rect">
            <a:avLst/>
          </a:prstGeom>
          <a:noFill/>
        </p:spPr>
        <p:txBody>
          <a:bodyPr wrap="square" lIns="0" tIns="0" rIns="0" bIns="0" rtlCol="0" anchor="t">
            <a:noAutofit/>
          </a:bodyPr>
          <a:lstStyle/>
          <a:p>
            <a:pPr algn="l">
              <a:lnSpc>
                <a:spcPts val="2275"/>
              </a:lnSpc>
              <a:spcBef>
                <a:spcPts val="0"/>
              </a:spcBef>
              <a:spcAft>
                <a:spcPts val="0"/>
              </a:spcAft>
              <a:buNone/>
            </a:pPr>
            <a:r>
              <a:rPr lang="en-US" sz="1750" dirty="0">
                <a:solidFill>
                  <a:srgbClr val="FFFFFF"/>
                </a:solidFill>
                <a:latin typeface="Inter"/>
                <a:ea typeface="Inter"/>
                <a:cs typeface="Inter"/>
              </a:rPr>
              <a:t>Typed inputs + variables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Text fitting + saved checks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CSV-driven batches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Reusable containers and templates</a:t>
            </a:r>
            <a:endParaRPr lang="en-US" sz="17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motion">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7 / 12</a:t>
            </a:r>
            <a:endParaRPr lang="en-US" sz="1200" dirty="0"/>
          </a:p>
        </p:txBody>
      </p:sp>
      <p:sp>
        <p:nvSpPr>
          <p:cNvPr id="16" name="kicker"/>
          <p:cNvSpPr txBox="1"/>
          <p:nvPr/>
        </p:nvSpPr>
        <p:spPr>
          <a:xfrm>
            <a:off x="889000" y="559994"/>
            <a:ext cx="227012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MOTION THAT SHIPS</a:t>
            </a:r>
            <a:endParaRPr lang="en-US" sz="1400" dirty="0"/>
          </a:p>
        </p:txBody>
      </p:sp>
      <p:sp>
        <p:nvSpPr>
          <p:cNvPr id="17" name="headline"/>
          <p:cNvSpPr>
            <a:spLocks noGrp="1"/>
          </p:cNvSpPr>
          <p:nvPr>
            <p:ph type="title"/>
          </p:nvPr>
        </p:nvSpPr>
        <p:spPr>
          <a:xfrm>
            <a:off x="889000" y="1316078"/>
            <a:ext cx="7754938" cy="110327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Animate the idea.</a:t>
            </a:r>
            <a:endParaRPr lang="en-US" sz="4700" dirty="0"/>
          </a:p>
          <a:p>
            <a:pPr algn="l">
              <a:lnSpc>
                <a:spcPts val="4324"/>
              </a:lnSpc>
              <a:spcBef>
                <a:spcPts val="0"/>
              </a:spcBef>
              <a:spcAft>
                <a:spcPts val="0"/>
              </a:spcAft>
              <a:buNone/>
            </a:pPr>
            <a:r>
              <a:rPr lang="en-US" sz="4700" b="1" dirty="0">
                <a:solidFill>
                  <a:srgbClr val="6A9AFF"/>
                </a:solidFill>
                <a:latin typeface="Inter Tight"/>
                <a:ea typeface="Inter Tight"/>
                <a:cs typeface="Inter Tight"/>
              </a:rPr>
              <a:t>Package the behavior.</a:t>
            </a:r>
            <a:endParaRPr lang="en-US" sz="4700" dirty="0"/>
          </a:p>
        </p:txBody>
      </p:sp>
      <p:sp>
        <p:nvSpPr>
          <p:cNvPr id="18" name="card-0"/>
          <p:cNvSpPr/>
          <p:nvPr/>
        </p:nvSpPr>
        <p:spPr>
          <a:xfrm>
            <a:off x="889000" y="2889250"/>
            <a:ext cx="3302000" cy="2476500"/>
          </a:xfrm>
          <a:prstGeom prst="roundRect">
            <a:avLst>
              <a:gd name="adj" fmla="val 4103"/>
            </a:avLst>
          </a:prstGeom>
          <a:solidFill>
            <a:srgbClr val="2F3647"/>
          </a:solidFill>
          <a:ln>
            <a:noFill/>
          </a:ln>
        </p:spPr>
      </p:sp>
      <p:sp>
        <p:nvSpPr>
          <p:cNvPr id="19" name="number-0"/>
          <p:cNvSpPr txBox="1"/>
          <p:nvPr/>
        </p:nvSpPr>
        <p:spPr>
          <a:xfrm>
            <a:off x="1117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544447"/>
            <a:ext cx="1501775" cy="2782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Author</a:t>
            </a:r>
            <a:endParaRPr lang="en-US" sz="2450" dirty="0"/>
          </a:p>
        </p:txBody>
      </p:sp>
      <p:sp>
        <p:nvSpPr>
          <p:cNvPr id="21" name="body-0"/>
          <p:cNvSpPr txBox="1"/>
          <p:nvPr/>
        </p:nvSpPr>
        <p:spPr>
          <a:xfrm>
            <a:off x="1117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Keyframes, motion recipes, character poses, cameras and audio.</a:t>
            </a:r>
            <a:endParaRPr lang="en-US" sz="1700" dirty="0"/>
          </a:p>
        </p:txBody>
      </p:sp>
      <p:sp>
        <p:nvSpPr>
          <p:cNvPr id="22" name="card-1"/>
          <p:cNvSpPr/>
          <p:nvPr/>
        </p:nvSpPr>
        <p:spPr>
          <a:xfrm>
            <a:off x="4445000" y="2889250"/>
            <a:ext cx="3302000" cy="2476500"/>
          </a:xfrm>
          <a:prstGeom prst="roundRect">
            <a:avLst>
              <a:gd name="adj" fmla="val 4103"/>
            </a:avLst>
          </a:prstGeom>
          <a:solidFill>
            <a:srgbClr val="2F3647"/>
          </a:solidFill>
          <a:ln>
            <a:noFill/>
          </a:ln>
        </p:spPr>
      </p:sp>
      <p:sp>
        <p:nvSpPr>
          <p:cNvPr id="23" name="number-1"/>
          <p:cNvSpPr txBox="1"/>
          <p:nvPr/>
        </p:nvSpPr>
        <p:spPr>
          <a:xfrm>
            <a:off x="4673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544447"/>
            <a:ext cx="14446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Export</a:t>
            </a:r>
            <a:endParaRPr lang="en-US" sz="2450" dirty="0"/>
          </a:p>
        </p:txBody>
      </p:sp>
      <p:sp>
        <p:nvSpPr>
          <p:cNvPr id="25" name="body-1"/>
          <p:cNvSpPr txBox="1"/>
          <p:nvPr/>
        </p:nvSpPr>
        <p:spPr>
          <a:xfrm>
            <a:off x="4673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GIF, animated WebP, APNG, MP4 and other supported timeline formats.</a:t>
            </a:r>
            <a:endParaRPr lang="en-US" sz="1700" dirty="0"/>
          </a:p>
        </p:txBody>
      </p:sp>
      <p:sp>
        <p:nvSpPr>
          <p:cNvPr id="26" name="card-2"/>
          <p:cNvSpPr/>
          <p:nvPr/>
        </p:nvSpPr>
        <p:spPr>
          <a:xfrm>
            <a:off x="8001000" y="2889250"/>
            <a:ext cx="3302000" cy="2476500"/>
          </a:xfrm>
          <a:prstGeom prst="roundRect">
            <a:avLst>
              <a:gd name="adj" fmla="val 4103"/>
            </a:avLst>
          </a:prstGeom>
          <a:solidFill>
            <a:srgbClr val="2F3647"/>
          </a:solidFill>
          <a:ln>
            <a:noFill/>
          </a:ln>
        </p:spPr>
      </p:sp>
      <p:sp>
        <p:nvSpPr>
          <p:cNvPr id="27" name="number-2"/>
          <p:cNvSpPr txBox="1"/>
          <p:nvPr/>
        </p:nvSpPr>
        <p:spPr>
          <a:xfrm>
            <a:off x="8229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544447"/>
            <a:ext cx="1800225" cy="3417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Integrate</a:t>
            </a:r>
            <a:endParaRPr lang="en-US" sz="2450" dirty="0"/>
          </a:p>
        </p:txBody>
      </p:sp>
      <p:sp>
        <p:nvSpPr>
          <p:cNvPr id="29" name="body-2"/>
          <p:cNvSpPr txBox="1"/>
          <p:nvPr/>
        </p:nvSpPr>
        <p:spPr>
          <a:xfrm>
            <a:off x="8229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App states, theme variables, transitions and reduced-motion stills.</a:t>
            </a:r>
            <a:endParaRPr lang="en-US" sz="17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review">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8 / 12</a:t>
            </a:r>
            <a:endParaRPr lang="en-US" sz="1200" dirty="0"/>
          </a:p>
        </p:txBody>
      </p:sp>
      <p:sp>
        <p:nvSpPr>
          <p:cNvPr id="16" name="kicker"/>
          <p:cNvSpPr txBox="1"/>
          <p:nvPr/>
        </p:nvSpPr>
        <p:spPr>
          <a:xfrm>
            <a:off x="889000" y="559816"/>
            <a:ext cx="2135188"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CHECKED DELIVERY</a:t>
            </a:r>
            <a:endParaRPr lang="en-US" sz="1400" dirty="0"/>
          </a:p>
        </p:txBody>
      </p:sp>
      <p:sp>
        <p:nvSpPr>
          <p:cNvPr id="17" name="headline"/>
          <p:cNvSpPr>
            <a:spLocks noGrp="1"/>
          </p:cNvSpPr>
          <p:nvPr>
            <p:ph type="title"/>
          </p:nvPr>
        </p:nvSpPr>
        <p:spPr>
          <a:xfrm>
            <a:off x="889000" y="1316078"/>
            <a:ext cx="1132681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Make requirements </a:t>
            </a:r>
            <a:r>
              <a:rPr lang="en-US" sz="4700" b="1" dirty="0">
                <a:solidFill>
                  <a:srgbClr val="6A9AFF"/>
                </a:solidFill>
                <a:latin typeface="Inter Tight"/>
                <a:ea typeface="Inter Tight"/>
                <a:cs typeface="Inter Tight"/>
              </a:rPr>
              <a:t>measurable.</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400434"/>
            <a:ext cx="1425575"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Define</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Save layout and delivery requirements as test suites.</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5697"/>
            <a:ext cx="15716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Inspect</a:t>
            </a:r>
            <a:endParaRPr lang="en-US" sz="2450" dirty="0"/>
          </a:p>
        </p:txBody>
      </p:sp>
      <p:sp>
        <p:nvSpPr>
          <p:cNvPr id="25" name="body-1"/>
          <p:cNvSpPr txBox="1"/>
          <p:nvPr/>
        </p:nvSpPr>
        <p:spPr>
          <a:xfrm>
            <a:off x="4673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Run checks, review findings and look at actual previews.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388736"/>
            <a:ext cx="13239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Share</a:t>
            </a:r>
            <a:endParaRPr lang="en-US" sz="2450" dirty="0"/>
          </a:p>
        </p:txBody>
      </p:sp>
      <p:sp>
        <p:nvSpPr>
          <p:cNvPr id="29"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Use offline proof pages or a live REST review session.</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collaborate">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9 / 12</a:t>
            </a:r>
            <a:endParaRPr lang="en-US" sz="1200" dirty="0"/>
          </a:p>
        </p:txBody>
      </p:sp>
      <p:sp>
        <p:nvSpPr>
          <p:cNvPr id="16" name="kicker"/>
          <p:cNvSpPr txBox="1"/>
          <p:nvPr/>
        </p:nvSpPr>
        <p:spPr>
          <a:xfrm>
            <a:off x="889000" y="559816"/>
            <a:ext cx="2008188"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REVIEWABLE WORK</a:t>
            </a:r>
            <a:endParaRPr lang="en-US" sz="1400" dirty="0"/>
          </a:p>
        </p:txBody>
      </p:sp>
      <p:sp>
        <p:nvSpPr>
          <p:cNvPr id="17" name="headline"/>
          <p:cNvSpPr>
            <a:spLocks noGrp="1"/>
          </p:cNvSpPr>
          <p:nvPr>
            <p:ph type="title"/>
          </p:nvPr>
        </p:nvSpPr>
        <p:spPr>
          <a:xfrm>
            <a:off x="889000" y="1316078"/>
            <a:ext cx="111521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Designs belong in the </a:t>
            </a:r>
            <a:r>
              <a:rPr lang="en-US" sz="4700" b="1" dirty="0">
                <a:solidFill>
                  <a:srgbClr val="6A9AFF"/>
                </a:solidFill>
                <a:latin typeface="Inter Tight"/>
                <a:ea typeface="Inter Tight"/>
                <a:cs typeface="Inter Tight"/>
              </a:rPr>
              <a:t>workflow.</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400434"/>
            <a:ext cx="1939925"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Git review</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Readable JSON + assets through pack and unpack.</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8736"/>
            <a:ext cx="23145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Shared work</a:t>
            </a:r>
            <a:endParaRPr lang="en-US" sz="2450" dirty="0"/>
          </a:p>
        </p:txBody>
      </p:sp>
      <p:sp>
        <p:nvSpPr>
          <p:cNvPr id="25" name="body-1"/>
          <p:cNvSpPr txBox="1"/>
          <p:nvPr/>
        </p:nvSpPr>
        <p:spPr>
          <a:xfrm>
            <a:off x="4673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Branches, explicit merges, project groups and reusable libraries.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400434"/>
            <a:ext cx="2405062"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Portable files</a:t>
            </a:r>
            <a:endParaRPr lang="en-US" sz="2450" dirty="0"/>
          </a:p>
        </p:txBody>
      </p:sp>
      <p:sp>
        <p:nvSpPr>
          <p:cNvPr id="29" name="body-2"/>
          <p:cNvSpPr txBox="1"/>
          <p:nvPr/>
        </p:nvSpPr>
        <p:spPr>
          <a:xfrm>
            <a:off x="8229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Embedded content and fonts, plus the editable master.</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interfaces">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10 / 12</a:t>
            </a:r>
            <a:endParaRPr lang="en-US" sz="1200" dirty="0"/>
          </a:p>
        </p:txBody>
      </p:sp>
      <p:sp>
        <p:nvSpPr>
          <p:cNvPr id="16" name="kicker"/>
          <p:cNvSpPr txBox="1"/>
          <p:nvPr/>
        </p:nvSpPr>
        <p:spPr>
          <a:xfrm>
            <a:off x="889000" y="559994"/>
            <a:ext cx="160337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FOUR WAYS IN</a:t>
            </a:r>
            <a:endParaRPr lang="en-US" sz="1400" dirty="0"/>
          </a:p>
        </p:txBody>
      </p:sp>
      <p:sp>
        <p:nvSpPr>
          <p:cNvPr id="17" name="headline"/>
          <p:cNvSpPr>
            <a:spLocks noGrp="1"/>
          </p:cNvSpPr>
          <p:nvPr>
            <p:ph type="title"/>
          </p:nvPr>
        </p:nvSpPr>
        <p:spPr>
          <a:xfrm>
            <a:off x="889000" y="1316078"/>
            <a:ext cx="100726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Same operations. </a:t>
            </a:r>
            <a:r>
              <a:rPr lang="en-US" sz="4700" b="1" dirty="0">
                <a:solidFill>
                  <a:srgbClr val="6A9AFF"/>
                </a:solidFill>
                <a:latin typeface="Inter Tight"/>
                <a:ea typeface="Inter Tight"/>
                <a:cs typeface="Inter Tight"/>
              </a:rPr>
              <a:t>Your tools.</a:t>
            </a:r>
            <a:endParaRPr lang="en-US" sz="4700" dirty="0"/>
          </a:p>
        </p:txBody>
      </p:sp>
      <p:sp>
        <p:nvSpPr>
          <p:cNvPr id="18" name="card-0"/>
          <p:cNvSpPr/>
          <p:nvPr/>
        </p:nvSpPr>
        <p:spPr>
          <a:xfrm>
            <a:off x="889000" y="2730500"/>
            <a:ext cx="2413000" cy="2286000"/>
          </a:xfrm>
          <a:prstGeom prst="roundRect">
            <a:avLst>
              <a:gd name="adj" fmla="val 4444"/>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388736"/>
            <a:ext cx="11715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MCP</a:t>
            </a:r>
            <a:endParaRPr lang="en-US" sz="2450" dirty="0"/>
          </a:p>
        </p:txBody>
      </p:sp>
      <p:sp>
        <p:nvSpPr>
          <p:cNvPr id="21" name="body-0"/>
          <p:cNvSpPr txBox="1"/>
          <p:nvPr/>
        </p:nvSpPr>
        <p:spPr>
          <a:xfrm>
            <a:off x="1117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Connect an agent to the workspace.</a:t>
            </a:r>
            <a:endParaRPr lang="en-US" sz="1700" dirty="0"/>
          </a:p>
        </p:txBody>
      </p:sp>
      <p:sp>
        <p:nvSpPr>
          <p:cNvPr id="22" name="card-1"/>
          <p:cNvSpPr/>
          <p:nvPr/>
        </p:nvSpPr>
        <p:spPr>
          <a:xfrm>
            <a:off x="3556000" y="2730500"/>
            <a:ext cx="2413000" cy="2286000"/>
          </a:xfrm>
          <a:prstGeom prst="roundRect">
            <a:avLst>
              <a:gd name="adj" fmla="val 4444"/>
            </a:avLst>
          </a:prstGeom>
          <a:solidFill>
            <a:srgbClr val="2F3647"/>
          </a:solidFill>
          <a:ln>
            <a:noFill/>
          </a:ln>
        </p:spPr>
      </p:sp>
      <p:sp>
        <p:nvSpPr>
          <p:cNvPr id="23" name="number-1"/>
          <p:cNvSpPr txBox="1"/>
          <p:nvPr/>
        </p:nvSpPr>
        <p:spPr>
          <a:xfrm>
            <a:off x="3784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3784600" y="3388736"/>
            <a:ext cx="94932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CLI</a:t>
            </a:r>
            <a:endParaRPr lang="en-US" sz="2450" dirty="0"/>
          </a:p>
        </p:txBody>
      </p:sp>
      <p:sp>
        <p:nvSpPr>
          <p:cNvPr id="25" name="body-1"/>
          <p:cNvSpPr txBox="1"/>
          <p:nvPr/>
        </p:nvSpPr>
        <p:spPr>
          <a:xfrm>
            <a:off x="3784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Script and batch from a terminal.</a:t>
            </a:r>
            <a:endParaRPr lang="en-US" sz="1700" dirty="0"/>
          </a:p>
        </p:txBody>
      </p:sp>
      <p:sp>
        <p:nvSpPr>
          <p:cNvPr id="26" name="card-2"/>
          <p:cNvSpPr/>
          <p:nvPr/>
        </p:nvSpPr>
        <p:spPr>
          <a:xfrm>
            <a:off x="6223000" y="2730500"/>
            <a:ext cx="2413000" cy="2286000"/>
          </a:xfrm>
          <a:prstGeom prst="roundRect">
            <a:avLst>
              <a:gd name="adj" fmla="val 4444"/>
            </a:avLst>
          </a:prstGeom>
          <a:solidFill>
            <a:srgbClr val="2F3647"/>
          </a:solidFill>
          <a:ln>
            <a:noFill/>
          </a:ln>
        </p:spPr>
      </p:sp>
      <p:sp>
        <p:nvSpPr>
          <p:cNvPr id="27" name="number-2"/>
          <p:cNvSpPr txBox="1"/>
          <p:nvPr/>
        </p:nvSpPr>
        <p:spPr>
          <a:xfrm>
            <a:off x="6451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6451600" y="3385697"/>
            <a:ext cx="15208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Python</a:t>
            </a:r>
            <a:endParaRPr lang="en-US" sz="2450" dirty="0"/>
          </a:p>
        </p:txBody>
      </p:sp>
      <p:sp>
        <p:nvSpPr>
          <p:cNvPr id="29" name="body-2"/>
          <p:cNvSpPr txBox="1"/>
          <p:nvPr/>
        </p:nvSpPr>
        <p:spPr>
          <a:xfrm>
            <a:off x="6451600" y="3952680"/>
            <a:ext cx="1955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Compose files from code and data.</a:t>
            </a:r>
            <a:endParaRPr lang="en-US" sz="1700" dirty="0"/>
          </a:p>
        </p:txBody>
      </p:sp>
      <p:sp>
        <p:nvSpPr>
          <p:cNvPr id="30" name="card-3"/>
          <p:cNvSpPr/>
          <p:nvPr/>
        </p:nvSpPr>
        <p:spPr>
          <a:xfrm>
            <a:off x="8890000" y="2730500"/>
            <a:ext cx="2413000" cy="2286000"/>
          </a:xfrm>
          <a:prstGeom prst="roundRect">
            <a:avLst>
              <a:gd name="adj" fmla="val 4444"/>
            </a:avLst>
          </a:prstGeom>
          <a:solidFill>
            <a:srgbClr val="2F3647"/>
          </a:solidFill>
          <a:ln>
            <a:noFill/>
          </a:ln>
        </p:spPr>
      </p:sp>
      <p:sp>
        <p:nvSpPr>
          <p:cNvPr id="31" name="number-3"/>
          <p:cNvSpPr txBox="1"/>
          <p:nvPr/>
        </p:nvSpPr>
        <p:spPr>
          <a:xfrm>
            <a:off x="9118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04</a:t>
            </a:r>
            <a:endParaRPr lang="en-US" sz="1400" dirty="0"/>
          </a:p>
        </p:txBody>
      </p:sp>
      <p:sp>
        <p:nvSpPr>
          <p:cNvPr id="32" name="label-3"/>
          <p:cNvSpPr txBox="1"/>
          <p:nvPr/>
        </p:nvSpPr>
        <p:spPr>
          <a:xfrm>
            <a:off x="9118600" y="3388736"/>
            <a:ext cx="12477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REST</a:t>
            </a:r>
            <a:endParaRPr lang="en-US" sz="2450" dirty="0"/>
          </a:p>
        </p:txBody>
      </p:sp>
      <p:sp>
        <p:nvSpPr>
          <p:cNvPr id="33" name="body-3"/>
          <p:cNvSpPr txBox="1"/>
          <p:nvPr/>
        </p:nvSpPr>
        <p:spPr>
          <a:xfrm>
            <a:off x="9118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Integrate with web services.</a:t>
            </a:r>
            <a:endParaRPr lang="en-US" sz="17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delivery">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11 / 12</a:t>
            </a:r>
            <a:endParaRPr lang="en-US" sz="1200" dirty="0"/>
          </a:p>
        </p:txBody>
      </p:sp>
      <p:sp>
        <p:nvSpPr>
          <p:cNvPr id="16" name="kicker"/>
          <p:cNvSpPr txBox="1"/>
          <p:nvPr/>
        </p:nvSpPr>
        <p:spPr>
          <a:xfrm>
            <a:off x="889000" y="559816"/>
            <a:ext cx="2405062"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A COMPLETE HANDOFF</a:t>
            </a:r>
            <a:endParaRPr lang="en-US" sz="1400" dirty="0"/>
          </a:p>
        </p:txBody>
      </p:sp>
      <p:sp>
        <p:nvSpPr>
          <p:cNvPr id="17" name="headline"/>
          <p:cNvSpPr>
            <a:spLocks noGrp="1"/>
          </p:cNvSpPr>
          <p:nvPr>
            <p:ph type="title"/>
          </p:nvPr>
        </p:nvSpPr>
        <p:spPr>
          <a:xfrm>
            <a:off x="889000" y="1316078"/>
            <a:ext cx="107076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Send the formats </a:t>
            </a:r>
            <a:r>
              <a:rPr lang="en-US" sz="4700" b="1" dirty="0">
                <a:solidFill>
                  <a:srgbClr val="6A9AFF"/>
                </a:solidFill>
                <a:latin typeface="Inter Tight"/>
                <a:ea typeface="Inter Tight"/>
                <a:cs typeface="Inter Tight"/>
              </a:rPr>
              <a:t>people need.</a:t>
            </a:r>
            <a:endParaRPr lang="en-US" sz="4700" dirty="0"/>
          </a:p>
        </p:txBody>
      </p:sp>
      <p:sp>
        <p:nvSpPr>
          <p:cNvPr id="18" name="card-0"/>
          <p:cNvSpPr/>
          <p:nvPr/>
        </p:nvSpPr>
        <p:spPr>
          <a:xfrm>
            <a:off x="889000" y="2730500"/>
            <a:ext cx="3302000" cy="2444750"/>
          </a:xfrm>
          <a:prstGeom prst="roundRect">
            <a:avLst>
              <a:gd name="adj" fmla="val 4156"/>
            </a:avLst>
          </a:prstGeom>
          <a:solidFill>
            <a:srgbClr val="2F3647"/>
          </a:solidFill>
          <a:ln>
            <a:noFill/>
          </a:ln>
        </p:spPr>
      </p:sp>
      <p:sp>
        <p:nvSpPr>
          <p:cNvPr id="19"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0" name="label-0"/>
          <p:cNvSpPr txBox="1"/>
          <p:nvPr/>
        </p:nvSpPr>
        <p:spPr>
          <a:xfrm>
            <a:off x="1117600" y="3388736"/>
            <a:ext cx="15017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Screen</a:t>
            </a:r>
            <a:endParaRPr lang="en-US" sz="2450" dirty="0"/>
          </a:p>
        </p:txBody>
      </p:sp>
      <p:sp>
        <p:nvSpPr>
          <p:cNvPr id="21"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PNG, JPEG, WebP, SVG and icons.</a:t>
            </a:r>
            <a:endParaRPr lang="en-US" sz="1700" dirty="0"/>
          </a:p>
        </p:txBody>
      </p:sp>
      <p:sp>
        <p:nvSpPr>
          <p:cNvPr id="22" name="card-1"/>
          <p:cNvSpPr/>
          <p:nvPr/>
        </p:nvSpPr>
        <p:spPr>
          <a:xfrm>
            <a:off x="4445000" y="2730500"/>
            <a:ext cx="3302000" cy="2444750"/>
          </a:xfrm>
          <a:prstGeom prst="roundRect">
            <a:avLst>
              <a:gd name="adj" fmla="val 4156"/>
            </a:avLst>
          </a:prstGeom>
          <a:solidFill>
            <a:srgbClr val="2F3647"/>
          </a:solidFill>
          <a:ln>
            <a:noFill/>
          </a:ln>
        </p:spPr>
      </p:sp>
      <p:sp>
        <p:nvSpPr>
          <p:cNvPr id="23"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24" name="label-1"/>
          <p:cNvSpPr txBox="1"/>
          <p:nvPr/>
        </p:nvSpPr>
        <p:spPr>
          <a:xfrm>
            <a:off x="4673600" y="3385697"/>
            <a:ext cx="2168525" cy="2782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Documents</a:t>
            </a:r>
            <a:endParaRPr lang="en-US" sz="2450" dirty="0"/>
          </a:p>
        </p:txBody>
      </p:sp>
      <p:sp>
        <p:nvSpPr>
          <p:cNvPr id="25"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PDF, fillable PDF, PPTX and HTML decks.</a:t>
            </a:r>
            <a:endParaRPr lang="en-US" sz="1700" dirty="0"/>
          </a:p>
        </p:txBody>
      </p:sp>
      <p:sp>
        <p:nvSpPr>
          <p:cNvPr id="26" name="card-2"/>
          <p:cNvSpPr/>
          <p:nvPr/>
        </p:nvSpPr>
        <p:spPr>
          <a:xfrm>
            <a:off x="8001000" y="2730500"/>
            <a:ext cx="3302000" cy="2444750"/>
          </a:xfrm>
          <a:prstGeom prst="roundRect">
            <a:avLst>
              <a:gd name="adj" fmla="val 4156"/>
            </a:avLst>
          </a:prstGeom>
          <a:solidFill>
            <a:srgbClr val="2F3647"/>
          </a:solidFill>
          <a:ln>
            <a:noFill/>
          </a:ln>
        </p:spPr>
      </p:sp>
      <p:sp>
        <p:nvSpPr>
          <p:cNvPr id="27"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28" name="label-2"/>
          <p:cNvSpPr txBox="1"/>
          <p:nvPr/>
        </p:nvSpPr>
        <p:spPr>
          <a:xfrm>
            <a:off x="8229600" y="3400434"/>
            <a:ext cx="2571750"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Print + motion</a:t>
            </a:r>
            <a:endParaRPr lang="en-US" sz="2450" dirty="0"/>
          </a:p>
        </p:txBody>
      </p:sp>
      <p:sp>
        <p:nvSpPr>
          <p:cNvPr id="29"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CMYK PDF/TIFF, GIF, WebP, MP4 and more.</a:t>
            </a:r>
            <a:endParaRPr lang="en-US" sz="17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tart">
    <p:bg>
      <p:bgPr>
        <a:solidFill>
          <a:srgbClr val="252B39"/>
        </a:solidFill>
        <a:effectLst/>
      </p:bgPr>
    </p:bg>
    <p:spTree>
      <p:nvGrpSpPr>
        <p:cNvPr id="1" name=""/>
        <p:cNvGrpSpPr/>
        <p:nvPr/>
      </p:nvGrpSpPr>
      <p:grpSpPr>
        <a:xfrm>
          <a:off x="0" y="0"/>
          <a:ext cx="0" cy="0"/>
          <a:chOff x="0" y="0"/>
          <a:chExt cx="0" cy="0"/>
        </a:xfrm>
      </p:grpSpPr>
      <p:grpSp>
        <p:nvGrpSpPr>
          <p:cNvPr id="14" name="footer-logo"/>
          <p:cNvGrpSpPr/>
          <p:nvPr/>
        </p:nvGrpSpPr>
        <p:grpSpPr>
          <a:xfrm>
            <a:off x="965200" y="6127750"/>
            <a:ext cx="800100" cy="304800"/>
            <a:chOff x="0" y="0"/>
            <a:chExt cx="800100" cy="304800"/>
          </a:xfrm>
        </p:grpSpPr>
        <p:sp>
          <p:nvSpPr>
            <p:cNvPr id="2" name="footer-logo-1"/>
            <p:cNvSpPr/>
            <p:nvPr/>
          </p:nvSpPr>
          <p:spPr>
            <a:xfrm>
              <a:off x="279400" y="0"/>
              <a:ext cx="31750" cy="25400"/>
            </a:xfrm>
            <a:custGeom>
              <a:avLst/>
              <a:gdLst/>
              <a:ahLst/>
              <a:cxnLst/>
              <a:rect l="0" t="0" r="r" b="b"/>
              <a:pathLst>
                <a:path w="500" h="400">
                  <a:moveTo>
                    <a:pt x="81" y="62"/>
                  </a:moveTo>
                  <a:lnTo>
                    <a:pt x="407" y="62"/>
                  </a:lnTo>
                  <a:lnTo>
                    <a:pt x="407" y="388"/>
                  </a:lnTo>
                  <a:lnTo>
                    <a:pt x="81" y="388"/>
                  </a:lnTo>
                  <a:lnTo>
                    <a:pt x="81" y="62"/>
                  </a:lnTo>
                  <a:close/>
                </a:path>
              </a:pathLst>
            </a:custGeom>
            <a:solidFill>
              <a:srgbClr val="FFFFFF"/>
            </a:solidFill>
            <a:ln>
              <a:noFill/>
            </a:ln>
          </p:spPr>
        </p:sp>
        <p:sp>
          <p:nvSpPr>
            <p:cNvPr id="3" name="footer-logo-2"/>
            <p:cNvSpPr/>
            <p:nvPr/>
          </p:nvSpPr>
          <p:spPr>
            <a:xfrm>
              <a:off x="25400" y="279400"/>
              <a:ext cx="25400" cy="25400"/>
            </a:xfrm>
            <a:custGeom>
              <a:avLst/>
              <a:gdLst/>
              <a:ahLst/>
              <a:cxnLst/>
              <a:rect l="0" t="0" r="r" b="b"/>
              <a:pathLst>
                <a:path w="400" h="400">
                  <a:moveTo>
                    <a:pt x="1" y="26"/>
                  </a:moveTo>
                  <a:lnTo>
                    <a:pt x="327" y="26"/>
                  </a:lnTo>
                  <a:lnTo>
                    <a:pt x="327" y="352"/>
                  </a:lnTo>
                  <a:lnTo>
                    <a:pt x="1" y="352"/>
                  </a:lnTo>
                  <a:lnTo>
                    <a:pt x="1" y="26"/>
                  </a:lnTo>
                  <a:close/>
                </a:path>
              </a:pathLst>
            </a:custGeom>
            <a:solidFill>
              <a:srgbClr val="6A9AFF"/>
            </a:solidFill>
            <a:ln>
              <a:noFill/>
            </a:ln>
          </p:spPr>
        </p:sp>
        <p:sp>
          <p:nvSpPr>
            <p:cNvPr id="4" name="footer-logo-3"/>
            <p:cNvSpPr/>
            <p:nvPr/>
          </p:nvSpPr>
          <p:spPr>
            <a:xfrm>
              <a:off x="285750" y="50800"/>
              <a:ext cx="19050" cy="25400"/>
            </a:xfrm>
            <a:custGeom>
              <a:avLst/>
              <a:gdLst/>
              <a:ahLst/>
              <a:cxnLst/>
              <a:rect l="0" t="0" r="r" b="b"/>
              <a:pathLst>
                <a:path w="300" h="400">
                  <a:moveTo>
                    <a:pt x="66" y="84"/>
                  </a:moveTo>
                  <a:lnTo>
                    <a:pt x="292" y="84"/>
                  </a:lnTo>
                  <a:lnTo>
                    <a:pt x="292" y="311"/>
                  </a:lnTo>
                  <a:lnTo>
                    <a:pt x="66" y="311"/>
                  </a:lnTo>
                  <a:lnTo>
                    <a:pt x="66" y="84"/>
                  </a:lnTo>
                  <a:close/>
                </a:path>
              </a:pathLst>
            </a:custGeom>
            <a:solidFill>
              <a:srgbClr val="FFFFFF"/>
            </a:solidFill>
            <a:ln>
              <a:noFill/>
            </a:ln>
          </p:spPr>
        </p:sp>
        <p:sp>
          <p:nvSpPr>
            <p:cNvPr id="5" name="footer-logo-4"/>
            <p:cNvSpPr/>
            <p:nvPr/>
          </p:nvSpPr>
          <p:spPr>
            <a:xfrm>
              <a:off x="25400" y="234950"/>
              <a:ext cx="19050" cy="19050"/>
            </a:xfrm>
            <a:custGeom>
              <a:avLst/>
              <a:gdLst/>
              <a:ahLst/>
              <a:cxnLst/>
              <a:rect l="0" t="0" r="r" b="b"/>
              <a:pathLst>
                <a:path w="300" h="300">
                  <a:moveTo>
                    <a:pt x="29" y="3"/>
                  </a:moveTo>
                  <a:lnTo>
                    <a:pt x="256" y="3"/>
                  </a:lnTo>
                  <a:lnTo>
                    <a:pt x="256" y="230"/>
                  </a:lnTo>
                  <a:lnTo>
                    <a:pt x="29" y="230"/>
                  </a:lnTo>
                  <a:lnTo>
                    <a:pt x="29" y="3"/>
                  </a:lnTo>
                  <a:close/>
                </a:path>
              </a:pathLst>
            </a:custGeom>
            <a:solidFill>
              <a:srgbClr val="6A9AFF"/>
            </a:solidFill>
            <a:ln>
              <a:noFill/>
            </a:ln>
          </p:spPr>
        </p:sp>
        <p:sp>
          <p:nvSpPr>
            <p:cNvPr id="6" name="footer-logo-5"/>
            <p:cNvSpPr/>
            <p:nvPr/>
          </p:nvSpPr>
          <p:spPr>
            <a:xfrm>
              <a:off x="311150" y="25400"/>
              <a:ext cx="19050" cy="19050"/>
            </a:xfrm>
            <a:custGeom>
              <a:avLst/>
              <a:gdLst/>
              <a:ahLst/>
              <a:cxnLst/>
              <a:rect l="0" t="0" r="r" b="b"/>
              <a:pathLst>
                <a:path w="300" h="300">
                  <a:moveTo>
                    <a:pt x="77" y="73"/>
                  </a:moveTo>
                  <a:lnTo>
                    <a:pt x="261" y="73"/>
                  </a:lnTo>
                  <a:lnTo>
                    <a:pt x="261" y="258"/>
                  </a:lnTo>
                  <a:lnTo>
                    <a:pt x="77" y="258"/>
                  </a:lnTo>
                  <a:lnTo>
                    <a:pt x="77" y="73"/>
                  </a:lnTo>
                  <a:close/>
                </a:path>
              </a:pathLst>
            </a:custGeom>
            <a:solidFill>
              <a:srgbClr val="FFFFFF"/>
            </a:solidFill>
            <a:ln>
              <a:noFill/>
            </a:ln>
          </p:spPr>
        </p:sp>
        <p:sp>
          <p:nvSpPr>
            <p:cNvPr id="7" name="footer-logo-6"/>
            <p:cNvSpPr/>
            <p:nvPr/>
          </p:nvSpPr>
          <p:spPr>
            <a:xfrm>
              <a:off x="0" y="260350"/>
              <a:ext cx="19050" cy="19050"/>
            </a:xfrm>
            <a:custGeom>
              <a:avLst/>
              <a:gdLst/>
              <a:ahLst/>
              <a:cxnLst/>
              <a:rect l="0" t="0" r="r" b="b"/>
              <a:pathLst>
                <a:path w="300" h="300">
                  <a:moveTo>
                    <a:pt x="75" y="71"/>
                  </a:moveTo>
                  <a:lnTo>
                    <a:pt x="259" y="71"/>
                  </a:lnTo>
                  <a:lnTo>
                    <a:pt x="259" y="255"/>
                  </a:lnTo>
                  <a:lnTo>
                    <a:pt x="75" y="255"/>
                  </a:lnTo>
                  <a:lnTo>
                    <a:pt x="75" y="71"/>
                  </a:lnTo>
                  <a:close/>
                </a:path>
              </a:pathLst>
            </a:custGeom>
            <a:solidFill>
              <a:srgbClr val="6A9AFF"/>
            </a:solidFill>
            <a:ln>
              <a:noFill/>
            </a:ln>
          </p:spPr>
        </p:sp>
        <p:sp>
          <p:nvSpPr>
            <p:cNvPr id="8" name="footer-logo-7"/>
            <p:cNvSpPr/>
            <p:nvPr/>
          </p:nvSpPr>
          <p:spPr>
            <a:xfrm>
              <a:off x="412750" y="82550"/>
              <a:ext cx="165100" cy="165100"/>
            </a:xfrm>
            <a:custGeom>
              <a:avLst/>
              <a:gdLst/>
              <a:ahLst/>
              <a:cxnLst/>
              <a:rect l="0" t="0" r="r" b="b"/>
              <a:pathLst>
                <a:path w="2600" h="2600">
                  <a:moveTo>
                    <a:pt x="764" y="57"/>
                  </a:moveTo>
                  <a:lnTo>
                    <a:pt x="1314" y="1868"/>
                  </a:lnTo>
                  <a:lnTo>
                    <a:pt x="1337" y="1868"/>
                  </a:lnTo>
                  <a:lnTo>
                    <a:pt x="1890" y="57"/>
                  </a:lnTo>
                  <a:lnTo>
                    <a:pt x="2557" y="57"/>
                  </a:lnTo>
                  <a:lnTo>
                    <a:pt x="1722" y="2530"/>
                  </a:lnTo>
                  <a:lnTo>
                    <a:pt x="928" y="2530"/>
                  </a:lnTo>
                  <a:lnTo>
                    <a:pt x="92" y="57"/>
                  </a:lnTo>
                  <a:lnTo>
                    <a:pt x="764" y="57"/>
                  </a:lnTo>
                  <a:close/>
                </a:path>
              </a:pathLst>
            </a:custGeom>
            <a:solidFill>
              <a:srgbClr val="FFFFFF"/>
            </a:solidFill>
            <a:ln>
              <a:noFill/>
            </a:ln>
          </p:spPr>
        </p:sp>
        <p:sp>
          <p:nvSpPr>
            <p:cNvPr id="9" name="footer-logo-8"/>
            <p:cNvSpPr/>
            <p:nvPr/>
          </p:nvSpPr>
          <p:spPr>
            <a:xfrm>
              <a:off x="584200" y="69850"/>
              <a:ext cx="44450" cy="177800"/>
            </a:xfrm>
            <a:custGeom>
              <a:avLst/>
              <a:gdLst/>
              <a:ahLst/>
              <a:cxnLst/>
              <a:rect l="0" t="0" r="r" b="b"/>
              <a:pathLst>
                <a:path w="700" h="2800">
                  <a:moveTo>
                    <a:pt x="28" y="2730"/>
                  </a:moveTo>
                  <a:lnTo>
                    <a:pt x="28" y="874"/>
                  </a:lnTo>
                  <a:lnTo>
                    <a:pt x="619" y="874"/>
                  </a:lnTo>
                  <a:lnTo>
                    <a:pt x="619" y="2730"/>
                  </a:lnTo>
                  <a:lnTo>
                    <a:pt x="28" y="2730"/>
                  </a:lnTo>
                  <a:close/>
                  <a:moveTo>
                    <a:pt x="322" y="662"/>
                  </a:moveTo>
                  <a:cubicBezTo>
                    <a:pt x="239" y="662"/>
                    <a:pt x="167" y="634"/>
                    <a:pt x="108" y="579"/>
                  </a:cubicBezTo>
                  <a:cubicBezTo>
                    <a:pt x="48" y="524"/>
                    <a:pt x="18" y="457"/>
                    <a:pt x="18" y="378"/>
                  </a:cubicBezTo>
                  <a:cubicBezTo>
                    <a:pt x="18" y="299"/>
                    <a:pt x="48" y="233"/>
                    <a:pt x="108" y="178"/>
                  </a:cubicBezTo>
                  <a:cubicBezTo>
                    <a:pt x="167" y="123"/>
                    <a:pt x="239" y="96"/>
                    <a:pt x="322" y="96"/>
                  </a:cubicBezTo>
                  <a:cubicBezTo>
                    <a:pt x="406" y="96"/>
                    <a:pt x="478" y="123"/>
                    <a:pt x="537" y="178"/>
                  </a:cubicBezTo>
                  <a:cubicBezTo>
                    <a:pt x="596" y="233"/>
                    <a:pt x="626" y="299"/>
                    <a:pt x="626" y="378"/>
                  </a:cubicBezTo>
                  <a:cubicBezTo>
                    <a:pt x="626" y="457"/>
                    <a:pt x="596" y="524"/>
                    <a:pt x="537" y="579"/>
                  </a:cubicBezTo>
                  <a:cubicBezTo>
                    <a:pt x="478" y="634"/>
                    <a:pt x="406" y="662"/>
                    <a:pt x="322" y="662"/>
                  </a:cubicBezTo>
                  <a:close/>
                </a:path>
              </a:pathLst>
            </a:custGeom>
            <a:solidFill>
              <a:srgbClr val="FFFFFF"/>
            </a:solidFill>
            <a:ln>
              <a:noFill/>
            </a:ln>
          </p:spPr>
        </p:sp>
        <p:sp>
          <p:nvSpPr>
            <p:cNvPr id="10" name="footer-logo-9"/>
            <p:cNvSpPr/>
            <p:nvPr/>
          </p:nvSpPr>
          <p:spPr>
            <a:xfrm>
              <a:off x="628650" y="120650"/>
              <a:ext cx="127000" cy="127000"/>
            </a:xfrm>
            <a:custGeom>
              <a:avLst/>
              <a:gdLst/>
              <a:ahLst/>
              <a:cxnLst/>
              <a:rect l="0" t="0" r="r" b="b"/>
              <a:pathLst>
                <a:path w="2000" h="2000">
                  <a:moveTo>
                    <a:pt x="701" y="74"/>
                  </a:moveTo>
                  <a:lnTo>
                    <a:pt x="1005" y="689"/>
                  </a:lnTo>
                  <a:lnTo>
                    <a:pt x="1322" y="74"/>
                  </a:lnTo>
                  <a:lnTo>
                    <a:pt x="1918" y="74"/>
                  </a:lnTo>
                  <a:lnTo>
                    <a:pt x="1400" y="1004"/>
                  </a:lnTo>
                  <a:lnTo>
                    <a:pt x="1938" y="1930"/>
                  </a:lnTo>
                  <a:lnTo>
                    <a:pt x="1345" y="1930"/>
                  </a:lnTo>
                  <a:lnTo>
                    <a:pt x="1005" y="1316"/>
                  </a:lnTo>
                  <a:lnTo>
                    <a:pt x="674" y="1930"/>
                  </a:lnTo>
                  <a:lnTo>
                    <a:pt x="75" y="1930"/>
                  </a:lnTo>
                  <a:lnTo>
                    <a:pt x="615" y="1004"/>
                  </a:lnTo>
                  <a:lnTo>
                    <a:pt x="102" y="74"/>
                  </a:lnTo>
                  <a:lnTo>
                    <a:pt x="701" y="74"/>
                  </a:lnTo>
                  <a:close/>
                </a:path>
              </a:pathLst>
            </a:custGeom>
            <a:solidFill>
              <a:srgbClr val="FFFFFF"/>
            </a:solidFill>
            <a:ln>
              <a:noFill/>
            </a:ln>
          </p:spPr>
        </p:sp>
        <p:sp>
          <p:nvSpPr>
            <p:cNvPr id="11" name="footer-logo-10"/>
            <p:cNvSpPr/>
            <p:nvPr/>
          </p:nvSpPr>
          <p:spPr>
            <a:xfrm>
              <a:off x="755650" y="82550"/>
              <a:ext cx="44450" cy="165100"/>
            </a:xfrm>
            <a:custGeom>
              <a:avLst/>
              <a:gdLst/>
              <a:ahLst/>
              <a:cxnLst/>
              <a:rect l="0" t="0" r="r" b="b"/>
              <a:pathLst>
                <a:path w="700" h="2600">
                  <a:moveTo>
                    <a:pt x="683" y="57"/>
                  </a:moveTo>
                  <a:lnTo>
                    <a:pt x="683" y="2530"/>
                  </a:lnTo>
                  <a:lnTo>
                    <a:pt x="92" y="2530"/>
                  </a:lnTo>
                  <a:lnTo>
                    <a:pt x="92" y="57"/>
                  </a:lnTo>
                  <a:lnTo>
                    <a:pt x="683" y="57"/>
                  </a:lnTo>
                  <a:close/>
                </a:path>
              </a:pathLst>
            </a:custGeom>
            <a:solidFill>
              <a:srgbClr val="FFFFFF"/>
            </a:solidFill>
            <a:ln>
              <a:noFill/>
            </a:ln>
          </p:spPr>
        </p:sp>
        <p:sp>
          <p:nvSpPr>
            <p:cNvPr id="12" name="footer-logo-11"/>
            <p:cNvSpPr/>
            <p:nvPr/>
          </p:nvSpPr>
          <p:spPr>
            <a:xfrm>
              <a:off x="19050" y="0"/>
              <a:ext cx="266700" cy="165100"/>
            </a:xfrm>
            <a:custGeom>
              <a:avLst/>
              <a:gdLst/>
              <a:ahLst/>
              <a:cxnLst/>
              <a:rect l="0" t="0" r="r" b="b"/>
              <a:pathLst>
                <a:path w="4200" h="2600">
                  <a:moveTo>
                    <a:pt x="30" y="62"/>
                  </a:moveTo>
                  <a:lnTo>
                    <a:pt x="999" y="62"/>
                  </a:lnTo>
                  <a:lnTo>
                    <a:pt x="2070" y="1542"/>
                  </a:lnTo>
                  <a:lnTo>
                    <a:pt x="3090" y="62"/>
                  </a:lnTo>
                  <a:lnTo>
                    <a:pt x="3702" y="62"/>
                  </a:lnTo>
                  <a:lnTo>
                    <a:pt x="3702" y="470"/>
                  </a:lnTo>
                  <a:lnTo>
                    <a:pt x="4110" y="470"/>
                  </a:lnTo>
                  <a:lnTo>
                    <a:pt x="4110" y="878"/>
                  </a:lnTo>
                  <a:lnTo>
                    <a:pt x="3702" y="878"/>
                  </a:lnTo>
                  <a:lnTo>
                    <a:pt x="3702" y="1286"/>
                  </a:lnTo>
                  <a:lnTo>
                    <a:pt x="3294" y="1286"/>
                  </a:lnTo>
                  <a:lnTo>
                    <a:pt x="3294" y="1694"/>
                  </a:lnTo>
                  <a:lnTo>
                    <a:pt x="2886" y="1694"/>
                  </a:lnTo>
                  <a:lnTo>
                    <a:pt x="2886" y="2102"/>
                  </a:lnTo>
                  <a:lnTo>
                    <a:pt x="2478" y="2102"/>
                  </a:lnTo>
                  <a:lnTo>
                    <a:pt x="2478" y="2510"/>
                  </a:lnTo>
                  <a:lnTo>
                    <a:pt x="1662" y="2510"/>
                  </a:lnTo>
                  <a:lnTo>
                    <a:pt x="30" y="62"/>
                  </a:lnTo>
                  <a:close/>
                </a:path>
              </a:pathLst>
            </a:custGeom>
            <a:solidFill>
              <a:srgbClr val="FFFFFF"/>
            </a:solidFill>
            <a:ln>
              <a:noFill/>
            </a:ln>
          </p:spPr>
        </p:sp>
        <p:sp>
          <p:nvSpPr>
            <p:cNvPr id="13" name="footer-logo-12"/>
            <p:cNvSpPr/>
            <p:nvPr/>
          </p:nvSpPr>
          <p:spPr>
            <a:xfrm>
              <a:off x="50800" y="146050"/>
              <a:ext cx="260350" cy="158750"/>
            </a:xfrm>
            <a:custGeom>
              <a:avLst/>
              <a:gdLst/>
              <a:ahLst/>
              <a:cxnLst/>
              <a:rect l="0" t="0" r="r" b="b"/>
              <a:pathLst>
                <a:path w="4100" h="2500">
                  <a:moveTo>
                    <a:pt x="4092" y="2449"/>
                  </a:moveTo>
                  <a:lnTo>
                    <a:pt x="3123" y="2449"/>
                  </a:lnTo>
                  <a:lnTo>
                    <a:pt x="2052" y="970"/>
                  </a:lnTo>
                  <a:lnTo>
                    <a:pt x="1032" y="2449"/>
                  </a:lnTo>
                  <a:lnTo>
                    <a:pt x="420" y="2449"/>
                  </a:lnTo>
                  <a:lnTo>
                    <a:pt x="420" y="2041"/>
                  </a:lnTo>
                  <a:lnTo>
                    <a:pt x="12" y="2041"/>
                  </a:lnTo>
                  <a:lnTo>
                    <a:pt x="12" y="1633"/>
                  </a:lnTo>
                  <a:lnTo>
                    <a:pt x="420" y="1633"/>
                  </a:lnTo>
                  <a:lnTo>
                    <a:pt x="420" y="1225"/>
                  </a:lnTo>
                  <a:lnTo>
                    <a:pt x="828" y="1225"/>
                  </a:lnTo>
                  <a:lnTo>
                    <a:pt x="828" y="817"/>
                  </a:lnTo>
                  <a:lnTo>
                    <a:pt x="1236" y="817"/>
                  </a:lnTo>
                  <a:lnTo>
                    <a:pt x="1236" y="409"/>
                  </a:lnTo>
                  <a:lnTo>
                    <a:pt x="1644" y="409"/>
                  </a:lnTo>
                  <a:lnTo>
                    <a:pt x="1644" y="1"/>
                  </a:lnTo>
                  <a:lnTo>
                    <a:pt x="2460" y="1"/>
                  </a:lnTo>
                  <a:lnTo>
                    <a:pt x="4092" y="2449"/>
                  </a:lnTo>
                  <a:close/>
                </a:path>
              </a:pathLst>
            </a:custGeom>
            <a:solidFill>
              <a:srgbClr val="6A9AFF"/>
            </a:solidFill>
            <a:ln>
              <a:noFill/>
            </a:ln>
          </p:spPr>
        </p:sp>
      </p:grpSp>
      <p:sp>
        <p:nvSpPr>
          <p:cNvPr id="15"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12 / 12</a:t>
            </a:r>
            <a:endParaRPr lang="en-US" sz="1200" dirty="0"/>
          </a:p>
        </p:txBody>
      </p:sp>
      <p:sp>
        <p:nvSpPr>
          <p:cNvPr id="16" name="kicker"/>
          <p:cNvSpPr txBox="1"/>
          <p:nvPr/>
        </p:nvSpPr>
        <p:spPr>
          <a:xfrm>
            <a:off x="889000" y="559994"/>
            <a:ext cx="1873250"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START CREATING</a:t>
            </a:r>
            <a:endParaRPr lang="en-US" sz="1400" dirty="0"/>
          </a:p>
        </p:txBody>
      </p:sp>
      <p:sp>
        <p:nvSpPr>
          <p:cNvPr id="17" name="headline"/>
          <p:cNvSpPr>
            <a:spLocks noGrp="1"/>
          </p:cNvSpPr>
          <p:nvPr>
            <p:ph type="title"/>
          </p:nvPr>
        </p:nvSpPr>
        <p:spPr>
          <a:xfrm>
            <a:off x="889000" y="1316078"/>
            <a:ext cx="112156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Give your agent a </a:t>
            </a:r>
            <a:r>
              <a:rPr lang="en-US" sz="4700" b="1" dirty="0">
                <a:solidFill>
                  <a:srgbClr val="6A9AFF"/>
                </a:solidFill>
                <a:latin typeface="Inter Tight"/>
                <a:ea typeface="Inter Tight"/>
                <a:cs typeface="Inter Tight"/>
              </a:rPr>
              <a:t>design studio.</a:t>
            </a:r>
            <a:endParaRPr lang="en-US" sz="4700" dirty="0"/>
          </a:p>
        </p:txBody>
      </p:sp>
      <p:grpSp>
        <p:nvGrpSpPr>
          <p:cNvPr id="24" name="install"/>
          <p:cNvGrpSpPr/>
          <p:nvPr/>
        </p:nvGrpSpPr>
        <p:grpSpPr>
          <a:xfrm>
            <a:off x="889000" y="2381250"/>
            <a:ext cx="10414000" cy="1701800"/>
            <a:chOff x="0" y="0"/>
            <a:chExt cx="10414000" cy="1701800"/>
          </a:xfrm>
        </p:grpSpPr>
        <p:sp>
          <p:nvSpPr>
            <p:cNvPr id="18" name="install-bg"/>
            <p:cNvSpPr/>
            <p:nvPr/>
          </p:nvSpPr>
          <p:spPr>
            <a:xfrm>
              <a:off x="12700" y="12700"/>
              <a:ext cx="10388600" cy="1676400"/>
            </a:xfrm>
            <a:prstGeom prst="roundRect">
              <a:avLst>
                <a:gd name="adj" fmla="val 6439"/>
              </a:avLst>
            </a:prstGeom>
            <a:solidFill>
              <a:srgbClr val="1A1F2B"/>
            </a:solidFill>
            <a:ln w="12700">
              <a:solidFill>
                <a:srgbClr val="3C4458"/>
              </a:solidFill>
            </a:ln>
          </p:spPr>
        </p:sp>
        <p:sp>
          <p:nvSpPr>
            <p:cNvPr id="19" name="install-dot0"/>
            <p:cNvSpPr/>
            <p:nvPr/>
          </p:nvSpPr>
          <p:spPr>
            <a:xfrm>
              <a:off x="152400" y="139700"/>
              <a:ext cx="76200" cy="76200"/>
            </a:xfrm>
            <a:prstGeom prst="ellipse">
              <a:avLst/>
            </a:prstGeom>
            <a:solidFill>
              <a:srgbClr val="FF6B6B"/>
            </a:solidFill>
            <a:ln>
              <a:noFill/>
            </a:ln>
          </p:spPr>
        </p:sp>
        <p:sp>
          <p:nvSpPr>
            <p:cNvPr id="20" name="install-dot1"/>
            <p:cNvSpPr/>
            <p:nvPr/>
          </p:nvSpPr>
          <p:spPr>
            <a:xfrm>
              <a:off x="292100" y="139700"/>
              <a:ext cx="76200" cy="76200"/>
            </a:xfrm>
            <a:prstGeom prst="ellipse">
              <a:avLst/>
            </a:prstGeom>
            <a:solidFill>
              <a:srgbClr val="FFC37A"/>
            </a:solidFill>
            <a:ln>
              <a:noFill/>
            </a:ln>
          </p:spPr>
        </p:sp>
        <p:sp>
          <p:nvSpPr>
            <p:cNvPr id="21" name="install-dot2"/>
            <p:cNvSpPr/>
            <p:nvPr/>
          </p:nvSpPr>
          <p:spPr>
            <a:xfrm>
              <a:off x="431800" y="139700"/>
              <a:ext cx="76200" cy="76200"/>
            </a:xfrm>
            <a:prstGeom prst="ellipse">
              <a:avLst/>
            </a:prstGeom>
            <a:solidFill>
              <a:srgbClr val="5FD38D"/>
            </a:solidFill>
            <a:ln>
              <a:noFill/>
            </a:ln>
          </p:spPr>
        </p:sp>
        <p:sp>
          <p:nvSpPr>
            <p:cNvPr id="22" name="install-title"/>
            <p:cNvSpPr txBox="1"/>
            <p:nvPr/>
          </p:nvSpPr>
          <p:spPr>
            <a:xfrm>
              <a:off x="635000" y="58979"/>
              <a:ext cx="965200" cy="182321"/>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terminal</a:t>
              </a:r>
              <a:endParaRPr lang="en-US" sz="1200" dirty="0"/>
            </a:p>
          </p:txBody>
        </p:sp>
        <p:sp>
          <p:nvSpPr>
            <p:cNvPr id="23" name="install-code"/>
            <p:cNvSpPr txBox="1"/>
            <p:nvPr/>
          </p:nvSpPr>
          <p:spPr>
            <a:xfrm>
              <a:off x="177800" y="419735"/>
              <a:ext cx="10058400" cy="958215"/>
            </a:xfrm>
            <a:prstGeom prst="rect">
              <a:avLst/>
            </a:prstGeom>
            <a:noFill/>
          </p:spPr>
          <p:txBody>
            <a:bodyPr wrap="square" lIns="0" tIns="0" rIns="0" bIns="0" rtlCol="0" anchor="t">
              <a:noAutofit/>
            </a:bodyPr>
            <a:lstStyle/>
            <a:p>
              <a:pPr algn="l">
                <a:lnSpc>
                  <a:spcPts val="1875"/>
                </a:lnSpc>
                <a:spcBef>
                  <a:spcPts val="0"/>
                </a:spcBef>
                <a:spcAft>
                  <a:spcPts val="0"/>
                </a:spcAft>
                <a:buNone/>
              </a:pPr>
              <a:r>
                <a:rPr lang="en-US" sz="1500" dirty="0">
                  <a:solidFill>
                    <a:srgbClr val="FFFFFF"/>
                  </a:solidFill>
                  <a:latin typeface="JetBrains Mono"/>
                  <a:ea typeface="JetBrains Mono"/>
                  <a:cs typeface="JetBrains Mono"/>
                </a:rPr>
                <a:t>git clone https://github.com/jxburros/Vixl.git</a:t>
              </a:r>
              <a:endParaRPr lang="en-US" sz="1500" dirty="0"/>
            </a:p>
            <a:p>
              <a:pPr algn="l">
                <a:lnSpc>
                  <a:spcPts val="1875"/>
                </a:lnSpc>
                <a:spcBef>
                  <a:spcPts val="0"/>
                </a:spcBef>
                <a:spcAft>
                  <a:spcPts val="0"/>
                </a:spcAft>
                <a:buNone/>
              </a:pPr>
              <a:r>
                <a:rPr lang="en-US" sz="1500" dirty="0">
                  <a:solidFill>
                    <a:srgbClr val="FFFFFF"/>
                  </a:solidFill>
                  <a:latin typeface="JetBrains Mono"/>
                  <a:ea typeface="JetBrains Mono"/>
                  <a:cs typeface="JetBrains Mono"/>
                </a:rPr>
                <a:t>cd Vixl</a:t>
              </a:r>
              <a:endParaRPr lang="en-US" sz="1500" dirty="0"/>
            </a:p>
            <a:p>
              <a:pPr algn="l">
                <a:lnSpc>
                  <a:spcPts val="1875"/>
                </a:lnSpc>
                <a:spcBef>
                  <a:spcPts val="0"/>
                </a:spcBef>
                <a:spcAft>
                  <a:spcPts val="0"/>
                </a:spcAft>
                <a:buNone/>
              </a:pPr>
              <a:r>
                <a:rPr lang="en-US" sz="1500" dirty="0">
                  <a:solidFill>
                    <a:srgbClr val="FFFFFF"/>
                  </a:solidFill>
                  <a:latin typeface="JetBrains Mono"/>
                  <a:ea typeface="JetBrains Mono"/>
                  <a:cs typeface="JetBrains Mono"/>
                </a:rPr>
                <a:t>python -m pip install -e '.[server,pdf]'</a:t>
              </a:r>
              <a:endParaRPr lang="en-US" sz="1500" dirty="0"/>
            </a:p>
            <a:p>
              <a:pPr algn="l">
                <a:lnSpc>
                  <a:spcPts val="1875"/>
                </a:lnSpc>
                <a:spcBef>
                  <a:spcPts val="0"/>
                </a:spcBef>
                <a:spcAft>
                  <a:spcPts val="0"/>
                </a:spcAft>
                <a:buNone/>
              </a:pPr>
              <a:r>
                <a:rPr lang="en-US" sz="1500" dirty="0">
                  <a:solidFill>
                    <a:srgbClr val="9FE3B4"/>
                  </a:solidFill>
                  <a:latin typeface="JetBrains Mono"/>
                  <a:ea typeface="JetBrains Mono"/>
                  <a:cs typeface="JetBrains Mono"/>
                </a:rPr>
                <a:t>vixl mcp --workspace . --tools core --schema slim</a:t>
              </a:r>
              <a:endParaRPr lang="en-US" sz="1500" dirty="0"/>
            </a:p>
          </p:txBody>
        </p:sp>
      </p:grpSp>
      <p:sp>
        <p:nvSpPr>
          <p:cNvPr id="25" name="windows"/>
          <p:cNvSpPr txBox="1"/>
          <p:nvPr/>
        </p:nvSpPr>
        <p:spPr>
          <a:xfrm>
            <a:off x="889000" y="4527407"/>
            <a:ext cx="4627562" cy="247793"/>
          </a:xfrm>
          <a:prstGeom prst="rect">
            <a:avLst/>
          </a:prstGeom>
          <a:noFill/>
        </p:spPr>
        <p:txBody>
          <a:bodyPr wrap="square" lIns="0" tIns="0" rIns="0" bIns="0" rtlCol="0" anchor="t">
            <a:noAutofit/>
          </a:bodyPr>
          <a:lstStyle/>
          <a:p>
            <a:pPr algn="l">
              <a:lnSpc>
                <a:spcPts val="2307"/>
              </a:lnSpc>
              <a:buNone/>
            </a:pPr>
            <a:r>
              <a:rPr lang="en-US" sz="1700" b="1" dirty="0">
                <a:solidFill>
                  <a:srgbClr val="FFFFFF"/>
                </a:solidFill>
                <a:latin typeface="Inter"/>
                <a:ea typeface="Inter"/>
                <a:cs typeface="Inter"/>
              </a:rPr>
              <a:t>Windows installer: GitHub Releases</a:t>
            </a:r>
            <a:endParaRPr lang="en-US" sz="1700" dirty="0"/>
          </a:p>
        </p:txBody>
      </p:sp>
      <p:sp>
        <p:nvSpPr>
          <p:cNvPr id="26" name="repo"/>
          <p:cNvSpPr txBox="1"/>
          <p:nvPr/>
        </p:nvSpPr>
        <p:spPr>
          <a:xfrm>
            <a:off x="889000" y="4953698"/>
            <a:ext cx="3548062" cy="266002"/>
          </a:xfrm>
          <a:prstGeom prst="rect">
            <a:avLst/>
          </a:prstGeom>
          <a:noFill/>
        </p:spPr>
        <p:txBody>
          <a:bodyPr wrap="square" lIns="0" tIns="0" rIns="0" bIns="0" rtlCol="0" anchor="t">
            <a:noAutofit/>
          </a:bodyPr>
          <a:lstStyle/>
          <a:p>
            <a:pPr algn="l">
              <a:lnSpc>
                <a:spcPts val="2246"/>
              </a:lnSpc>
              <a:buNone/>
            </a:pPr>
            <a:r>
              <a:rPr lang="en-US" sz="1550" dirty="0">
                <a:solidFill>
                  <a:srgbClr val="6A9AFF"/>
                </a:solidFill>
                <a:latin typeface="JetBrains Mono"/>
                <a:ea typeface="JetBrains Mono"/>
                <a:cs typeface="JetBrains Mono"/>
              </a:rPr>
              <a:t>github.com/jxburros/Vixl</a:t>
            </a:r>
            <a:endParaRPr lang="en-US" sz="1550" dirty="0"/>
          </a:p>
        </p:txBody>
      </p:sp>
      <p:sp>
        <p:nvSpPr>
          <p:cNvPr id="27" name="license"/>
          <p:cNvSpPr txBox="1"/>
          <p:nvPr/>
        </p:nvSpPr>
        <p:spPr>
          <a:xfrm>
            <a:off x="889000" y="5415181"/>
            <a:ext cx="9779000" cy="458569"/>
          </a:xfrm>
          <a:prstGeom prst="rect">
            <a:avLst/>
          </a:prstGeom>
          <a:noFill/>
        </p:spPr>
        <p:txBody>
          <a:bodyPr wrap="square" lIns="0" tIns="0" rIns="0" bIns="0" rtlCol="0" anchor="t">
            <a:noAutofit/>
          </a:bodyPr>
          <a:lstStyle/>
          <a:p>
            <a:pPr algn="l">
              <a:lnSpc>
                <a:spcPts val="1755"/>
              </a:lnSpc>
              <a:spcBef>
                <a:spcPts val="0"/>
              </a:spcBef>
              <a:spcAft>
                <a:spcPts val="0"/>
              </a:spcAft>
              <a:buNone/>
            </a:pPr>
            <a:r>
              <a:rPr lang="en-US" sz="1350" dirty="0">
                <a:solidFill>
                  <a:srgbClr val="AEB7CA"/>
                </a:solidFill>
                <a:latin typeface="Inter"/>
                <a:ea typeface="Inter"/>
                <a:cs typeface="Inter"/>
              </a:rPr>
              <a:t>Source-available · PolyForm Small Business 1.0.0</a:t>
            </a:r>
            <a:endParaRPr lang="en-US" sz="1350" dirty="0"/>
          </a:p>
          <a:p>
            <a:pPr algn="l">
              <a:lnSpc>
                <a:spcPts val="1755"/>
              </a:lnSpc>
              <a:spcBef>
                <a:spcPts val="0"/>
              </a:spcBef>
              <a:spcAft>
                <a:spcPts val="0"/>
              </a:spcAft>
              <a:buNone/>
            </a:pPr>
            <a:r>
              <a:rPr lang="en-US" sz="1350" dirty="0">
                <a:solidFill>
                  <a:srgbClr val="AEB7CA"/>
                </a:solidFill>
                <a:latin typeface="Inter"/>
                <a:ea typeface="Inter"/>
                <a:cs typeface="Inter"/>
              </a:rPr>
              <a:t>AI features use configured external providers.</a:t>
            </a:r>
            <a:endParaRPr lang="en-US" sz="1350" dirty="0"/>
          </a:p>
        </p:txBody>
      </p:sp>
    </p:spTree>
  </p:cSld>
  <p:clrMapOvr>
    <a:masterClrMapping/>
  </p:clrMapOvr>
  <p:transition spd="med">
    <p:fade/>
  </p:transition>
</p:sld>
</file>

<file path=ppt/theme/theme1.xml><?xml version="1.0" encoding="utf-8"?>
<a:theme xmlns:a="http://schemas.openxmlformats.org/drawingml/2006/main" name="Vixl">
  <a:themeElements>
    <a:clrScheme name="Vixl">
      <a:dk1>
        <a:srgbClr val="000000"/>
      </a:dk1>
      <a:lt1>
        <a:srgbClr val="FFFFFF"/>
      </a:lt1>
      <a:dk2>
        <a:srgbClr val="1F2937"/>
      </a:dk2>
      <a:lt2>
        <a:srgbClr val="F3F4F6"/>
      </a:lt2>
      <a:accent1>
        <a:srgbClr val="2563EB"/>
      </a:accent1>
      <a:accent2>
        <a:srgbClr val="DB2777"/>
      </a:accent2>
      <a:accent3>
        <a:srgbClr val="059669"/>
      </a:accent3>
      <a:accent4>
        <a:srgbClr val="D97706"/>
      </a:accent4>
      <a:accent5>
        <a:srgbClr val="7C3AED"/>
      </a:accent5>
      <a:accent6>
        <a:srgbClr val="0891B2"/>
      </a:accent6>
      <a:hlink>
        <a:srgbClr val="2563EB"/>
      </a:hlink>
      <a:folHlink>
        <a:srgbClr val="7C3AED"/>
      </a:folHlink>
    </a:clrScheme>
    <a:fontScheme name="Vixl">
      <a:majorFont>
        <a:latin typeface="Calibri Light"/>
        <a:ea typeface=""/>
        <a:cs typeface=""/>
      </a:majorFont>
      <a:minorFont>
        <a:latin typeface="Calibri"/>
        <a:ea typeface=""/>
        <a:cs typeface=""/>
      </a:minorFont>
    </a:fontScheme>
    <a:fmtScheme name="Vixl">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Vixl">
  <a:themeElements>
    <a:clrScheme name="Vixl">
      <a:dk1>
        <a:srgbClr val="000000"/>
      </a:dk1>
      <a:lt1>
        <a:srgbClr val="FFFFFF"/>
      </a:lt1>
      <a:dk2>
        <a:srgbClr val="1F2937"/>
      </a:dk2>
      <a:lt2>
        <a:srgbClr val="F3F4F6"/>
      </a:lt2>
      <a:accent1>
        <a:srgbClr val="2563EB"/>
      </a:accent1>
      <a:accent2>
        <a:srgbClr val="DB2777"/>
      </a:accent2>
      <a:accent3>
        <a:srgbClr val="059669"/>
      </a:accent3>
      <a:accent4>
        <a:srgbClr val="D97706"/>
      </a:accent4>
      <a:accent5>
        <a:srgbClr val="7C3AED"/>
      </a:accent5>
      <a:accent6>
        <a:srgbClr val="0891B2"/>
      </a:accent6>
      <a:hlink>
        <a:srgbClr val="2563EB"/>
      </a:hlink>
      <a:folHlink>
        <a:srgbClr val="7C3AED"/>
      </a:folHlink>
    </a:clrScheme>
    <a:fontScheme name="Vixl">
      <a:majorFont>
        <a:latin typeface="Calibri Light"/>
        <a:ea typeface=""/>
        <a:cs typeface=""/>
      </a:majorFont>
      <a:minorFont>
        <a:latin typeface="Calibri"/>
        <a:ea typeface=""/>
        <a:cs typeface=""/>
      </a:minorFont>
    </a:fontScheme>
    <a:fmtScheme name="Vixl">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Vixl</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START CREATING</dc:title>
  <dc:creator>Vixl</dc:creator>
</cp:coreProperties>
</file>