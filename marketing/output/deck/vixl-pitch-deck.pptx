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Vixl is an editable image-document engine built for AI agents. 30-second pitch.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Creative tools assume a person with a mouse. Agents need structure, feedback and editable output.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design is a document of editable layers. Every change is an operation.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loop: inspect the document, apply a batch, run checks, preview, export.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these were built with Vixl in this repository's explorations, without a GUI.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timings from the exploration projects, before and after the 0.18.0 performance fixes.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operations everywhere: an agent over MCP, a shell script, a notebook or a web service.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master, every format. CMYK print, editable PowerPoint and mixed WAV audio included.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from source or the Windows installer, then connect an agent.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28625"/>
            <a:ext cx="106680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714500"/>
            <a:ext cx="10668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>
        <a:defRPr sz="2800" kern="12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">
    <p:bg>
      <p:bgPr>
        <a:solidFill>
          <a:srgbClr val="25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glow"/>
          <p:cNvSpPr/>
          <p:nvPr/>
        </p:nvSpPr>
        <p:spPr>
          <a:xfrm>
            <a:off x="4445000" y="-2540000"/>
            <a:ext cx="11430000" cy="11430000"/>
          </a:xfrm>
          <a:prstGeom prst="rect">
            <a:avLst/>
          </a:prstGeom>
          <a:gradFill rotWithShape="1">
            <a:gsLst>
              <a:gs pos="0">
                <a:srgbClr val="3575EE">
                  <a:alpha val="37647"/>
                </a:srgbClr>
              </a:gs>
              <a:gs pos="42426">
                <a:srgbClr val="3575EE">
                  <a:alpha val="6275"/>
                </a:srgbClr>
              </a:gs>
              <a:gs pos="70711">
                <a:srgbClr val="3575EE">
                  <a:alpha val="0"/>
                </a:srgbClr>
              </a:gs>
              <a:gs pos="100000">
                <a:srgbClr val="3575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pic>
        <p:nvPicPr>
          <p:cNvPr id="3" name="t-grid-row" descr="t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pic>
        <p:nvPicPr>
          <p:cNvPr id="4" name="t-mark" descr="t-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1079500"/>
            <a:ext cx="3937000" cy="3937000"/>
          </a:xfrm>
          <a:prstGeom prst="rect">
            <a:avLst/>
          </a:prstGeom>
        </p:spPr>
      </p:pic>
      <p:pic>
        <p:nvPicPr>
          <p:cNvPr id="5" name="t-logo" descr="t-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" y="952500"/>
            <a:ext cx="1905000" cy="793750"/>
          </a:xfrm>
          <a:prstGeom prst="rect">
            <a:avLst/>
          </a:prstGeom>
        </p:spPr>
      </p:pic>
      <p:sp>
        <p:nvSpPr>
          <p:cNvPr id="6" name="t-title"/>
          <p:cNvSpPr>
            <a:spLocks noGrp="1"/>
          </p:cNvSpPr>
          <p:nvPr>
            <p:ph type="title"/>
          </p:nvPr>
        </p:nvSpPr>
        <p:spPr>
          <a:xfrm>
            <a:off x="889000" y="2746220"/>
            <a:ext cx="7262812" cy="1965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The image editor</a:t>
            </a:r>
            <a:endParaRPr lang="en-US" sz="5600" dirty="0"/>
          </a:p>
          <a:p>
            <a:pPr algn="l">
              <a:lnSpc>
                <a:spcPts val="5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your AI agent can</a:t>
            </a:r>
            <a:endParaRPr lang="en-US" sz="5600" dirty="0"/>
          </a:p>
          <a:p>
            <a:pPr algn="l">
              <a:lnSpc>
                <a:spcPts val="5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actually use.</a:t>
            </a:r>
            <a:endParaRPr lang="en-US" sz="5600" dirty="0"/>
          </a:p>
        </p:txBody>
      </p:sp>
      <p:sp>
        <p:nvSpPr>
          <p:cNvPr id="7" name="t-sub"/>
          <p:cNvSpPr txBox="1"/>
          <p:nvPr/>
        </p:nvSpPr>
        <p:spPr>
          <a:xfrm>
            <a:off x="889000" y="4994870"/>
            <a:ext cx="5199062" cy="294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36"/>
              </a:lnSpc>
              <a:buNone/>
            </a:pPr>
            <a:r>
              <a:rPr lang="en-US" sz="16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Release 0.21.0  ·  MCP · CLI · Python · REST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">
    <p:bg>
      <p:bgPr>
        <a:solidFill>
          <a:srgbClr val="25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-grid-row" descr="m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pic>
        <p:nvPicPr>
          <p:cNvPr id="3" name="m-logo" descr="m-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6146800"/>
            <a:ext cx="952500" cy="393700"/>
          </a:xfrm>
          <a:prstGeom prst="rect">
            <a:avLst/>
          </a:prstGeom>
        </p:spPr>
      </p:pic>
      <p:sp>
        <p:nvSpPr>
          <p:cNvPr id="4" name="m-num"/>
          <p:cNvSpPr txBox="1"/>
          <p:nvPr/>
        </p:nvSpPr>
        <p:spPr>
          <a:xfrm>
            <a:off x="11112500" y="6186678"/>
            <a:ext cx="323850" cy="1760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AEB7CA"/>
                </a:solidFill>
                <a:latin typeface="JetBrains Mono"/>
                <a:ea typeface="JetBrains Mono"/>
                <a:cs typeface="JetBrains Mono"/>
              </a:rPr>
              <a:t>2</a:t>
            </a:r>
            <a:endParaRPr lang="en-US" sz="1200" dirty="0"/>
          </a:p>
        </p:txBody>
      </p:sp>
      <p:sp>
        <p:nvSpPr>
          <p:cNvPr id="5" name="pr-kicker"/>
          <p:cNvSpPr txBox="1"/>
          <p:nvPr/>
        </p:nvSpPr>
        <p:spPr>
          <a:xfrm>
            <a:off x="889000" y="569722"/>
            <a:ext cx="1365250" cy="1922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6"/>
              </a:lnSpc>
              <a:buNone/>
            </a:pPr>
            <a:r>
              <a:rPr lang="en-US" sz="1300" dirty="0">
                <a:solidFill>
                  <a:srgbClr val="6A9AFF"/>
                </a:solidFill>
                <a:latin typeface="JetBrains Mono"/>
                <a:ea typeface="JetBrains Mono"/>
                <a:cs typeface="JetBrains Mono"/>
              </a:rPr>
              <a:t>THE PROBLEM</a:t>
            </a:r>
            <a:endParaRPr lang="en-US" sz="1300" dirty="0"/>
          </a:p>
        </p:txBody>
      </p:sp>
      <p:sp>
        <p:nvSpPr>
          <p:cNvPr id="6" name="pr-title"/>
          <p:cNvSpPr>
            <a:spLocks noGrp="1"/>
          </p:cNvSpPr>
          <p:nvPr>
            <p:ph type="title"/>
          </p:nvPr>
        </p:nvSpPr>
        <p:spPr>
          <a:xfrm>
            <a:off x="889000" y="1129260"/>
            <a:ext cx="7881938" cy="1124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Design tools are built</a:t>
            </a:r>
            <a:endParaRPr lang="en-US" sz="4800" dirty="0"/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for hands, </a:t>
            </a:r>
            <a:r>
              <a:rPr lang="en-US" sz="48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not agents.</a:t>
            </a:r>
            <a:endParaRPr lang="en-US" sz="4800" dirty="0"/>
          </a:p>
        </p:txBody>
      </p:sp>
      <p:sp>
        <p:nvSpPr>
          <p:cNvPr id="7" name="pr-card0"/>
          <p:cNvSpPr/>
          <p:nvPr/>
        </p:nvSpPr>
        <p:spPr>
          <a:xfrm>
            <a:off x="889000" y="2825750"/>
            <a:ext cx="3302000" cy="2095500"/>
          </a:xfrm>
          <a:prstGeom prst="roundRect">
            <a:avLst>
              <a:gd name="adj" fmla="val 7273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8" name="pr-n0"/>
          <p:cNvSpPr txBox="1"/>
          <p:nvPr/>
        </p:nvSpPr>
        <p:spPr>
          <a:xfrm>
            <a:off x="1168400" y="2981920"/>
            <a:ext cx="533400" cy="2502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36"/>
              </a:lnSpc>
              <a:buNone/>
            </a:pPr>
            <a:r>
              <a:rPr lang="en-US" sz="16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01</a:t>
            </a:r>
            <a:endParaRPr lang="en-US" sz="1600" dirty="0"/>
          </a:p>
        </p:txBody>
      </p:sp>
      <p:sp>
        <p:nvSpPr>
          <p:cNvPr id="9" name="pr-t0"/>
          <p:cNvSpPr txBox="1"/>
          <p:nvPr/>
        </p:nvSpPr>
        <p:spPr>
          <a:xfrm>
            <a:off x="1168400" y="3434842"/>
            <a:ext cx="2095500" cy="3497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46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Click-only</a:t>
            </a:r>
            <a:endParaRPr lang="en-US" sz="2600" dirty="0"/>
          </a:p>
        </p:txBody>
      </p:sp>
      <p:sp>
        <p:nvSpPr>
          <p:cNvPr id="10" name="pr-d0"/>
          <p:cNvSpPr txBox="1"/>
          <p:nvPr/>
        </p:nvSpPr>
        <p:spPr>
          <a:xfrm>
            <a:off x="1168400" y="3960174"/>
            <a:ext cx="2743200" cy="5038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Sliders, canvases and menus an agent cannot see or drive.</a:t>
            </a:r>
            <a:endParaRPr lang="en-US" sz="1500" dirty="0"/>
          </a:p>
        </p:txBody>
      </p:sp>
      <p:sp>
        <p:nvSpPr>
          <p:cNvPr id="11" name="pr-card1"/>
          <p:cNvSpPr/>
          <p:nvPr/>
        </p:nvSpPr>
        <p:spPr>
          <a:xfrm>
            <a:off x="4445000" y="2825750"/>
            <a:ext cx="3302000" cy="2095500"/>
          </a:xfrm>
          <a:prstGeom prst="roundRect">
            <a:avLst>
              <a:gd name="adj" fmla="val 7273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12" name="pr-n1"/>
          <p:cNvSpPr txBox="1"/>
          <p:nvPr/>
        </p:nvSpPr>
        <p:spPr>
          <a:xfrm>
            <a:off x="4724400" y="2981920"/>
            <a:ext cx="571500" cy="2502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36"/>
              </a:lnSpc>
              <a:buNone/>
            </a:pPr>
            <a:r>
              <a:rPr lang="en-US" sz="16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02</a:t>
            </a:r>
            <a:endParaRPr lang="en-US" sz="1600" dirty="0"/>
          </a:p>
        </p:txBody>
      </p:sp>
      <p:sp>
        <p:nvSpPr>
          <p:cNvPr id="13" name="pr-t1"/>
          <p:cNvSpPr txBox="1"/>
          <p:nvPr/>
        </p:nvSpPr>
        <p:spPr>
          <a:xfrm>
            <a:off x="4724400" y="3419202"/>
            <a:ext cx="1974850" cy="2891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46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Flattened</a:t>
            </a:r>
            <a:endParaRPr lang="en-US" sz="2600" dirty="0"/>
          </a:p>
        </p:txBody>
      </p:sp>
      <p:sp>
        <p:nvSpPr>
          <p:cNvPr id="14" name="pr-d1"/>
          <p:cNvSpPr txBox="1"/>
          <p:nvPr/>
        </p:nvSpPr>
        <p:spPr>
          <a:xfrm>
            <a:off x="4724400" y="3960174"/>
            <a:ext cx="2743200" cy="75152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Image generators return pixels; the layers and text are gone.</a:t>
            </a:r>
            <a:endParaRPr lang="en-US" sz="1500" dirty="0"/>
          </a:p>
        </p:txBody>
      </p:sp>
      <p:sp>
        <p:nvSpPr>
          <p:cNvPr id="15" name="pr-card2"/>
          <p:cNvSpPr/>
          <p:nvPr/>
        </p:nvSpPr>
        <p:spPr>
          <a:xfrm>
            <a:off x="8001000" y="2825750"/>
            <a:ext cx="3302000" cy="2095500"/>
          </a:xfrm>
          <a:prstGeom prst="roundRect">
            <a:avLst>
              <a:gd name="adj" fmla="val 7273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16" name="pr-n2"/>
          <p:cNvSpPr txBox="1"/>
          <p:nvPr/>
        </p:nvSpPr>
        <p:spPr>
          <a:xfrm>
            <a:off x="8280400" y="2981920"/>
            <a:ext cx="577850" cy="2502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36"/>
              </a:lnSpc>
              <a:buNone/>
            </a:pPr>
            <a:r>
              <a:rPr lang="en-US" sz="16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03</a:t>
            </a:r>
            <a:endParaRPr lang="en-US" sz="1600" dirty="0"/>
          </a:p>
        </p:txBody>
      </p:sp>
      <p:sp>
        <p:nvSpPr>
          <p:cNvPr id="17" name="pr-t2"/>
          <p:cNvSpPr txBox="1"/>
          <p:nvPr/>
        </p:nvSpPr>
        <p:spPr>
          <a:xfrm>
            <a:off x="8280400" y="3419202"/>
            <a:ext cx="2266950" cy="2891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46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Unchecked</a:t>
            </a:r>
            <a:endParaRPr lang="en-US" sz="2600" dirty="0"/>
          </a:p>
        </p:txBody>
      </p:sp>
      <p:sp>
        <p:nvSpPr>
          <p:cNvPr id="18" name="pr-d2"/>
          <p:cNvSpPr txBox="1"/>
          <p:nvPr/>
        </p:nvSpPr>
        <p:spPr>
          <a:xfrm>
            <a:off x="8280400" y="3960174"/>
            <a:ext cx="2743200" cy="75152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Nobody knows the headline overflowed until a human looks.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lution">
    <p:bg>
      <p:bgPr>
        <a:solidFill>
          <a:srgbClr val="25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-grid-row" descr="m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pic>
        <p:nvPicPr>
          <p:cNvPr id="3" name="m-logo" descr="m-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6146800"/>
            <a:ext cx="952500" cy="393700"/>
          </a:xfrm>
          <a:prstGeom prst="rect">
            <a:avLst/>
          </a:prstGeom>
        </p:spPr>
      </p:pic>
      <p:sp>
        <p:nvSpPr>
          <p:cNvPr id="4" name="m-num"/>
          <p:cNvSpPr txBox="1"/>
          <p:nvPr/>
        </p:nvSpPr>
        <p:spPr>
          <a:xfrm>
            <a:off x="11112500" y="6185154"/>
            <a:ext cx="323850" cy="1775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AEB7CA"/>
                </a:solidFill>
                <a:latin typeface="JetBrains Mono"/>
                <a:ea typeface="JetBrains Mono"/>
                <a:cs typeface="JetBrains Mono"/>
              </a:rPr>
              <a:t>3</a:t>
            </a:r>
            <a:endParaRPr lang="en-US" sz="1200" dirty="0"/>
          </a:p>
        </p:txBody>
      </p:sp>
      <p:sp>
        <p:nvSpPr>
          <p:cNvPr id="5" name="so-kicker"/>
          <p:cNvSpPr txBox="1"/>
          <p:nvPr/>
        </p:nvSpPr>
        <p:spPr>
          <a:xfrm>
            <a:off x="889000" y="569887"/>
            <a:ext cx="1492250" cy="192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6"/>
              </a:lnSpc>
              <a:buNone/>
            </a:pPr>
            <a:r>
              <a:rPr lang="en-US" sz="1300" dirty="0">
                <a:solidFill>
                  <a:srgbClr val="6A9AFF"/>
                </a:solidFill>
                <a:latin typeface="JetBrains Mono"/>
                <a:ea typeface="JetBrains Mono"/>
                <a:cs typeface="JetBrains Mono"/>
              </a:rPr>
              <a:t>THE SOLUTION</a:t>
            </a:r>
            <a:endParaRPr lang="en-US" sz="1300" dirty="0"/>
          </a:p>
        </p:txBody>
      </p:sp>
      <p:sp>
        <p:nvSpPr>
          <p:cNvPr id="6" name="so-title"/>
          <p:cNvSpPr>
            <a:spLocks noGrp="1"/>
          </p:cNvSpPr>
          <p:nvPr>
            <p:ph type="title"/>
          </p:nvPr>
        </p:nvSpPr>
        <p:spPr>
          <a:xfrm>
            <a:off x="889000" y="1129260"/>
            <a:ext cx="7993062" cy="1124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Design as atomic,</a:t>
            </a:r>
            <a:endParaRPr lang="en-US" sz="4800" dirty="0"/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checkable</a:t>
            </a:r>
            <a:r>
              <a:rPr lang="en-US" sz="48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 operations.</a:t>
            </a:r>
            <a:endParaRPr lang="en-US" sz="4800" dirty="0"/>
          </a:p>
        </p:txBody>
      </p:sp>
      <p:grpSp>
        <p:nvGrpSpPr>
          <p:cNvPr id="13" name="so-code"/>
          <p:cNvGrpSpPr/>
          <p:nvPr/>
        </p:nvGrpSpPr>
        <p:grpSpPr>
          <a:xfrm>
            <a:off x="6858000" y="2698750"/>
            <a:ext cx="4445000" cy="2787650"/>
            <a:chOff x="0" y="0"/>
            <a:chExt cx="4445000" cy="2787650"/>
          </a:xfrm>
        </p:grpSpPr>
        <p:sp>
          <p:nvSpPr>
            <p:cNvPr id="7" name="so-code-bg"/>
            <p:cNvSpPr/>
            <p:nvPr/>
          </p:nvSpPr>
          <p:spPr>
            <a:xfrm>
              <a:off x="12700" y="12700"/>
              <a:ext cx="4419600" cy="2444750"/>
            </a:xfrm>
            <a:prstGeom prst="roundRect">
              <a:avLst>
                <a:gd name="adj" fmla="val 4416"/>
              </a:avLst>
            </a:prstGeom>
            <a:solidFill>
              <a:srgbClr val="1A1F2B"/>
            </a:solidFill>
            <a:ln w="12700">
              <a:solidFill>
                <a:srgbClr val="3C4458"/>
              </a:solidFill>
            </a:ln>
          </p:spPr>
        </p:sp>
        <p:sp>
          <p:nvSpPr>
            <p:cNvPr id="8" name="so-code-dot0"/>
            <p:cNvSpPr/>
            <p:nvPr/>
          </p:nvSpPr>
          <p:spPr>
            <a:xfrm>
              <a:off x="152400" y="139700"/>
              <a:ext cx="76200" cy="7620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9" name="so-code-dot1"/>
            <p:cNvSpPr/>
            <p:nvPr/>
          </p:nvSpPr>
          <p:spPr>
            <a:xfrm>
              <a:off x="292100" y="139700"/>
              <a:ext cx="76200" cy="76200"/>
            </a:xfrm>
            <a:prstGeom prst="ellipse">
              <a:avLst/>
            </a:prstGeom>
            <a:solidFill>
              <a:srgbClr val="FFC37A"/>
            </a:solidFill>
            <a:ln>
              <a:noFill/>
            </a:ln>
          </p:spPr>
        </p:sp>
        <p:sp>
          <p:nvSpPr>
            <p:cNvPr id="10" name="so-code-dot2"/>
            <p:cNvSpPr/>
            <p:nvPr/>
          </p:nvSpPr>
          <p:spPr>
            <a:xfrm>
              <a:off x="431800" y="139700"/>
              <a:ext cx="76200" cy="76200"/>
            </a:xfrm>
            <a:prstGeom prst="ellipse">
              <a:avLst/>
            </a:prstGeom>
            <a:solidFill>
              <a:srgbClr val="5FD38D"/>
            </a:solidFill>
            <a:ln>
              <a:noFill/>
            </a:ln>
          </p:spPr>
        </p:sp>
        <p:sp>
          <p:nvSpPr>
            <p:cNvPr id="11" name="so-code-title"/>
            <p:cNvSpPr txBox="1"/>
            <p:nvPr/>
          </p:nvSpPr>
          <p:spPr>
            <a:xfrm>
              <a:off x="635000" y="82563"/>
              <a:ext cx="1103312" cy="1650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386"/>
                </a:lnSpc>
                <a:buNone/>
              </a:pPr>
              <a:r>
                <a:rPr lang="en-US" sz="1050" dirty="0">
                  <a:solidFill>
                    <a:srgbClr val="AEB7CA"/>
                  </a:solidFill>
                  <a:latin typeface="JetBrains Mono"/>
                  <a:ea typeface="JetBrains Mono"/>
                  <a:cs typeface="JetBrains Mono"/>
                </a:rPr>
                <a:t>design.json</a:t>
              </a:r>
              <a:endParaRPr lang="en-US" sz="1050" dirty="0"/>
            </a:p>
          </p:txBody>
        </p:sp>
        <p:sp>
          <p:nvSpPr>
            <p:cNvPr id="12" name="so-code-code"/>
            <p:cNvSpPr txBox="1"/>
            <p:nvPr/>
          </p:nvSpPr>
          <p:spPr>
            <a:xfrm>
              <a:off x="177800" y="417957"/>
              <a:ext cx="4089400" cy="18616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[</a:t>
              </a:r>
              <a:endParaRPr lang="en-US" sz="1300" dirty="0"/>
            </a:p>
            <a:p>
              <a:pPr algn="l" marL="196850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{</a:t>
              </a:r>
              <a:endParaRPr lang="en-US" sz="1300" dirty="0"/>
            </a:p>
            <a:p>
              <a:pPr algn="l" marL="393700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dirty="0">
                  <a:solidFill>
                    <a:srgbClr val="8FB4FF"/>
                  </a:solidFill>
                  <a:latin typeface="JetBrains Mono"/>
                  <a:ea typeface="JetBrains Mono"/>
                  <a:cs typeface="JetBrains Mono"/>
                </a:rPr>
                <a:t>"type"</a:t>
              </a: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: </a:t>
              </a:r>
              <a:r>
                <a:rPr lang="en-US" sz="1300" dirty="0">
                  <a:solidFill>
                    <a:srgbClr val="9FE3B4"/>
                  </a:solidFill>
                  <a:latin typeface="JetBrains Mono"/>
                  <a:ea typeface="JetBrains Mono"/>
                  <a:cs typeface="JetBrains Mono"/>
                </a:rPr>
                <a:t>"layout-apply"</a:t>
              </a: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,</a:t>
              </a:r>
              <a:endParaRPr lang="en-US" sz="1300" dirty="0"/>
            </a:p>
            <a:p>
              <a:pPr algn="l" marL="393700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dirty="0">
                  <a:solidFill>
                    <a:srgbClr val="8FB4FF"/>
                  </a:solidFill>
                  <a:latin typeface="JetBrains Mono"/>
                  <a:ea typeface="JetBrains Mono"/>
                  <a:cs typeface="JetBrains Mono"/>
                </a:rPr>
                <a:t>"name"</a:t>
              </a: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: </a:t>
              </a:r>
              <a:r>
                <a:rPr lang="en-US" sz="1300" dirty="0">
                  <a:solidFill>
                    <a:srgbClr val="9FE3B4"/>
                  </a:solidFill>
                  <a:latin typeface="JetBrains Mono"/>
                  <a:ea typeface="JetBrains Mono"/>
                  <a:cs typeface="JetBrains Mono"/>
                </a:rPr>
                <a:t>"hero-statement"</a:t>
              </a: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,</a:t>
              </a:r>
              <a:endParaRPr lang="en-US" sz="1300" dirty="0"/>
            </a:p>
            <a:p>
              <a:pPr algn="l" marL="393700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dirty="0">
                  <a:solidFill>
                    <a:srgbClr val="8FB4FF"/>
                  </a:solidFill>
                  <a:latin typeface="JetBrains Mono"/>
                  <a:ea typeface="JetBrains Mono"/>
                  <a:cs typeface="JetBrains Mono"/>
                </a:rPr>
                <a:t>"title"</a:t>
              </a: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: </a:t>
              </a:r>
              <a:r>
                <a:rPr lang="en-US" sz="1300" dirty="0">
                  <a:solidFill>
                    <a:srgbClr val="9FE3B4"/>
                  </a:solidFill>
                  <a:latin typeface="JetBrains Mono"/>
                  <a:ea typeface="JetBrains Mono"/>
                  <a:cs typeface="JetBrains Mono"/>
                </a:rPr>
                <a:t>"Launch day"</a:t>
              </a: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,</a:t>
              </a:r>
              <a:endParaRPr lang="en-US" sz="1300" dirty="0"/>
            </a:p>
            <a:p>
              <a:pPr algn="l" marL="393700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dirty="0">
                  <a:solidFill>
                    <a:srgbClr val="8FB4FF"/>
                  </a:solidFill>
                  <a:latin typeface="JetBrains Mono"/>
                  <a:ea typeface="JetBrains Mono"/>
                  <a:cs typeface="JetBrains Mono"/>
                </a:rPr>
                <a:t>"seed"</a:t>
              </a: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: </a:t>
              </a:r>
              <a:r>
                <a:rPr lang="en-US" sz="1300" dirty="0">
                  <a:solidFill>
                    <a:srgbClr val="FFC37A"/>
                  </a:solidFill>
                  <a:latin typeface="JetBrains Mono"/>
                  <a:ea typeface="JetBrains Mono"/>
                  <a:cs typeface="JetBrains Mono"/>
                </a:rPr>
                <a:t>7</a:t>
              </a:r>
              <a:endParaRPr lang="en-US" sz="1300" dirty="0"/>
            </a:p>
            <a:p>
              <a:pPr algn="l" marL="196850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},</a:t>
              </a:r>
              <a:endParaRPr lang="en-US" sz="1300" dirty="0"/>
            </a:p>
            <a:p>
              <a:pPr algn="l" marL="196850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{</a:t>
              </a:r>
              <a:r>
                <a:rPr lang="en-US" sz="1300" dirty="0">
                  <a:solidFill>
                    <a:srgbClr val="8FB4FF"/>
                  </a:solidFill>
                  <a:latin typeface="JetBrains Mono"/>
                  <a:ea typeface="JetBrains Mono"/>
                  <a:cs typeface="JetBrains Mono"/>
                </a:rPr>
                <a:t>"type"</a:t>
              </a: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: </a:t>
              </a:r>
              <a:r>
                <a:rPr lang="en-US" sz="1300" dirty="0">
                  <a:solidFill>
                    <a:srgbClr val="9FE3B4"/>
                  </a:solidFill>
                  <a:latin typeface="JetBrains Mono"/>
                  <a:ea typeface="JetBrains Mono"/>
                  <a:cs typeface="JetBrains Mono"/>
                </a:rPr>
                <a:t>"look"</a:t>
              </a: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, </a:t>
              </a:r>
              <a:r>
                <a:rPr lang="en-US" sz="1300" dirty="0">
                  <a:solidFill>
                    <a:srgbClr val="8FB4FF"/>
                  </a:solidFill>
                  <a:latin typeface="JetBrains Mono"/>
                  <a:ea typeface="JetBrains Mono"/>
                  <a:cs typeface="JetBrains Mono"/>
                </a:rPr>
                <a:t>"look"</a:t>
              </a: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: </a:t>
              </a:r>
              <a:r>
                <a:rPr lang="en-US" sz="1300" dirty="0">
                  <a:solidFill>
                    <a:srgbClr val="9FE3B4"/>
                  </a:solidFill>
                  <a:latin typeface="JetBrains Mono"/>
                  <a:ea typeface="JetBrains Mono"/>
                  <a:cs typeface="JetBrains Mono"/>
                </a:rPr>
                <a:t>"glow"</a:t>
              </a: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}</a:t>
              </a:r>
              <a:endParaRPr lang="en-US" sz="1300" dirty="0"/>
            </a:p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]</a:t>
              </a:r>
              <a:endParaRPr lang="en-US" sz="1300" dirty="0"/>
            </a:p>
          </p:txBody>
        </p:sp>
      </p:grpSp>
      <p:sp>
        <p:nvSpPr>
          <p:cNvPr id="14" name="so-px0"/>
          <p:cNvSpPr/>
          <p:nvPr/>
        </p:nvSpPr>
        <p:spPr>
          <a:xfrm>
            <a:off x="889000" y="3028950"/>
            <a:ext cx="114300" cy="114300"/>
          </a:xfrm>
          <a:prstGeom prst="rect">
            <a:avLst/>
          </a:prstGeom>
          <a:solidFill>
            <a:srgbClr val="3575EE"/>
          </a:solidFill>
          <a:ln>
            <a:noFill/>
          </a:ln>
        </p:spPr>
      </p:sp>
      <p:sp>
        <p:nvSpPr>
          <p:cNvPr id="15" name="so-p0"/>
          <p:cNvSpPr txBox="1"/>
          <p:nvPr/>
        </p:nvSpPr>
        <p:spPr>
          <a:xfrm>
            <a:off x="1168400" y="2874088"/>
            <a:ext cx="6992938" cy="2882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07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Editable .vixl masters: text, vector paths, masks, pages</a:t>
            </a:r>
            <a:endParaRPr lang="en-US" sz="1700" dirty="0"/>
          </a:p>
        </p:txBody>
      </p:sp>
      <p:sp>
        <p:nvSpPr>
          <p:cNvPr id="16" name="so-px1"/>
          <p:cNvSpPr/>
          <p:nvPr/>
        </p:nvSpPr>
        <p:spPr>
          <a:xfrm>
            <a:off x="889000" y="3663950"/>
            <a:ext cx="114300" cy="114300"/>
          </a:xfrm>
          <a:prstGeom prst="rect">
            <a:avLst/>
          </a:prstGeom>
          <a:solidFill>
            <a:srgbClr val="3575EE"/>
          </a:solidFill>
          <a:ln>
            <a:noFill/>
          </a:ln>
        </p:spPr>
      </p:sp>
      <p:sp>
        <p:nvSpPr>
          <p:cNvPr id="17" name="so-p1"/>
          <p:cNvSpPr txBox="1"/>
          <p:nvPr/>
        </p:nvSpPr>
        <p:spPr>
          <a:xfrm>
            <a:off x="1168400" y="3509088"/>
            <a:ext cx="5842000" cy="2882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07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180 operations, up to 10,000 per atomic batch</a:t>
            </a:r>
            <a:endParaRPr lang="en-US" sz="1700" dirty="0"/>
          </a:p>
        </p:txBody>
      </p:sp>
      <p:sp>
        <p:nvSpPr>
          <p:cNvPr id="18" name="so-px2"/>
          <p:cNvSpPr/>
          <p:nvPr/>
        </p:nvSpPr>
        <p:spPr>
          <a:xfrm>
            <a:off x="889000" y="4298950"/>
            <a:ext cx="114300" cy="114300"/>
          </a:xfrm>
          <a:prstGeom prst="rect">
            <a:avLst/>
          </a:prstGeom>
          <a:solidFill>
            <a:srgbClr val="3575EE"/>
          </a:solidFill>
          <a:ln>
            <a:noFill/>
          </a:ln>
        </p:spPr>
      </p:sp>
      <p:sp>
        <p:nvSpPr>
          <p:cNvPr id="19" name="so-p2"/>
          <p:cNvSpPr txBox="1"/>
          <p:nvPr/>
        </p:nvSpPr>
        <p:spPr>
          <a:xfrm>
            <a:off x="1168400" y="4144088"/>
            <a:ext cx="4429125" cy="2882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07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Structured errors with suggestions</a:t>
            </a:r>
            <a:endParaRPr lang="en-US" sz="1700" dirty="0"/>
          </a:p>
        </p:txBody>
      </p:sp>
      <p:sp>
        <p:nvSpPr>
          <p:cNvPr id="20" name="so-px3"/>
          <p:cNvSpPr/>
          <p:nvPr/>
        </p:nvSpPr>
        <p:spPr>
          <a:xfrm>
            <a:off x="889000" y="4933950"/>
            <a:ext cx="114300" cy="114300"/>
          </a:xfrm>
          <a:prstGeom prst="rect">
            <a:avLst/>
          </a:prstGeom>
          <a:solidFill>
            <a:srgbClr val="3575EE"/>
          </a:solidFill>
          <a:ln>
            <a:noFill/>
          </a:ln>
        </p:spPr>
      </p:sp>
      <p:sp>
        <p:nvSpPr>
          <p:cNvPr id="21" name="so-p3"/>
          <p:cNvSpPr txBox="1"/>
          <p:nvPr/>
        </p:nvSpPr>
        <p:spPr>
          <a:xfrm>
            <a:off x="1168400" y="4781302"/>
            <a:ext cx="4929188" cy="2859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07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Undo, branches, checkpoints and diffs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oop">
    <p:bg>
      <p:bgPr>
        <a:solidFill>
          <a:srgbClr val="25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-grid-row" descr="m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pic>
        <p:nvPicPr>
          <p:cNvPr id="3" name="m-logo" descr="m-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6146800"/>
            <a:ext cx="952500" cy="393700"/>
          </a:xfrm>
          <a:prstGeom prst="rect">
            <a:avLst/>
          </a:prstGeom>
        </p:spPr>
      </p:pic>
      <p:sp>
        <p:nvSpPr>
          <p:cNvPr id="4" name="m-num"/>
          <p:cNvSpPr txBox="1"/>
          <p:nvPr/>
        </p:nvSpPr>
        <p:spPr>
          <a:xfrm>
            <a:off x="11112500" y="6185154"/>
            <a:ext cx="323850" cy="1775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AEB7CA"/>
                </a:solidFill>
                <a:latin typeface="JetBrains Mono"/>
                <a:ea typeface="JetBrains Mono"/>
                <a:cs typeface="JetBrains Mono"/>
              </a:rPr>
              <a:t>4</a:t>
            </a:r>
            <a:endParaRPr lang="en-US" sz="1200" dirty="0"/>
          </a:p>
        </p:txBody>
      </p:sp>
      <p:sp>
        <p:nvSpPr>
          <p:cNvPr id="5" name="lo-kicker"/>
          <p:cNvSpPr txBox="1"/>
          <p:nvPr/>
        </p:nvSpPr>
        <p:spPr>
          <a:xfrm>
            <a:off x="889000" y="569887"/>
            <a:ext cx="1492250" cy="192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6"/>
              </a:lnSpc>
              <a:buNone/>
            </a:pPr>
            <a:r>
              <a:rPr lang="en-US" sz="1300" dirty="0">
                <a:solidFill>
                  <a:srgbClr val="6A9AFF"/>
                </a:solidFill>
                <a:latin typeface="JetBrains Mono"/>
                <a:ea typeface="JetBrains Mono"/>
                <a:cs typeface="JetBrains Mono"/>
              </a:rPr>
              <a:t>HOW IT WORKS</a:t>
            </a:r>
            <a:endParaRPr lang="en-US" sz="1300" dirty="0"/>
          </a:p>
        </p:txBody>
      </p:sp>
      <p:sp>
        <p:nvSpPr>
          <p:cNvPr id="6" name="lo-title"/>
          <p:cNvSpPr>
            <a:spLocks noGrp="1"/>
          </p:cNvSpPr>
          <p:nvPr>
            <p:ph type="title"/>
          </p:nvPr>
        </p:nvSpPr>
        <p:spPr>
          <a:xfrm>
            <a:off x="889000" y="1129260"/>
            <a:ext cx="9350375" cy="5661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One loop for </a:t>
            </a:r>
            <a:r>
              <a:rPr lang="en-US" sz="48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every design.</a:t>
            </a:r>
            <a:endParaRPr lang="en-US" sz="4800" dirty="0"/>
          </a:p>
        </p:txBody>
      </p:sp>
      <p:sp>
        <p:nvSpPr>
          <p:cNvPr id="7" name="lo-card0"/>
          <p:cNvSpPr/>
          <p:nvPr/>
        </p:nvSpPr>
        <p:spPr>
          <a:xfrm>
            <a:off x="889000" y="2457450"/>
            <a:ext cx="1981200" cy="1905000"/>
          </a:xfrm>
          <a:prstGeom prst="roundRect">
            <a:avLst>
              <a:gd name="adj" fmla="val 6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8" name="lo-num0"/>
          <p:cNvSpPr txBox="1"/>
          <p:nvPr/>
        </p:nvSpPr>
        <p:spPr>
          <a:xfrm>
            <a:off x="1054100" y="2519840"/>
            <a:ext cx="511175" cy="2424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25"/>
              </a:lnSpc>
              <a:buNone/>
            </a:pPr>
            <a:r>
              <a:rPr lang="en-US" sz="155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01</a:t>
            </a:r>
            <a:endParaRPr lang="en-US" sz="1550" dirty="0"/>
          </a:p>
        </p:txBody>
      </p:sp>
      <p:sp>
        <p:nvSpPr>
          <p:cNvPr id="9" name="lo-title0"/>
          <p:cNvSpPr txBox="1"/>
          <p:nvPr/>
        </p:nvSpPr>
        <p:spPr>
          <a:xfrm>
            <a:off x="1054100" y="2811696"/>
            <a:ext cx="1409700" cy="3658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62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Inspect</a:t>
            </a:r>
            <a:endParaRPr lang="en-US" sz="2200" dirty="0"/>
          </a:p>
        </p:txBody>
      </p:sp>
      <p:sp>
        <p:nvSpPr>
          <p:cNvPr id="10" name="lo-desc0"/>
          <p:cNvSpPr txBox="1"/>
          <p:nvPr/>
        </p:nvSpPr>
        <p:spPr>
          <a:xfrm>
            <a:off x="1054100" y="3301489"/>
            <a:ext cx="1651000" cy="406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Read layers, bounds and fonts</a:t>
            </a:r>
            <a:endParaRPr lang="en-US" sz="1200" dirty="0"/>
          </a:p>
        </p:txBody>
      </p:sp>
      <p:sp>
        <p:nvSpPr>
          <p:cNvPr id="11" name="lo-arrow0"/>
          <p:cNvSpPr/>
          <p:nvPr/>
        </p:nvSpPr>
        <p:spPr>
          <a:xfrm>
            <a:off x="2895600" y="3352800"/>
            <a:ext cx="76200" cy="114300"/>
          </a:xfrm>
          <a:custGeom>
            <a:avLst/>
            <a:gdLst/>
            <a:ahLst/>
            <a:cxnLst/>
            <a:rect l="0" t="0" r="r" b="b"/>
            <a:pathLst>
              <a:path w="10000" h="10000">
                <a:moveTo>
                  <a:pt x="0" y="0"/>
                </a:moveTo>
                <a:lnTo>
                  <a:pt x="4000" y="0"/>
                </a:lnTo>
                <a:lnTo>
                  <a:pt x="10000" y="5000"/>
                </a:lnTo>
                <a:lnTo>
                  <a:pt x="4000" y="10000"/>
                </a:lnTo>
                <a:lnTo>
                  <a:pt x="0" y="10000"/>
                </a:lnTo>
                <a:lnTo>
                  <a:pt x="6000" y="5000"/>
                </a:lnTo>
                <a:lnTo>
                  <a:pt x="0" y="0"/>
                </a:lnTo>
                <a:close/>
              </a:path>
            </a:pathLst>
          </a:custGeom>
          <a:solidFill>
            <a:srgbClr val="6A9AFF"/>
          </a:solidFill>
          <a:ln>
            <a:noFill/>
          </a:ln>
        </p:spPr>
      </p:sp>
      <p:sp>
        <p:nvSpPr>
          <p:cNvPr id="12" name="lo-card1"/>
          <p:cNvSpPr/>
          <p:nvPr/>
        </p:nvSpPr>
        <p:spPr>
          <a:xfrm>
            <a:off x="2997200" y="2457450"/>
            <a:ext cx="1981200" cy="1905000"/>
          </a:xfrm>
          <a:prstGeom prst="roundRect">
            <a:avLst>
              <a:gd name="adj" fmla="val 6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13" name="lo-num1"/>
          <p:cNvSpPr txBox="1"/>
          <p:nvPr/>
        </p:nvSpPr>
        <p:spPr>
          <a:xfrm>
            <a:off x="3162300" y="2519840"/>
            <a:ext cx="555625" cy="2424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25"/>
              </a:lnSpc>
              <a:buNone/>
            </a:pPr>
            <a:r>
              <a:rPr lang="en-US" sz="155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02</a:t>
            </a:r>
            <a:endParaRPr lang="en-US" sz="1550" dirty="0"/>
          </a:p>
        </p:txBody>
      </p:sp>
      <p:sp>
        <p:nvSpPr>
          <p:cNvPr id="14" name="lo-title1"/>
          <p:cNvSpPr txBox="1"/>
          <p:nvPr/>
        </p:nvSpPr>
        <p:spPr>
          <a:xfrm>
            <a:off x="3162300" y="2811696"/>
            <a:ext cx="1200150" cy="3658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62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Apply</a:t>
            </a:r>
            <a:endParaRPr lang="en-US" sz="2200" dirty="0"/>
          </a:p>
        </p:txBody>
      </p:sp>
      <p:sp>
        <p:nvSpPr>
          <p:cNvPr id="15" name="lo-desc1"/>
          <p:cNvSpPr txBox="1"/>
          <p:nvPr/>
        </p:nvSpPr>
        <p:spPr>
          <a:xfrm>
            <a:off x="3162300" y="3301489"/>
            <a:ext cx="1651000" cy="406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Atomic batches, up to 10,000 ops</a:t>
            </a:r>
            <a:endParaRPr lang="en-US" sz="1200" dirty="0"/>
          </a:p>
        </p:txBody>
      </p:sp>
      <p:sp>
        <p:nvSpPr>
          <p:cNvPr id="16" name="lo-arrow1"/>
          <p:cNvSpPr/>
          <p:nvPr/>
        </p:nvSpPr>
        <p:spPr>
          <a:xfrm>
            <a:off x="5003800" y="3352800"/>
            <a:ext cx="76200" cy="114300"/>
          </a:xfrm>
          <a:custGeom>
            <a:avLst/>
            <a:gdLst/>
            <a:ahLst/>
            <a:cxnLst/>
            <a:rect l="0" t="0" r="r" b="b"/>
            <a:pathLst>
              <a:path w="10000" h="10000">
                <a:moveTo>
                  <a:pt x="0" y="0"/>
                </a:moveTo>
                <a:lnTo>
                  <a:pt x="4000" y="0"/>
                </a:lnTo>
                <a:lnTo>
                  <a:pt x="10000" y="5000"/>
                </a:lnTo>
                <a:lnTo>
                  <a:pt x="4000" y="10000"/>
                </a:lnTo>
                <a:lnTo>
                  <a:pt x="0" y="10000"/>
                </a:lnTo>
                <a:lnTo>
                  <a:pt x="6000" y="5000"/>
                </a:lnTo>
                <a:lnTo>
                  <a:pt x="0" y="0"/>
                </a:lnTo>
                <a:close/>
              </a:path>
            </a:pathLst>
          </a:custGeom>
          <a:solidFill>
            <a:srgbClr val="6A9AFF"/>
          </a:solidFill>
          <a:ln>
            <a:noFill/>
          </a:ln>
        </p:spPr>
      </p:sp>
      <p:sp>
        <p:nvSpPr>
          <p:cNvPr id="17" name="lo-card2"/>
          <p:cNvSpPr/>
          <p:nvPr/>
        </p:nvSpPr>
        <p:spPr>
          <a:xfrm>
            <a:off x="5105400" y="2457450"/>
            <a:ext cx="1981200" cy="1905000"/>
          </a:xfrm>
          <a:prstGeom prst="roundRect">
            <a:avLst>
              <a:gd name="adj" fmla="val 6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18" name="lo-num2"/>
          <p:cNvSpPr txBox="1"/>
          <p:nvPr/>
        </p:nvSpPr>
        <p:spPr>
          <a:xfrm>
            <a:off x="5270500" y="2519840"/>
            <a:ext cx="555625" cy="2424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25"/>
              </a:lnSpc>
              <a:buNone/>
            </a:pPr>
            <a:r>
              <a:rPr lang="en-US" sz="155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03</a:t>
            </a:r>
            <a:endParaRPr lang="en-US" sz="1550" dirty="0"/>
          </a:p>
        </p:txBody>
      </p:sp>
      <p:sp>
        <p:nvSpPr>
          <p:cNvPr id="19" name="lo-title2"/>
          <p:cNvSpPr txBox="1"/>
          <p:nvPr/>
        </p:nvSpPr>
        <p:spPr>
          <a:xfrm>
            <a:off x="5270500" y="2814424"/>
            <a:ext cx="1276350" cy="3123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62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Check</a:t>
            </a:r>
            <a:endParaRPr lang="en-US" sz="2200" dirty="0"/>
          </a:p>
        </p:txBody>
      </p:sp>
      <p:sp>
        <p:nvSpPr>
          <p:cNvPr id="20" name="lo-desc2"/>
          <p:cNvSpPr txBox="1"/>
          <p:nvPr/>
        </p:nvSpPr>
        <p:spPr>
          <a:xfrm>
            <a:off x="5270500" y="3301489"/>
            <a:ext cx="1651000" cy="406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Contrast, overlap, bounds, print</a:t>
            </a:r>
            <a:endParaRPr lang="en-US" sz="1200" dirty="0"/>
          </a:p>
        </p:txBody>
      </p:sp>
      <p:sp>
        <p:nvSpPr>
          <p:cNvPr id="21" name="lo-arrow2"/>
          <p:cNvSpPr/>
          <p:nvPr/>
        </p:nvSpPr>
        <p:spPr>
          <a:xfrm>
            <a:off x="7112000" y="3352800"/>
            <a:ext cx="76200" cy="114300"/>
          </a:xfrm>
          <a:custGeom>
            <a:avLst/>
            <a:gdLst/>
            <a:ahLst/>
            <a:cxnLst/>
            <a:rect l="0" t="0" r="r" b="b"/>
            <a:pathLst>
              <a:path w="10000" h="10000">
                <a:moveTo>
                  <a:pt x="0" y="0"/>
                </a:moveTo>
                <a:lnTo>
                  <a:pt x="4000" y="0"/>
                </a:lnTo>
                <a:lnTo>
                  <a:pt x="10000" y="5000"/>
                </a:lnTo>
                <a:lnTo>
                  <a:pt x="4000" y="10000"/>
                </a:lnTo>
                <a:lnTo>
                  <a:pt x="0" y="10000"/>
                </a:lnTo>
                <a:lnTo>
                  <a:pt x="6000" y="5000"/>
                </a:lnTo>
                <a:lnTo>
                  <a:pt x="0" y="0"/>
                </a:lnTo>
                <a:close/>
              </a:path>
            </a:pathLst>
          </a:custGeom>
          <a:solidFill>
            <a:srgbClr val="6A9AFF"/>
          </a:solidFill>
          <a:ln>
            <a:noFill/>
          </a:ln>
        </p:spPr>
      </p:sp>
      <p:sp>
        <p:nvSpPr>
          <p:cNvPr id="22" name="lo-card3"/>
          <p:cNvSpPr/>
          <p:nvPr/>
        </p:nvSpPr>
        <p:spPr>
          <a:xfrm>
            <a:off x="7213600" y="2457450"/>
            <a:ext cx="1981200" cy="1905000"/>
          </a:xfrm>
          <a:prstGeom prst="roundRect">
            <a:avLst>
              <a:gd name="adj" fmla="val 6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23" name="lo-num3"/>
          <p:cNvSpPr txBox="1"/>
          <p:nvPr/>
        </p:nvSpPr>
        <p:spPr>
          <a:xfrm>
            <a:off x="7378700" y="2519840"/>
            <a:ext cx="561975" cy="2424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25"/>
              </a:lnSpc>
              <a:buNone/>
            </a:pPr>
            <a:r>
              <a:rPr lang="en-US" sz="155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04</a:t>
            </a:r>
            <a:endParaRPr lang="en-US" sz="1550" dirty="0"/>
          </a:p>
        </p:txBody>
      </p:sp>
      <p:sp>
        <p:nvSpPr>
          <p:cNvPr id="24" name="lo-title3"/>
          <p:cNvSpPr txBox="1"/>
          <p:nvPr/>
        </p:nvSpPr>
        <p:spPr>
          <a:xfrm>
            <a:off x="7378700" y="2824929"/>
            <a:ext cx="1473200" cy="3145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62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Preview</a:t>
            </a:r>
            <a:endParaRPr lang="en-US" sz="2200" dirty="0"/>
          </a:p>
        </p:txBody>
      </p:sp>
      <p:sp>
        <p:nvSpPr>
          <p:cNvPr id="25" name="lo-desc3"/>
          <p:cNvSpPr txBox="1"/>
          <p:nvPr/>
        </p:nvSpPr>
        <p:spPr>
          <a:xfrm>
            <a:off x="7378700" y="3301489"/>
            <a:ext cx="1651000" cy="21006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Render and look</a:t>
            </a:r>
            <a:endParaRPr lang="en-US" sz="1200" dirty="0"/>
          </a:p>
        </p:txBody>
      </p:sp>
      <p:sp>
        <p:nvSpPr>
          <p:cNvPr id="26" name="lo-arrow3"/>
          <p:cNvSpPr/>
          <p:nvPr/>
        </p:nvSpPr>
        <p:spPr>
          <a:xfrm>
            <a:off x="9220200" y="3352800"/>
            <a:ext cx="76200" cy="114300"/>
          </a:xfrm>
          <a:custGeom>
            <a:avLst/>
            <a:gdLst/>
            <a:ahLst/>
            <a:cxnLst/>
            <a:rect l="0" t="0" r="r" b="b"/>
            <a:pathLst>
              <a:path w="10000" h="10000">
                <a:moveTo>
                  <a:pt x="0" y="0"/>
                </a:moveTo>
                <a:lnTo>
                  <a:pt x="4000" y="0"/>
                </a:lnTo>
                <a:lnTo>
                  <a:pt x="10000" y="5000"/>
                </a:lnTo>
                <a:lnTo>
                  <a:pt x="4000" y="10000"/>
                </a:lnTo>
                <a:lnTo>
                  <a:pt x="0" y="10000"/>
                </a:lnTo>
                <a:lnTo>
                  <a:pt x="6000" y="5000"/>
                </a:lnTo>
                <a:lnTo>
                  <a:pt x="0" y="0"/>
                </a:lnTo>
                <a:close/>
              </a:path>
            </a:pathLst>
          </a:custGeom>
          <a:solidFill>
            <a:srgbClr val="6A9AFF"/>
          </a:solidFill>
          <a:ln>
            <a:noFill/>
          </a:ln>
        </p:spPr>
      </p:sp>
      <p:sp>
        <p:nvSpPr>
          <p:cNvPr id="27" name="lo-card4"/>
          <p:cNvSpPr/>
          <p:nvPr/>
        </p:nvSpPr>
        <p:spPr>
          <a:xfrm>
            <a:off x="9321800" y="2457450"/>
            <a:ext cx="1981200" cy="1905000"/>
          </a:xfrm>
          <a:prstGeom prst="roundRect">
            <a:avLst>
              <a:gd name="adj" fmla="val 6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28" name="lo-num4"/>
          <p:cNvSpPr txBox="1"/>
          <p:nvPr/>
        </p:nvSpPr>
        <p:spPr>
          <a:xfrm>
            <a:off x="9486900" y="2519840"/>
            <a:ext cx="555625" cy="2424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25"/>
              </a:lnSpc>
              <a:buNone/>
            </a:pPr>
            <a:r>
              <a:rPr lang="en-US" sz="155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05</a:t>
            </a:r>
            <a:endParaRPr lang="en-US" sz="1550" dirty="0"/>
          </a:p>
        </p:txBody>
      </p:sp>
      <p:sp>
        <p:nvSpPr>
          <p:cNvPr id="29" name="lo-title4"/>
          <p:cNvSpPr txBox="1"/>
          <p:nvPr/>
        </p:nvSpPr>
        <p:spPr>
          <a:xfrm>
            <a:off x="9486900" y="2811696"/>
            <a:ext cx="1295400" cy="3658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62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Export</a:t>
            </a:r>
            <a:endParaRPr lang="en-US" sz="2200" dirty="0"/>
          </a:p>
        </p:txBody>
      </p:sp>
      <p:sp>
        <p:nvSpPr>
          <p:cNvPr id="30" name="lo-desc4"/>
          <p:cNvSpPr txBox="1"/>
          <p:nvPr/>
        </p:nvSpPr>
        <p:spPr>
          <a:xfrm>
            <a:off x="9486900" y="3301489"/>
            <a:ext cx="1651000" cy="406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PNG, SVG, PDF, PPTX, MP4 ...</a:t>
            </a:r>
            <a:endParaRPr lang="en-US" sz="1200" dirty="0"/>
          </a:p>
        </p:txBody>
      </p:sp>
      <p:sp>
        <p:nvSpPr>
          <p:cNvPr id="31" name="lo-note"/>
          <p:cNvSpPr txBox="1"/>
          <p:nvPr/>
        </p:nvSpPr>
        <p:spPr>
          <a:xfrm>
            <a:off x="889000" y="4734302"/>
            <a:ext cx="10414000" cy="5425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Checks find overflowing text, low contrast, overlaps, unsafe margins, missing glyphs and print ink problems, so the agent fixes them before anyone looks.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allery">
    <p:bg>
      <p:bgPr>
        <a:solidFill>
          <a:srgbClr val="25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-grid-row" descr="m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pic>
        <p:nvPicPr>
          <p:cNvPr id="3" name="m-logo" descr="m-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6146800"/>
            <a:ext cx="952500" cy="393700"/>
          </a:xfrm>
          <a:prstGeom prst="rect">
            <a:avLst/>
          </a:prstGeom>
        </p:spPr>
      </p:pic>
      <p:sp>
        <p:nvSpPr>
          <p:cNvPr id="4" name="m-num"/>
          <p:cNvSpPr txBox="1"/>
          <p:nvPr/>
        </p:nvSpPr>
        <p:spPr>
          <a:xfrm>
            <a:off x="11112500" y="6185154"/>
            <a:ext cx="323850" cy="1775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AEB7CA"/>
                </a:solidFill>
                <a:latin typeface="JetBrains Mono"/>
                <a:ea typeface="JetBrains Mono"/>
                <a:cs typeface="JetBrains Mono"/>
              </a:rPr>
              <a:t>5</a:t>
            </a:r>
            <a:endParaRPr lang="en-US" sz="1200" dirty="0"/>
          </a:p>
        </p:txBody>
      </p:sp>
      <p:sp>
        <p:nvSpPr>
          <p:cNvPr id="5" name="ga-kicker"/>
          <p:cNvSpPr txBox="1"/>
          <p:nvPr/>
        </p:nvSpPr>
        <p:spPr>
          <a:xfrm>
            <a:off x="889000" y="568236"/>
            <a:ext cx="1738312" cy="1937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6"/>
              </a:lnSpc>
              <a:buNone/>
            </a:pPr>
            <a:r>
              <a:rPr lang="en-US" sz="1300" dirty="0">
                <a:solidFill>
                  <a:srgbClr val="6A9AFF"/>
                </a:solidFill>
                <a:latin typeface="JetBrains Mono"/>
                <a:ea typeface="JetBrains Mono"/>
                <a:cs typeface="JetBrains Mono"/>
              </a:rPr>
              <a:t>MADE WITH VIXL</a:t>
            </a:r>
            <a:endParaRPr lang="en-US" sz="1300" dirty="0"/>
          </a:p>
        </p:txBody>
      </p:sp>
      <p:sp>
        <p:nvSpPr>
          <p:cNvPr id="6" name="ga-title"/>
          <p:cNvSpPr>
            <a:spLocks noGrp="1"/>
          </p:cNvSpPr>
          <p:nvPr>
            <p:ph type="title"/>
          </p:nvPr>
        </p:nvSpPr>
        <p:spPr>
          <a:xfrm>
            <a:off x="889000" y="1129260"/>
            <a:ext cx="8310562" cy="5661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Posters to </a:t>
            </a:r>
            <a:r>
              <a:rPr lang="en-US" sz="48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pixel games.</a:t>
            </a:r>
            <a:endParaRPr lang="en-US" sz="4800" dirty="0"/>
          </a:p>
        </p:txBody>
      </p:sp>
      <p:sp>
        <p:nvSpPr>
          <p:cNvPr id="7" name="ga-poster-base"/>
          <p:cNvSpPr/>
          <p:nvPr/>
        </p:nvSpPr>
        <p:spPr>
          <a:xfrm>
            <a:off x="889000" y="2139950"/>
            <a:ext cx="2470150" cy="1841500"/>
          </a:xfrm>
          <a:prstGeom prst="roundRect">
            <a:avLst>
              <a:gd name="adj" fmla="val 6207"/>
            </a:avLst>
          </a:prstGeom>
          <a:solidFill>
            <a:srgbClr val="2F3647"/>
          </a:solidFill>
          <a:ln>
            <a:noFill/>
          </a:ln>
        </p:spPr>
      </p:sp>
      <p:pic>
        <p:nvPicPr>
          <p:cNvPr id="8" name="ga-poster" descr="ga-pos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" y="2139950"/>
            <a:ext cx="2470150" cy="1841500"/>
          </a:xfrm>
          <a:prstGeom prst="rect">
            <a:avLst/>
          </a:prstGeom>
        </p:spPr>
      </p:pic>
      <p:sp>
        <p:nvSpPr>
          <p:cNvPr id="9" name="ga-painting-base"/>
          <p:cNvSpPr/>
          <p:nvPr/>
        </p:nvSpPr>
        <p:spPr>
          <a:xfrm>
            <a:off x="3536950" y="2139950"/>
            <a:ext cx="2470150" cy="1841500"/>
          </a:xfrm>
          <a:prstGeom prst="roundRect">
            <a:avLst>
              <a:gd name="adj" fmla="val 6207"/>
            </a:avLst>
          </a:prstGeom>
          <a:solidFill>
            <a:srgbClr val="2F3647"/>
          </a:solidFill>
          <a:ln>
            <a:noFill/>
          </a:ln>
        </p:spPr>
      </p:sp>
      <p:pic>
        <p:nvPicPr>
          <p:cNvPr id="10" name="ga-painting" descr="ga-pain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6950" y="2139950"/>
            <a:ext cx="2470150" cy="1841500"/>
          </a:xfrm>
          <a:prstGeom prst="rect">
            <a:avLst/>
          </a:prstGeom>
        </p:spPr>
      </p:pic>
      <p:sp>
        <p:nvSpPr>
          <p:cNvPr id="11" name="ga-pixel-base"/>
          <p:cNvSpPr/>
          <p:nvPr/>
        </p:nvSpPr>
        <p:spPr>
          <a:xfrm>
            <a:off x="6184900" y="2139950"/>
            <a:ext cx="2470150" cy="1841500"/>
          </a:xfrm>
          <a:prstGeom prst="roundRect">
            <a:avLst>
              <a:gd name="adj" fmla="val 6207"/>
            </a:avLst>
          </a:prstGeom>
          <a:solidFill>
            <a:srgbClr val="2F3647"/>
          </a:solidFill>
          <a:ln>
            <a:noFill/>
          </a:ln>
        </p:spPr>
      </p:sp>
      <p:pic>
        <p:nvPicPr>
          <p:cNvPr id="12" name="ga-pixel" descr="ga-pixe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4900" y="2139950"/>
            <a:ext cx="2470150" cy="1841500"/>
          </a:xfrm>
          <a:prstGeom prst="rect">
            <a:avLst/>
          </a:prstGeom>
        </p:spPr>
      </p:pic>
      <p:sp>
        <p:nvSpPr>
          <p:cNvPr id="13" name="ga-donut-base"/>
          <p:cNvSpPr/>
          <p:nvPr/>
        </p:nvSpPr>
        <p:spPr>
          <a:xfrm>
            <a:off x="8832850" y="2139950"/>
            <a:ext cx="2470150" cy="1841500"/>
          </a:xfrm>
          <a:prstGeom prst="roundRect">
            <a:avLst>
              <a:gd name="adj" fmla="val 6207"/>
            </a:avLst>
          </a:prstGeom>
          <a:solidFill>
            <a:srgbClr val="2F3647"/>
          </a:solidFill>
          <a:ln>
            <a:noFill/>
          </a:ln>
        </p:spPr>
      </p:sp>
      <p:pic>
        <p:nvPicPr>
          <p:cNvPr id="14" name="ga-donut" descr="ga-donu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2850" y="2139950"/>
            <a:ext cx="2470150" cy="1841500"/>
          </a:xfrm>
          <a:prstGeom prst="rect">
            <a:avLst/>
          </a:prstGeom>
        </p:spPr>
      </p:pic>
      <p:sp>
        <p:nvSpPr>
          <p:cNvPr id="15" name="ga-film-base"/>
          <p:cNvSpPr/>
          <p:nvPr/>
        </p:nvSpPr>
        <p:spPr>
          <a:xfrm>
            <a:off x="889000" y="4159250"/>
            <a:ext cx="2470150" cy="1841500"/>
          </a:xfrm>
          <a:prstGeom prst="roundRect">
            <a:avLst>
              <a:gd name="adj" fmla="val 6207"/>
            </a:avLst>
          </a:prstGeom>
          <a:solidFill>
            <a:srgbClr val="2F3647"/>
          </a:solidFill>
          <a:ln>
            <a:noFill/>
          </a:ln>
        </p:spPr>
      </p:sp>
      <p:pic>
        <p:nvPicPr>
          <p:cNvPr id="16" name="ga-film" descr="ga-fil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000" y="4159250"/>
            <a:ext cx="2470150" cy="1841500"/>
          </a:xfrm>
          <a:prstGeom prst="rect">
            <a:avLst/>
          </a:prstGeom>
        </p:spPr>
      </p:pic>
      <p:sp>
        <p:nvSpPr>
          <p:cNvPr id="17" name="ga-photo-base"/>
          <p:cNvSpPr/>
          <p:nvPr/>
        </p:nvSpPr>
        <p:spPr>
          <a:xfrm>
            <a:off x="3536950" y="4159250"/>
            <a:ext cx="2470150" cy="1841500"/>
          </a:xfrm>
          <a:prstGeom prst="roundRect">
            <a:avLst>
              <a:gd name="adj" fmla="val 6207"/>
            </a:avLst>
          </a:prstGeom>
          <a:solidFill>
            <a:srgbClr val="2F3647"/>
          </a:solidFill>
          <a:ln>
            <a:noFill/>
          </a:ln>
        </p:spPr>
      </p:sp>
      <p:pic>
        <p:nvPicPr>
          <p:cNvPr id="18" name="ga-photo" descr="ga-phot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6950" y="4159250"/>
            <a:ext cx="2470150" cy="1841500"/>
          </a:xfrm>
          <a:prstGeom prst="rect">
            <a:avLst/>
          </a:prstGeom>
        </p:spPr>
      </p:pic>
      <p:sp>
        <p:nvSpPr>
          <p:cNvPr id="19" name="ga-map-base"/>
          <p:cNvSpPr/>
          <p:nvPr/>
        </p:nvSpPr>
        <p:spPr>
          <a:xfrm>
            <a:off x="6184900" y="4159250"/>
            <a:ext cx="2470150" cy="1841500"/>
          </a:xfrm>
          <a:prstGeom prst="roundRect">
            <a:avLst>
              <a:gd name="adj" fmla="val 6207"/>
            </a:avLst>
          </a:prstGeom>
          <a:solidFill>
            <a:srgbClr val="2F3647"/>
          </a:solidFill>
          <a:ln>
            <a:noFill/>
          </a:ln>
        </p:spPr>
      </p:sp>
      <p:pic>
        <p:nvPicPr>
          <p:cNvPr id="20" name="ga-map" descr="ga-map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4900" y="4159250"/>
            <a:ext cx="2470150" cy="1841500"/>
          </a:xfrm>
          <a:prstGeom prst="rect">
            <a:avLst/>
          </a:prstGeom>
        </p:spPr>
      </p:pic>
      <p:sp>
        <p:nvSpPr>
          <p:cNvPr id="21" name="ga-chart-base"/>
          <p:cNvSpPr/>
          <p:nvPr/>
        </p:nvSpPr>
        <p:spPr>
          <a:xfrm>
            <a:off x="8832850" y="4159250"/>
            <a:ext cx="2470150" cy="1841500"/>
          </a:xfrm>
          <a:prstGeom prst="roundRect">
            <a:avLst>
              <a:gd name="adj" fmla="val 6207"/>
            </a:avLst>
          </a:prstGeom>
          <a:solidFill>
            <a:srgbClr val="2F3647"/>
          </a:solidFill>
          <a:ln>
            <a:noFill/>
          </a:ln>
        </p:spPr>
      </p:sp>
      <p:pic>
        <p:nvPicPr>
          <p:cNvPr id="22" name="ga-chart" descr="ga-char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2850" y="4159250"/>
            <a:ext cx="2470150" cy="1841500"/>
          </a:xfrm>
          <a:prstGeom prst="rect">
            <a:avLst/>
          </a:prstGeom>
        </p:spPr>
      </p:pic>
      <p:grpSp>
        <p:nvGrpSpPr>
          <p:cNvPr id="25" name="ga-lab0"/>
          <p:cNvGrpSpPr/>
          <p:nvPr/>
        </p:nvGrpSpPr>
        <p:grpSpPr>
          <a:xfrm>
            <a:off x="977900" y="3613150"/>
            <a:ext cx="1022350" cy="266700"/>
            <a:chOff x="0" y="0"/>
            <a:chExt cx="1022350" cy="266700"/>
          </a:xfrm>
        </p:grpSpPr>
        <p:sp>
          <p:nvSpPr>
            <p:cNvPr id="23" name="ga-lab0-bg"/>
            <p:cNvSpPr/>
            <p:nvPr/>
          </p:nvSpPr>
          <p:spPr>
            <a:xfrm>
              <a:off x="0" y="0"/>
              <a:ext cx="1022350" cy="266700"/>
            </a:xfrm>
            <a:prstGeom prst="roundRect">
              <a:avLst>
                <a:gd name="adj" fmla="val 50000"/>
              </a:avLst>
            </a:prstGeom>
            <a:solidFill>
              <a:srgbClr val="1A1F2B">
                <a:alpha val="85098"/>
              </a:srgbClr>
            </a:solidFill>
            <a:ln>
              <a:noFill/>
            </a:ln>
          </p:spPr>
        </p:sp>
        <p:sp>
          <p:nvSpPr>
            <p:cNvPr id="24" name="ga-lab0-label"/>
            <p:cNvSpPr txBox="1"/>
            <p:nvPr/>
          </p:nvSpPr>
          <p:spPr>
            <a:xfrm>
              <a:off x="114300" y="41504"/>
              <a:ext cx="1003300" cy="18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431"/>
                </a:lnSpc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Print poster</a:t>
              </a:r>
              <a:endParaRPr lang="en-US" sz="1100" dirty="0"/>
            </a:p>
          </p:txBody>
        </p:sp>
      </p:grpSp>
      <p:grpSp>
        <p:nvGrpSpPr>
          <p:cNvPr id="28" name="ga-lab1"/>
          <p:cNvGrpSpPr/>
          <p:nvPr/>
        </p:nvGrpSpPr>
        <p:grpSpPr>
          <a:xfrm>
            <a:off x="3625850" y="3613150"/>
            <a:ext cx="1555750" cy="266700"/>
            <a:chOff x="0" y="0"/>
            <a:chExt cx="1555750" cy="266700"/>
          </a:xfrm>
        </p:grpSpPr>
        <p:sp>
          <p:nvSpPr>
            <p:cNvPr id="26" name="ga-lab1-bg"/>
            <p:cNvSpPr/>
            <p:nvPr/>
          </p:nvSpPr>
          <p:spPr>
            <a:xfrm>
              <a:off x="0" y="0"/>
              <a:ext cx="1555750" cy="266700"/>
            </a:xfrm>
            <a:prstGeom prst="roundRect">
              <a:avLst>
                <a:gd name="adj" fmla="val 50000"/>
              </a:avLst>
            </a:prstGeom>
            <a:solidFill>
              <a:srgbClr val="1A1F2B">
                <a:alpha val="85098"/>
              </a:srgbClr>
            </a:solidFill>
            <a:ln>
              <a:noFill/>
            </a:ln>
          </p:spPr>
        </p:sp>
        <p:sp>
          <p:nvSpPr>
            <p:cNvPr id="27" name="ga-lab1-label"/>
            <p:cNvSpPr txBox="1"/>
            <p:nvPr/>
          </p:nvSpPr>
          <p:spPr>
            <a:xfrm>
              <a:off x="114300" y="41504"/>
              <a:ext cx="1658938" cy="18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431"/>
                </a:lnSpc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Generative painting</a:t>
              </a:r>
              <a:endParaRPr lang="en-US" sz="1100" dirty="0"/>
            </a:p>
          </p:txBody>
        </p:sp>
      </p:grpSp>
      <p:grpSp>
        <p:nvGrpSpPr>
          <p:cNvPr id="31" name="ga-lab2"/>
          <p:cNvGrpSpPr/>
          <p:nvPr/>
        </p:nvGrpSpPr>
        <p:grpSpPr>
          <a:xfrm>
            <a:off x="6273800" y="3613150"/>
            <a:ext cx="1219200" cy="266700"/>
            <a:chOff x="0" y="0"/>
            <a:chExt cx="1219200" cy="266700"/>
          </a:xfrm>
        </p:grpSpPr>
        <p:sp>
          <p:nvSpPr>
            <p:cNvPr id="29" name="ga-lab2-bg"/>
            <p:cNvSpPr/>
            <p:nvPr/>
          </p:nvSpPr>
          <p:spPr>
            <a:xfrm>
              <a:off x="0" y="0"/>
              <a:ext cx="1219200" cy="266700"/>
            </a:xfrm>
            <a:prstGeom prst="roundRect">
              <a:avLst>
                <a:gd name="adj" fmla="val 50000"/>
              </a:avLst>
            </a:prstGeom>
            <a:solidFill>
              <a:srgbClr val="1A1F2B">
                <a:alpha val="85098"/>
              </a:srgbClr>
            </a:solidFill>
            <a:ln>
              <a:noFill/>
            </a:ln>
          </p:spPr>
        </p:sp>
        <p:sp>
          <p:nvSpPr>
            <p:cNvPr id="30" name="ga-lab2-label"/>
            <p:cNvSpPr txBox="1"/>
            <p:nvPr/>
          </p:nvSpPr>
          <p:spPr>
            <a:xfrm>
              <a:off x="114300" y="41504"/>
              <a:ext cx="1238250" cy="18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431"/>
                </a:lnSpc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Pixel-art game</a:t>
              </a:r>
              <a:endParaRPr lang="en-US" sz="1100" dirty="0"/>
            </a:p>
          </p:txBody>
        </p:sp>
      </p:grpSp>
      <p:grpSp>
        <p:nvGrpSpPr>
          <p:cNvPr id="34" name="ga-lab3"/>
          <p:cNvGrpSpPr/>
          <p:nvPr/>
        </p:nvGrpSpPr>
        <p:grpSpPr>
          <a:xfrm>
            <a:off x="8921750" y="3613150"/>
            <a:ext cx="1346200" cy="266700"/>
            <a:chOff x="0" y="0"/>
            <a:chExt cx="1346200" cy="266700"/>
          </a:xfrm>
        </p:grpSpPr>
        <p:sp>
          <p:nvSpPr>
            <p:cNvPr id="32" name="ga-lab3-bg"/>
            <p:cNvSpPr/>
            <p:nvPr/>
          </p:nvSpPr>
          <p:spPr>
            <a:xfrm>
              <a:off x="0" y="0"/>
              <a:ext cx="1346200" cy="266700"/>
            </a:xfrm>
            <a:prstGeom prst="roundRect">
              <a:avLst>
                <a:gd name="adj" fmla="val 50000"/>
              </a:avLst>
            </a:prstGeom>
            <a:solidFill>
              <a:srgbClr val="1A1F2B">
                <a:alpha val="85098"/>
              </a:srgbClr>
            </a:solidFill>
            <a:ln>
              <a:noFill/>
            </a:ln>
          </p:spPr>
        </p:sp>
        <p:sp>
          <p:nvSpPr>
            <p:cNvPr id="33" name="ga-lab3-label"/>
            <p:cNvSpPr txBox="1"/>
            <p:nvPr/>
          </p:nvSpPr>
          <p:spPr>
            <a:xfrm>
              <a:off x="114300" y="41504"/>
              <a:ext cx="1397000" cy="18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431"/>
                </a:lnSpc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Data infographic</a:t>
              </a:r>
              <a:endParaRPr lang="en-US" sz="1100" dirty="0"/>
            </a:p>
          </p:txBody>
        </p:sp>
      </p:grpSp>
      <p:grpSp>
        <p:nvGrpSpPr>
          <p:cNvPr id="37" name="ga-lab4"/>
          <p:cNvGrpSpPr/>
          <p:nvPr/>
        </p:nvGrpSpPr>
        <p:grpSpPr>
          <a:xfrm>
            <a:off x="977900" y="5632450"/>
            <a:ext cx="1600200" cy="266700"/>
            <a:chOff x="0" y="0"/>
            <a:chExt cx="1600200" cy="266700"/>
          </a:xfrm>
        </p:grpSpPr>
        <p:sp>
          <p:nvSpPr>
            <p:cNvPr id="35" name="ga-lab4-bg"/>
            <p:cNvSpPr/>
            <p:nvPr/>
          </p:nvSpPr>
          <p:spPr>
            <a:xfrm>
              <a:off x="0" y="0"/>
              <a:ext cx="1600200" cy="266700"/>
            </a:xfrm>
            <a:prstGeom prst="roundRect">
              <a:avLst>
                <a:gd name="adj" fmla="val 50000"/>
              </a:avLst>
            </a:prstGeom>
            <a:solidFill>
              <a:srgbClr val="1A1F2B">
                <a:alpha val="85098"/>
              </a:srgbClr>
            </a:solidFill>
            <a:ln>
              <a:noFill/>
            </a:ln>
          </p:spPr>
        </p:sp>
        <p:sp>
          <p:nvSpPr>
            <p:cNvPr id="36" name="ga-lab4-label"/>
            <p:cNvSpPr txBox="1"/>
            <p:nvPr/>
          </p:nvSpPr>
          <p:spPr>
            <a:xfrm>
              <a:off x="114300" y="41504"/>
              <a:ext cx="1714500" cy="1558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431"/>
                </a:lnSpc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Character animation</a:t>
              </a:r>
              <a:endParaRPr lang="en-US" sz="1100" dirty="0"/>
            </a:p>
          </p:txBody>
        </p:sp>
      </p:grpSp>
      <p:grpSp>
        <p:nvGrpSpPr>
          <p:cNvPr id="40" name="ga-lab5"/>
          <p:cNvGrpSpPr/>
          <p:nvPr/>
        </p:nvGrpSpPr>
        <p:grpSpPr>
          <a:xfrm>
            <a:off x="3625850" y="5632450"/>
            <a:ext cx="1123950" cy="266700"/>
            <a:chOff x="0" y="0"/>
            <a:chExt cx="1123950" cy="266700"/>
          </a:xfrm>
        </p:grpSpPr>
        <p:sp>
          <p:nvSpPr>
            <p:cNvPr id="38" name="ga-lab5-bg"/>
            <p:cNvSpPr/>
            <p:nvPr/>
          </p:nvSpPr>
          <p:spPr>
            <a:xfrm>
              <a:off x="0" y="0"/>
              <a:ext cx="1123950" cy="266700"/>
            </a:xfrm>
            <a:prstGeom prst="roundRect">
              <a:avLst>
                <a:gd name="adj" fmla="val 50000"/>
              </a:avLst>
            </a:prstGeom>
            <a:solidFill>
              <a:srgbClr val="1A1F2B">
                <a:alpha val="85098"/>
              </a:srgbClr>
            </a:solidFill>
            <a:ln>
              <a:noFill/>
            </a:ln>
          </p:spPr>
        </p:sp>
        <p:sp>
          <p:nvSpPr>
            <p:cNvPr id="39" name="ga-lab5-label"/>
            <p:cNvSpPr txBox="1"/>
            <p:nvPr/>
          </p:nvSpPr>
          <p:spPr>
            <a:xfrm>
              <a:off x="114300" y="41504"/>
              <a:ext cx="1119188" cy="18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431"/>
                </a:lnSpc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Photo editing</a:t>
              </a:r>
              <a:endParaRPr lang="en-US" sz="1100" dirty="0"/>
            </a:p>
          </p:txBody>
        </p:sp>
      </p:grpSp>
      <p:grpSp>
        <p:nvGrpSpPr>
          <p:cNvPr id="43" name="ga-lab6"/>
          <p:cNvGrpSpPr/>
          <p:nvPr/>
        </p:nvGrpSpPr>
        <p:grpSpPr>
          <a:xfrm>
            <a:off x="6273800" y="5632450"/>
            <a:ext cx="882650" cy="266700"/>
            <a:chOff x="0" y="0"/>
            <a:chExt cx="882650" cy="266700"/>
          </a:xfrm>
        </p:grpSpPr>
        <p:sp>
          <p:nvSpPr>
            <p:cNvPr id="41" name="ga-lab6-bg"/>
            <p:cNvSpPr/>
            <p:nvPr/>
          </p:nvSpPr>
          <p:spPr>
            <a:xfrm>
              <a:off x="0" y="0"/>
              <a:ext cx="882650" cy="266700"/>
            </a:xfrm>
            <a:prstGeom prst="roundRect">
              <a:avLst>
                <a:gd name="adj" fmla="val 50000"/>
              </a:avLst>
            </a:prstGeom>
            <a:solidFill>
              <a:srgbClr val="1A1F2B">
                <a:alpha val="85098"/>
              </a:srgbClr>
            </a:solidFill>
            <a:ln>
              <a:noFill/>
            </a:ln>
          </p:spPr>
        </p:sp>
        <p:sp>
          <p:nvSpPr>
            <p:cNvPr id="42" name="ga-lab6-label"/>
            <p:cNvSpPr txBox="1"/>
            <p:nvPr/>
          </p:nvSpPr>
          <p:spPr>
            <a:xfrm>
              <a:off x="114300" y="41504"/>
              <a:ext cx="863600" cy="1812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431"/>
                </a:lnSpc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Tile maps</a:t>
              </a:r>
              <a:endParaRPr lang="en-US" sz="1100" dirty="0"/>
            </a:p>
          </p:txBody>
        </p:sp>
      </p:grpSp>
      <p:grpSp>
        <p:nvGrpSpPr>
          <p:cNvPr id="46" name="ga-lab7"/>
          <p:cNvGrpSpPr/>
          <p:nvPr/>
        </p:nvGrpSpPr>
        <p:grpSpPr>
          <a:xfrm>
            <a:off x="8921750" y="5632450"/>
            <a:ext cx="1244600" cy="266700"/>
            <a:chOff x="0" y="0"/>
            <a:chExt cx="1244600" cy="266700"/>
          </a:xfrm>
        </p:grpSpPr>
        <p:sp>
          <p:nvSpPr>
            <p:cNvPr id="44" name="ga-lab7-bg"/>
            <p:cNvSpPr/>
            <p:nvPr/>
          </p:nvSpPr>
          <p:spPr>
            <a:xfrm>
              <a:off x="0" y="0"/>
              <a:ext cx="1244600" cy="266700"/>
            </a:xfrm>
            <a:prstGeom prst="roundRect">
              <a:avLst>
                <a:gd name="adj" fmla="val 50000"/>
              </a:avLst>
            </a:prstGeom>
            <a:solidFill>
              <a:srgbClr val="1A1F2B">
                <a:alpha val="85098"/>
              </a:srgbClr>
            </a:solidFill>
            <a:ln>
              <a:noFill/>
            </a:ln>
          </p:spPr>
        </p:sp>
        <p:sp>
          <p:nvSpPr>
            <p:cNvPr id="45" name="ga-lab7-label"/>
            <p:cNvSpPr txBox="1"/>
            <p:nvPr/>
          </p:nvSpPr>
          <p:spPr>
            <a:xfrm>
              <a:off x="114300" y="41504"/>
              <a:ext cx="1270000" cy="1558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431"/>
                </a:lnSpc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</a:rPr>
                <a:t>Editable charts</a:t>
              </a:r>
              <a:endParaRPr lang="en-US" sz="1100" dirty="0"/>
            </a:p>
          </p:txBody>
        </p:sp>
      </p:grp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ality">
    <p:bg>
      <p:bgPr>
        <a:solidFill>
          <a:srgbClr val="25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-grid-row" descr="m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pic>
        <p:nvPicPr>
          <p:cNvPr id="3" name="m-logo" descr="m-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6146800"/>
            <a:ext cx="952500" cy="393700"/>
          </a:xfrm>
          <a:prstGeom prst="rect">
            <a:avLst/>
          </a:prstGeom>
        </p:spPr>
      </p:pic>
      <p:sp>
        <p:nvSpPr>
          <p:cNvPr id="4" name="m-num"/>
          <p:cNvSpPr txBox="1"/>
          <p:nvPr/>
        </p:nvSpPr>
        <p:spPr>
          <a:xfrm>
            <a:off x="11112500" y="6185154"/>
            <a:ext cx="323850" cy="1775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AEB7CA"/>
                </a:solidFill>
                <a:latin typeface="JetBrains Mono"/>
                <a:ea typeface="JetBrains Mono"/>
                <a:cs typeface="JetBrains Mono"/>
              </a:rPr>
              <a:t>6</a:t>
            </a:r>
            <a:endParaRPr lang="en-US" sz="1200" dirty="0"/>
          </a:p>
        </p:txBody>
      </p:sp>
      <p:sp>
        <p:nvSpPr>
          <p:cNvPr id="5" name="qa-kicker"/>
          <p:cNvSpPr txBox="1"/>
          <p:nvPr/>
        </p:nvSpPr>
        <p:spPr>
          <a:xfrm>
            <a:off x="889000" y="569887"/>
            <a:ext cx="2603500" cy="192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6"/>
              </a:lnSpc>
              <a:buNone/>
            </a:pPr>
            <a:r>
              <a:rPr lang="en-US" sz="1300" dirty="0">
                <a:solidFill>
                  <a:srgbClr val="6A9AFF"/>
                </a:solidFill>
                <a:latin typeface="JetBrains Mono"/>
                <a:ea typeface="JetBrains Mono"/>
                <a:cs typeface="JetBrains Mono"/>
              </a:rPr>
              <a:t>FAST WHERE IT MATTERS</a:t>
            </a:r>
            <a:endParaRPr lang="en-US" sz="1300" dirty="0"/>
          </a:p>
        </p:txBody>
      </p:sp>
      <p:sp>
        <p:nvSpPr>
          <p:cNvPr id="6" name="qa-title"/>
          <p:cNvSpPr txBox="1"/>
          <p:nvPr/>
        </p:nvSpPr>
        <p:spPr>
          <a:xfrm>
            <a:off x="889000" y="1129260"/>
            <a:ext cx="8080375" cy="5661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Seconds,</a:t>
            </a:r>
            <a:r>
              <a:rPr lang="en-US" sz="48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 not minutes.</a:t>
            </a:r>
            <a:endParaRPr lang="en-US" sz="4800" dirty="0"/>
          </a:p>
        </p:txBody>
      </p:sp>
      <p:sp>
        <p:nvSpPr>
          <p:cNvPr id="7" name="qa-card0"/>
          <p:cNvSpPr/>
          <p:nvPr/>
        </p:nvSpPr>
        <p:spPr>
          <a:xfrm>
            <a:off x="889000" y="2266950"/>
            <a:ext cx="3302000" cy="2667000"/>
          </a:xfrm>
          <a:prstGeom prst="roundRect">
            <a:avLst>
              <a:gd name="adj" fmla="val 5714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8" name="qa-before0"/>
          <p:cNvSpPr txBox="1"/>
          <p:nvPr/>
        </p:nvSpPr>
        <p:spPr>
          <a:xfrm>
            <a:off x="1168400" y="2492189"/>
            <a:ext cx="1460500" cy="3145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62"/>
              </a:lnSpc>
              <a:buNone/>
            </a:pPr>
            <a:r>
              <a:rPr lang="en-US" sz="2200" b="1" dirty="0">
                <a:solidFill>
                  <a:srgbClr val="AEB7CA"/>
                </a:solidFill>
                <a:latin typeface="Inter Tight"/>
                <a:ea typeface="Inter Tight"/>
                <a:cs typeface="Inter Tight"/>
              </a:rPr>
              <a:t>10+ min</a:t>
            </a:r>
            <a:endParaRPr lang="en-US" sz="2200" dirty="0"/>
          </a:p>
        </p:txBody>
      </p:sp>
      <p:sp>
        <p:nvSpPr>
          <p:cNvPr id="9" name="qa-strike0"/>
          <p:cNvSpPr/>
          <p:nvPr/>
        </p:nvSpPr>
        <p:spPr>
          <a:xfrm>
            <a:off x="1143000" y="2679700"/>
            <a:ext cx="1092200" cy="25400"/>
          </a:xfrm>
          <a:prstGeom prst="rect">
            <a:avLst/>
          </a:prstGeom>
          <a:solidFill>
            <a:srgbClr val="AEB7CA"/>
          </a:solidFill>
          <a:ln>
            <a:noFill/>
          </a:ln>
        </p:spPr>
      </p:sp>
      <p:sp>
        <p:nvSpPr>
          <p:cNvPr id="10" name="qa-after0"/>
          <p:cNvSpPr txBox="1"/>
          <p:nvPr/>
        </p:nvSpPr>
        <p:spPr>
          <a:xfrm>
            <a:off x="1168400" y="3001280"/>
            <a:ext cx="2654300" cy="6372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6515"/>
              </a:lnSpc>
              <a:buNone/>
            </a:pPr>
            <a:r>
              <a:rPr lang="en-US" sz="65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17 s</a:t>
            </a:r>
            <a:endParaRPr lang="en-US" sz="6500" dirty="0"/>
          </a:p>
        </p:txBody>
      </p:sp>
      <p:sp>
        <p:nvSpPr>
          <p:cNvPr id="11" name="qa-l0"/>
          <p:cNvSpPr txBox="1"/>
          <p:nvPr/>
        </p:nvSpPr>
        <p:spPr>
          <a:xfrm>
            <a:off x="1168400" y="4100446"/>
            <a:ext cx="2743200" cy="2429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Full design check, 11 x 17 poster</a:t>
            </a:r>
            <a:endParaRPr lang="en-US" sz="1400" dirty="0"/>
          </a:p>
        </p:txBody>
      </p:sp>
      <p:sp>
        <p:nvSpPr>
          <p:cNvPr id="12" name="qa-card1"/>
          <p:cNvSpPr/>
          <p:nvPr/>
        </p:nvSpPr>
        <p:spPr>
          <a:xfrm>
            <a:off x="4445000" y="2266950"/>
            <a:ext cx="3302000" cy="2667000"/>
          </a:xfrm>
          <a:prstGeom prst="roundRect">
            <a:avLst>
              <a:gd name="adj" fmla="val 5714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13" name="qa-before1"/>
          <p:cNvSpPr txBox="1"/>
          <p:nvPr/>
        </p:nvSpPr>
        <p:spPr>
          <a:xfrm>
            <a:off x="4724400" y="2482095"/>
            <a:ext cx="1066800" cy="318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62"/>
              </a:lnSpc>
              <a:buNone/>
            </a:pPr>
            <a:r>
              <a:rPr lang="en-US" sz="2200" b="1" dirty="0">
                <a:solidFill>
                  <a:srgbClr val="AEB7CA"/>
                </a:solidFill>
                <a:latin typeface="Inter Tight"/>
                <a:ea typeface="Inter Tight"/>
                <a:cs typeface="Inter Tight"/>
              </a:rPr>
              <a:t>9.8 s</a:t>
            </a:r>
            <a:endParaRPr lang="en-US" sz="2200" dirty="0"/>
          </a:p>
        </p:txBody>
      </p:sp>
      <p:sp>
        <p:nvSpPr>
          <p:cNvPr id="14" name="qa-strike1"/>
          <p:cNvSpPr/>
          <p:nvPr/>
        </p:nvSpPr>
        <p:spPr>
          <a:xfrm>
            <a:off x="4699000" y="2679700"/>
            <a:ext cx="698500" cy="25400"/>
          </a:xfrm>
          <a:prstGeom prst="rect">
            <a:avLst/>
          </a:prstGeom>
          <a:solidFill>
            <a:srgbClr val="AEB7CA"/>
          </a:solidFill>
          <a:ln>
            <a:noFill/>
          </a:ln>
        </p:spPr>
      </p:sp>
      <p:sp>
        <p:nvSpPr>
          <p:cNvPr id="15" name="qa-after1"/>
          <p:cNvSpPr txBox="1"/>
          <p:nvPr/>
        </p:nvSpPr>
        <p:spPr>
          <a:xfrm>
            <a:off x="4724400" y="3009342"/>
            <a:ext cx="2971800" cy="6419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6515"/>
              </a:lnSpc>
              <a:buNone/>
            </a:pPr>
            <a:r>
              <a:rPr lang="en-US" sz="65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1.6 s</a:t>
            </a:r>
            <a:endParaRPr lang="en-US" sz="6500" dirty="0"/>
          </a:p>
        </p:txBody>
      </p:sp>
      <p:sp>
        <p:nvSpPr>
          <p:cNvPr id="16" name="qa-l1"/>
          <p:cNvSpPr txBox="1"/>
          <p:nvPr/>
        </p:nvSpPr>
        <p:spPr>
          <a:xfrm>
            <a:off x="4724400" y="4100446"/>
            <a:ext cx="2743200" cy="2429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Paint 400 brush strokes</a:t>
            </a:r>
            <a:endParaRPr lang="en-US" sz="1400" dirty="0"/>
          </a:p>
        </p:txBody>
      </p:sp>
      <p:sp>
        <p:nvSpPr>
          <p:cNvPr id="17" name="qa-card2"/>
          <p:cNvSpPr/>
          <p:nvPr/>
        </p:nvSpPr>
        <p:spPr>
          <a:xfrm>
            <a:off x="8001000" y="2266950"/>
            <a:ext cx="3302000" cy="2667000"/>
          </a:xfrm>
          <a:prstGeom prst="roundRect">
            <a:avLst>
              <a:gd name="adj" fmla="val 5714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18" name="qa-before2"/>
          <p:cNvSpPr txBox="1"/>
          <p:nvPr/>
        </p:nvSpPr>
        <p:spPr>
          <a:xfrm>
            <a:off x="8280400" y="2481684"/>
            <a:ext cx="1162050" cy="3123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62"/>
              </a:lnSpc>
              <a:buNone/>
            </a:pPr>
            <a:r>
              <a:rPr lang="en-US" sz="2200" b="1" dirty="0">
                <a:solidFill>
                  <a:srgbClr val="AEB7CA"/>
                </a:solidFill>
                <a:latin typeface="Inter Tight"/>
                <a:ea typeface="Inter Tight"/>
                <a:cs typeface="Inter Tight"/>
              </a:rPr>
              <a:t>10.7 s</a:t>
            </a:r>
            <a:endParaRPr lang="en-US" sz="2200" dirty="0"/>
          </a:p>
        </p:txBody>
      </p:sp>
      <p:sp>
        <p:nvSpPr>
          <p:cNvPr id="19" name="qa-strike2"/>
          <p:cNvSpPr/>
          <p:nvPr/>
        </p:nvSpPr>
        <p:spPr>
          <a:xfrm>
            <a:off x="8255000" y="2679700"/>
            <a:ext cx="793750" cy="25400"/>
          </a:xfrm>
          <a:prstGeom prst="rect">
            <a:avLst/>
          </a:prstGeom>
          <a:solidFill>
            <a:srgbClr val="AEB7CA"/>
          </a:solidFill>
          <a:ln>
            <a:noFill/>
          </a:ln>
        </p:spPr>
      </p:sp>
      <p:sp>
        <p:nvSpPr>
          <p:cNvPr id="20" name="qa-after2"/>
          <p:cNvSpPr txBox="1"/>
          <p:nvPr/>
        </p:nvSpPr>
        <p:spPr>
          <a:xfrm>
            <a:off x="8280400" y="3009342"/>
            <a:ext cx="3162300" cy="6419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6515"/>
              </a:lnSpc>
              <a:buNone/>
            </a:pPr>
            <a:r>
              <a:rPr lang="en-US" sz="65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0.3 s</a:t>
            </a:r>
            <a:endParaRPr lang="en-US" sz="6500" dirty="0"/>
          </a:p>
        </p:txBody>
      </p:sp>
      <p:sp>
        <p:nvSpPr>
          <p:cNvPr id="21" name="qa-l2"/>
          <p:cNvSpPr txBox="1"/>
          <p:nvPr/>
        </p:nvSpPr>
        <p:spPr>
          <a:xfrm>
            <a:off x="8280400" y="4100446"/>
            <a:ext cx="2743200" cy="4715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Add 1 stroke to a 3,000-stroke layer</a:t>
            </a:r>
            <a:endParaRPr lang="en-US" sz="1400" dirty="0"/>
          </a:p>
        </p:txBody>
      </p:sp>
      <p:sp>
        <p:nvSpPr>
          <p:cNvPr id="22" name="qa-note"/>
          <p:cNvSpPr txBox="1"/>
          <p:nvPr/>
        </p:nvSpPr>
        <p:spPr>
          <a:xfrm>
            <a:off x="889000" y="5179946"/>
            <a:ext cx="10414000" cy="4715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Timings from the repository's exploration projects (explorations/README.md), before and after the performance fixes in Vixl 0.18.0.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erfaces">
    <p:bg>
      <p:bgPr>
        <a:solidFill>
          <a:srgbClr val="25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-grid-row" descr="m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pic>
        <p:nvPicPr>
          <p:cNvPr id="3" name="m-logo" descr="m-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6146800"/>
            <a:ext cx="952500" cy="393700"/>
          </a:xfrm>
          <a:prstGeom prst="rect">
            <a:avLst/>
          </a:prstGeom>
        </p:spPr>
      </p:pic>
      <p:sp>
        <p:nvSpPr>
          <p:cNvPr id="4" name="m-num"/>
          <p:cNvSpPr txBox="1"/>
          <p:nvPr/>
        </p:nvSpPr>
        <p:spPr>
          <a:xfrm>
            <a:off x="11112500" y="6185154"/>
            <a:ext cx="323850" cy="1775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AEB7CA"/>
                </a:solidFill>
                <a:latin typeface="JetBrains Mono"/>
                <a:ea typeface="JetBrains Mono"/>
                <a:cs typeface="JetBrains Mono"/>
              </a:rPr>
              <a:t>7</a:t>
            </a:r>
            <a:endParaRPr lang="en-US" sz="1200" dirty="0"/>
          </a:p>
        </p:txBody>
      </p:sp>
      <p:sp>
        <p:nvSpPr>
          <p:cNvPr id="5" name="if-kicker"/>
          <p:cNvSpPr txBox="1"/>
          <p:nvPr/>
        </p:nvSpPr>
        <p:spPr>
          <a:xfrm>
            <a:off x="889000" y="569887"/>
            <a:ext cx="1238250" cy="192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6"/>
              </a:lnSpc>
              <a:buNone/>
            </a:pPr>
            <a:r>
              <a:rPr lang="en-US" sz="1300" dirty="0">
                <a:solidFill>
                  <a:srgbClr val="6A9AFF"/>
                </a:solidFill>
                <a:latin typeface="JetBrains Mono"/>
                <a:ea typeface="JetBrains Mono"/>
                <a:cs typeface="JetBrains Mono"/>
              </a:rPr>
              <a:t>INTERFACES</a:t>
            </a:r>
            <a:endParaRPr lang="en-US" sz="1300" dirty="0"/>
          </a:p>
        </p:txBody>
      </p:sp>
      <p:sp>
        <p:nvSpPr>
          <p:cNvPr id="6" name="if-title"/>
          <p:cNvSpPr>
            <a:spLocks noGrp="1"/>
          </p:cNvSpPr>
          <p:nvPr>
            <p:ph type="title"/>
          </p:nvPr>
        </p:nvSpPr>
        <p:spPr>
          <a:xfrm>
            <a:off x="889000" y="1129260"/>
            <a:ext cx="8445500" cy="5661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Four doors, </a:t>
            </a:r>
            <a:r>
              <a:rPr lang="en-US" sz="48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one engine.</a:t>
            </a:r>
            <a:endParaRPr lang="en-US" sz="4800" dirty="0"/>
          </a:p>
        </p:txBody>
      </p:sp>
      <p:sp>
        <p:nvSpPr>
          <p:cNvPr id="7" name="if-card0"/>
          <p:cNvSpPr/>
          <p:nvPr/>
        </p:nvSpPr>
        <p:spPr>
          <a:xfrm>
            <a:off x="889000" y="2266950"/>
            <a:ext cx="2463800" cy="2667000"/>
          </a:xfrm>
          <a:prstGeom prst="roundRect">
            <a:avLst>
              <a:gd name="adj" fmla="val 6186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8" name="if-n0"/>
          <p:cNvSpPr txBox="1"/>
          <p:nvPr/>
        </p:nvSpPr>
        <p:spPr>
          <a:xfrm>
            <a:off x="1143000" y="2471341"/>
            <a:ext cx="1530350" cy="35440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32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MCP</a:t>
            </a:r>
            <a:endParaRPr lang="en-US" sz="3200" dirty="0"/>
          </a:p>
        </p:txBody>
      </p:sp>
      <p:sp>
        <p:nvSpPr>
          <p:cNvPr id="9" name="if-c0"/>
          <p:cNvSpPr txBox="1"/>
          <p:nvPr/>
        </p:nvSpPr>
        <p:spPr>
          <a:xfrm>
            <a:off x="1143000" y="3222498"/>
            <a:ext cx="1955800" cy="2001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9FE3B4"/>
                </a:solidFill>
                <a:latin typeface="JetBrains Mono"/>
                <a:ea typeface="JetBrains Mono"/>
                <a:cs typeface="JetBrains Mono"/>
              </a:rPr>
              <a:t>vixl mcp --tools core</a:t>
            </a:r>
            <a:endParaRPr lang="en-US" sz="1200" dirty="0"/>
          </a:p>
        </p:txBody>
      </p:sp>
      <p:sp>
        <p:nvSpPr>
          <p:cNvPr id="10" name="if-d0"/>
          <p:cNvSpPr txBox="1"/>
          <p:nvPr/>
        </p:nvSpPr>
        <p:spPr>
          <a:xfrm>
            <a:off x="1143000" y="3846446"/>
            <a:ext cx="1955800" cy="4715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Agents in Claude Code and other MCP clients</a:t>
            </a:r>
            <a:endParaRPr lang="en-US" sz="1400" dirty="0"/>
          </a:p>
        </p:txBody>
      </p:sp>
      <p:sp>
        <p:nvSpPr>
          <p:cNvPr id="11" name="if-card1"/>
          <p:cNvSpPr/>
          <p:nvPr/>
        </p:nvSpPr>
        <p:spPr>
          <a:xfrm>
            <a:off x="3543300" y="2266950"/>
            <a:ext cx="2463800" cy="2667000"/>
          </a:xfrm>
          <a:prstGeom prst="roundRect">
            <a:avLst>
              <a:gd name="adj" fmla="val 6186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12" name="if-n1"/>
          <p:cNvSpPr txBox="1"/>
          <p:nvPr/>
        </p:nvSpPr>
        <p:spPr>
          <a:xfrm>
            <a:off x="3797300" y="2471341"/>
            <a:ext cx="1231900" cy="35440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CLI</a:t>
            </a:r>
            <a:endParaRPr lang="en-US" sz="3200" dirty="0"/>
          </a:p>
        </p:txBody>
      </p:sp>
      <p:sp>
        <p:nvSpPr>
          <p:cNvPr id="13" name="if-c1"/>
          <p:cNvSpPr txBox="1"/>
          <p:nvPr/>
        </p:nvSpPr>
        <p:spPr>
          <a:xfrm>
            <a:off x="3797300" y="3222498"/>
            <a:ext cx="1955800" cy="3970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9FE3B4"/>
                </a:solidFill>
                <a:latin typeface="JetBrains Mono"/>
                <a:ea typeface="JetBrains Mono"/>
                <a:cs typeface="JetBrains Mono"/>
              </a:rPr>
              <a:t>vixl -p a.vixl text add 'Hi'</a:t>
            </a:r>
            <a:endParaRPr lang="en-US" sz="1200" dirty="0"/>
          </a:p>
        </p:txBody>
      </p:sp>
      <p:sp>
        <p:nvSpPr>
          <p:cNvPr id="14" name="if-d1"/>
          <p:cNvSpPr txBox="1"/>
          <p:nvPr/>
        </p:nvSpPr>
        <p:spPr>
          <a:xfrm>
            <a:off x="3797300" y="3846446"/>
            <a:ext cx="1955800" cy="4715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Scripts, CI pipelines and batch jobs</a:t>
            </a:r>
            <a:endParaRPr lang="en-US" sz="1400" dirty="0"/>
          </a:p>
        </p:txBody>
      </p:sp>
      <p:sp>
        <p:nvSpPr>
          <p:cNvPr id="15" name="if-card2"/>
          <p:cNvSpPr/>
          <p:nvPr/>
        </p:nvSpPr>
        <p:spPr>
          <a:xfrm>
            <a:off x="6191250" y="2266950"/>
            <a:ext cx="2463800" cy="2667000"/>
          </a:xfrm>
          <a:prstGeom prst="roundRect">
            <a:avLst>
              <a:gd name="adj" fmla="val 6186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16" name="if-n2"/>
          <p:cNvSpPr txBox="1"/>
          <p:nvPr/>
        </p:nvSpPr>
        <p:spPr>
          <a:xfrm>
            <a:off x="6445250" y="2467372"/>
            <a:ext cx="1987550" cy="4345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Python</a:t>
            </a:r>
            <a:endParaRPr lang="en-US" sz="3200" dirty="0"/>
          </a:p>
        </p:txBody>
      </p:sp>
      <p:sp>
        <p:nvSpPr>
          <p:cNvPr id="17" name="if-c2"/>
          <p:cNvSpPr txBox="1"/>
          <p:nvPr/>
        </p:nvSpPr>
        <p:spPr>
          <a:xfrm>
            <a:off x="6445250" y="3222498"/>
            <a:ext cx="1955800" cy="3970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9FE3B4"/>
                </a:solidFill>
                <a:latin typeface="JetBrains Mono"/>
                <a:ea typeface="JetBrains Mono"/>
                <a:cs typeface="JetBrains Mono"/>
              </a:rPr>
              <a:t>Project(800, 600).apply([...])</a:t>
            </a:r>
            <a:endParaRPr lang="en-US" sz="1200" dirty="0"/>
          </a:p>
        </p:txBody>
      </p:sp>
      <p:sp>
        <p:nvSpPr>
          <p:cNvPr id="18" name="if-d2"/>
          <p:cNvSpPr txBox="1"/>
          <p:nvPr/>
        </p:nvSpPr>
        <p:spPr>
          <a:xfrm>
            <a:off x="6445250" y="3846446"/>
            <a:ext cx="1955800" cy="7065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Notebooks, generators, data merges</a:t>
            </a:r>
            <a:endParaRPr lang="en-US" sz="1400" dirty="0"/>
          </a:p>
        </p:txBody>
      </p:sp>
      <p:sp>
        <p:nvSpPr>
          <p:cNvPr id="19" name="if-card3"/>
          <p:cNvSpPr/>
          <p:nvPr/>
        </p:nvSpPr>
        <p:spPr>
          <a:xfrm>
            <a:off x="8839200" y="2266950"/>
            <a:ext cx="2463800" cy="2667000"/>
          </a:xfrm>
          <a:prstGeom prst="roundRect">
            <a:avLst>
              <a:gd name="adj" fmla="val 6186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20" name="if-n3"/>
          <p:cNvSpPr txBox="1"/>
          <p:nvPr/>
        </p:nvSpPr>
        <p:spPr>
          <a:xfrm>
            <a:off x="9093200" y="2471341"/>
            <a:ext cx="1631950" cy="35440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REST</a:t>
            </a:r>
            <a:endParaRPr lang="en-US" sz="3200" dirty="0"/>
          </a:p>
        </p:txBody>
      </p:sp>
      <p:sp>
        <p:nvSpPr>
          <p:cNvPr id="21" name="if-c3"/>
          <p:cNvSpPr txBox="1"/>
          <p:nvPr/>
        </p:nvSpPr>
        <p:spPr>
          <a:xfrm>
            <a:off x="9093200" y="3222498"/>
            <a:ext cx="1955800" cy="2001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9FE3B4"/>
                </a:solidFill>
                <a:latin typeface="JetBrains Mono"/>
                <a:ea typeface="JetBrains Mono"/>
                <a:cs typeface="JetBrains Mono"/>
              </a:rPr>
              <a:t>POST /operations</a:t>
            </a:r>
            <a:endParaRPr lang="en-US" sz="1200" dirty="0"/>
          </a:p>
        </p:txBody>
      </p:sp>
      <p:sp>
        <p:nvSpPr>
          <p:cNvPr id="22" name="if-d3"/>
          <p:cNvSpPr txBox="1"/>
          <p:nvPr/>
        </p:nvSpPr>
        <p:spPr>
          <a:xfrm>
            <a:off x="9093200" y="3846446"/>
            <a:ext cx="1955800" cy="4715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EB7CA"/>
                </a:solidFill>
                <a:latin typeface="Inter"/>
                <a:ea typeface="Inter"/>
                <a:cs typeface="Inter"/>
              </a:rPr>
              <a:t>Web apps and live human review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tputs">
    <p:bg>
      <p:bgPr>
        <a:solidFill>
          <a:srgbClr val="25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-grid-row" descr="m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pic>
        <p:nvPicPr>
          <p:cNvPr id="3" name="m-logo" descr="m-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6146800"/>
            <a:ext cx="952500" cy="393700"/>
          </a:xfrm>
          <a:prstGeom prst="rect">
            <a:avLst/>
          </a:prstGeom>
        </p:spPr>
      </p:pic>
      <p:sp>
        <p:nvSpPr>
          <p:cNvPr id="4" name="m-num"/>
          <p:cNvSpPr txBox="1"/>
          <p:nvPr/>
        </p:nvSpPr>
        <p:spPr>
          <a:xfrm>
            <a:off x="11112500" y="6186830"/>
            <a:ext cx="323850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AEB7CA"/>
                </a:solidFill>
                <a:latin typeface="JetBrains Mono"/>
                <a:ea typeface="JetBrains Mono"/>
                <a:cs typeface="JetBrains Mono"/>
              </a:rPr>
              <a:t>8</a:t>
            </a:r>
            <a:endParaRPr lang="en-US" sz="1200" dirty="0"/>
          </a:p>
        </p:txBody>
      </p:sp>
      <p:sp>
        <p:nvSpPr>
          <p:cNvPr id="5" name="ou-kicker"/>
          <p:cNvSpPr txBox="1"/>
          <p:nvPr/>
        </p:nvSpPr>
        <p:spPr>
          <a:xfrm>
            <a:off x="889000" y="569887"/>
            <a:ext cx="946150" cy="192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6"/>
              </a:lnSpc>
              <a:buNone/>
            </a:pPr>
            <a:r>
              <a:rPr lang="en-US" sz="1300" dirty="0">
                <a:solidFill>
                  <a:srgbClr val="6A9AFF"/>
                </a:solidFill>
                <a:latin typeface="JetBrains Mono"/>
                <a:ea typeface="JetBrains Mono"/>
                <a:cs typeface="JetBrains Mono"/>
              </a:rPr>
              <a:t>OUTPUTS</a:t>
            </a:r>
            <a:endParaRPr lang="en-US" sz="1300" dirty="0"/>
          </a:p>
        </p:txBody>
      </p:sp>
      <p:sp>
        <p:nvSpPr>
          <p:cNvPr id="6" name="ou-title"/>
          <p:cNvSpPr>
            <a:spLocks noGrp="1"/>
          </p:cNvSpPr>
          <p:nvPr>
            <p:ph type="title"/>
          </p:nvPr>
        </p:nvSpPr>
        <p:spPr>
          <a:xfrm>
            <a:off x="889000" y="1129260"/>
            <a:ext cx="9366250" cy="5661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One master. </a:t>
            </a:r>
            <a:r>
              <a:rPr lang="en-US" sz="48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Every format.</a:t>
            </a:r>
            <a:endParaRPr lang="en-US" sz="4800" dirty="0"/>
          </a:p>
        </p:txBody>
      </p:sp>
      <p:sp>
        <p:nvSpPr>
          <p:cNvPr id="7" name="ou-c0"/>
          <p:cNvSpPr/>
          <p:nvPr/>
        </p:nvSpPr>
        <p:spPr>
          <a:xfrm>
            <a:off x="889000" y="22669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3575EE"/>
          </a:solidFill>
          <a:ln>
            <a:noFill/>
          </a:ln>
        </p:spPr>
      </p:sp>
      <p:sp>
        <p:nvSpPr>
          <p:cNvPr id="8" name="ou-t0"/>
          <p:cNvSpPr txBox="1"/>
          <p:nvPr/>
        </p:nvSpPr>
        <p:spPr>
          <a:xfrm>
            <a:off x="1117600" y="2398663"/>
            <a:ext cx="908050" cy="28738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PNG</a:t>
            </a:r>
            <a:endParaRPr lang="en-US" sz="2000" dirty="0"/>
          </a:p>
        </p:txBody>
      </p:sp>
      <p:sp>
        <p:nvSpPr>
          <p:cNvPr id="9" name="ou-c1"/>
          <p:cNvSpPr/>
          <p:nvPr/>
        </p:nvSpPr>
        <p:spPr>
          <a:xfrm>
            <a:off x="3536950" y="22669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10" name="ou-t1"/>
          <p:cNvSpPr txBox="1"/>
          <p:nvPr/>
        </p:nvSpPr>
        <p:spPr>
          <a:xfrm>
            <a:off x="3765550" y="2398663"/>
            <a:ext cx="1022350" cy="28738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JPEG</a:t>
            </a:r>
            <a:endParaRPr lang="en-US" sz="2000" dirty="0"/>
          </a:p>
        </p:txBody>
      </p:sp>
      <p:sp>
        <p:nvSpPr>
          <p:cNvPr id="11" name="ou-c2"/>
          <p:cNvSpPr/>
          <p:nvPr/>
        </p:nvSpPr>
        <p:spPr>
          <a:xfrm>
            <a:off x="6184900" y="22669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12" name="ou-t2"/>
          <p:cNvSpPr txBox="1"/>
          <p:nvPr/>
        </p:nvSpPr>
        <p:spPr>
          <a:xfrm>
            <a:off x="6413500" y="2396182"/>
            <a:ext cx="1117600" cy="2898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WEBP</a:t>
            </a:r>
            <a:endParaRPr lang="en-US" sz="2000" dirty="0"/>
          </a:p>
        </p:txBody>
      </p:sp>
      <p:sp>
        <p:nvSpPr>
          <p:cNvPr id="13" name="ou-c3"/>
          <p:cNvSpPr/>
          <p:nvPr/>
        </p:nvSpPr>
        <p:spPr>
          <a:xfrm>
            <a:off x="8832850" y="22669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14" name="ou-t3"/>
          <p:cNvSpPr txBox="1"/>
          <p:nvPr/>
        </p:nvSpPr>
        <p:spPr>
          <a:xfrm>
            <a:off x="9061450" y="2396182"/>
            <a:ext cx="895350" cy="2898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TIFF</a:t>
            </a:r>
            <a:endParaRPr lang="en-US" sz="2000" dirty="0"/>
          </a:p>
        </p:txBody>
      </p:sp>
      <p:sp>
        <p:nvSpPr>
          <p:cNvPr id="15" name="ou-c4"/>
          <p:cNvSpPr/>
          <p:nvPr/>
        </p:nvSpPr>
        <p:spPr>
          <a:xfrm>
            <a:off x="889000" y="31813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16" name="ou-t4"/>
          <p:cNvSpPr txBox="1"/>
          <p:nvPr/>
        </p:nvSpPr>
        <p:spPr>
          <a:xfrm>
            <a:off x="1117600" y="3310582"/>
            <a:ext cx="946150" cy="2898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AVIF</a:t>
            </a:r>
            <a:endParaRPr lang="en-US" sz="2000" dirty="0"/>
          </a:p>
        </p:txBody>
      </p:sp>
      <p:sp>
        <p:nvSpPr>
          <p:cNvPr id="17" name="ou-c5"/>
          <p:cNvSpPr/>
          <p:nvPr/>
        </p:nvSpPr>
        <p:spPr>
          <a:xfrm>
            <a:off x="3536950" y="31813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3575EE"/>
          </a:solidFill>
          <a:ln>
            <a:noFill/>
          </a:ln>
        </p:spPr>
      </p:sp>
      <p:sp>
        <p:nvSpPr>
          <p:cNvPr id="18" name="ou-t5"/>
          <p:cNvSpPr txBox="1"/>
          <p:nvPr/>
        </p:nvSpPr>
        <p:spPr>
          <a:xfrm>
            <a:off x="3765550" y="3313063"/>
            <a:ext cx="908050" cy="28738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SVG</a:t>
            </a:r>
            <a:endParaRPr lang="en-US" sz="2000" dirty="0"/>
          </a:p>
        </p:txBody>
      </p:sp>
      <p:sp>
        <p:nvSpPr>
          <p:cNvPr id="19" name="ou-c6"/>
          <p:cNvSpPr/>
          <p:nvPr/>
        </p:nvSpPr>
        <p:spPr>
          <a:xfrm>
            <a:off x="6184900" y="31813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20" name="ou-t6"/>
          <p:cNvSpPr txBox="1"/>
          <p:nvPr/>
        </p:nvSpPr>
        <p:spPr>
          <a:xfrm>
            <a:off x="6413500" y="3310582"/>
            <a:ext cx="863600" cy="2898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PDF</a:t>
            </a:r>
            <a:endParaRPr lang="en-US" sz="2000" dirty="0"/>
          </a:p>
        </p:txBody>
      </p:sp>
      <p:sp>
        <p:nvSpPr>
          <p:cNvPr id="21" name="ou-c7"/>
          <p:cNvSpPr/>
          <p:nvPr/>
        </p:nvSpPr>
        <p:spPr>
          <a:xfrm>
            <a:off x="8832850" y="31813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22" name="ou-t7"/>
          <p:cNvSpPr txBox="1"/>
          <p:nvPr/>
        </p:nvSpPr>
        <p:spPr>
          <a:xfrm>
            <a:off x="9061450" y="3310582"/>
            <a:ext cx="1047750" cy="2898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PPTX</a:t>
            </a:r>
            <a:endParaRPr lang="en-US" sz="2000" dirty="0"/>
          </a:p>
        </p:txBody>
      </p:sp>
      <p:sp>
        <p:nvSpPr>
          <p:cNvPr id="23" name="ou-c8"/>
          <p:cNvSpPr/>
          <p:nvPr/>
        </p:nvSpPr>
        <p:spPr>
          <a:xfrm>
            <a:off x="889000" y="40957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24" name="ou-t8"/>
          <p:cNvSpPr txBox="1"/>
          <p:nvPr/>
        </p:nvSpPr>
        <p:spPr>
          <a:xfrm>
            <a:off x="1117600" y="4224982"/>
            <a:ext cx="1098550" cy="2898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HTML</a:t>
            </a:r>
            <a:endParaRPr lang="en-US" sz="2000" dirty="0"/>
          </a:p>
        </p:txBody>
      </p:sp>
      <p:sp>
        <p:nvSpPr>
          <p:cNvPr id="25" name="ou-c9"/>
          <p:cNvSpPr/>
          <p:nvPr/>
        </p:nvSpPr>
        <p:spPr>
          <a:xfrm>
            <a:off x="3536950" y="40957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26" name="ou-t9"/>
          <p:cNvSpPr txBox="1"/>
          <p:nvPr/>
        </p:nvSpPr>
        <p:spPr>
          <a:xfrm>
            <a:off x="3765550" y="4227463"/>
            <a:ext cx="825500" cy="28738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ICO</a:t>
            </a:r>
            <a:endParaRPr lang="en-US" sz="2000" dirty="0"/>
          </a:p>
        </p:txBody>
      </p:sp>
      <p:sp>
        <p:nvSpPr>
          <p:cNvPr id="27" name="ou-c10"/>
          <p:cNvSpPr/>
          <p:nvPr/>
        </p:nvSpPr>
        <p:spPr>
          <a:xfrm>
            <a:off x="6184900" y="40957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3575EE"/>
          </a:solidFill>
          <a:ln>
            <a:noFill/>
          </a:ln>
        </p:spPr>
      </p:sp>
      <p:sp>
        <p:nvSpPr>
          <p:cNvPr id="28" name="ou-t10"/>
          <p:cNvSpPr txBox="1"/>
          <p:nvPr/>
        </p:nvSpPr>
        <p:spPr>
          <a:xfrm>
            <a:off x="6413500" y="4227463"/>
            <a:ext cx="781050" cy="28738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GIF</a:t>
            </a:r>
            <a:endParaRPr lang="en-US" sz="2000" dirty="0"/>
          </a:p>
        </p:txBody>
      </p:sp>
      <p:sp>
        <p:nvSpPr>
          <p:cNvPr id="29" name="ou-c11"/>
          <p:cNvSpPr/>
          <p:nvPr/>
        </p:nvSpPr>
        <p:spPr>
          <a:xfrm>
            <a:off x="8832850" y="40957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30" name="ou-t11"/>
          <p:cNvSpPr txBox="1"/>
          <p:nvPr/>
        </p:nvSpPr>
        <p:spPr>
          <a:xfrm>
            <a:off x="9061450" y="4224982"/>
            <a:ext cx="939800" cy="2898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MP4</a:t>
            </a:r>
            <a:endParaRPr lang="en-US" sz="2000" dirty="0"/>
          </a:p>
        </p:txBody>
      </p:sp>
      <p:sp>
        <p:nvSpPr>
          <p:cNvPr id="31" name="ou-c12"/>
          <p:cNvSpPr/>
          <p:nvPr/>
        </p:nvSpPr>
        <p:spPr>
          <a:xfrm>
            <a:off x="889000" y="50101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32" name="ou-t12"/>
          <p:cNvSpPr txBox="1"/>
          <p:nvPr/>
        </p:nvSpPr>
        <p:spPr>
          <a:xfrm>
            <a:off x="1117600" y="5141863"/>
            <a:ext cx="1149350" cy="28738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CMYK</a:t>
            </a:r>
            <a:endParaRPr lang="en-US" sz="2000" dirty="0"/>
          </a:p>
        </p:txBody>
      </p:sp>
      <p:sp>
        <p:nvSpPr>
          <p:cNvPr id="33" name="ou-c13"/>
          <p:cNvSpPr/>
          <p:nvPr/>
        </p:nvSpPr>
        <p:spPr>
          <a:xfrm>
            <a:off x="3536950" y="50101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34" name="ou-t13"/>
          <p:cNvSpPr txBox="1"/>
          <p:nvPr/>
        </p:nvSpPr>
        <p:spPr>
          <a:xfrm>
            <a:off x="3765550" y="5139382"/>
            <a:ext cx="1162050" cy="2898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WebM</a:t>
            </a:r>
            <a:endParaRPr lang="en-US" sz="2000" dirty="0"/>
          </a:p>
        </p:txBody>
      </p:sp>
      <p:sp>
        <p:nvSpPr>
          <p:cNvPr id="35" name="ou-c14"/>
          <p:cNvSpPr/>
          <p:nvPr/>
        </p:nvSpPr>
        <p:spPr>
          <a:xfrm>
            <a:off x="6184900" y="50101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2F3647"/>
          </a:solidFill>
          <a:ln>
            <a:noFill/>
          </a:ln>
        </p:spPr>
      </p:sp>
      <p:sp>
        <p:nvSpPr>
          <p:cNvPr id="36" name="ou-t14"/>
          <p:cNvSpPr txBox="1"/>
          <p:nvPr/>
        </p:nvSpPr>
        <p:spPr>
          <a:xfrm>
            <a:off x="6413500" y="5141863"/>
            <a:ext cx="1098550" cy="28738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APNG</a:t>
            </a:r>
            <a:endParaRPr lang="en-US" sz="2000" dirty="0"/>
          </a:p>
        </p:txBody>
      </p:sp>
      <p:sp>
        <p:nvSpPr>
          <p:cNvPr id="37" name="ou-c15"/>
          <p:cNvSpPr/>
          <p:nvPr/>
        </p:nvSpPr>
        <p:spPr>
          <a:xfrm>
            <a:off x="8832850" y="5010150"/>
            <a:ext cx="2470150" cy="762000"/>
          </a:xfrm>
          <a:prstGeom prst="roundRect">
            <a:avLst>
              <a:gd name="adj" fmla="val 15000"/>
            </a:avLst>
          </a:prstGeom>
          <a:solidFill>
            <a:srgbClr val="3575EE"/>
          </a:solidFill>
          <a:ln>
            <a:noFill/>
          </a:ln>
        </p:spPr>
      </p:sp>
      <p:sp>
        <p:nvSpPr>
          <p:cNvPr id="38" name="ou-t15"/>
          <p:cNvSpPr txBox="1"/>
          <p:nvPr/>
        </p:nvSpPr>
        <p:spPr>
          <a:xfrm>
            <a:off x="9061450" y="5151413"/>
            <a:ext cx="1695450" cy="29053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2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WAV audio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rt">
    <p:bg>
      <p:bgPr>
        <a:solidFill>
          <a:srgbClr val="252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-glow"/>
          <p:cNvSpPr/>
          <p:nvPr/>
        </p:nvSpPr>
        <p:spPr>
          <a:xfrm>
            <a:off x="-1905000" y="1270000"/>
            <a:ext cx="11430000" cy="11430000"/>
          </a:xfrm>
          <a:prstGeom prst="rect">
            <a:avLst/>
          </a:prstGeom>
          <a:gradFill rotWithShape="1">
            <a:gsLst>
              <a:gs pos="0">
                <a:srgbClr val="3575EE">
                  <a:alpha val="40000"/>
                </a:srgbClr>
              </a:gs>
              <a:gs pos="42426">
                <a:srgbClr val="3575EE">
                  <a:alpha val="6275"/>
                </a:srgbClr>
              </a:gs>
              <a:gs pos="70711">
                <a:srgbClr val="3575EE">
                  <a:alpha val="0"/>
                </a:srgbClr>
              </a:gs>
              <a:gs pos="100000">
                <a:srgbClr val="3575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pic>
        <p:nvPicPr>
          <p:cNvPr id="3" name="st-grid-row" descr="st-grid-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1703050" cy="6369050"/>
          </a:xfrm>
          <a:prstGeom prst="rect">
            <a:avLst/>
          </a:prstGeom>
        </p:spPr>
      </p:pic>
      <p:sp>
        <p:nvSpPr>
          <p:cNvPr id="4" name="st-title"/>
          <p:cNvSpPr>
            <a:spLocks noGrp="1"/>
          </p:cNvSpPr>
          <p:nvPr>
            <p:ph type="title"/>
          </p:nvPr>
        </p:nvSpPr>
        <p:spPr>
          <a:xfrm>
            <a:off x="889000" y="1476220"/>
            <a:ext cx="6627812" cy="13114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Give your agent</a:t>
            </a:r>
            <a:endParaRPr lang="en-US" sz="5600" dirty="0"/>
          </a:p>
          <a:p>
            <a:pPr algn="l">
              <a:lnSpc>
                <a:spcPts val="5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6A9AFF"/>
                </a:solidFill>
                <a:latin typeface="Inter Tight"/>
                <a:ea typeface="Inter Tight"/>
                <a:cs typeface="Inter Tight"/>
              </a:rPr>
              <a:t>a design studio.</a:t>
            </a:r>
            <a:endParaRPr lang="en-US" sz="5600" dirty="0"/>
          </a:p>
        </p:txBody>
      </p:sp>
      <p:grpSp>
        <p:nvGrpSpPr>
          <p:cNvPr id="11" name="st-code"/>
          <p:cNvGrpSpPr/>
          <p:nvPr/>
        </p:nvGrpSpPr>
        <p:grpSpPr>
          <a:xfrm>
            <a:off x="889000" y="3295650"/>
            <a:ext cx="8255000" cy="1130300"/>
            <a:chOff x="0" y="0"/>
            <a:chExt cx="8255000" cy="1130300"/>
          </a:xfrm>
        </p:grpSpPr>
        <p:sp>
          <p:nvSpPr>
            <p:cNvPr id="5" name="st-code-bg"/>
            <p:cNvSpPr/>
            <p:nvPr/>
          </p:nvSpPr>
          <p:spPr>
            <a:xfrm>
              <a:off x="12700" y="12700"/>
              <a:ext cx="8229600" cy="1066800"/>
            </a:xfrm>
            <a:prstGeom prst="roundRect">
              <a:avLst>
                <a:gd name="adj" fmla="val 10119"/>
              </a:avLst>
            </a:prstGeom>
            <a:solidFill>
              <a:srgbClr val="1A1F2B"/>
            </a:solidFill>
            <a:ln w="12700">
              <a:solidFill>
                <a:srgbClr val="3C4458"/>
              </a:solidFill>
            </a:ln>
          </p:spPr>
        </p:sp>
        <p:sp>
          <p:nvSpPr>
            <p:cNvPr id="6" name="st-code-dot0"/>
            <p:cNvSpPr/>
            <p:nvPr/>
          </p:nvSpPr>
          <p:spPr>
            <a:xfrm>
              <a:off x="152400" y="139700"/>
              <a:ext cx="76200" cy="7620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7" name="st-code-dot1"/>
            <p:cNvSpPr/>
            <p:nvPr/>
          </p:nvSpPr>
          <p:spPr>
            <a:xfrm>
              <a:off x="292100" y="139700"/>
              <a:ext cx="76200" cy="76200"/>
            </a:xfrm>
            <a:prstGeom prst="ellipse">
              <a:avLst/>
            </a:prstGeom>
            <a:solidFill>
              <a:srgbClr val="FFC37A"/>
            </a:solidFill>
            <a:ln>
              <a:noFill/>
            </a:ln>
          </p:spPr>
        </p:sp>
        <p:sp>
          <p:nvSpPr>
            <p:cNvPr id="8" name="st-code-dot2"/>
            <p:cNvSpPr/>
            <p:nvPr/>
          </p:nvSpPr>
          <p:spPr>
            <a:xfrm>
              <a:off x="431800" y="139700"/>
              <a:ext cx="76200" cy="76200"/>
            </a:xfrm>
            <a:prstGeom prst="ellipse">
              <a:avLst/>
            </a:prstGeom>
            <a:solidFill>
              <a:srgbClr val="5FD38D"/>
            </a:solidFill>
            <a:ln>
              <a:noFill/>
            </a:ln>
          </p:spPr>
        </p:sp>
        <p:sp>
          <p:nvSpPr>
            <p:cNvPr id="9" name="st-code-title"/>
            <p:cNvSpPr txBox="1"/>
            <p:nvPr/>
          </p:nvSpPr>
          <p:spPr>
            <a:xfrm>
              <a:off x="635000" y="58979"/>
              <a:ext cx="965200" cy="1823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734"/>
                </a:lnSpc>
                <a:buNone/>
              </a:pPr>
              <a:r>
                <a:rPr lang="en-US" sz="1200" dirty="0">
                  <a:solidFill>
                    <a:srgbClr val="AEB7CA"/>
                  </a:solidFill>
                  <a:latin typeface="JetBrains Mono"/>
                  <a:ea typeface="JetBrains Mono"/>
                  <a:cs typeface="JetBrains Mono"/>
                </a:rPr>
                <a:t>terminal</a:t>
              </a:r>
              <a:endParaRPr lang="en-US" sz="1200" dirty="0"/>
            </a:p>
          </p:txBody>
        </p:sp>
        <p:sp>
          <p:nvSpPr>
            <p:cNvPr id="10" name="st-code-code"/>
            <p:cNvSpPr txBox="1"/>
            <p:nvPr/>
          </p:nvSpPr>
          <p:spPr>
            <a:xfrm>
              <a:off x="177800" y="419735"/>
              <a:ext cx="7899400" cy="4819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rgbClr val="6A9AFF"/>
                  </a:solidFill>
                  <a:latin typeface="JetBrains Mono"/>
                  <a:ea typeface="JetBrains Mono"/>
                  <a:cs typeface="JetBrains Mono"/>
                </a:rPr>
                <a:t>$ </a:t>
              </a:r>
              <a:r>
                <a:rPr lang="en-US" sz="15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pip install -e '.[server,pdf]'</a:t>
              </a:r>
              <a:endParaRPr lang="en-US" sz="1500" dirty="0"/>
            </a:p>
            <a:p>
              <a:pPr algn="l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rgbClr val="6A9AFF"/>
                  </a:solidFill>
                  <a:latin typeface="JetBrains Mono"/>
                  <a:ea typeface="JetBrains Mono"/>
                  <a:cs typeface="JetBrains Mono"/>
                </a:rPr>
                <a:t>$ </a:t>
              </a:r>
              <a:r>
                <a:rPr lang="en-US" sz="150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vixl mcp --workspace . --tools core --schema slim</a:t>
              </a:r>
              <a:endParaRPr lang="en-US" sz="1500" dirty="0"/>
            </a:p>
          </p:txBody>
        </p:sp>
      </p:grpSp>
      <p:pic>
        <p:nvPicPr>
          <p:cNvPr id="12" name="st-logo" descr="st-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5588000"/>
            <a:ext cx="1778000" cy="742950"/>
          </a:xfrm>
          <a:prstGeom prst="rect">
            <a:avLst/>
          </a:prstGeom>
        </p:spPr>
      </p:pic>
      <p:sp>
        <p:nvSpPr>
          <p:cNvPr id="13" name="st-url"/>
          <p:cNvSpPr txBox="1"/>
          <p:nvPr/>
        </p:nvSpPr>
        <p:spPr>
          <a:xfrm>
            <a:off x="3175000" y="5787390"/>
            <a:ext cx="4572000" cy="314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69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github.com/jxburros/Vixl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Vixl</Application>
  <Slides>9</Slides>
  <Notes>9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Give your agent
a design studio.</dc:title>
  <dc:creator>Vixl</dc:creator>
</cp:coreProperties>
</file>